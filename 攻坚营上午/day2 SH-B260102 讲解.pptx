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notesSlides/notesSlide6.xml" ContentType="application/vnd.openxmlformats-officedocument.presentationml.notesSlide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1"/>
  </p:notesMasterIdLst>
  <p:sldIdLst>
    <p:sldId id="652" r:id="rId2"/>
    <p:sldId id="1536" r:id="rId3"/>
    <p:sldId id="464" r:id="rId4"/>
    <p:sldId id="468" r:id="rId5"/>
    <p:sldId id="469" r:id="rId6"/>
    <p:sldId id="452" r:id="rId7"/>
    <p:sldId id="470" r:id="rId8"/>
    <p:sldId id="471" r:id="rId9"/>
    <p:sldId id="467" r:id="rId10"/>
    <p:sldId id="1543" r:id="rId11"/>
    <p:sldId id="257" r:id="rId12"/>
    <p:sldId id="931" r:id="rId13"/>
    <p:sldId id="1156" r:id="rId14"/>
    <p:sldId id="929" r:id="rId15"/>
    <p:sldId id="1160" r:id="rId16"/>
    <p:sldId id="1544" r:id="rId17"/>
    <p:sldId id="1547" r:id="rId18"/>
    <p:sldId id="1548" r:id="rId19"/>
    <p:sldId id="928" r:id="rId20"/>
    <p:sldId id="960" r:id="rId21"/>
    <p:sldId id="947" r:id="rId22"/>
    <p:sldId id="933" r:id="rId23"/>
    <p:sldId id="949" r:id="rId24"/>
    <p:sldId id="950" r:id="rId25"/>
    <p:sldId id="951" r:id="rId26"/>
    <p:sldId id="952" r:id="rId27"/>
    <p:sldId id="953" r:id="rId28"/>
    <p:sldId id="954" r:id="rId29"/>
    <p:sldId id="956" r:id="rId30"/>
    <p:sldId id="957" r:id="rId31"/>
    <p:sldId id="958" r:id="rId32"/>
    <p:sldId id="959" r:id="rId33"/>
    <p:sldId id="948" r:id="rId34"/>
    <p:sldId id="932" r:id="rId35"/>
    <p:sldId id="1545" r:id="rId36"/>
    <p:sldId id="1254" r:id="rId37"/>
    <p:sldId id="1411" r:id="rId38"/>
    <p:sldId id="1392" r:id="rId39"/>
    <p:sldId id="1404" r:id="rId40"/>
    <p:sldId id="1412" r:id="rId41"/>
    <p:sldId id="1405" r:id="rId42"/>
    <p:sldId id="1394" r:id="rId43"/>
    <p:sldId id="1549" r:id="rId44"/>
    <p:sldId id="1379" r:id="rId45"/>
    <p:sldId id="1382" r:id="rId46"/>
    <p:sldId id="1381" r:id="rId47"/>
    <p:sldId id="1546" r:id="rId48"/>
    <p:sldId id="411" r:id="rId49"/>
    <p:sldId id="412" r:id="rId50"/>
    <p:sldId id="413" r:id="rId51"/>
    <p:sldId id="414" r:id="rId52"/>
    <p:sldId id="416" r:id="rId53"/>
    <p:sldId id="366" r:id="rId54"/>
    <p:sldId id="370" r:id="rId55"/>
    <p:sldId id="371" r:id="rId56"/>
    <p:sldId id="461" r:id="rId57"/>
    <p:sldId id="440" r:id="rId58"/>
    <p:sldId id="454" r:id="rId59"/>
    <p:sldId id="1535" r:id="rId6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AFF8F"/>
    <a:srgbClr val="CCFFFF"/>
    <a:srgbClr val="FFFFCC"/>
    <a:srgbClr val="7F7F7F"/>
    <a:srgbClr val="CCC1DA"/>
    <a:srgbClr val="FDEADA"/>
    <a:srgbClr val="F2F2F2"/>
    <a:srgbClr val="FFCC00"/>
    <a:srgbClr val="FFFF99"/>
    <a:srgbClr val="FF66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16DA210-FB5B-4158-B5E0-FEB733F419BA}" styleName="浅色样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575" autoAdjust="0"/>
    <p:restoredTop sz="97630" autoAdjust="0"/>
  </p:normalViewPr>
  <p:slideViewPr>
    <p:cSldViewPr>
      <p:cViewPr varScale="1">
        <p:scale>
          <a:sx n="88" d="100"/>
          <a:sy n="88" d="100"/>
        </p:scale>
        <p:origin x="72" y="139"/>
      </p:cViewPr>
      <p:guideLst>
        <p:guide orient="horz" pos="2160"/>
        <p:guide pos="3840"/>
      </p:guideLst>
    </p:cSldViewPr>
  </p:slideViewPr>
  <p:notesTextViewPr>
    <p:cViewPr>
      <p:scale>
        <a:sx n="75" d="100"/>
        <a:sy n="75" d="100"/>
      </p:scale>
      <p:origin x="0" y="0"/>
    </p:cViewPr>
  </p:notesTextViewPr>
  <p:sorterViewPr>
    <p:cViewPr>
      <p:scale>
        <a:sx n="100" d="100"/>
        <a:sy n="100" d="100"/>
      </p:scale>
      <p:origin x="0" y="121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notesMaster" Target="notesMasters/notesMaster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6-23T06:42:58.53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0 24575,'0'0'-8191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6-23T06:43:57.26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409 169 24575,'0'-24'0,"1"12"0,-1-1 0,0 1 0,-1 0 0,-4-17 0,5 25 0,-1 1 0,0 0 0,0 0 0,-1 1 0,1-1 0,-1 0 0,1 0 0,-1 0 0,0 1 0,0-1 0,0 1 0,0 0 0,0-1 0,-1 1 0,1 0 0,-1 0 0,1 1 0,-1-1 0,0 0 0,1 1 0,-1 0 0,-3-2 0,-5 0 0,0 1 0,-1 0 0,1 0 0,0 1 0,-1 0 0,1 1 0,-1 0 0,1 1 0,0 0 0,-1 1 0,1 1 0,0-1 0,0 2 0,0-1 0,1 2 0,-1-1 0,-15 11 0,18-9 0,0 1 0,0 1 0,0 0 0,1 0 0,1 0 0,-1 1 0,1 0 0,1 0 0,-1 0 0,-4 13 0,-3 12 0,-16 59 0,23-58 0,0 0 0,3 0 0,1 0 0,1 0 0,8 64 0,-4-82 0,1 0 0,1 0 0,1-1 0,0 0 0,1 0 0,12 19 0,-15-27 0,1 0 0,0-1 0,0 0 0,0 0 0,1 0 0,0 0 0,0-1 0,1 0 0,0 0 0,0-1 0,0 0 0,0 0 0,1-1 0,0 0 0,0 0 0,0-1 0,1 0 0,-1 0 0,1-1 0,-1 0 0,1 0 0,0-1 0,0 0 0,0-1 0,0 0 0,-1 0 0,1-1 0,0 0 0,0-1 0,14-4 0,-10 1 0,1 0 0,-1-1 0,0 0 0,-1-1 0,1 0 0,-2-1 0,1-1 0,-1 0 0,0 0 0,-1-1 0,15-18 0,-14 14 0,0-1 0,-2 0 0,1 0 0,-2-1 0,0 0 0,-1-1 0,-1 1 0,8-33 0,-18 91 0,3 66 0,2-54 0,-1 54-1365,0-85-5461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6-23T06:43:58.26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1 24575,'4'0'0,"11"0"0,7 0 0,5 0 0,2 0 0,1 0 0,-1 0 0,0 0 0,0 0 0,-1 0 0,-1 0 0,-5 0-8191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6-23T06:44:01.34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0 24575,'26'2'0,"-1"1"0,0 1 0,0 1 0,0 1 0,47 19 0,21 5 0,-68-22 0,28 13 0,10 3 0,-56-22 0,1 1 0,-1-1 0,0 1 0,0 1 0,-1-1 0,1 1 0,-1 0 0,12 10 0,-18-13 0,1 0 0,0-1 0,-1 1 0,1 0 0,0 0 0,-1-1 0,1 1 0,-1 0 0,1 0 0,-1 0 0,0 0 0,1 0 0,-1 0 0,0 0 0,0 0 0,0 0 0,1 0 0,-1 0 0,0 0 0,0 0 0,-1 0 0,1 2 0,-1-1 0,1-1 0,-1 1 0,0 0 0,0-1 0,0 1 0,0-1 0,0 1 0,-1-1 0,1 1 0,0-1 0,-3 2 0,-5 4 0,0-1 0,0-1 0,-16 8 0,19-10 0,-136 59 331,-32 16-2027,142-60-5130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6-23T06:44:02.30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301 1 24575,'5'0'0,"5"0"0,-3 0 0,-16 4 0,-12 3 0,-15 3 0,-6 5 0,-6 4 0,-3 4 0,2-2 0,10 0 0,11-4-8191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6-23T06:44:03.99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158 0 24575,'2'0'0,"-1"1"0,1-1 0,-1 1 0,0-1 0,1 1 0,-1 0 0,1-1 0,-1 1 0,0 0 0,0 0 0,0 0 0,1 0 0,-1 0 0,0 0 0,0 0 0,0 1 0,0-1 0,-1 0 0,1 1 0,1 1 0,12 29 0,10 27 0,-15-42 0,-2 1 0,-1 0 0,8 30 0,-14-46 0,1 1 0,-1-1 0,0 0 0,0 1 0,0-1 0,-1 0 0,1 1 0,0-1 0,-1 0 0,0 0 0,1 1 0,-1-1 0,0 0 0,0 0 0,0 0 0,-3 4 0,1-3 0,0 1 0,0-1 0,-1 0 0,1 0 0,-1 0 0,0-1 0,1 1 0,-6 2 0,-5 1 0,-1 0 0,1-1 0,-1-1 0,-16 3 0,8-2-455,0-2 0,-28 0 0,25-3-6371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6-23T06:44:05.92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28 22 24575,'0'-5'0,"-4"-1"0,-7 0 0,-1 1-8191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6-23T06:44:17.04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403 1 24575,'-7'5'0,"0"0"0,1-1 0,-2 0 0,1 0 0,0 0 0,-1-1 0,-11 3 0,-6 4 0,-11 4 0,20-8 0,1 0 0,0 1 0,-23 15 0,-122 82 0,158-103 0,0 1 0,0-1 0,0 1 0,0 0 0,0 0 0,0 0 0,1 0 0,-1 0 0,0 0 0,1 0 0,0 0 0,-1 1 0,1-1 0,0 1 0,0-1 0,1 1 0,-2 3 0,2-3 0,0-1 0,0 0 0,0 0 0,0 1 0,1-1 0,-1 0 0,1 0 0,0 0 0,-1 0 0,1 1 0,0-1 0,0 0 0,0 0 0,1-1 0,-1 1 0,0 0 0,1 0 0,-1-1 0,1 1 0,0-1 0,2 3 0,6 4 0,0-1 0,1 0 0,1 0 0,-1-1 0,23 8 0,66 15 0,-67-21 0,55 21 0,-57-15-1365,-3-1-5461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6-23T06:44:18.13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1 24575,'4'0'0,"7"0"0,10 0 0,6 0 0,7 4 0,3 7 0,4 5 0,0 1 0,-3-4 0,-3-3 0,-3 1 0,-3 3 0,-1 0 0,-1 1 0,-5-1-8191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6-23T06:44:20.09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215 1 24575,'0'7'0,"-1"0"0,0 0 0,-1-1 0,-3 14 0,-1 2 0,-1 8 0,-4 24 0,-3 0 0,-2-1 0,-32 72 0,35-97 0,2 0 0,0 1 0,-11 52 0,5-12 0,9-44 0,2 0 0,0 1 0,2-1 0,1 1 0,0 36 0,3-59 0,1 1 0,-1-1 0,0 0 0,1 0 0,0 0 0,-1 0 0,1 0 0,1 0 0,-1 0 0,0 0 0,1 0 0,-1 0 0,1 0 0,0-1 0,0 1 0,0-1 0,0 1 0,0-1 0,1 0 0,4 3 0,-1-2 0,-1 0 0,0-1 0,1 0 0,0 0 0,0-1 0,-1 1 0,1-1 0,0-1 0,0 1 0,9-1 0,203-6-1365,-195 6-5461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6-23T06:44:21.39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7 24575,'5'-5'0,"1"4"0,4 5 0,5 8 0,0 1-8191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6-23T06:44:23.55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82 0 24575,'-4'9'0,"-7"8"0,-1 5 0,2 4 0,2 2 0,-2 0 0,1 1 0,2-1 0,2 0 0,1-1 0,3 1 0,5-1 0,6-1 0,7-4 0,4-6 0,4-5 0,-3-6-8191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6-23T06:44:47.1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24575,'0'0'-8191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6-23T06:44:50.8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6-23T06:44:52.8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24575,'0'0'-8191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6-23T07:23:07.26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0 24575,'0'0'-8191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6-23T07:23:07.27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409 169 24575,'0'-24'0,"1"12"0,-1-1 0,0 1 0,-1 0 0,-4-17 0,5 25 0,-1 1 0,0 0 0,0 0 0,-1 1 0,1-1 0,-1 0 0,1 0 0,-1 0 0,0 1 0,0-1 0,0 1 0,0 0 0,0-1 0,-1 1 0,1 0 0,-1 0 0,1 1 0,-1-1 0,0 0 0,1 1 0,-1 0 0,-3-2 0,-5 0 0,0 1 0,-1 0 0,1 0 0,0 1 0,-1 0 0,1 1 0,-1 0 0,1 1 0,0 0 0,-1 1 0,1 1 0,0-1 0,0 2 0,0-1 0,1 2 0,-1-1 0,-15 11 0,18-9 0,0 1 0,0 1 0,0 0 0,1 0 0,1 0 0,-1 1 0,1 0 0,1 0 0,-1 0 0,-4 13 0,-3 12 0,-16 59 0,23-58 0,0 0 0,3 0 0,1 0 0,1 0 0,8 64 0,-4-82 0,1 0 0,1 0 0,1-1 0,0 0 0,1 0 0,12 19 0,-15-27 0,1 0 0,0-1 0,0 0 0,0 0 0,1 0 0,0 0 0,0-1 0,1 0 0,0 0 0,0-1 0,0 0 0,0 0 0,1-1 0,0 0 0,0 0 0,0-1 0,1 0 0,-1 0 0,1-1 0,-1 0 0,1 0 0,0-1 0,0 0 0,0-1 0,0 0 0,-1 0 0,1-1 0,0 0 0,0-1 0,14-4 0,-10 1 0,1 0 0,-1-1 0,0 0 0,-1-1 0,1 0 0,-2-1 0,1-1 0,-1 0 0,0 0 0,-1-1 0,15-18 0,-14 14 0,0-1 0,-2 0 0,1 0 0,-2-1 0,0 0 0,-1-1 0,-1 1 0,8-33 0,-18 91 0,3 66 0,2-54 0,-1 54-1365,0-85-5461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6-23T07:23:07.27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1 24575,'4'0'0,"11"0"0,7 0 0,5 0 0,2 0 0,1 0 0,-1 0 0,0 0 0,0 0 0,-1 0 0,-1 0 0,-5 0-8191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6-23T07:23:07.27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0 24575,'26'2'0,"-1"1"0,0 1 0,0 1 0,0 1 0,47 19 0,21 5 0,-68-22 0,28 13 0,10 3 0,-56-22 0,1 1 0,-1-1 0,0 1 0,0 1 0,-1-1 0,1 1 0,-1 0 0,12 10 0,-18-13 0,1 0 0,0-1 0,-1 1 0,1 0 0,0 0 0,-1-1 0,1 1 0,-1 0 0,1 0 0,-1 0 0,0 0 0,1 0 0,-1 0 0,0 0 0,0 0 0,0 0 0,1 0 0,-1 0 0,0 0 0,0 0 0,-1 0 0,1 2 0,-1-1 0,1-1 0,-1 1 0,0 0 0,0-1 0,0 1 0,0-1 0,0 1 0,-1-1 0,1 1 0,0-1 0,-3 2 0,-5 4 0,0-1 0,0-1 0,-16 8 0,19-10 0,-136 59 331,-32 16-2027,142-60-5130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6-23T07:23:07.28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301 1 24575,'5'0'0,"5"0"0,-3 0 0,-16 4 0,-12 3 0,-15 3 0,-6 5 0,-6 4 0,-3 4 0,2-2 0,10 0 0,11-4-8191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6-23T07:23:07.28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158 0 24575,'2'0'0,"-1"1"0,1-1 0,-1 1 0,0-1 0,1 1 0,-1 0 0,1-1 0,-1 1 0,0 0 0,0 0 0,0 0 0,1 0 0,-1 0 0,0 0 0,0 0 0,0 1 0,0-1 0,-1 0 0,1 1 0,1 1 0,12 29 0,10 27 0,-15-42 0,-2 1 0,-1 0 0,8 30 0,-14-46 0,1 1 0,-1-1 0,0 0 0,0 1 0,0-1 0,-1 0 0,1 1 0,0-1 0,-1 0 0,0 0 0,1 1 0,-1-1 0,0 0 0,0 0 0,0 0 0,-3 4 0,1-3 0,0 1 0,0-1 0,-1 0 0,1 0 0,-1 0 0,0-1 0,1 1 0,-6 2 0,-5 1 0,-1 0 0,1-1 0,-1-1 0,-16 3 0,8-2-455,0-2 0,-28 0 0,25-3-6371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6-23T07:23:07.28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28 22 24575,'0'-5'0,"-4"-1"0,-7 0 0,-1 1-8191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6-23T07:23:07.27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403 1 24575,'-7'5'0,"0"0"0,1-1 0,-2 0 0,1 0 0,0 0 0,-1-1 0,-11 3 0,-6 4 0,-11 4 0,20-8 0,1 0 0,0 1 0,-23 15 0,-122 82 0,158-103 0,0 1 0,0-1 0,0 1 0,0 0 0,0 0 0,0 0 0,1 0 0,-1 0 0,0 0 0,1 0 0,0 0 0,-1 1 0,1-1 0,0 1 0,0-1 0,1 1 0,-2 3 0,2-3 0,0-1 0,0 0 0,0 0 0,0 1 0,1-1 0,-1 0 0,1 0 0,0 0 0,-1 0 0,1 1 0,0-1 0,0 0 0,0 0 0,1-1 0,-1 1 0,0 0 0,1 0 0,-1-1 0,1 1 0,0-1 0,2 3 0,6 4 0,0-1 0,1 0 0,1 0 0,-1-1 0,23 8 0,66 15 0,-67-21 0,55 21 0,-57-15-1365,-3-1-5461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6-23T07:23:07.27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1 24575,'4'0'0,"7"0"0,10 0 0,6 0 0,7 4 0,3 7 0,4 5 0,0 1 0,-3-4 0,-3-3 0,-3 1 0,-3 3 0,-1 0 0,-1 1 0,-5-1-8191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6-23T07:23:07.27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215 1 24575,'0'7'0,"-1"0"0,0 0 0,-1-1 0,-3 14 0,-1 2 0,-1 8 0,-4 24 0,-3 0 0,-2-1 0,-32 72 0,35-97 0,2 0 0,0 1 0,-11 52 0,5-12 0,9-44 0,2 0 0,0 1 0,2-1 0,1 1 0,0 36 0,3-59 0,1 1 0,-1-1 0,0 0 0,1 0 0,0 0 0,-1 0 0,1 0 0,1 0 0,-1 0 0,0 0 0,1 0 0,-1 0 0,1 0 0,0-1 0,0 1 0,0-1 0,0 1 0,0-1 0,1 0 0,4 3 0,-1-2 0,-1 0 0,0-1 0,1 0 0,0 0 0,0-1 0,-1 1 0,1-1 0,0-1 0,0 1 0,9-1 0,203-6-1365,-195 6-5461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6-23T07:23:07.27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7 24575,'5'-5'0,"1"4"0,4 5 0,5 8 0,0 1-8191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6-23T07:23:07.27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82 0 24575,'-4'9'0,"-7"8"0,-1 5 0,2 4 0,2 2 0,-2 0 0,1 1 0,2-1 0,2 0 0,1-1 0,3 1 0,5-1 0,6-1 0,7-4 0,4-6 0,4-5 0,-3-6-8191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5A777B-5971-487C-8674-87B93550FBC5}" type="datetimeFigureOut">
              <a:rPr lang="zh-CN" altLang="en-US" smtClean="0"/>
              <a:t>2026/1/25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86F8E0-F49C-4E93-9A21-7BC557BE61F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91789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6F8E0-F49C-4E93-9A21-7BC557BE61F6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48038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6F8E0-F49C-4E93-9A21-7BC557BE61F6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00216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3B940A-4B55-4E6A-8F18-E17760013B05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91713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3B940A-4B55-4E6A-8F18-E17760013B05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87953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3B940A-4B55-4E6A-8F18-E17760013B05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93406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3B940A-4B55-4E6A-8F18-E17760013B05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893424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6F8E0-F49C-4E93-9A21-7BC557BE61F6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035380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6F8E0-F49C-4E93-9A21-7BC557BE61F6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432508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6F8E0-F49C-4E93-9A21-7BC557BE61F6}" type="slidenum">
              <a:rPr lang="zh-CN" altLang="en-US" smtClean="0"/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430274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6F8E0-F49C-4E93-9A21-7BC557BE61F6}" type="slidenum">
              <a:rPr lang="zh-CN" altLang="en-US" smtClean="0"/>
              <a:t>47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25773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6F8E0-F49C-4E93-9A21-7BC557BE61F6}" type="slidenum">
              <a:rPr lang="zh-CN" altLang="en-US" smtClean="0"/>
              <a:t>59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30917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7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2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2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2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4"/>
            <a:ext cx="5386917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70" y="1535114"/>
            <a:ext cx="5389033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70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3" y="273050"/>
            <a:ext cx="4011084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40"/>
            <a:ext cx="27432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40"/>
            <a:ext cx="80264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Shape 56"/>
          <p:cNvSpPr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57" name="Shape 57"/>
          <p:cNvSpPr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8" name="Shape 58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83311944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pct10">
          <a:fgClr>
            <a:schemeClr val="accent6">
              <a:lumMod val="20000"/>
              <a:lumOff val="8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600202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963848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8705028F-7131-FB0E-F166-1DA6025452E4}"/>
              </a:ext>
            </a:extLst>
          </p:cNvPr>
          <p:cNvSpPr txBox="1">
            <a:spLocks/>
          </p:cNvSpPr>
          <p:nvPr userDrawn="1"/>
        </p:nvSpPr>
        <p:spPr>
          <a:xfrm>
            <a:off x="9192344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/>
              <a:t>/59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13" Type="http://schemas.openxmlformats.org/officeDocument/2006/relationships/customXml" Target="../ink/ink6.xml"/><Relationship Id="rId18" Type="http://schemas.openxmlformats.org/officeDocument/2006/relationships/image" Target="../media/image8.png"/><Relationship Id="rId26" Type="http://schemas.openxmlformats.org/officeDocument/2006/relationships/image" Target="../media/image12.png"/><Relationship Id="rId3" Type="http://schemas.openxmlformats.org/officeDocument/2006/relationships/customXml" Target="../ink/ink1.xml"/><Relationship Id="rId21" Type="http://schemas.openxmlformats.org/officeDocument/2006/relationships/customXml" Target="../ink/ink10.xml"/><Relationship Id="rId7" Type="http://schemas.openxmlformats.org/officeDocument/2006/relationships/customXml" Target="../ink/ink3.xml"/><Relationship Id="rId12" Type="http://schemas.openxmlformats.org/officeDocument/2006/relationships/image" Target="../media/image5.png"/><Relationship Id="rId17" Type="http://schemas.openxmlformats.org/officeDocument/2006/relationships/customXml" Target="../ink/ink8.xml"/><Relationship Id="rId25" Type="http://schemas.openxmlformats.org/officeDocument/2006/relationships/customXml" Target="../ink/ink12.xml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7.png"/><Relationship Id="rId20" Type="http://schemas.openxmlformats.org/officeDocument/2006/relationships/image" Target="../media/image9.png"/><Relationship Id="rId29" Type="http://schemas.openxmlformats.org/officeDocument/2006/relationships/customXml" Target="../ink/ink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11" Type="http://schemas.openxmlformats.org/officeDocument/2006/relationships/customXml" Target="../ink/ink5.xml"/><Relationship Id="rId24" Type="http://schemas.openxmlformats.org/officeDocument/2006/relationships/image" Target="../media/image11.png"/><Relationship Id="rId5" Type="http://schemas.openxmlformats.org/officeDocument/2006/relationships/customXml" Target="../ink/ink2.xml"/><Relationship Id="rId15" Type="http://schemas.openxmlformats.org/officeDocument/2006/relationships/customXml" Target="../ink/ink7.xml"/><Relationship Id="rId23" Type="http://schemas.openxmlformats.org/officeDocument/2006/relationships/customXml" Target="../ink/ink11.xml"/><Relationship Id="rId28" Type="http://schemas.openxmlformats.org/officeDocument/2006/relationships/image" Target="../media/image13.png"/><Relationship Id="rId10" Type="http://schemas.openxmlformats.org/officeDocument/2006/relationships/image" Target="../media/image4.png"/><Relationship Id="rId19" Type="http://schemas.openxmlformats.org/officeDocument/2006/relationships/customXml" Target="../ink/ink9.xml"/><Relationship Id="rId4" Type="http://schemas.openxmlformats.org/officeDocument/2006/relationships/image" Target="../media/image110.png"/><Relationship Id="rId9" Type="http://schemas.openxmlformats.org/officeDocument/2006/relationships/customXml" Target="../ink/ink4.xml"/><Relationship Id="rId14" Type="http://schemas.openxmlformats.org/officeDocument/2006/relationships/image" Target="../media/image6.png"/><Relationship Id="rId22" Type="http://schemas.openxmlformats.org/officeDocument/2006/relationships/image" Target="../media/image10.png"/><Relationship Id="rId27" Type="http://schemas.openxmlformats.org/officeDocument/2006/relationships/customXml" Target="../ink/ink13.xml"/><Relationship Id="rId30" Type="http://schemas.openxmlformats.org/officeDocument/2006/relationships/customXml" Target="../ink/ink15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customXml" Target="../ink/ink18.xml"/><Relationship Id="rId13" Type="http://schemas.openxmlformats.org/officeDocument/2006/relationships/image" Target="../media/image5.png"/><Relationship Id="rId18" Type="http://schemas.openxmlformats.org/officeDocument/2006/relationships/customXml" Target="../ink/ink23.xml"/><Relationship Id="rId26" Type="http://schemas.openxmlformats.org/officeDocument/2006/relationships/customXml" Target="../ink/ink27.xml"/><Relationship Id="rId3" Type="http://schemas.openxmlformats.org/officeDocument/2006/relationships/image" Target="../media/image14.png"/><Relationship Id="rId21" Type="http://schemas.openxmlformats.org/officeDocument/2006/relationships/image" Target="../media/image9.png"/><Relationship Id="rId7" Type="http://schemas.openxmlformats.org/officeDocument/2006/relationships/image" Target="../media/image2.png"/><Relationship Id="rId12" Type="http://schemas.openxmlformats.org/officeDocument/2006/relationships/customXml" Target="../ink/ink20.xml"/><Relationship Id="rId17" Type="http://schemas.openxmlformats.org/officeDocument/2006/relationships/image" Target="../media/image7.png"/><Relationship Id="rId25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6" Type="http://schemas.openxmlformats.org/officeDocument/2006/relationships/customXml" Target="../ink/ink22.xml"/><Relationship Id="rId20" Type="http://schemas.openxmlformats.org/officeDocument/2006/relationships/customXml" Target="../ink/ink24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7.xml"/><Relationship Id="rId11" Type="http://schemas.openxmlformats.org/officeDocument/2006/relationships/image" Target="../media/image4.png"/><Relationship Id="rId24" Type="http://schemas.openxmlformats.org/officeDocument/2006/relationships/customXml" Target="../ink/ink26.xml"/><Relationship Id="rId5" Type="http://schemas.openxmlformats.org/officeDocument/2006/relationships/image" Target="../media/image110.png"/><Relationship Id="rId15" Type="http://schemas.openxmlformats.org/officeDocument/2006/relationships/image" Target="../media/image6.png"/><Relationship Id="rId23" Type="http://schemas.openxmlformats.org/officeDocument/2006/relationships/image" Target="../media/image10.png"/><Relationship Id="rId10" Type="http://schemas.openxmlformats.org/officeDocument/2006/relationships/customXml" Target="../ink/ink19.xml"/><Relationship Id="rId19" Type="http://schemas.openxmlformats.org/officeDocument/2006/relationships/image" Target="../media/image8.png"/><Relationship Id="rId4" Type="http://schemas.openxmlformats.org/officeDocument/2006/relationships/customXml" Target="../ink/ink16.xml"/><Relationship Id="rId9" Type="http://schemas.openxmlformats.org/officeDocument/2006/relationships/image" Target="../media/image3.png"/><Relationship Id="rId14" Type="http://schemas.openxmlformats.org/officeDocument/2006/relationships/customXml" Target="../ink/ink21.xml"/><Relationship Id="rId22" Type="http://schemas.openxmlformats.org/officeDocument/2006/relationships/customXml" Target="../ink/ink25.xml"/><Relationship Id="rId27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tags" Target="../tags/tag5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5" Type="http://schemas.openxmlformats.org/officeDocument/2006/relationships/image" Target="../media/image21.png"/><Relationship Id="rId4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tags" Target="../tags/tag8.xml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4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tags" Target="../tags/tag11.xml"/><Relationship Id="rId7" Type="http://schemas.openxmlformats.org/officeDocument/2006/relationships/slideLayout" Target="../slideLayouts/slideLayout2.xml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6" Type="http://schemas.openxmlformats.org/officeDocument/2006/relationships/tags" Target="../tags/tag14.xml"/><Relationship Id="rId5" Type="http://schemas.openxmlformats.org/officeDocument/2006/relationships/tags" Target="../tags/tag13.xml"/><Relationship Id="rId4" Type="http://schemas.openxmlformats.org/officeDocument/2006/relationships/tags" Target="../tags/tag12.xml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jpeg"/><Relationship Id="rId3" Type="http://schemas.openxmlformats.org/officeDocument/2006/relationships/tags" Target="../tags/tag17.xml"/><Relationship Id="rId7" Type="http://schemas.openxmlformats.org/officeDocument/2006/relationships/slideLayout" Target="../slideLayouts/slideLayout2.xml"/><Relationship Id="rId2" Type="http://schemas.openxmlformats.org/officeDocument/2006/relationships/tags" Target="../tags/tag16.xml"/><Relationship Id="rId1" Type="http://schemas.openxmlformats.org/officeDocument/2006/relationships/tags" Target="../tags/tag15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tags" Target="../tags/tag23.xml"/><Relationship Id="rId7" Type="http://schemas.openxmlformats.org/officeDocument/2006/relationships/image" Target="../media/image22.jpeg"/><Relationship Id="rId2" Type="http://schemas.openxmlformats.org/officeDocument/2006/relationships/tags" Target="../tags/tag22.xml"/><Relationship Id="rId1" Type="http://schemas.openxmlformats.org/officeDocument/2006/relationships/tags" Target="../tags/tag21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25.xml"/><Relationship Id="rId4" Type="http://schemas.openxmlformats.org/officeDocument/2006/relationships/tags" Target="../tags/tag24.xml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tags" Target="../tags/tag33.xml"/><Relationship Id="rId3" Type="http://schemas.openxmlformats.org/officeDocument/2006/relationships/tags" Target="../tags/tag28.xml"/><Relationship Id="rId7" Type="http://schemas.openxmlformats.org/officeDocument/2006/relationships/tags" Target="../tags/tag32.xml"/><Relationship Id="rId2" Type="http://schemas.openxmlformats.org/officeDocument/2006/relationships/tags" Target="../tags/tag27.xml"/><Relationship Id="rId1" Type="http://schemas.openxmlformats.org/officeDocument/2006/relationships/tags" Target="../tags/tag26.xml"/><Relationship Id="rId6" Type="http://schemas.openxmlformats.org/officeDocument/2006/relationships/tags" Target="../tags/tag31.xml"/><Relationship Id="rId5" Type="http://schemas.openxmlformats.org/officeDocument/2006/relationships/tags" Target="../tags/tag30.xml"/><Relationship Id="rId4" Type="http://schemas.openxmlformats.org/officeDocument/2006/relationships/tags" Target="../tags/tag29.xml"/><Relationship Id="rId9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5.xml"/><Relationship Id="rId1" Type="http://schemas.openxmlformats.org/officeDocument/2006/relationships/tags" Target="../tags/tag34.xml"/><Relationship Id="rId4" Type="http://schemas.openxmlformats.org/officeDocument/2006/relationships/image" Target="../media/image23.png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tags" Target="../tags/tag43.xml"/><Relationship Id="rId3" Type="http://schemas.openxmlformats.org/officeDocument/2006/relationships/tags" Target="../tags/tag38.xml"/><Relationship Id="rId7" Type="http://schemas.openxmlformats.org/officeDocument/2006/relationships/tags" Target="../tags/tag42.xml"/><Relationship Id="rId12" Type="http://schemas.openxmlformats.org/officeDocument/2006/relationships/image" Target="../media/image26.png"/><Relationship Id="rId2" Type="http://schemas.openxmlformats.org/officeDocument/2006/relationships/tags" Target="../tags/tag37.xml"/><Relationship Id="rId1" Type="http://schemas.openxmlformats.org/officeDocument/2006/relationships/tags" Target="../tags/tag36.xml"/><Relationship Id="rId6" Type="http://schemas.openxmlformats.org/officeDocument/2006/relationships/tags" Target="../tags/tag41.xml"/><Relationship Id="rId11" Type="http://schemas.openxmlformats.org/officeDocument/2006/relationships/image" Target="../media/image25.png"/><Relationship Id="rId5" Type="http://schemas.openxmlformats.org/officeDocument/2006/relationships/tags" Target="../tags/tag40.xml"/><Relationship Id="rId10" Type="http://schemas.openxmlformats.org/officeDocument/2006/relationships/image" Target="../media/image24.png"/><Relationship Id="rId4" Type="http://schemas.openxmlformats.org/officeDocument/2006/relationships/tags" Target="../tags/tag39.xml"/><Relationship Id="rId9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3" Type="http://schemas.openxmlformats.org/officeDocument/2006/relationships/tags" Target="../tags/tag46.xml"/><Relationship Id="rId7" Type="http://schemas.openxmlformats.org/officeDocument/2006/relationships/tags" Target="../tags/tag50.xml"/><Relationship Id="rId2" Type="http://schemas.openxmlformats.org/officeDocument/2006/relationships/tags" Target="../tags/tag45.xml"/><Relationship Id="rId1" Type="http://schemas.openxmlformats.org/officeDocument/2006/relationships/tags" Target="../tags/tag44.xml"/><Relationship Id="rId6" Type="http://schemas.openxmlformats.org/officeDocument/2006/relationships/tags" Target="../tags/tag49.xml"/><Relationship Id="rId5" Type="http://schemas.openxmlformats.org/officeDocument/2006/relationships/tags" Target="../tags/tag48.xml"/><Relationship Id="rId4" Type="http://schemas.openxmlformats.org/officeDocument/2006/relationships/tags" Target="../tags/tag47.xml"/><Relationship Id="rId9" Type="http://schemas.openxmlformats.org/officeDocument/2006/relationships/image" Target="../media/image27.pn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png"/><Relationship Id="rId3" Type="http://schemas.openxmlformats.org/officeDocument/2006/relationships/image" Target="../media/image33.png"/><Relationship Id="rId7" Type="http://schemas.openxmlformats.org/officeDocument/2006/relationships/image" Target="../media/image90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11" Type="http://schemas.openxmlformats.org/officeDocument/2006/relationships/image" Target="../media/image38.png"/><Relationship Id="rId5" Type="http://schemas.openxmlformats.org/officeDocument/2006/relationships/image" Target="../media/image70.png"/><Relationship Id="rId10" Type="http://schemas.openxmlformats.org/officeDocument/2006/relationships/image" Target="../media/image37.png"/><Relationship Id="rId4" Type="http://schemas.openxmlformats.org/officeDocument/2006/relationships/image" Target="../media/image34.png"/><Relationship Id="rId9" Type="http://schemas.openxmlformats.org/officeDocument/2006/relationships/image" Target="../media/image36.png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png"/><Relationship Id="rId3" Type="http://schemas.openxmlformats.org/officeDocument/2006/relationships/image" Target="../media/image50.png"/><Relationship Id="rId7" Type="http://schemas.openxmlformats.org/officeDocument/2006/relationships/image" Target="../media/image90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11" Type="http://schemas.openxmlformats.org/officeDocument/2006/relationships/image" Target="../media/image42.png"/><Relationship Id="rId5" Type="http://schemas.openxmlformats.org/officeDocument/2006/relationships/image" Target="../media/image70.png"/><Relationship Id="rId10" Type="http://schemas.openxmlformats.org/officeDocument/2006/relationships/image" Target="../media/image41.png"/><Relationship Id="rId4" Type="http://schemas.openxmlformats.org/officeDocument/2006/relationships/image" Target="../media/image60.png"/><Relationship Id="rId9" Type="http://schemas.openxmlformats.org/officeDocument/2006/relationships/image" Target="../media/image40.png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0.png"/><Relationship Id="rId3" Type="http://schemas.openxmlformats.org/officeDocument/2006/relationships/image" Target="../media/image150.png"/><Relationship Id="rId7" Type="http://schemas.openxmlformats.org/officeDocument/2006/relationships/image" Target="../media/image90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11" Type="http://schemas.openxmlformats.org/officeDocument/2006/relationships/image" Target="../media/image47.png"/><Relationship Id="rId5" Type="http://schemas.openxmlformats.org/officeDocument/2006/relationships/image" Target="../media/image170.png"/><Relationship Id="rId10" Type="http://schemas.openxmlformats.org/officeDocument/2006/relationships/image" Target="../media/image46.png"/><Relationship Id="rId4" Type="http://schemas.openxmlformats.org/officeDocument/2006/relationships/image" Target="../media/image44.png"/><Relationship Id="rId9" Type="http://schemas.openxmlformats.org/officeDocument/2006/relationships/image" Target="../media/image45.png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150.png"/><Relationship Id="rId7" Type="http://schemas.openxmlformats.org/officeDocument/2006/relationships/image" Target="../media/image180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0.png"/><Relationship Id="rId5" Type="http://schemas.openxmlformats.org/officeDocument/2006/relationships/image" Target="../media/image170.png"/><Relationship Id="rId10" Type="http://schemas.openxmlformats.org/officeDocument/2006/relationships/image" Target="../media/image47.png"/><Relationship Id="rId4" Type="http://schemas.openxmlformats.org/officeDocument/2006/relationships/image" Target="../media/image44.png"/><Relationship Id="rId9" Type="http://schemas.openxmlformats.org/officeDocument/2006/relationships/image" Target="../media/image46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6650ED-5D37-DCE0-9FF3-51118D0554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50C0CDAC-A0F6-2473-E145-30FC649823C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alphaModFix amt="2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GlowEdges trans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5003"/>
          <a:stretch/>
        </p:blipFill>
        <p:spPr bwMode="auto">
          <a:xfrm>
            <a:off x="-41149" y="-891480"/>
            <a:ext cx="12230363" cy="774948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文本框 5">
            <a:extLst>
              <a:ext uri="{FF2B5EF4-FFF2-40B4-BE49-F238E27FC236}">
                <a16:creationId xmlns:a16="http://schemas.microsoft.com/office/drawing/2014/main" id="{6C8C61F7-EAC1-0068-A016-4A66881184B4}"/>
              </a:ext>
            </a:extLst>
          </p:cNvPr>
          <p:cNvSpPr txBox="1"/>
          <p:nvPr/>
        </p:nvSpPr>
        <p:spPr>
          <a:xfrm>
            <a:off x="0" y="4653136"/>
            <a:ext cx="12192000" cy="1107996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660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Consolas" panose="020B0609020204030204" pitchFamily="49" charset="0"/>
                <a:ea typeface="+mj-ea"/>
                <a:cs typeface="+mn-ea"/>
              </a:rPr>
              <a:t>day2 SH-B260102 </a:t>
            </a:r>
            <a:r>
              <a:rPr lang="zh-CN" altLang="en-US" sz="660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Consolas" panose="020B0609020204030204" pitchFamily="49" charset="0"/>
                <a:ea typeface="+mj-ea"/>
                <a:cs typeface="+mn-ea"/>
              </a:rPr>
              <a:t>集训</a:t>
            </a:r>
            <a:r>
              <a:rPr lang="en-US" altLang="zh-CN" sz="66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Consolas" panose="020B0609020204030204" pitchFamily="49" charset="0"/>
                <a:ea typeface="+mj-ea"/>
                <a:cs typeface="+mn-ea"/>
              </a:rPr>
              <a:t>-</a:t>
            </a:r>
            <a:r>
              <a:rPr lang="zh-CN" altLang="en-US" sz="66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Consolas" panose="020B0609020204030204" pitchFamily="49" charset="0"/>
                <a:ea typeface="+mj-ea"/>
                <a:cs typeface="+mn-ea"/>
              </a:rPr>
              <a:t>讲解</a:t>
            </a:r>
            <a:endParaRPr lang="zh-CN" altLang="en-US" sz="66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+mj-ea"/>
              <a:ea typeface="+mj-ea"/>
              <a:cs typeface="+mn-ea"/>
              <a:sym typeface="+mn-lt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C99DA6F-3538-408A-46E5-D64CF01522FE}"/>
              </a:ext>
            </a:extLst>
          </p:cNvPr>
          <p:cNvSpPr/>
          <p:nvPr/>
        </p:nvSpPr>
        <p:spPr>
          <a:xfrm>
            <a:off x="657096" y="428715"/>
            <a:ext cx="5400600" cy="2554545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w="152400" h="50800" prst="softRound"/>
          </a:sp3d>
        </p:spPr>
        <p:txBody>
          <a:bodyPr wrap="square" lIns="91440" tIns="45720" rIns="91440" bIns="45720">
            <a:spAutoFit/>
          </a:bodyPr>
          <a:lstStyle/>
          <a:p>
            <a:pPr algn="just"/>
            <a:r>
              <a:rPr lang="en-US" altLang="zh-CN" sz="1600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3000" endA="300" endPos="35500" dir="5400000" sy="-90000" algn="bl" rotWithShape="0"/>
                </a:effectLst>
                <a:latin typeface="Adobe 黑体 Std R" panose="020B0400000000000000" pitchFamily="34" charset="-122"/>
                <a:ea typeface="Adobe 黑体 Std R" panose="020B0400000000000000" pitchFamily="34" charset="-122"/>
              </a:rPr>
              <a:t>C++</a:t>
            </a:r>
            <a:endParaRPr lang="zh-CN" altLang="en-US" sz="16000" dirty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  <a:reflection blurRad="6350" stA="53000" endA="300" endPos="35500" dir="5400000" sy="-90000" algn="bl" rotWithShape="0"/>
              </a:effectLst>
              <a:latin typeface="Adobe 黑体 Std R" panose="020B0400000000000000" pitchFamily="34" charset="-122"/>
              <a:ea typeface="Adobe 黑体 Std R" panose="020B0400000000000000" pitchFamily="34" charset="-122"/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395887D4-41B9-7CE2-B449-1030F66316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57229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F1E976-E7D6-8426-B05A-DB40C48F6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3">
            <a:extLst>
              <a:ext uri="{FF2B5EF4-FFF2-40B4-BE49-F238E27FC236}">
                <a16:creationId xmlns:a16="http://schemas.microsoft.com/office/drawing/2014/main" id="{58AF0DB1-FA76-B53F-770F-A54555503574}"/>
              </a:ext>
            </a:extLst>
          </p:cNvPr>
          <p:cNvSpPr txBox="1"/>
          <p:nvPr/>
        </p:nvSpPr>
        <p:spPr>
          <a:xfrm>
            <a:off x="-210616" y="2636912"/>
            <a:ext cx="12613232" cy="1015659"/>
          </a:xfrm>
          <a:prstGeom prst="rect">
            <a:avLst/>
          </a:prstGeom>
          <a:solidFill>
            <a:srgbClr val="F2F2F2"/>
          </a:solidFill>
          <a:ln w="12700">
            <a:solidFill>
              <a:srgbClr val="4A452A"/>
            </a:solidFill>
          </a:ln>
        </p:spPr>
        <p:txBody>
          <a:bodyPr wrap="square" lIns="45718" tIns="45718" rIns="45718" bIns="45718">
            <a:spAutoFit/>
          </a:bodyPr>
          <a:lstStyle>
            <a:defPPr>
              <a:defRPr lang="zh-CN"/>
            </a:defPPr>
            <a:lvl1pPr algn="ctr" defTabSz="914367">
              <a:defRPr sz="3937">
                <a:latin typeface="Calibri"/>
                <a:ea typeface="Calibri"/>
                <a:cs typeface="Calibri"/>
              </a:defRPr>
            </a:lvl1pPr>
          </a:lstStyle>
          <a:p>
            <a:pPr>
              <a:defRPr sz="5600">
                <a:latin typeface="Calibri"/>
                <a:ea typeface="Calibri"/>
                <a:cs typeface="Calibri"/>
                <a:sym typeface="Calibri"/>
              </a:defRPr>
            </a:pPr>
            <a:r>
              <a:rPr lang="en-US" altLang="zh-CN" sz="6000"/>
              <a:t>T1 </a:t>
            </a:r>
            <a:r>
              <a:rPr lang="zh-CN" altLang="en-US" sz="6000"/>
              <a:t>躲猫猫</a:t>
            </a:r>
            <a:endParaRPr lang="zh-CN" altLang="en-US" sz="60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9D79162-2E5E-2A96-CC9E-D0A2FD574880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altLang="zh-CN" smtClean="0"/>
              <a:t>2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73280051"/>
      </p:ext>
    </p:extLst>
  </p:cSld>
  <p:clrMapOvr>
    <a:masterClrMapping/>
  </p:clrMapOvr>
  <p:transition spd="slow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3500332" y="756810"/>
            <a:ext cx="5330452" cy="83099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2400" dirty="0">
                <a:latin typeface="Consolas" pitchFamily="49" charset="0"/>
                <a:cs typeface="Consolas" pitchFamily="49" charset="0"/>
              </a:rPr>
              <a:t>请同学写出题目大意</a:t>
            </a:r>
            <a:endParaRPr lang="en-US" altLang="zh-CN" sz="2400" dirty="0">
              <a:latin typeface="Consolas" pitchFamily="49" charset="0"/>
              <a:cs typeface="Consolas" pitchFamily="49" charset="0"/>
            </a:endParaRPr>
          </a:p>
          <a:p>
            <a:pPr algn="ctr"/>
            <a:r>
              <a:rPr lang="zh-CN" altLang="en-US" sz="2400" dirty="0">
                <a:latin typeface="Consolas" pitchFamily="49" charset="0"/>
                <a:cs typeface="Consolas" pitchFamily="49" charset="0"/>
              </a:rPr>
              <a:t>已知什么求什么</a:t>
            </a:r>
          </a:p>
        </p:txBody>
      </p:sp>
      <p:sp>
        <p:nvSpPr>
          <p:cNvPr id="7" name="矩形 6"/>
          <p:cNvSpPr/>
          <p:nvPr/>
        </p:nvSpPr>
        <p:spPr>
          <a:xfrm>
            <a:off x="3500332" y="1714788"/>
            <a:ext cx="5330452" cy="1938992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2400" dirty="0">
                <a:latin typeface="Consolas" panose="020B0609020204030204" pitchFamily="49" charset="0"/>
              </a:rPr>
              <a:t>B</a:t>
            </a:r>
            <a:r>
              <a:rPr lang="zh-CN" altLang="en-US" sz="2400" dirty="0">
                <a:latin typeface="Consolas" panose="020B0609020204030204" pitchFamily="49" charset="0"/>
              </a:rPr>
              <a:t>在数轴某处</a:t>
            </a:r>
            <a:r>
              <a:rPr lang="en-US" altLang="zh-CN" sz="2400" dirty="0">
                <a:latin typeface="Consolas" panose="020B0609020204030204" pitchFamily="49" charset="0"/>
              </a:rPr>
              <a:t>,</a:t>
            </a:r>
            <a:r>
              <a:rPr lang="zh-CN" altLang="en-US" sz="2400" dirty="0">
                <a:latin typeface="Consolas" panose="020B0609020204030204" pitchFamily="49" charset="0"/>
              </a:rPr>
              <a:t>有</a:t>
            </a:r>
            <a:r>
              <a:rPr lang="en-US" altLang="zh-CN" sz="2400" dirty="0">
                <a:latin typeface="Consolas" panose="020B0609020204030204" pitchFamily="49" charset="0"/>
              </a:rPr>
              <a:t>N</a:t>
            </a:r>
            <a:r>
              <a:rPr lang="zh-CN" altLang="en-US" sz="2400" dirty="0">
                <a:latin typeface="Consolas" panose="020B0609020204030204" pitchFamily="49" charset="0"/>
              </a:rPr>
              <a:t>条信息描述</a:t>
            </a:r>
            <a:endParaRPr lang="en-US" altLang="zh-CN" sz="2400" dirty="0">
              <a:latin typeface="Consolas" panose="020B0609020204030204" pitchFamily="49" charset="0"/>
            </a:endParaRPr>
          </a:p>
          <a:p>
            <a:pPr algn="ctr"/>
            <a:r>
              <a:rPr lang="zh-CN" altLang="en-US" sz="2400" dirty="0">
                <a:latin typeface="Consolas" panose="020B0609020204030204" pitchFamily="49" charset="0"/>
              </a:rPr>
              <a:t>每条信息</a:t>
            </a:r>
            <a:r>
              <a:rPr lang="en-US" altLang="zh-CN" sz="2400" dirty="0">
                <a:latin typeface="Consolas" panose="020B0609020204030204" pitchFamily="49" charset="0"/>
              </a:rPr>
              <a:t>,</a:t>
            </a:r>
            <a:r>
              <a:rPr lang="zh-CN" altLang="en-US" sz="2400" dirty="0">
                <a:latin typeface="Consolas" panose="020B0609020204030204" pitchFamily="49" charset="0"/>
              </a:rPr>
              <a:t>要么说</a:t>
            </a:r>
            <a:r>
              <a:rPr lang="en-US" altLang="zh-CN" sz="2400" dirty="0">
                <a:latin typeface="Consolas" panose="020B0609020204030204" pitchFamily="49" charset="0"/>
              </a:rPr>
              <a:t>B</a:t>
            </a:r>
            <a:r>
              <a:rPr lang="zh-CN" altLang="en-US" sz="2400" dirty="0">
                <a:latin typeface="Consolas" panose="020B0609020204030204" pitchFamily="49" charset="0"/>
              </a:rPr>
              <a:t>≤</a:t>
            </a:r>
            <a:r>
              <a:rPr lang="en-US" altLang="zh-CN" sz="2400" dirty="0">
                <a:latin typeface="Consolas" panose="020B0609020204030204" pitchFamily="49" charset="0"/>
              </a:rPr>
              <a:t>p</a:t>
            </a:r>
            <a:r>
              <a:rPr lang="en-US" altLang="zh-CN" sz="2400" baseline="-25000" dirty="0">
                <a:latin typeface="Consolas" panose="020B0609020204030204" pitchFamily="49" charset="0"/>
              </a:rPr>
              <a:t>i</a:t>
            </a:r>
            <a:endParaRPr lang="en-US" altLang="zh-CN" sz="2400" dirty="0">
              <a:latin typeface="Consolas" panose="020B0609020204030204" pitchFamily="49" charset="0"/>
            </a:endParaRPr>
          </a:p>
          <a:p>
            <a:pPr algn="ctr"/>
            <a:r>
              <a:rPr lang="zh-CN" altLang="en-US" sz="2400" dirty="0">
                <a:latin typeface="Consolas" panose="020B0609020204030204" pitchFamily="49" charset="0"/>
              </a:rPr>
              <a:t>要么说</a:t>
            </a:r>
            <a:r>
              <a:rPr lang="en-US" altLang="zh-CN" sz="2400" dirty="0">
                <a:latin typeface="Consolas" panose="020B0609020204030204" pitchFamily="49" charset="0"/>
              </a:rPr>
              <a:t>B</a:t>
            </a:r>
            <a:r>
              <a:rPr lang="zh-CN" altLang="en-US" sz="2400" dirty="0">
                <a:latin typeface="Consolas" panose="020B0609020204030204" pitchFamily="49" charset="0"/>
              </a:rPr>
              <a:t>≥</a:t>
            </a:r>
            <a:r>
              <a:rPr lang="en-US" altLang="zh-CN" sz="2400" dirty="0">
                <a:latin typeface="Consolas" panose="020B0609020204030204" pitchFamily="49" charset="0"/>
              </a:rPr>
              <a:t>p</a:t>
            </a:r>
            <a:r>
              <a:rPr lang="en-US" altLang="zh-CN" sz="2400" baseline="-25000" dirty="0">
                <a:latin typeface="Consolas" panose="020B0609020204030204" pitchFamily="49" charset="0"/>
              </a:rPr>
              <a:t>i</a:t>
            </a:r>
          </a:p>
          <a:p>
            <a:pPr algn="ctr"/>
            <a:r>
              <a:rPr lang="zh-CN" altLang="en-US" sz="2400" dirty="0">
                <a:latin typeface="Consolas" panose="020B0609020204030204" pitchFamily="49" charset="0"/>
              </a:rPr>
              <a:t>有些信息是假的</a:t>
            </a:r>
            <a:endParaRPr lang="en-US" altLang="zh-CN" sz="2400" dirty="0">
              <a:latin typeface="Consolas" panose="020B0609020204030204" pitchFamily="49" charset="0"/>
            </a:endParaRPr>
          </a:p>
          <a:p>
            <a:pPr algn="ctr"/>
            <a:r>
              <a:rPr lang="zh-CN" altLang="en-US" sz="2400" dirty="0">
                <a:latin typeface="Consolas" panose="020B0609020204030204" pitchFamily="49" charset="0"/>
              </a:rPr>
              <a:t>求假信息的最少数量</a:t>
            </a:r>
            <a:r>
              <a:rPr lang="en-US" altLang="zh-CN" sz="2400" dirty="0">
                <a:latin typeface="Consolas" panose="020B0609020204030204" pitchFamily="49" charset="0"/>
              </a:rPr>
              <a:t> 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1A62CC6-CCD8-4C1C-8065-124687A170F0}"/>
              </a:ext>
            </a:extLst>
          </p:cNvPr>
          <p:cNvSpPr/>
          <p:nvPr/>
        </p:nvSpPr>
        <p:spPr>
          <a:xfrm>
            <a:off x="3500332" y="5336016"/>
            <a:ext cx="5330452" cy="1342803"/>
          </a:xfrm>
          <a:prstGeom prst="rect">
            <a:avLst/>
          </a:prstGeom>
          <a:noFill/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000" dirty="0">
                <a:latin typeface="Consolas" panose="020B0609020204030204" pitchFamily="49" charset="0"/>
              </a:rPr>
              <a:t>【数据规模与约定】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altLang="zh-CN" dirty="0"/>
              <a:t>1≤N≤1000</a:t>
            </a:r>
            <a:r>
              <a:rPr lang="zh-CN" altLang="en-US" dirty="0"/>
              <a:t>。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en-US" altLang="zh-CN" dirty="0"/>
              <a:t>0≤p</a:t>
            </a:r>
            <a:r>
              <a:rPr lang="en-US" altLang="zh-CN" baseline="-25000" dirty="0"/>
              <a:t>i</a:t>
            </a:r>
            <a:r>
              <a:rPr lang="en-US" altLang="zh-CN" dirty="0"/>
              <a:t>≤10</a:t>
            </a:r>
            <a:r>
              <a:rPr lang="en-US" altLang="zh-CN" baseline="30000" dirty="0"/>
              <a:t>9</a:t>
            </a:r>
            <a:r>
              <a:rPr lang="zh-CN" altLang="en-US" dirty="0"/>
              <a:t>。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A40433F-954B-4140-A4F0-0AABA2561B0A}"/>
              </a:ext>
            </a:extLst>
          </p:cNvPr>
          <p:cNvSpPr/>
          <p:nvPr/>
        </p:nvSpPr>
        <p:spPr>
          <a:xfrm>
            <a:off x="3499709" y="4351502"/>
            <a:ext cx="5330452" cy="83099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2400" dirty="0">
                <a:latin typeface="Consolas" pitchFamily="49" charset="0"/>
                <a:cs typeface="Consolas" pitchFamily="49" charset="0"/>
              </a:rPr>
              <a:t>请同学阅读</a:t>
            </a:r>
            <a:r>
              <a:rPr lang="en-US" altLang="zh-CN" sz="2400" dirty="0">
                <a:latin typeface="Consolas" pitchFamily="49" charset="0"/>
                <a:cs typeface="Consolas" pitchFamily="49" charset="0"/>
              </a:rPr>
              <a:t>[</a:t>
            </a:r>
            <a:r>
              <a:rPr lang="zh-CN" altLang="en-US" sz="2400" dirty="0">
                <a:latin typeface="Consolas" pitchFamily="49" charset="0"/>
                <a:cs typeface="Consolas" pitchFamily="49" charset="0"/>
              </a:rPr>
              <a:t>数据规模和约定</a:t>
            </a:r>
            <a:r>
              <a:rPr lang="en-US" altLang="zh-CN" sz="2400" dirty="0">
                <a:latin typeface="Consolas" pitchFamily="49" charset="0"/>
                <a:cs typeface="Consolas" pitchFamily="49" charset="0"/>
              </a:rPr>
              <a:t>]</a:t>
            </a:r>
          </a:p>
          <a:p>
            <a:pPr algn="ctr"/>
            <a:r>
              <a:rPr lang="zh-CN" altLang="en-US" sz="2400" dirty="0">
                <a:latin typeface="Consolas" pitchFamily="49" charset="0"/>
                <a:cs typeface="Consolas" pitchFamily="49" charset="0"/>
              </a:rPr>
              <a:t>识别部分得分点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C8DEEB5A-05D2-4C8C-A52A-0A22C6FF3E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18179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0" grpId="0" animBg="1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52751352-4002-4E97-855F-C5899C7F81C1}"/>
              </a:ext>
            </a:extLst>
          </p:cNvPr>
          <p:cNvSpPr/>
          <p:nvPr/>
        </p:nvSpPr>
        <p:spPr>
          <a:xfrm>
            <a:off x="3071665" y="1753230"/>
            <a:ext cx="2376264" cy="1597040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10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2100" dirty="0"/>
              <a:t>输入样例</a:t>
            </a:r>
            <a:endParaRPr lang="en-US" altLang="zh-CN" sz="2100" dirty="0">
              <a:solidFill>
                <a:schemeClr val="accent5">
                  <a:lumMod val="50000"/>
                </a:schemeClr>
              </a:solidFill>
            </a:endParaRPr>
          </a:p>
          <a:p>
            <a:pPr algn="just">
              <a:lnSpc>
                <a:spcPct val="150000"/>
              </a:lnSpc>
            </a:pPr>
            <a:r>
              <a:rPr lang="en-US" altLang="zh-CN" kern="100" dirty="0">
                <a:latin typeface="宋体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2</a:t>
            </a:r>
          </a:p>
          <a:p>
            <a:pPr algn="just">
              <a:lnSpc>
                <a:spcPct val="150000"/>
              </a:lnSpc>
            </a:pPr>
            <a:r>
              <a:rPr lang="en-US" altLang="zh-CN" kern="100" dirty="0">
                <a:latin typeface="宋体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G 3</a:t>
            </a:r>
          </a:p>
          <a:p>
            <a:pPr algn="just">
              <a:lnSpc>
                <a:spcPct val="150000"/>
              </a:lnSpc>
            </a:pPr>
            <a:r>
              <a:rPr lang="en-US" altLang="zh-CN" kern="100" dirty="0">
                <a:latin typeface="宋体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L 5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0DA7580-2078-000E-C2E5-85E722E43C3D}"/>
              </a:ext>
            </a:extLst>
          </p:cNvPr>
          <p:cNvSpPr/>
          <p:nvPr/>
        </p:nvSpPr>
        <p:spPr>
          <a:xfrm>
            <a:off x="6456040" y="1753230"/>
            <a:ext cx="2376264" cy="1597040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10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2100" dirty="0"/>
              <a:t>输入样例</a:t>
            </a:r>
            <a:endParaRPr lang="en-US" altLang="zh-CN" sz="2100" dirty="0">
              <a:solidFill>
                <a:schemeClr val="accent5">
                  <a:lumMod val="50000"/>
                </a:schemeClr>
              </a:solidFill>
            </a:endParaRPr>
          </a:p>
          <a:p>
            <a:pPr algn="just">
              <a:lnSpc>
                <a:spcPct val="150000"/>
              </a:lnSpc>
            </a:pPr>
            <a:r>
              <a:rPr lang="en-US" altLang="zh-CN" kern="100" dirty="0">
                <a:latin typeface="宋体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2</a:t>
            </a:r>
          </a:p>
          <a:p>
            <a:pPr algn="just">
              <a:lnSpc>
                <a:spcPct val="150000"/>
              </a:lnSpc>
            </a:pPr>
            <a:r>
              <a:rPr lang="en-US" altLang="zh-CN" kern="100" dirty="0">
                <a:latin typeface="宋体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G 3</a:t>
            </a:r>
          </a:p>
          <a:p>
            <a:pPr algn="just">
              <a:lnSpc>
                <a:spcPct val="150000"/>
              </a:lnSpc>
            </a:pPr>
            <a:r>
              <a:rPr lang="en-US" altLang="zh-CN" kern="100" dirty="0">
                <a:latin typeface="宋体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L 2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AE3BE585-5AEF-4F26-B074-A8050B1851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85545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52751352-4002-4E97-855F-C5899C7F81C1}"/>
              </a:ext>
            </a:extLst>
          </p:cNvPr>
          <p:cNvSpPr/>
          <p:nvPr/>
        </p:nvSpPr>
        <p:spPr>
          <a:xfrm>
            <a:off x="3071665" y="1753230"/>
            <a:ext cx="2376264" cy="1597040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10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2100" dirty="0"/>
              <a:t>输入样例</a:t>
            </a:r>
            <a:endParaRPr lang="en-US" altLang="zh-CN" sz="2100" dirty="0">
              <a:solidFill>
                <a:schemeClr val="accent5">
                  <a:lumMod val="50000"/>
                </a:schemeClr>
              </a:solidFill>
            </a:endParaRPr>
          </a:p>
          <a:p>
            <a:pPr algn="just">
              <a:lnSpc>
                <a:spcPct val="150000"/>
              </a:lnSpc>
            </a:pPr>
            <a:r>
              <a:rPr lang="en-US" altLang="zh-CN" kern="100" dirty="0">
                <a:latin typeface="宋体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2</a:t>
            </a:r>
          </a:p>
          <a:p>
            <a:pPr algn="just">
              <a:lnSpc>
                <a:spcPct val="150000"/>
              </a:lnSpc>
            </a:pPr>
            <a:r>
              <a:rPr lang="en-US" altLang="zh-CN" kern="100" dirty="0">
                <a:latin typeface="宋体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G 3</a:t>
            </a:r>
          </a:p>
          <a:p>
            <a:pPr algn="just">
              <a:lnSpc>
                <a:spcPct val="150000"/>
              </a:lnSpc>
            </a:pPr>
            <a:r>
              <a:rPr lang="en-US" altLang="zh-CN" kern="100" dirty="0">
                <a:latin typeface="宋体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L 5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0DA7580-2078-000E-C2E5-85E722E43C3D}"/>
              </a:ext>
            </a:extLst>
          </p:cNvPr>
          <p:cNvSpPr/>
          <p:nvPr/>
        </p:nvSpPr>
        <p:spPr>
          <a:xfrm>
            <a:off x="6456040" y="1753230"/>
            <a:ext cx="2376264" cy="1597040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10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2100" dirty="0"/>
              <a:t>输入样例</a:t>
            </a:r>
            <a:endParaRPr lang="en-US" altLang="zh-CN" sz="2100" dirty="0">
              <a:solidFill>
                <a:schemeClr val="accent5">
                  <a:lumMod val="50000"/>
                </a:schemeClr>
              </a:solidFill>
            </a:endParaRPr>
          </a:p>
          <a:p>
            <a:pPr algn="just">
              <a:lnSpc>
                <a:spcPct val="150000"/>
              </a:lnSpc>
            </a:pPr>
            <a:r>
              <a:rPr lang="en-US" altLang="zh-CN" kern="100" dirty="0">
                <a:latin typeface="宋体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2</a:t>
            </a:r>
          </a:p>
          <a:p>
            <a:pPr algn="just">
              <a:lnSpc>
                <a:spcPct val="150000"/>
              </a:lnSpc>
            </a:pPr>
            <a:r>
              <a:rPr lang="en-US" altLang="zh-CN" kern="100" dirty="0">
                <a:latin typeface="宋体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G 3</a:t>
            </a:r>
          </a:p>
          <a:p>
            <a:pPr algn="just">
              <a:lnSpc>
                <a:spcPct val="150000"/>
              </a:lnSpc>
            </a:pPr>
            <a:r>
              <a:rPr lang="en-US" altLang="zh-CN" kern="100" dirty="0">
                <a:latin typeface="宋体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L 2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36E931A-EC56-6223-F1F6-8D883FA55390}"/>
              </a:ext>
            </a:extLst>
          </p:cNvPr>
          <p:cNvSpPr/>
          <p:nvPr/>
        </p:nvSpPr>
        <p:spPr>
          <a:xfrm>
            <a:off x="3071665" y="3350270"/>
            <a:ext cx="2376264" cy="1199624"/>
          </a:xfrm>
          <a:prstGeom prst="rect">
            <a:avLst/>
          </a:prstGeom>
          <a:solidFill>
            <a:srgbClr val="FBFBFB"/>
          </a:solidFill>
          <a:ln>
            <a:solidFill>
              <a:schemeClr val="bg2">
                <a:lumMod val="10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2100" dirty="0"/>
              <a:t>输出样例</a:t>
            </a:r>
            <a:endParaRPr lang="en-US" altLang="zh-CN" sz="2100" dirty="0">
              <a:solidFill>
                <a:schemeClr val="accent5">
                  <a:lumMod val="50000"/>
                </a:schemeClr>
              </a:solidFill>
            </a:endParaRPr>
          </a:p>
          <a:p>
            <a:pPr algn="just">
              <a:lnSpc>
                <a:spcPct val="150000"/>
              </a:lnSpc>
            </a:pPr>
            <a:r>
              <a:rPr lang="en-US" altLang="zh-CN" kern="100" dirty="0">
                <a:latin typeface="宋体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0</a:t>
            </a:r>
          </a:p>
          <a:p>
            <a:pPr algn="just">
              <a:lnSpc>
                <a:spcPct val="150000"/>
              </a:lnSpc>
            </a:pPr>
            <a:r>
              <a:rPr lang="zh-CN" altLang="en-US" kern="100" dirty="0">
                <a:latin typeface="+mn-ea"/>
                <a:cs typeface="Times New Roman" panose="02020603050405020304" pitchFamily="18" charset="0"/>
              </a:rPr>
              <a:t>有可能没有假信息</a:t>
            </a:r>
            <a:endParaRPr lang="en-US" altLang="zh-CN" kern="100" dirty="0"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D911131-ECF3-17B4-2F9C-2F7ECCF3CD1F}"/>
              </a:ext>
            </a:extLst>
          </p:cNvPr>
          <p:cNvSpPr/>
          <p:nvPr/>
        </p:nvSpPr>
        <p:spPr>
          <a:xfrm>
            <a:off x="6456040" y="3350270"/>
            <a:ext cx="2376264" cy="1619802"/>
          </a:xfrm>
          <a:prstGeom prst="rect">
            <a:avLst/>
          </a:prstGeom>
          <a:solidFill>
            <a:srgbClr val="FBFBFB"/>
          </a:solidFill>
          <a:ln>
            <a:solidFill>
              <a:schemeClr val="bg2">
                <a:lumMod val="10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2100" dirty="0"/>
              <a:t>输出样例</a:t>
            </a:r>
            <a:endParaRPr lang="en-US" altLang="zh-CN" sz="2100" dirty="0">
              <a:solidFill>
                <a:schemeClr val="accent5">
                  <a:lumMod val="50000"/>
                </a:schemeClr>
              </a:solidFill>
            </a:endParaRPr>
          </a:p>
          <a:p>
            <a:pPr algn="just">
              <a:lnSpc>
                <a:spcPct val="150000"/>
              </a:lnSpc>
            </a:pPr>
            <a:r>
              <a:rPr lang="en-US" altLang="zh-CN" kern="100" dirty="0">
                <a:latin typeface="宋体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1</a:t>
            </a:r>
          </a:p>
          <a:p>
            <a:pPr algn="just">
              <a:lnSpc>
                <a:spcPct val="150000"/>
              </a:lnSpc>
            </a:pPr>
            <a:r>
              <a:rPr lang="zh-CN" altLang="en-US" kern="100" dirty="0">
                <a:latin typeface="+mn-ea"/>
                <a:cs typeface="Times New Roman" panose="02020603050405020304" pitchFamily="18" charset="0"/>
              </a:rPr>
              <a:t>不能同时为真</a:t>
            </a:r>
            <a:endParaRPr lang="en-US" altLang="zh-CN" kern="100" dirty="0">
              <a:latin typeface="+mn-ea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zh-CN" altLang="en-US" kern="100" dirty="0">
                <a:latin typeface="+mn-ea"/>
                <a:cs typeface="Times New Roman" panose="02020603050405020304" pitchFamily="18" charset="0"/>
              </a:rPr>
              <a:t>至少有一条假消息</a:t>
            </a:r>
            <a:endParaRPr lang="en-US" altLang="zh-CN" kern="100" dirty="0"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30E5747C-9FC3-41FE-BA98-126D6D6E31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32600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矩形 36">
            <a:extLst>
              <a:ext uri="{FF2B5EF4-FFF2-40B4-BE49-F238E27FC236}">
                <a16:creationId xmlns:a16="http://schemas.microsoft.com/office/drawing/2014/main" id="{4E4BD612-B6EB-4F2D-819F-ACD48D10FBAA}"/>
              </a:ext>
            </a:extLst>
          </p:cNvPr>
          <p:cNvSpPr/>
          <p:nvPr/>
        </p:nvSpPr>
        <p:spPr>
          <a:xfrm>
            <a:off x="3505980" y="1950653"/>
            <a:ext cx="5330452" cy="646331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3600" dirty="0">
                <a:latin typeface="Consolas" panose="020B0609020204030204" pitchFamily="49" charset="0"/>
                <a:cs typeface="Consolas" pitchFamily="49" charset="0"/>
              </a:rPr>
              <a:t>数学性质</a:t>
            </a:r>
            <a:endParaRPr lang="zh-CN" altLang="zh-CN" sz="4400" dirty="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4B5859DB-67E4-4EFC-B02F-38DF9C75CD0E}"/>
              </a:ext>
            </a:extLst>
          </p:cNvPr>
          <p:cNvSpPr/>
          <p:nvPr/>
        </p:nvSpPr>
        <p:spPr>
          <a:xfrm>
            <a:off x="3503712" y="3068960"/>
            <a:ext cx="5330452" cy="1695016"/>
          </a:xfrm>
          <a:prstGeom prst="rect">
            <a:avLst/>
          </a:prstGeom>
          <a:noFill/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400" dirty="0">
                <a:latin typeface="Consolas" panose="020B0609020204030204" pitchFamily="49" charset="0"/>
              </a:rPr>
              <a:t>若</a:t>
            </a:r>
            <a:r>
              <a:rPr lang="en-US" altLang="zh-CN" sz="2400" dirty="0">
                <a:latin typeface="Consolas" panose="020B0609020204030204" pitchFamily="49" charset="0"/>
              </a:rPr>
              <a:t>x&lt;=L</a:t>
            </a:r>
            <a:r>
              <a:rPr lang="en-US" altLang="zh-CN" sz="2400" baseline="-25000" dirty="0">
                <a:latin typeface="Consolas" panose="020B0609020204030204" pitchFamily="49" charset="0"/>
              </a:rPr>
              <a:t>1</a:t>
            </a:r>
            <a:r>
              <a:rPr lang="zh-CN" altLang="en-US" sz="2400" dirty="0">
                <a:latin typeface="Consolas" panose="020B0609020204030204" pitchFamily="49" charset="0"/>
              </a:rPr>
              <a:t>为真</a:t>
            </a:r>
            <a:r>
              <a:rPr lang="en-US" altLang="zh-CN" sz="2400" dirty="0">
                <a:latin typeface="Consolas" panose="020B0609020204030204" pitchFamily="49" charset="0"/>
              </a:rPr>
              <a:t>,</a:t>
            </a:r>
            <a:r>
              <a:rPr lang="zh-CN" altLang="en-US" sz="2400" dirty="0">
                <a:latin typeface="Consolas" panose="020B0609020204030204" pitchFamily="49" charset="0"/>
              </a:rPr>
              <a:t>且</a:t>
            </a:r>
            <a:r>
              <a:rPr lang="en-US" altLang="zh-CN" sz="2400" dirty="0">
                <a:latin typeface="Consolas" panose="020B0609020204030204" pitchFamily="49" charset="0"/>
              </a:rPr>
              <a:t>L</a:t>
            </a:r>
            <a:r>
              <a:rPr lang="en-US" altLang="zh-CN" sz="2400" baseline="-25000" dirty="0">
                <a:latin typeface="Consolas" panose="020B0609020204030204" pitchFamily="49" charset="0"/>
              </a:rPr>
              <a:t>1</a:t>
            </a:r>
            <a:r>
              <a:rPr lang="en-US" altLang="zh-CN" sz="2400" dirty="0">
                <a:latin typeface="Consolas" panose="020B0609020204030204" pitchFamily="49" charset="0"/>
              </a:rPr>
              <a:t>&lt;=L</a:t>
            </a:r>
            <a:r>
              <a:rPr lang="en-US" altLang="zh-CN" sz="2400" baseline="-25000" dirty="0">
                <a:latin typeface="Consolas" panose="020B0609020204030204" pitchFamily="49" charset="0"/>
              </a:rPr>
              <a:t>2</a:t>
            </a:r>
            <a:r>
              <a:rPr lang="en-US" altLang="zh-CN" sz="2400" dirty="0">
                <a:latin typeface="Consolas" panose="020B0609020204030204" pitchFamily="49" charset="0"/>
              </a:rPr>
              <a:t>,</a:t>
            </a:r>
            <a:r>
              <a:rPr lang="zh-CN" altLang="en-US" sz="2400" dirty="0">
                <a:latin typeface="Consolas" panose="020B0609020204030204" pitchFamily="49" charset="0"/>
              </a:rPr>
              <a:t>则</a:t>
            </a:r>
            <a:r>
              <a:rPr lang="en-US" altLang="zh-CN" sz="2400" dirty="0">
                <a:latin typeface="Consolas" panose="020B0609020204030204" pitchFamily="49" charset="0"/>
              </a:rPr>
              <a:t>x&lt;=L</a:t>
            </a:r>
            <a:r>
              <a:rPr lang="en-US" altLang="zh-CN" sz="2400" baseline="-25000" dirty="0">
                <a:latin typeface="Consolas" panose="020B0609020204030204" pitchFamily="49" charset="0"/>
              </a:rPr>
              <a:t>2</a:t>
            </a:r>
            <a:r>
              <a:rPr lang="zh-CN" altLang="en-US" sz="2400" dirty="0">
                <a:latin typeface="Consolas" panose="020B0609020204030204" pitchFamily="49" charset="0"/>
              </a:rPr>
              <a:t>为真</a:t>
            </a:r>
            <a:endParaRPr lang="en-US" altLang="zh-CN" sz="2400" dirty="0">
              <a:latin typeface="Consolas" panose="020B0609020204030204" pitchFamily="49" charset="0"/>
            </a:endParaRPr>
          </a:p>
          <a:p>
            <a:pPr algn="ctr">
              <a:lnSpc>
                <a:spcPct val="150000"/>
              </a:lnSpc>
            </a:pPr>
            <a:r>
              <a:rPr lang="zh-CN" altLang="en-US" sz="2400" dirty="0">
                <a:latin typeface="Consolas" panose="020B0609020204030204" pitchFamily="49" charset="0"/>
              </a:rPr>
              <a:t>若</a:t>
            </a:r>
            <a:r>
              <a:rPr lang="en-US" altLang="zh-CN" sz="2400" dirty="0">
                <a:latin typeface="Consolas" panose="020B0609020204030204" pitchFamily="49" charset="0"/>
              </a:rPr>
              <a:t>x&gt;=G</a:t>
            </a:r>
            <a:r>
              <a:rPr lang="en-US" altLang="zh-CN" sz="2400" baseline="-25000" dirty="0">
                <a:latin typeface="Consolas" panose="020B0609020204030204" pitchFamily="49" charset="0"/>
              </a:rPr>
              <a:t>1</a:t>
            </a:r>
            <a:r>
              <a:rPr lang="zh-CN" altLang="en-US" sz="2400" dirty="0">
                <a:latin typeface="Consolas" panose="020B0609020204030204" pitchFamily="49" charset="0"/>
              </a:rPr>
              <a:t>为真</a:t>
            </a:r>
            <a:r>
              <a:rPr lang="en-US" altLang="zh-CN" sz="2400" dirty="0">
                <a:latin typeface="Consolas" panose="020B0609020204030204" pitchFamily="49" charset="0"/>
              </a:rPr>
              <a:t>,</a:t>
            </a:r>
            <a:r>
              <a:rPr lang="zh-CN" altLang="en-US" sz="2400" dirty="0">
                <a:latin typeface="Consolas" panose="020B0609020204030204" pitchFamily="49" charset="0"/>
              </a:rPr>
              <a:t>且</a:t>
            </a:r>
            <a:r>
              <a:rPr lang="en-US" altLang="zh-CN" sz="2400" dirty="0">
                <a:latin typeface="Consolas" panose="020B0609020204030204" pitchFamily="49" charset="0"/>
              </a:rPr>
              <a:t>G</a:t>
            </a:r>
            <a:r>
              <a:rPr lang="en-US" altLang="zh-CN" sz="2400" baseline="-25000" dirty="0">
                <a:latin typeface="Consolas" panose="020B0609020204030204" pitchFamily="49" charset="0"/>
              </a:rPr>
              <a:t>2</a:t>
            </a:r>
            <a:r>
              <a:rPr lang="en-US" altLang="zh-CN" sz="2400" dirty="0">
                <a:latin typeface="Consolas" panose="020B0609020204030204" pitchFamily="49" charset="0"/>
              </a:rPr>
              <a:t>&lt;=G</a:t>
            </a:r>
            <a:r>
              <a:rPr lang="en-US" altLang="zh-CN" sz="2400" baseline="-25000" dirty="0">
                <a:latin typeface="Consolas" panose="020B0609020204030204" pitchFamily="49" charset="0"/>
              </a:rPr>
              <a:t>1</a:t>
            </a:r>
            <a:r>
              <a:rPr lang="en-US" altLang="zh-CN" sz="2400" dirty="0">
                <a:latin typeface="Consolas" panose="020B0609020204030204" pitchFamily="49" charset="0"/>
              </a:rPr>
              <a:t>,</a:t>
            </a:r>
            <a:r>
              <a:rPr lang="zh-CN" altLang="en-US" sz="2400" dirty="0">
                <a:latin typeface="Consolas" panose="020B0609020204030204" pitchFamily="49" charset="0"/>
              </a:rPr>
              <a:t>则</a:t>
            </a:r>
            <a:r>
              <a:rPr lang="en-US" altLang="zh-CN" sz="2400" dirty="0">
                <a:latin typeface="Consolas" panose="020B0609020204030204" pitchFamily="49" charset="0"/>
              </a:rPr>
              <a:t>x&gt;=G</a:t>
            </a:r>
            <a:r>
              <a:rPr lang="en-US" altLang="zh-CN" sz="2400" baseline="-25000" dirty="0">
                <a:latin typeface="Consolas" panose="020B0609020204030204" pitchFamily="49" charset="0"/>
              </a:rPr>
              <a:t>2</a:t>
            </a:r>
            <a:r>
              <a:rPr lang="zh-CN" altLang="en-US" sz="2400" dirty="0">
                <a:latin typeface="Consolas" panose="020B0609020204030204" pitchFamily="49" charset="0"/>
              </a:rPr>
              <a:t>为真</a:t>
            </a:r>
            <a:endParaRPr lang="en-US" altLang="zh-CN" sz="2400" dirty="0">
              <a:latin typeface="Consolas" panose="020B0609020204030204" pitchFamily="49" charset="0"/>
            </a:endParaRPr>
          </a:p>
          <a:p>
            <a:pPr algn="ctr">
              <a:lnSpc>
                <a:spcPct val="150000"/>
              </a:lnSpc>
            </a:pPr>
            <a:r>
              <a:rPr lang="zh-CN" altLang="en-US" sz="2400" dirty="0">
                <a:latin typeface="Consolas" panose="020B0609020204030204" pitchFamily="49" charset="0"/>
              </a:rPr>
              <a:t>若</a:t>
            </a:r>
            <a:r>
              <a:rPr lang="en-US" altLang="zh-CN" sz="2400" dirty="0">
                <a:latin typeface="Consolas" panose="020B0609020204030204" pitchFamily="49" charset="0"/>
              </a:rPr>
              <a:t>G&lt;=x&lt;=L,</a:t>
            </a:r>
            <a:r>
              <a:rPr lang="zh-CN" altLang="en-US" sz="2400" dirty="0">
                <a:latin typeface="Consolas" panose="020B0609020204030204" pitchFamily="49" charset="0"/>
              </a:rPr>
              <a:t>必须</a:t>
            </a:r>
            <a:r>
              <a:rPr lang="en-US" altLang="zh-CN" sz="2400" dirty="0">
                <a:latin typeface="Consolas" panose="020B0609020204030204" pitchFamily="49" charset="0"/>
              </a:rPr>
              <a:t>G&lt;=L,</a:t>
            </a:r>
            <a:r>
              <a:rPr lang="zh-CN" altLang="en-US" sz="2400" dirty="0">
                <a:latin typeface="Consolas" panose="020B0609020204030204" pitchFamily="49" charset="0"/>
              </a:rPr>
              <a:t>否则</a:t>
            </a:r>
            <a:r>
              <a:rPr lang="en-US" altLang="zh-CN" sz="2400" dirty="0">
                <a:latin typeface="Consolas" panose="020B0609020204030204" pitchFamily="49" charset="0"/>
              </a:rPr>
              <a:t>x</a:t>
            </a:r>
            <a:r>
              <a:rPr lang="zh-CN" altLang="en-US" sz="2400" dirty="0">
                <a:latin typeface="Consolas" panose="020B0609020204030204" pitchFamily="49" charset="0"/>
              </a:rPr>
              <a:t>无解</a:t>
            </a:r>
            <a:endParaRPr lang="en-US" altLang="zh-CN" sz="2400" dirty="0">
              <a:latin typeface="Consolas" panose="020B0609020204030204" pitchFamily="49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16FA3368-EBEE-4A84-83E4-7B942A881C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34060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矩形 36">
            <a:extLst>
              <a:ext uri="{FF2B5EF4-FFF2-40B4-BE49-F238E27FC236}">
                <a16:creationId xmlns:a16="http://schemas.microsoft.com/office/drawing/2014/main" id="{4E4BD612-B6EB-4F2D-819F-ACD48D10FBAA}"/>
              </a:ext>
            </a:extLst>
          </p:cNvPr>
          <p:cNvSpPr/>
          <p:nvPr/>
        </p:nvSpPr>
        <p:spPr>
          <a:xfrm>
            <a:off x="3575720" y="1106701"/>
            <a:ext cx="5330452" cy="646331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3600" dirty="0">
                <a:latin typeface="Consolas" panose="020B0609020204030204" pitchFamily="49" charset="0"/>
                <a:cs typeface="Consolas" pitchFamily="49" charset="0"/>
              </a:rPr>
              <a:t>算法分析</a:t>
            </a:r>
            <a:endParaRPr lang="zh-CN" altLang="zh-CN" sz="4400" dirty="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B2961EAD-4EB4-C180-B69C-11925A2DA049}"/>
              </a:ext>
            </a:extLst>
          </p:cNvPr>
          <p:cNvSpPr txBox="1"/>
          <p:nvPr/>
        </p:nvSpPr>
        <p:spPr>
          <a:xfrm>
            <a:off x="3582177" y="2795773"/>
            <a:ext cx="5320622" cy="1200329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>
                <a:latin typeface="Consolas" pitchFamily="49" charset="0"/>
                <a:cs typeface="Consolas" pitchFamily="49" charset="0"/>
              </a:rPr>
              <a:t>将</a:t>
            </a:r>
            <a:r>
              <a:rPr lang="en-US" altLang="zh-CN" sz="2400" dirty="0">
                <a:latin typeface="Consolas" pitchFamily="49" charset="0"/>
                <a:cs typeface="Consolas" pitchFamily="49" charset="0"/>
              </a:rPr>
              <a:t>&lt;=</a:t>
            </a:r>
            <a:r>
              <a:rPr lang="zh-CN" altLang="en-US" sz="2400" dirty="0">
                <a:latin typeface="Consolas" pitchFamily="49" charset="0"/>
                <a:cs typeface="Consolas" pitchFamily="49" charset="0"/>
              </a:rPr>
              <a:t>关系加入</a:t>
            </a:r>
            <a:r>
              <a:rPr lang="en-US" altLang="zh-CN" sz="2400" dirty="0">
                <a:latin typeface="Consolas" pitchFamily="49" charset="0"/>
                <a:cs typeface="Consolas" pitchFamily="49" charset="0"/>
              </a:rPr>
              <a:t>L</a:t>
            </a:r>
            <a:r>
              <a:rPr lang="zh-CN" altLang="en-US" sz="2400" dirty="0">
                <a:latin typeface="Consolas" pitchFamily="49" charset="0"/>
                <a:cs typeface="Consolas" pitchFamily="49" charset="0"/>
              </a:rPr>
              <a:t>数组</a:t>
            </a:r>
            <a:endParaRPr lang="en-US" altLang="zh-CN" sz="2400" dirty="0">
              <a:latin typeface="Consolas" pitchFamily="49" charset="0"/>
              <a:cs typeface="Consolas" pitchFamily="49" charset="0"/>
            </a:endParaRPr>
          </a:p>
          <a:p>
            <a:pPr algn="ctr"/>
            <a:r>
              <a:rPr lang="zh-CN" altLang="en-US" sz="2400" dirty="0">
                <a:latin typeface="Consolas" pitchFamily="49" charset="0"/>
                <a:cs typeface="Consolas" pitchFamily="49" charset="0"/>
              </a:rPr>
              <a:t>将</a:t>
            </a:r>
            <a:r>
              <a:rPr lang="en-US" altLang="zh-CN" sz="2400" dirty="0">
                <a:latin typeface="Consolas" pitchFamily="49" charset="0"/>
                <a:cs typeface="Consolas" pitchFamily="49" charset="0"/>
              </a:rPr>
              <a:t>&gt;=</a:t>
            </a:r>
            <a:r>
              <a:rPr lang="zh-CN" altLang="en-US" sz="2400" dirty="0">
                <a:latin typeface="Consolas" pitchFamily="49" charset="0"/>
                <a:cs typeface="Consolas" pitchFamily="49" charset="0"/>
              </a:rPr>
              <a:t>关系加入</a:t>
            </a:r>
            <a:r>
              <a:rPr lang="en-US" altLang="zh-CN" sz="2400" dirty="0">
                <a:latin typeface="Consolas" pitchFamily="49" charset="0"/>
                <a:cs typeface="Consolas" pitchFamily="49" charset="0"/>
              </a:rPr>
              <a:t>G</a:t>
            </a:r>
            <a:r>
              <a:rPr lang="zh-CN" altLang="en-US" sz="2400" dirty="0">
                <a:latin typeface="Consolas" pitchFamily="49" charset="0"/>
                <a:cs typeface="Consolas" pitchFamily="49" charset="0"/>
              </a:rPr>
              <a:t>数组</a:t>
            </a:r>
            <a:endParaRPr lang="en-US" altLang="zh-CN" sz="2400" dirty="0">
              <a:latin typeface="Consolas" pitchFamily="49" charset="0"/>
              <a:cs typeface="Consolas" pitchFamily="49" charset="0"/>
            </a:endParaRPr>
          </a:p>
          <a:p>
            <a:pPr algn="ctr"/>
            <a:r>
              <a:rPr lang="zh-CN" altLang="en-US" sz="2400" dirty="0">
                <a:latin typeface="Consolas" pitchFamily="49" charset="0"/>
                <a:cs typeface="Consolas" pitchFamily="49" charset="0"/>
              </a:rPr>
              <a:t>对</a:t>
            </a:r>
            <a:r>
              <a:rPr lang="en-US" altLang="zh-CN" sz="2400" dirty="0">
                <a:latin typeface="Consolas" pitchFamily="49" charset="0"/>
                <a:cs typeface="Consolas" pitchFamily="49" charset="0"/>
              </a:rPr>
              <a:t>L</a:t>
            </a:r>
            <a:r>
              <a:rPr lang="zh-CN" altLang="en-US" sz="2400" dirty="0">
                <a:latin typeface="Consolas" pitchFamily="49" charset="0"/>
                <a:cs typeface="Consolas" pitchFamily="49" charset="0"/>
              </a:rPr>
              <a:t>和</a:t>
            </a:r>
            <a:r>
              <a:rPr lang="en-US" altLang="zh-CN" sz="2400" dirty="0">
                <a:latin typeface="Consolas" pitchFamily="49" charset="0"/>
                <a:cs typeface="Consolas" pitchFamily="49" charset="0"/>
              </a:rPr>
              <a:t>G</a:t>
            </a:r>
            <a:r>
              <a:rPr lang="zh-CN" altLang="en-US" sz="2400" dirty="0">
                <a:latin typeface="Consolas" pitchFamily="49" charset="0"/>
                <a:cs typeface="Consolas" pitchFamily="49" charset="0"/>
              </a:rPr>
              <a:t>按从小到大排序</a:t>
            </a:r>
            <a:endParaRPr lang="en-US" altLang="zh-CN" sz="2400" dirty="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0" name="TextBox 5">
            <a:extLst>
              <a:ext uri="{FF2B5EF4-FFF2-40B4-BE49-F238E27FC236}">
                <a16:creationId xmlns:a16="http://schemas.microsoft.com/office/drawing/2014/main" id="{5560998C-5346-9370-659C-32E6FAA709D5}"/>
              </a:ext>
            </a:extLst>
          </p:cNvPr>
          <p:cNvSpPr txBox="1"/>
          <p:nvPr/>
        </p:nvSpPr>
        <p:spPr>
          <a:xfrm>
            <a:off x="3585550" y="1965105"/>
            <a:ext cx="5320622" cy="461665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>
                <a:latin typeface="Consolas" pitchFamily="49" charset="0"/>
                <a:cs typeface="Consolas" pitchFamily="49" charset="0"/>
              </a:rPr>
              <a:t>目标</a:t>
            </a:r>
            <a:r>
              <a:rPr lang="en-US" altLang="zh-CN" sz="2400" dirty="0">
                <a:latin typeface="Consolas" pitchFamily="49" charset="0"/>
                <a:cs typeface="Consolas" pitchFamily="49" charset="0"/>
              </a:rPr>
              <a:t>:</a:t>
            </a:r>
            <a:r>
              <a:rPr lang="zh-CN" altLang="en-US" sz="2400" dirty="0">
                <a:latin typeface="Consolas" pitchFamily="49" charset="0"/>
                <a:cs typeface="Consolas" pitchFamily="49" charset="0"/>
              </a:rPr>
              <a:t>兼容的信息条数最大化</a:t>
            </a:r>
            <a:endParaRPr lang="en-US" altLang="zh-CN" sz="2400" dirty="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2" name="TextBox 5">
            <a:extLst>
              <a:ext uri="{FF2B5EF4-FFF2-40B4-BE49-F238E27FC236}">
                <a16:creationId xmlns:a16="http://schemas.microsoft.com/office/drawing/2014/main" id="{602A09CE-7502-D524-A476-4E7058EF6394}"/>
              </a:ext>
            </a:extLst>
          </p:cNvPr>
          <p:cNvSpPr txBox="1"/>
          <p:nvPr/>
        </p:nvSpPr>
        <p:spPr>
          <a:xfrm>
            <a:off x="3575720" y="4365105"/>
            <a:ext cx="5320622" cy="1200329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>
                <a:latin typeface="Consolas" pitchFamily="49" charset="0"/>
                <a:cs typeface="Consolas" pitchFamily="49" charset="0"/>
              </a:rPr>
              <a:t>哪怕没有一对</a:t>
            </a:r>
            <a:r>
              <a:rPr lang="en-US" altLang="zh-CN" sz="2400" dirty="0">
                <a:latin typeface="Consolas" pitchFamily="49" charset="0"/>
                <a:cs typeface="Consolas" pitchFamily="49" charset="0"/>
              </a:rPr>
              <a:t>L</a:t>
            </a:r>
            <a:r>
              <a:rPr lang="en-US" altLang="zh-CN" sz="2400" baseline="-25000" dirty="0">
                <a:latin typeface="Consolas" pitchFamily="49" charset="0"/>
                <a:cs typeface="Consolas" pitchFamily="49" charset="0"/>
              </a:rPr>
              <a:t>i</a:t>
            </a:r>
            <a:r>
              <a:rPr lang="zh-CN" altLang="en-US" sz="2400" dirty="0">
                <a:latin typeface="Consolas" pitchFamily="49" charset="0"/>
                <a:cs typeface="Consolas" pitchFamily="49" charset="0"/>
              </a:rPr>
              <a:t>和</a:t>
            </a:r>
            <a:r>
              <a:rPr lang="en-US" altLang="zh-CN" sz="2400" dirty="0" err="1">
                <a:latin typeface="Consolas" pitchFamily="49" charset="0"/>
                <a:cs typeface="Consolas" pitchFamily="49" charset="0"/>
              </a:rPr>
              <a:t>G</a:t>
            </a:r>
            <a:r>
              <a:rPr lang="en-US" altLang="zh-CN" sz="2400" baseline="-25000" dirty="0" err="1">
                <a:latin typeface="Consolas" pitchFamily="49" charset="0"/>
                <a:cs typeface="Consolas" pitchFamily="49" charset="0"/>
              </a:rPr>
              <a:t>j</a:t>
            </a:r>
            <a:r>
              <a:rPr lang="zh-CN" altLang="en-US" sz="2400" dirty="0">
                <a:latin typeface="Consolas" pitchFamily="49" charset="0"/>
                <a:cs typeface="Consolas" pitchFamily="49" charset="0"/>
              </a:rPr>
              <a:t>同真</a:t>
            </a:r>
            <a:endParaRPr lang="en-US" altLang="zh-CN" sz="2400" dirty="0">
              <a:latin typeface="Consolas" pitchFamily="49" charset="0"/>
              <a:cs typeface="Consolas" pitchFamily="49" charset="0"/>
            </a:endParaRPr>
          </a:p>
          <a:p>
            <a:pPr algn="ctr"/>
            <a:r>
              <a:rPr lang="zh-CN" altLang="en-US" sz="2400" dirty="0">
                <a:latin typeface="Consolas" pitchFamily="49" charset="0"/>
                <a:cs typeface="Consolas" pitchFamily="49" charset="0"/>
              </a:rPr>
              <a:t>同时为真的信息条数也至少是</a:t>
            </a:r>
            <a:r>
              <a:rPr lang="en-US" altLang="zh-CN" sz="2400" dirty="0">
                <a:latin typeface="Consolas" pitchFamily="49" charset="0"/>
                <a:cs typeface="Consolas" pitchFamily="49" charset="0"/>
              </a:rPr>
              <a:t>max(cntL,cntG)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41703B5F-2E00-46DE-B7EF-A7C5C87C37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99464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0" grpId="0" animBg="1"/>
      <p:bldP spid="1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" name="组合 88">
            <a:extLst>
              <a:ext uri="{FF2B5EF4-FFF2-40B4-BE49-F238E27FC236}">
                <a16:creationId xmlns:a16="http://schemas.microsoft.com/office/drawing/2014/main" id="{5E1791B8-CF27-8357-EBF2-42B2C38CE564}"/>
              </a:ext>
            </a:extLst>
          </p:cNvPr>
          <p:cNvGrpSpPr/>
          <p:nvPr/>
        </p:nvGrpSpPr>
        <p:grpSpPr>
          <a:xfrm>
            <a:off x="1703512" y="469132"/>
            <a:ext cx="1537200" cy="1041742"/>
            <a:chOff x="7468901" y="1412776"/>
            <a:chExt cx="1537200" cy="1041742"/>
          </a:xfrm>
        </p:grpSpPr>
        <p:grpSp>
          <p:nvGrpSpPr>
            <p:cNvPr id="24" name="组合 23">
              <a:extLst>
                <a:ext uri="{FF2B5EF4-FFF2-40B4-BE49-F238E27FC236}">
                  <a16:creationId xmlns:a16="http://schemas.microsoft.com/office/drawing/2014/main" id="{EF2DBE29-7D41-7C55-3896-F2E07CC42DC6}"/>
                </a:ext>
              </a:extLst>
            </p:cNvPr>
            <p:cNvGrpSpPr/>
            <p:nvPr/>
          </p:nvGrpSpPr>
          <p:grpSpPr>
            <a:xfrm>
              <a:off x="7776874" y="1412776"/>
              <a:ext cx="1008112" cy="358280"/>
              <a:chOff x="7812360" y="697459"/>
              <a:chExt cx="1008112" cy="358280"/>
            </a:xfrm>
          </p:grpSpPr>
          <p:cxnSp>
            <p:nvCxnSpPr>
              <p:cNvPr id="3" name="连接符: 肘形 2">
                <a:extLst>
                  <a:ext uri="{FF2B5EF4-FFF2-40B4-BE49-F238E27FC236}">
                    <a16:creationId xmlns:a16="http://schemas.microsoft.com/office/drawing/2014/main" id="{0BDB6CD5-7769-0F66-C3A5-7C722A4EAEB9}"/>
                  </a:ext>
                </a:extLst>
              </p:cNvPr>
              <p:cNvCxnSpPr/>
              <p:nvPr/>
            </p:nvCxnSpPr>
            <p:spPr>
              <a:xfrm>
                <a:off x="7812360" y="697459"/>
                <a:ext cx="1008112" cy="358280"/>
              </a:xfrm>
              <a:prstGeom prst="bentConnector3">
                <a:avLst>
                  <a:gd name="adj1" fmla="val -603"/>
                </a:avLst>
              </a:prstGeom>
              <a:ln w="34925">
                <a:solidFill>
                  <a:srgbClr val="FFC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直接连接符 20">
                <a:extLst>
                  <a:ext uri="{FF2B5EF4-FFF2-40B4-BE49-F238E27FC236}">
                    <a16:creationId xmlns:a16="http://schemas.microsoft.com/office/drawing/2014/main" id="{F7B110A4-48AD-7232-E0AE-8F00E253B93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820472" y="697459"/>
                <a:ext cx="0" cy="358280"/>
              </a:xfrm>
              <a:prstGeom prst="line">
                <a:avLst/>
              </a:prstGeom>
              <a:ln w="34925">
                <a:solidFill>
                  <a:srgbClr val="FFC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25" name="墨迹 24">
                  <a:extLst>
                    <a:ext uri="{FF2B5EF4-FFF2-40B4-BE49-F238E27FC236}">
                      <a16:creationId xmlns:a16="http://schemas.microsoft.com/office/drawing/2014/main" id="{80A0CBF0-FE02-89F8-4743-B578C5EE413D}"/>
                    </a:ext>
                  </a:extLst>
                </p14:cNvPr>
                <p14:cNvContentPartPr/>
                <p14:nvPr/>
              </p14:nvContentPartPr>
              <p14:xfrm>
                <a:off x="8816741" y="2454158"/>
                <a:ext cx="360" cy="360"/>
              </p14:xfrm>
            </p:contentPart>
          </mc:Choice>
          <mc:Fallback xmlns="">
            <p:pic>
              <p:nvPicPr>
                <p:cNvPr id="25" name="墨迹 24">
                  <a:extLst>
                    <a:ext uri="{FF2B5EF4-FFF2-40B4-BE49-F238E27FC236}">
                      <a16:creationId xmlns:a16="http://schemas.microsoft.com/office/drawing/2014/main" id="{80A0CBF0-FE02-89F8-4743-B578C5EE413D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8808101" y="2445158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p:grpSp>
          <p:nvGrpSpPr>
            <p:cNvPr id="68" name="组合 67">
              <a:extLst>
                <a:ext uri="{FF2B5EF4-FFF2-40B4-BE49-F238E27FC236}">
                  <a16:creationId xmlns:a16="http://schemas.microsoft.com/office/drawing/2014/main" id="{A5481577-6122-F001-EDA8-5DD25FB22C4A}"/>
                </a:ext>
              </a:extLst>
            </p:cNvPr>
            <p:cNvGrpSpPr/>
            <p:nvPr/>
          </p:nvGrpSpPr>
          <p:grpSpPr>
            <a:xfrm>
              <a:off x="7468901" y="1873478"/>
              <a:ext cx="575640" cy="379800"/>
              <a:chOff x="7468901" y="1873478"/>
              <a:chExt cx="575640" cy="37980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5">
                <p14:nvContentPartPr>
                  <p14:cNvPr id="60" name="墨迹 59">
                    <a:extLst>
                      <a:ext uri="{FF2B5EF4-FFF2-40B4-BE49-F238E27FC236}">
                        <a16:creationId xmlns:a16="http://schemas.microsoft.com/office/drawing/2014/main" id="{0B49CBF8-1AB4-6AB9-57D5-23635382905E}"/>
                      </a:ext>
                    </a:extLst>
                  </p14:cNvPr>
                  <p14:cNvContentPartPr/>
                  <p14:nvPr/>
                </p14:nvContentPartPr>
                <p14:xfrm>
                  <a:off x="7726301" y="1873478"/>
                  <a:ext cx="196560" cy="300600"/>
                </p14:xfrm>
              </p:contentPart>
            </mc:Choice>
            <mc:Fallback xmlns="">
              <p:pic>
                <p:nvPicPr>
                  <p:cNvPr id="60" name="墨迹 59">
                    <a:extLst>
                      <a:ext uri="{FF2B5EF4-FFF2-40B4-BE49-F238E27FC236}">
                        <a16:creationId xmlns:a16="http://schemas.microsoft.com/office/drawing/2014/main" id="{0B49CBF8-1AB4-6AB9-57D5-23635382905E}"/>
                      </a:ext>
                    </a:extLst>
                  </p:cNvPr>
                  <p:cNvPicPr/>
                  <p:nvPr/>
                </p:nvPicPr>
                <p:blipFill>
                  <a:blip r:embed="rId6"/>
                  <a:stretch>
                    <a:fillRect/>
                  </a:stretch>
                </p:blipFill>
                <p:spPr>
                  <a:xfrm>
                    <a:off x="7717661" y="1864838"/>
                    <a:ext cx="214200" cy="3182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7">
                <p14:nvContentPartPr>
                  <p14:cNvPr id="61" name="墨迹 60">
                    <a:extLst>
                      <a:ext uri="{FF2B5EF4-FFF2-40B4-BE49-F238E27FC236}">
                        <a16:creationId xmlns:a16="http://schemas.microsoft.com/office/drawing/2014/main" id="{22FD2E91-84AB-AF0B-6CCA-B8760F995FE4}"/>
                      </a:ext>
                    </a:extLst>
                  </p14:cNvPr>
                  <p14:cNvContentPartPr/>
                  <p14:nvPr/>
                </p14:nvContentPartPr>
                <p14:xfrm>
                  <a:off x="7854101" y="2039798"/>
                  <a:ext cx="105120" cy="360"/>
                </p14:xfrm>
              </p:contentPart>
            </mc:Choice>
            <mc:Fallback xmlns="">
              <p:pic>
                <p:nvPicPr>
                  <p:cNvPr id="61" name="墨迹 60">
                    <a:extLst>
                      <a:ext uri="{FF2B5EF4-FFF2-40B4-BE49-F238E27FC236}">
                        <a16:creationId xmlns:a16="http://schemas.microsoft.com/office/drawing/2014/main" id="{22FD2E91-84AB-AF0B-6CCA-B8760F995FE4}"/>
                      </a:ext>
                    </a:extLst>
                  </p:cNvPr>
                  <p:cNvPicPr/>
                  <p:nvPr/>
                </p:nvPicPr>
                <p:blipFill>
                  <a:blip r:embed="rId8"/>
                  <a:stretch>
                    <a:fillRect/>
                  </a:stretch>
                </p:blipFill>
                <p:spPr>
                  <a:xfrm>
                    <a:off x="7845461" y="2031158"/>
                    <a:ext cx="122760" cy="180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9">
                <p14:nvContentPartPr>
                  <p14:cNvPr id="64" name="墨迹 63">
                    <a:extLst>
                      <a:ext uri="{FF2B5EF4-FFF2-40B4-BE49-F238E27FC236}">
                        <a16:creationId xmlns:a16="http://schemas.microsoft.com/office/drawing/2014/main" id="{1819C439-3CE7-AB46-C351-44F514E3AB1B}"/>
                      </a:ext>
                    </a:extLst>
                  </p14:cNvPr>
                  <p14:cNvContentPartPr/>
                  <p14:nvPr/>
                </p14:nvContentPartPr>
                <p14:xfrm>
                  <a:off x="7468901" y="1953758"/>
                  <a:ext cx="184680" cy="145080"/>
                </p14:xfrm>
              </p:contentPart>
            </mc:Choice>
            <mc:Fallback xmlns="">
              <p:pic>
                <p:nvPicPr>
                  <p:cNvPr id="64" name="墨迹 63">
                    <a:extLst>
                      <a:ext uri="{FF2B5EF4-FFF2-40B4-BE49-F238E27FC236}">
                        <a16:creationId xmlns:a16="http://schemas.microsoft.com/office/drawing/2014/main" id="{1819C439-3CE7-AB46-C351-44F514E3AB1B}"/>
                      </a:ext>
                    </a:extLst>
                  </p:cNvPr>
                  <p:cNvPicPr/>
                  <p:nvPr/>
                </p:nvPicPr>
                <p:blipFill>
                  <a:blip r:embed="rId10"/>
                  <a:stretch>
                    <a:fillRect/>
                  </a:stretch>
                </p:blipFill>
                <p:spPr>
                  <a:xfrm>
                    <a:off x="7459901" y="1944758"/>
                    <a:ext cx="202320" cy="16272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1">
                <p14:nvContentPartPr>
                  <p14:cNvPr id="65" name="墨迹 64">
                    <a:extLst>
                      <a:ext uri="{FF2B5EF4-FFF2-40B4-BE49-F238E27FC236}">
                        <a16:creationId xmlns:a16="http://schemas.microsoft.com/office/drawing/2014/main" id="{AA3A38DD-90B7-2B33-AB28-FFF83F9BD81E}"/>
                      </a:ext>
                    </a:extLst>
                  </p14:cNvPr>
                  <p14:cNvContentPartPr/>
                  <p14:nvPr/>
                </p14:nvContentPartPr>
                <p14:xfrm>
                  <a:off x="7505261" y="2107478"/>
                  <a:ext cx="116640" cy="50040"/>
                </p14:xfrm>
              </p:contentPart>
            </mc:Choice>
            <mc:Fallback xmlns="">
              <p:pic>
                <p:nvPicPr>
                  <p:cNvPr id="65" name="墨迹 64">
                    <a:extLst>
                      <a:ext uri="{FF2B5EF4-FFF2-40B4-BE49-F238E27FC236}">
                        <a16:creationId xmlns:a16="http://schemas.microsoft.com/office/drawing/2014/main" id="{AA3A38DD-90B7-2B33-AB28-FFF83F9BD81E}"/>
                      </a:ext>
                    </a:extLst>
                  </p:cNvPr>
                  <p:cNvPicPr/>
                  <p:nvPr/>
                </p:nvPicPr>
                <p:blipFill>
                  <a:blip r:embed="rId12"/>
                  <a:stretch>
                    <a:fillRect/>
                  </a:stretch>
                </p:blipFill>
                <p:spPr>
                  <a:xfrm>
                    <a:off x="7496261" y="2098838"/>
                    <a:ext cx="134280" cy="6768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3">
                <p14:nvContentPartPr>
                  <p14:cNvPr id="66" name="墨迹 65">
                    <a:extLst>
                      <a:ext uri="{FF2B5EF4-FFF2-40B4-BE49-F238E27FC236}">
                        <a16:creationId xmlns:a16="http://schemas.microsoft.com/office/drawing/2014/main" id="{901CA4A6-60B6-297D-71C1-3F177182A4D1}"/>
                      </a:ext>
                    </a:extLst>
                  </p14:cNvPr>
                  <p14:cNvContentPartPr/>
                  <p14:nvPr/>
                </p14:nvContentPartPr>
                <p14:xfrm>
                  <a:off x="7951301" y="2136638"/>
                  <a:ext cx="93240" cy="116640"/>
                </p14:xfrm>
              </p:contentPart>
            </mc:Choice>
            <mc:Fallback xmlns="">
              <p:pic>
                <p:nvPicPr>
                  <p:cNvPr id="66" name="墨迹 65">
                    <a:extLst>
                      <a:ext uri="{FF2B5EF4-FFF2-40B4-BE49-F238E27FC236}">
                        <a16:creationId xmlns:a16="http://schemas.microsoft.com/office/drawing/2014/main" id="{901CA4A6-60B6-297D-71C1-3F177182A4D1}"/>
                      </a:ext>
                    </a:extLst>
                  </p:cNvPr>
                  <p:cNvPicPr/>
                  <p:nvPr/>
                </p:nvPicPr>
                <p:blipFill>
                  <a:blip r:embed="rId14"/>
                  <a:stretch>
                    <a:fillRect/>
                  </a:stretch>
                </p:blipFill>
                <p:spPr>
                  <a:xfrm>
                    <a:off x="7942301" y="2127638"/>
                    <a:ext cx="110880" cy="13428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5">
                <p14:nvContentPartPr>
                  <p14:cNvPr id="67" name="墨迹 66">
                    <a:extLst>
                      <a:ext uri="{FF2B5EF4-FFF2-40B4-BE49-F238E27FC236}">
                        <a16:creationId xmlns:a16="http://schemas.microsoft.com/office/drawing/2014/main" id="{1E6FA9A9-ECE6-213A-8B61-C5E1DB84E469}"/>
                      </a:ext>
                    </a:extLst>
                  </p14:cNvPr>
                  <p14:cNvContentPartPr/>
                  <p14:nvPr/>
                </p14:nvContentPartPr>
                <p14:xfrm>
                  <a:off x="8007821" y="2080838"/>
                  <a:ext cx="10440" cy="7920"/>
                </p14:xfrm>
              </p:contentPart>
            </mc:Choice>
            <mc:Fallback xmlns="">
              <p:pic>
                <p:nvPicPr>
                  <p:cNvPr id="67" name="墨迹 66">
                    <a:extLst>
                      <a:ext uri="{FF2B5EF4-FFF2-40B4-BE49-F238E27FC236}">
                        <a16:creationId xmlns:a16="http://schemas.microsoft.com/office/drawing/2014/main" id="{1E6FA9A9-ECE6-213A-8B61-C5E1DB84E469}"/>
                      </a:ext>
                    </a:extLst>
                  </p:cNvPr>
                  <p:cNvPicPr/>
                  <p:nvPr/>
                </p:nvPicPr>
                <p:blipFill>
                  <a:blip r:embed="rId16"/>
                  <a:stretch>
                    <a:fillRect/>
                  </a:stretch>
                </p:blipFill>
                <p:spPr>
                  <a:xfrm>
                    <a:off x="7999181" y="2071838"/>
                    <a:ext cx="28080" cy="25560"/>
                  </a:xfrm>
                  <a:prstGeom prst="rect">
                    <a:avLst/>
                  </a:prstGeom>
                </p:spPr>
              </p:pic>
            </mc:Fallback>
          </mc:AlternateContent>
        </p:grpSp>
        <p:grpSp>
          <p:nvGrpSpPr>
            <p:cNvPr id="80" name="组合 79">
              <a:extLst>
                <a:ext uri="{FF2B5EF4-FFF2-40B4-BE49-F238E27FC236}">
                  <a16:creationId xmlns:a16="http://schemas.microsoft.com/office/drawing/2014/main" id="{97019000-D217-B85C-CEF1-EE0296772531}"/>
                </a:ext>
              </a:extLst>
            </p:cNvPr>
            <p:cNvGrpSpPr/>
            <p:nvPr/>
          </p:nvGrpSpPr>
          <p:grpSpPr>
            <a:xfrm>
              <a:off x="8576261" y="1837838"/>
              <a:ext cx="429840" cy="473040"/>
              <a:chOff x="8576261" y="1837838"/>
              <a:chExt cx="429840" cy="47304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17">
                <p14:nvContentPartPr>
                  <p14:cNvPr id="75" name="墨迹 74">
                    <a:extLst>
                      <a:ext uri="{FF2B5EF4-FFF2-40B4-BE49-F238E27FC236}">
                        <a16:creationId xmlns:a16="http://schemas.microsoft.com/office/drawing/2014/main" id="{9D247B25-A11D-8EA8-F5CA-CAA1A6C0B7A2}"/>
                      </a:ext>
                    </a:extLst>
                  </p14:cNvPr>
                  <p14:cNvContentPartPr/>
                  <p14:nvPr/>
                </p14:nvContentPartPr>
                <p14:xfrm>
                  <a:off x="8585261" y="1943678"/>
                  <a:ext cx="145080" cy="156240"/>
                </p14:xfrm>
              </p:contentPart>
            </mc:Choice>
            <mc:Fallback xmlns="">
              <p:pic>
                <p:nvPicPr>
                  <p:cNvPr id="75" name="墨迹 74">
                    <a:extLst>
                      <a:ext uri="{FF2B5EF4-FFF2-40B4-BE49-F238E27FC236}">
                        <a16:creationId xmlns:a16="http://schemas.microsoft.com/office/drawing/2014/main" id="{9D247B25-A11D-8EA8-F5CA-CAA1A6C0B7A2}"/>
                      </a:ext>
                    </a:extLst>
                  </p:cNvPr>
                  <p:cNvPicPr/>
                  <p:nvPr/>
                </p:nvPicPr>
                <p:blipFill>
                  <a:blip r:embed="rId18"/>
                  <a:stretch>
                    <a:fillRect/>
                  </a:stretch>
                </p:blipFill>
                <p:spPr>
                  <a:xfrm>
                    <a:off x="8576621" y="1935038"/>
                    <a:ext cx="162720" cy="17388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9">
                <p14:nvContentPartPr>
                  <p14:cNvPr id="76" name="墨迹 75">
                    <a:extLst>
                      <a:ext uri="{FF2B5EF4-FFF2-40B4-BE49-F238E27FC236}">
                        <a16:creationId xmlns:a16="http://schemas.microsoft.com/office/drawing/2014/main" id="{AED8181F-64B8-5FB9-F829-5E2C56C413A5}"/>
                      </a:ext>
                    </a:extLst>
                  </p14:cNvPr>
                  <p14:cNvContentPartPr/>
                  <p14:nvPr/>
                </p14:nvContentPartPr>
                <p14:xfrm>
                  <a:off x="8576261" y="2107478"/>
                  <a:ext cx="154080" cy="50400"/>
                </p14:xfrm>
              </p:contentPart>
            </mc:Choice>
            <mc:Fallback xmlns="">
              <p:pic>
                <p:nvPicPr>
                  <p:cNvPr id="76" name="墨迹 75">
                    <a:extLst>
                      <a:ext uri="{FF2B5EF4-FFF2-40B4-BE49-F238E27FC236}">
                        <a16:creationId xmlns:a16="http://schemas.microsoft.com/office/drawing/2014/main" id="{AED8181F-64B8-5FB9-F829-5E2C56C413A5}"/>
                      </a:ext>
                    </a:extLst>
                  </p:cNvPr>
                  <p:cNvPicPr/>
                  <p:nvPr/>
                </p:nvPicPr>
                <p:blipFill>
                  <a:blip r:embed="rId20"/>
                  <a:stretch>
                    <a:fillRect/>
                  </a:stretch>
                </p:blipFill>
                <p:spPr>
                  <a:xfrm>
                    <a:off x="8567261" y="2098838"/>
                    <a:ext cx="171720" cy="680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1">
                <p14:nvContentPartPr>
                  <p14:cNvPr id="77" name="墨迹 76">
                    <a:extLst>
                      <a:ext uri="{FF2B5EF4-FFF2-40B4-BE49-F238E27FC236}">
                        <a16:creationId xmlns:a16="http://schemas.microsoft.com/office/drawing/2014/main" id="{0D65FBD5-DC91-D947-41EB-B59CAA6F31FE}"/>
                      </a:ext>
                    </a:extLst>
                  </p14:cNvPr>
                  <p14:cNvContentPartPr/>
                  <p14:nvPr/>
                </p14:nvContentPartPr>
                <p14:xfrm>
                  <a:off x="8806661" y="1837838"/>
                  <a:ext cx="124920" cy="320040"/>
                </p14:xfrm>
              </p:contentPart>
            </mc:Choice>
            <mc:Fallback xmlns="">
              <p:pic>
                <p:nvPicPr>
                  <p:cNvPr id="77" name="墨迹 76">
                    <a:extLst>
                      <a:ext uri="{FF2B5EF4-FFF2-40B4-BE49-F238E27FC236}">
                        <a16:creationId xmlns:a16="http://schemas.microsoft.com/office/drawing/2014/main" id="{0D65FBD5-DC91-D947-41EB-B59CAA6F31FE}"/>
                      </a:ext>
                    </a:extLst>
                  </p:cNvPr>
                  <p:cNvPicPr/>
                  <p:nvPr/>
                </p:nvPicPr>
                <p:blipFill>
                  <a:blip r:embed="rId22"/>
                  <a:stretch>
                    <a:fillRect/>
                  </a:stretch>
                </p:blipFill>
                <p:spPr>
                  <a:xfrm>
                    <a:off x="8797661" y="1829198"/>
                    <a:ext cx="142560" cy="33768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3">
                <p14:nvContentPartPr>
                  <p14:cNvPr id="78" name="墨迹 77">
                    <a:extLst>
                      <a:ext uri="{FF2B5EF4-FFF2-40B4-BE49-F238E27FC236}">
                        <a16:creationId xmlns:a16="http://schemas.microsoft.com/office/drawing/2014/main" id="{745CB895-614B-7A0F-9C59-B0B8B39EDAF1}"/>
                      </a:ext>
                    </a:extLst>
                  </p14:cNvPr>
                  <p14:cNvContentPartPr/>
                  <p14:nvPr/>
                </p14:nvContentPartPr>
                <p14:xfrm>
                  <a:off x="8970821" y="2105318"/>
                  <a:ext cx="18720" cy="11160"/>
                </p14:xfrm>
              </p:contentPart>
            </mc:Choice>
            <mc:Fallback xmlns="">
              <p:pic>
                <p:nvPicPr>
                  <p:cNvPr id="78" name="墨迹 77">
                    <a:extLst>
                      <a:ext uri="{FF2B5EF4-FFF2-40B4-BE49-F238E27FC236}">
                        <a16:creationId xmlns:a16="http://schemas.microsoft.com/office/drawing/2014/main" id="{745CB895-614B-7A0F-9C59-B0B8B39EDAF1}"/>
                      </a:ext>
                    </a:extLst>
                  </p:cNvPr>
                  <p:cNvPicPr/>
                  <p:nvPr/>
                </p:nvPicPr>
                <p:blipFill>
                  <a:blip r:embed="rId24"/>
                  <a:stretch>
                    <a:fillRect/>
                  </a:stretch>
                </p:blipFill>
                <p:spPr>
                  <a:xfrm>
                    <a:off x="8961821" y="2096678"/>
                    <a:ext cx="36360" cy="288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5">
                <p14:nvContentPartPr>
                  <p14:cNvPr id="79" name="墨迹 78">
                    <a:extLst>
                      <a:ext uri="{FF2B5EF4-FFF2-40B4-BE49-F238E27FC236}">
                        <a16:creationId xmlns:a16="http://schemas.microsoft.com/office/drawing/2014/main" id="{030BFC11-F73C-4E47-F064-5A6F739675E5}"/>
                      </a:ext>
                    </a:extLst>
                  </p14:cNvPr>
                  <p14:cNvContentPartPr/>
                  <p14:nvPr/>
                </p14:nvContentPartPr>
                <p14:xfrm>
                  <a:off x="8970101" y="2174798"/>
                  <a:ext cx="36000" cy="136080"/>
                </p14:xfrm>
              </p:contentPart>
            </mc:Choice>
            <mc:Fallback xmlns="">
              <p:pic>
                <p:nvPicPr>
                  <p:cNvPr id="79" name="墨迹 78">
                    <a:extLst>
                      <a:ext uri="{FF2B5EF4-FFF2-40B4-BE49-F238E27FC236}">
                        <a16:creationId xmlns:a16="http://schemas.microsoft.com/office/drawing/2014/main" id="{030BFC11-F73C-4E47-F064-5A6F739675E5}"/>
                      </a:ext>
                    </a:extLst>
                  </p:cNvPr>
                  <p:cNvPicPr/>
                  <p:nvPr/>
                </p:nvPicPr>
                <p:blipFill>
                  <a:blip r:embed="rId26"/>
                  <a:stretch>
                    <a:fillRect/>
                  </a:stretch>
                </p:blipFill>
                <p:spPr>
                  <a:xfrm>
                    <a:off x="8961461" y="2165798"/>
                    <a:ext cx="53640" cy="153720"/>
                  </a:xfrm>
                  <a:prstGeom prst="rect">
                    <a:avLst/>
                  </a:prstGeom>
                </p:spPr>
              </p:pic>
            </mc:Fallback>
          </mc:AlternateContent>
        </p:grpSp>
      </p:grpSp>
      <p:sp>
        <p:nvSpPr>
          <p:cNvPr id="37" name="矩形 36">
            <a:extLst>
              <a:ext uri="{FF2B5EF4-FFF2-40B4-BE49-F238E27FC236}">
                <a16:creationId xmlns:a16="http://schemas.microsoft.com/office/drawing/2014/main" id="{4E4BD612-B6EB-4F2D-819F-ACD48D10FBAA}"/>
              </a:ext>
            </a:extLst>
          </p:cNvPr>
          <p:cNvSpPr/>
          <p:nvPr/>
        </p:nvSpPr>
        <p:spPr>
          <a:xfrm>
            <a:off x="3572150" y="687519"/>
            <a:ext cx="5330452" cy="646331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3600" dirty="0">
                <a:latin typeface="Consolas" panose="020B0609020204030204" pitchFamily="49" charset="0"/>
                <a:cs typeface="Consolas" pitchFamily="49" charset="0"/>
              </a:rPr>
              <a:t>算法分析</a:t>
            </a:r>
            <a:endParaRPr lang="zh-CN" altLang="zh-CN" sz="4400" dirty="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B2961EAD-4EB4-C180-B69C-11925A2DA049}"/>
              </a:ext>
            </a:extLst>
          </p:cNvPr>
          <p:cNvSpPr txBox="1"/>
          <p:nvPr/>
        </p:nvSpPr>
        <p:spPr>
          <a:xfrm>
            <a:off x="3564453" y="4190587"/>
            <a:ext cx="5330452" cy="461665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>
                <a:latin typeface="Consolas" pitchFamily="49" charset="0"/>
                <a:cs typeface="Consolas" pitchFamily="49" charset="0"/>
              </a:rPr>
              <a:t>此时为真的关系数</a:t>
            </a:r>
            <a:r>
              <a:rPr lang="zh-CN" altLang="en-US" sz="2400" dirty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至少</a:t>
            </a:r>
            <a:r>
              <a:rPr lang="zh-CN" altLang="en-US" sz="2400" dirty="0">
                <a:latin typeface="Consolas" pitchFamily="49" charset="0"/>
                <a:cs typeface="Consolas" pitchFamily="49" charset="0"/>
              </a:rPr>
              <a:t>是</a:t>
            </a:r>
            <a:r>
              <a:rPr lang="en-US" altLang="zh-CN" sz="2000" dirty="0">
                <a:latin typeface="Consolas" pitchFamily="49" charset="0"/>
                <a:cs typeface="Consolas" pitchFamily="49" charset="0"/>
              </a:rPr>
              <a:t>(cntL-i+1)+j</a:t>
            </a:r>
            <a:endParaRPr lang="en-US" altLang="zh-CN" sz="2400" dirty="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7" name="TextBox 5">
            <a:extLst>
              <a:ext uri="{FF2B5EF4-FFF2-40B4-BE49-F238E27FC236}">
                <a16:creationId xmlns:a16="http://schemas.microsoft.com/office/drawing/2014/main" id="{A8E37522-08B6-A6F0-B63B-C50D41FACD1A}"/>
              </a:ext>
            </a:extLst>
          </p:cNvPr>
          <p:cNvSpPr txBox="1"/>
          <p:nvPr/>
        </p:nvSpPr>
        <p:spPr>
          <a:xfrm>
            <a:off x="3571784" y="5041860"/>
            <a:ext cx="5330452" cy="1323439"/>
          </a:xfrm>
          <a:prstGeom prst="rect">
            <a:avLst/>
          </a:prstGeom>
          <a:solidFill>
            <a:srgbClr val="FBFBFB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latin typeface="Consolas" pitchFamily="49" charset="0"/>
                <a:cs typeface="Consolas" pitchFamily="49" charset="0"/>
              </a:rPr>
              <a:t>可能有一些</a:t>
            </a:r>
            <a:r>
              <a:rPr lang="en-US" altLang="zh-CN" sz="2000" dirty="0" err="1">
                <a:latin typeface="Consolas" pitchFamily="49" charset="0"/>
                <a:cs typeface="Consolas" pitchFamily="49" charset="0"/>
              </a:rPr>
              <a:t>G</a:t>
            </a:r>
            <a:r>
              <a:rPr lang="en-US" altLang="zh-CN" sz="2000" baseline="-25000" dirty="0" err="1">
                <a:latin typeface="Consolas" pitchFamily="49" charset="0"/>
                <a:cs typeface="Consolas" pitchFamily="49" charset="0"/>
              </a:rPr>
              <a:t>p</a:t>
            </a:r>
            <a:r>
              <a:rPr lang="en-US" altLang="zh-CN" sz="2000" baseline="-25000" dirty="0">
                <a:latin typeface="Consolas" pitchFamily="49" charset="0"/>
                <a:cs typeface="Consolas" pitchFamily="49" charset="0"/>
              </a:rPr>
              <a:t>(p&gt;j)</a:t>
            </a:r>
            <a:r>
              <a:rPr lang="zh-CN" altLang="en-US" sz="2000" dirty="0">
                <a:latin typeface="Consolas" pitchFamily="49" charset="0"/>
                <a:cs typeface="Consolas" pitchFamily="49" charset="0"/>
              </a:rPr>
              <a:t>和</a:t>
            </a:r>
            <a:r>
              <a:rPr lang="en-US" altLang="zh-CN" sz="2000" dirty="0" err="1">
                <a:latin typeface="Consolas" pitchFamily="49" charset="0"/>
                <a:cs typeface="Consolas" pitchFamily="49" charset="0"/>
              </a:rPr>
              <a:t>L</a:t>
            </a:r>
            <a:r>
              <a:rPr lang="en-US" altLang="zh-CN" sz="2000" baseline="-25000" dirty="0" err="1">
                <a:latin typeface="Consolas" pitchFamily="49" charset="0"/>
                <a:cs typeface="Consolas" pitchFamily="49" charset="0"/>
              </a:rPr>
              <a:t>q</a:t>
            </a:r>
            <a:r>
              <a:rPr lang="en-US" altLang="zh-CN" sz="2000" baseline="-25000" dirty="0">
                <a:latin typeface="Consolas" pitchFamily="49" charset="0"/>
                <a:cs typeface="Consolas" pitchFamily="49" charset="0"/>
              </a:rPr>
              <a:t>(q&lt;i)</a:t>
            </a:r>
            <a:r>
              <a:rPr lang="zh-CN" altLang="en-US" sz="2000" dirty="0">
                <a:latin typeface="Consolas" pitchFamily="49" charset="0"/>
                <a:cs typeface="Consolas" pitchFamily="49" charset="0"/>
              </a:rPr>
              <a:t>仍可同时满足</a:t>
            </a:r>
            <a:endParaRPr lang="en-US" altLang="zh-CN" sz="2000" dirty="0">
              <a:latin typeface="Consolas" pitchFamily="49" charset="0"/>
              <a:cs typeface="Consolas" pitchFamily="49" charset="0"/>
            </a:endParaRPr>
          </a:p>
          <a:p>
            <a:pPr algn="ctr"/>
            <a:r>
              <a:rPr lang="zh-CN" altLang="en-US" sz="2000" dirty="0">
                <a:latin typeface="Consolas" pitchFamily="49" charset="0"/>
                <a:cs typeface="Consolas" pitchFamily="49" charset="0"/>
              </a:rPr>
              <a:t>但当枚举到所有</a:t>
            </a:r>
            <a:r>
              <a:rPr lang="en-US" altLang="zh-CN" sz="2000" dirty="0">
                <a:latin typeface="Consolas" pitchFamily="49" charset="0"/>
                <a:cs typeface="Consolas" pitchFamily="49" charset="0"/>
              </a:rPr>
              <a:t>L</a:t>
            </a:r>
            <a:r>
              <a:rPr lang="en-US" altLang="zh-CN" sz="2000" baseline="-25000" dirty="0">
                <a:latin typeface="Consolas" pitchFamily="49" charset="0"/>
                <a:cs typeface="Consolas" pitchFamily="49" charset="0"/>
              </a:rPr>
              <a:t>i’(i’&lt;=i)</a:t>
            </a:r>
            <a:r>
              <a:rPr lang="zh-CN" altLang="en-US" sz="2000" dirty="0">
                <a:latin typeface="Consolas" pitchFamily="49" charset="0"/>
                <a:cs typeface="Consolas" pitchFamily="49" charset="0"/>
              </a:rPr>
              <a:t>和</a:t>
            </a:r>
            <a:r>
              <a:rPr lang="en-US" altLang="zh-CN" sz="2000" dirty="0" err="1">
                <a:latin typeface="Consolas" pitchFamily="49" charset="0"/>
                <a:cs typeface="Consolas" pitchFamily="49" charset="0"/>
              </a:rPr>
              <a:t>G</a:t>
            </a:r>
            <a:r>
              <a:rPr lang="en-US" altLang="zh-CN" sz="2000" baseline="-25000" dirty="0" err="1">
                <a:latin typeface="Consolas" pitchFamily="49" charset="0"/>
                <a:cs typeface="Consolas" pitchFamily="49" charset="0"/>
              </a:rPr>
              <a:t>j</a:t>
            </a:r>
            <a:r>
              <a:rPr lang="en-US" altLang="zh-CN" sz="2000" baseline="-25000" dirty="0">
                <a:latin typeface="Consolas" pitchFamily="49" charset="0"/>
                <a:cs typeface="Consolas" pitchFamily="49" charset="0"/>
              </a:rPr>
              <a:t>’(j’&gt;=j)</a:t>
            </a:r>
            <a:r>
              <a:rPr lang="zh-CN" altLang="en-US" sz="2000" dirty="0">
                <a:latin typeface="Consolas" pitchFamily="49" charset="0"/>
                <a:cs typeface="Consolas" pitchFamily="49" charset="0"/>
              </a:rPr>
              <a:t>的组合</a:t>
            </a:r>
            <a:endParaRPr lang="en-US" altLang="zh-CN" sz="2000" dirty="0">
              <a:latin typeface="Consolas" pitchFamily="49" charset="0"/>
              <a:cs typeface="Consolas" pitchFamily="49" charset="0"/>
            </a:endParaRPr>
          </a:p>
          <a:p>
            <a:pPr algn="ctr"/>
            <a:r>
              <a:rPr lang="zh-CN" altLang="en-US" sz="2000" dirty="0">
                <a:latin typeface="Consolas" pitchFamily="49" charset="0"/>
                <a:cs typeface="Consolas" pitchFamily="49" charset="0"/>
              </a:rPr>
              <a:t>总有一个时候</a:t>
            </a:r>
            <a:endParaRPr lang="en-US" altLang="zh-CN" sz="2000" dirty="0">
              <a:latin typeface="Consolas" pitchFamily="49" charset="0"/>
              <a:cs typeface="Consolas" pitchFamily="49" charset="0"/>
            </a:endParaRPr>
          </a:p>
          <a:p>
            <a:pPr algn="ctr"/>
            <a:r>
              <a:rPr lang="zh-CN" altLang="en-US" sz="2000" dirty="0">
                <a:latin typeface="Consolas" pitchFamily="49" charset="0"/>
                <a:cs typeface="Consolas" pitchFamily="49" charset="0"/>
              </a:rPr>
              <a:t>这两段中间没有其他关系</a:t>
            </a:r>
            <a:endParaRPr lang="en-US" altLang="zh-CN" sz="2400" dirty="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8" name="TextBox 5">
            <a:extLst>
              <a:ext uri="{FF2B5EF4-FFF2-40B4-BE49-F238E27FC236}">
                <a16:creationId xmlns:a16="http://schemas.microsoft.com/office/drawing/2014/main" id="{0AFBCD9C-B1D7-84E9-D298-087AED2DB85A}"/>
              </a:ext>
            </a:extLst>
          </p:cNvPr>
          <p:cNvSpPr txBox="1"/>
          <p:nvPr/>
        </p:nvSpPr>
        <p:spPr>
          <a:xfrm>
            <a:off x="3574647" y="3088854"/>
            <a:ext cx="5330452" cy="830997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>
                <a:latin typeface="Consolas" pitchFamily="49" charset="0"/>
                <a:cs typeface="Consolas" pitchFamily="49" charset="0"/>
              </a:rPr>
              <a:t>此时</a:t>
            </a:r>
            <a:r>
              <a:rPr lang="en-US" altLang="zh-CN" sz="2400" dirty="0">
                <a:latin typeface="Consolas" pitchFamily="49" charset="0"/>
                <a:cs typeface="Consolas" pitchFamily="49" charset="0"/>
              </a:rPr>
              <a:t>,</a:t>
            </a:r>
            <a:r>
              <a:rPr lang="zh-CN" altLang="en-US" sz="2400" dirty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至少</a:t>
            </a:r>
            <a:r>
              <a:rPr lang="en-US" altLang="zh-CN" sz="2400" dirty="0">
                <a:latin typeface="Consolas" pitchFamily="49" charset="0"/>
                <a:cs typeface="Consolas" pitchFamily="49" charset="0"/>
              </a:rPr>
              <a:t>L</a:t>
            </a:r>
            <a:r>
              <a:rPr lang="en-US" altLang="zh-CN" sz="2400" baseline="-25000" dirty="0">
                <a:latin typeface="Consolas" pitchFamily="49" charset="0"/>
                <a:cs typeface="Consolas" pitchFamily="49" charset="0"/>
              </a:rPr>
              <a:t>i</a:t>
            </a:r>
            <a:r>
              <a:rPr lang="en-US" altLang="zh-CN" sz="2400" dirty="0">
                <a:latin typeface="Consolas" pitchFamily="49" charset="0"/>
                <a:cs typeface="Consolas" pitchFamily="49" charset="0"/>
              </a:rPr>
              <a:t>,L</a:t>
            </a:r>
            <a:r>
              <a:rPr lang="en-US" altLang="zh-CN" sz="2400" baseline="-25000" dirty="0">
                <a:latin typeface="Consolas" pitchFamily="49" charset="0"/>
                <a:cs typeface="Consolas" pitchFamily="49" charset="0"/>
              </a:rPr>
              <a:t>i+1</a:t>
            </a:r>
            <a:r>
              <a:rPr lang="en-US" altLang="zh-CN" sz="2400" dirty="0">
                <a:latin typeface="Consolas" pitchFamily="49" charset="0"/>
                <a:cs typeface="Consolas" pitchFamily="49" charset="0"/>
              </a:rPr>
              <a:t>,…,</a:t>
            </a:r>
            <a:r>
              <a:rPr lang="en-US" altLang="zh-CN" sz="2400" dirty="0" err="1">
                <a:latin typeface="Consolas" pitchFamily="49" charset="0"/>
                <a:cs typeface="Consolas" pitchFamily="49" charset="0"/>
              </a:rPr>
              <a:t>L</a:t>
            </a:r>
            <a:r>
              <a:rPr lang="en-US" altLang="zh-CN" sz="2400" baseline="-25000" dirty="0" err="1">
                <a:latin typeface="Consolas" pitchFamily="49" charset="0"/>
                <a:cs typeface="Consolas" pitchFamily="49" charset="0"/>
              </a:rPr>
              <a:t>cntL</a:t>
            </a:r>
            <a:r>
              <a:rPr lang="zh-CN" altLang="en-US" sz="2400" dirty="0">
                <a:latin typeface="Consolas" pitchFamily="49" charset="0"/>
                <a:cs typeface="Consolas" pitchFamily="49" charset="0"/>
              </a:rPr>
              <a:t>同时为真</a:t>
            </a:r>
            <a:endParaRPr lang="en-US" altLang="zh-CN" sz="2400" dirty="0">
              <a:latin typeface="Consolas" pitchFamily="49" charset="0"/>
              <a:cs typeface="Consolas" pitchFamily="49" charset="0"/>
            </a:endParaRPr>
          </a:p>
          <a:p>
            <a:pPr algn="ctr"/>
            <a:r>
              <a:rPr lang="zh-CN" altLang="en-US" sz="2400" dirty="0">
                <a:latin typeface="Consolas" pitchFamily="49" charset="0"/>
                <a:cs typeface="Consolas" pitchFamily="49" charset="0"/>
              </a:rPr>
              <a:t>且</a:t>
            </a:r>
            <a:r>
              <a:rPr lang="zh-CN" altLang="en-US" sz="2400" dirty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至少</a:t>
            </a:r>
            <a:r>
              <a:rPr lang="en-US" altLang="zh-CN" sz="2400" dirty="0">
                <a:latin typeface="Consolas" pitchFamily="49" charset="0"/>
                <a:cs typeface="Consolas" pitchFamily="49" charset="0"/>
              </a:rPr>
              <a:t>G</a:t>
            </a:r>
            <a:r>
              <a:rPr lang="en-US" altLang="zh-CN" sz="2400" baseline="-25000" dirty="0">
                <a:latin typeface="Consolas" pitchFamily="49" charset="0"/>
                <a:cs typeface="Consolas" pitchFamily="49" charset="0"/>
              </a:rPr>
              <a:t>1</a:t>
            </a:r>
            <a:r>
              <a:rPr lang="en-US" altLang="zh-CN" sz="2400" dirty="0">
                <a:latin typeface="Consolas" pitchFamily="49" charset="0"/>
                <a:cs typeface="Consolas" pitchFamily="49" charset="0"/>
              </a:rPr>
              <a:t>,G</a:t>
            </a:r>
            <a:r>
              <a:rPr lang="en-US" altLang="zh-CN" sz="2400" baseline="-25000" dirty="0">
                <a:latin typeface="Consolas" pitchFamily="49" charset="0"/>
                <a:cs typeface="Consolas" pitchFamily="49" charset="0"/>
              </a:rPr>
              <a:t>2</a:t>
            </a:r>
            <a:r>
              <a:rPr lang="en-US" altLang="zh-CN" sz="2400" dirty="0">
                <a:latin typeface="Consolas" pitchFamily="49" charset="0"/>
                <a:cs typeface="Consolas" pitchFamily="49" charset="0"/>
              </a:rPr>
              <a:t>,…,</a:t>
            </a:r>
            <a:r>
              <a:rPr lang="en-US" altLang="zh-CN" sz="2400" dirty="0" err="1">
                <a:latin typeface="Consolas" pitchFamily="49" charset="0"/>
                <a:cs typeface="Consolas" pitchFamily="49" charset="0"/>
              </a:rPr>
              <a:t>G</a:t>
            </a:r>
            <a:r>
              <a:rPr lang="en-US" altLang="zh-CN" sz="2400" baseline="-25000" dirty="0" err="1">
                <a:latin typeface="Consolas" pitchFamily="49" charset="0"/>
                <a:cs typeface="Consolas" pitchFamily="49" charset="0"/>
              </a:rPr>
              <a:t>j</a:t>
            </a:r>
            <a:r>
              <a:rPr lang="zh-CN" altLang="en-US" sz="2400" dirty="0">
                <a:latin typeface="Consolas" pitchFamily="49" charset="0"/>
                <a:cs typeface="Consolas" pitchFamily="49" charset="0"/>
              </a:rPr>
              <a:t>同时为真</a:t>
            </a:r>
            <a:endParaRPr lang="en-US" altLang="zh-CN" sz="2400" dirty="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0" name="TextBox 5">
            <a:extLst>
              <a:ext uri="{FF2B5EF4-FFF2-40B4-BE49-F238E27FC236}">
                <a16:creationId xmlns:a16="http://schemas.microsoft.com/office/drawing/2014/main" id="{5560998C-5346-9370-659C-32E6FAA709D5}"/>
              </a:ext>
            </a:extLst>
          </p:cNvPr>
          <p:cNvSpPr txBox="1"/>
          <p:nvPr/>
        </p:nvSpPr>
        <p:spPr>
          <a:xfrm>
            <a:off x="3564454" y="1504790"/>
            <a:ext cx="5337783" cy="1200329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>
                <a:latin typeface="Consolas" pitchFamily="49" charset="0"/>
                <a:cs typeface="Consolas" pitchFamily="49" charset="0"/>
              </a:rPr>
              <a:t>枚举所有</a:t>
            </a:r>
            <a:r>
              <a:rPr lang="en-US" altLang="zh-CN" sz="2400" dirty="0">
                <a:latin typeface="Consolas" pitchFamily="49" charset="0"/>
                <a:cs typeface="Consolas" pitchFamily="49" charset="0"/>
              </a:rPr>
              <a:t>L</a:t>
            </a:r>
            <a:r>
              <a:rPr lang="en-US" altLang="zh-CN" sz="2400" baseline="-25000" dirty="0">
                <a:latin typeface="Consolas" pitchFamily="49" charset="0"/>
                <a:cs typeface="Consolas" pitchFamily="49" charset="0"/>
              </a:rPr>
              <a:t>i</a:t>
            </a:r>
            <a:r>
              <a:rPr lang="zh-CN" altLang="en-US" sz="2400" dirty="0">
                <a:latin typeface="Consolas" pitchFamily="49" charset="0"/>
                <a:cs typeface="Consolas" pitchFamily="49" charset="0"/>
              </a:rPr>
              <a:t>和</a:t>
            </a:r>
            <a:r>
              <a:rPr lang="en-US" altLang="zh-CN" sz="2400" dirty="0" err="1">
                <a:latin typeface="Consolas" pitchFamily="49" charset="0"/>
                <a:cs typeface="Consolas" pitchFamily="49" charset="0"/>
              </a:rPr>
              <a:t>G</a:t>
            </a:r>
            <a:r>
              <a:rPr lang="en-US" altLang="zh-CN" sz="2400" baseline="-25000" dirty="0" err="1">
                <a:latin typeface="Consolas" pitchFamily="49" charset="0"/>
                <a:cs typeface="Consolas" pitchFamily="49" charset="0"/>
              </a:rPr>
              <a:t>j</a:t>
            </a:r>
            <a:r>
              <a:rPr lang="zh-CN" altLang="en-US" sz="2400" dirty="0">
                <a:latin typeface="Consolas" pitchFamily="49" charset="0"/>
                <a:cs typeface="Consolas" pitchFamily="49" charset="0"/>
              </a:rPr>
              <a:t>组合</a:t>
            </a:r>
            <a:endParaRPr lang="en-US" altLang="zh-CN" sz="2400" baseline="-25000" dirty="0">
              <a:latin typeface="Consolas" pitchFamily="49" charset="0"/>
              <a:cs typeface="Consolas" pitchFamily="49" charset="0"/>
            </a:endParaRPr>
          </a:p>
          <a:p>
            <a:pPr algn="ctr"/>
            <a:r>
              <a:rPr lang="zh-CN" altLang="en-US" sz="2400" dirty="0">
                <a:latin typeface="Consolas" pitchFamily="49" charset="0"/>
                <a:cs typeface="Consolas" pitchFamily="49" charset="0"/>
              </a:rPr>
              <a:t>只要</a:t>
            </a:r>
            <a:r>
              <a:rPr lang="en-US" altLang="zh-CN" sz="2400" dirty="0" err="1">
                <a:latin typeface="Consolas" pitchFamily="49" charset="0"/>
                <a:cs typeface="Consolas" pitchFamily="49" charset="0"/>
              </a:rPr>
              <a:t>G</a:t>
            </a:r>
            <a:r>
              <a:rPr lang="en-US" altLang="zh-CN" sz="2400" baseline="-25000" dirty="0" err="1">
                <a:latin typeface="Consolas" pitchFamily="49" charset="0"/>
                <a:cs typeface="Consolas" pitchFamily="49" charset="0"/>
              </a:rPr>
              <a:t>j</a:t>
            </a:r>
            <a:r>
              <a:rPr lang="en-US" altLang="zh-CN" sz="2400" dirty="0">
                <a:latin typeface="Consolas" pitchFamily="49" charset="0"/>
                <a:cs typeface="Consolas" pitchFamily="49" charset="0"/>
              </a:rPr>
              <a:t>&lt;=L</a:t>
            </a:r>
            <a:r>
              <a:rPr lang="en-US" altLang="zh-CN" sz="2400" baseline="-25000" dirty="0">
                <a:latin typeface="Consolas" pitchFamily="49" charset="0"/>
                <a:cs typeface="Consolas" pitchFamily="49" charset="0"/>
              </a:rPr>
              <a:t>i</a:t>
            </a:r>
            <a:endParaRPr lang="en-US" altLang="zh-CN" sz="2400" dirty="0">
              <a:latin typeface="Consolas" pitchFamily="49" charset="0"/>
              <a:cs typeface="Consolas" pitchFamily="49" charset="0"/>
            </a:endParaRPr>
          </a:p>
          <a:p>
            <a:pPr algn="ctr"/>
            <a:r>
              <a:rPr lang="zh-CN" altLang="en-US" sz="2400" dirty="0">
                <a:latin typeface="Consolas" pitchFamily="49" charset="0"/>
                <a:cs typeface="Consolas" pitchFamily="49" charset="0"/>
              </a:rPr>
              <a:t>说明至少这一对关系可同真</a:t>
            </a:r>
            <a:endParaRPr lang="en-US" altLang="zh-CN" sz="2400" dirty="0">
              <a:latin typeface="Consolas" pitchFamily="49" charset="0"/>
              <a:cs typeface="Consolas" pitchFamily="49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83" name="墨迹 82">
                <a:extLst>
                  <a:ext uri="{FF2B5EF4-FFF2-40B4-BE49-F238E27FC236}">
                    <a16:creationId xmlns:a16="http://schemas.microsoft.com/office/drawing/2014/main" id="{761B598E-4D89-4D94-F579-37407FDA70BC}"/>
                  </a:ext>
                </a:extLst>
              </p14:cNvPr>
              <p14:cNvContentPartPr/>
              <p14:nvPr/>
            </p14:nvContentPartPr>
            <p14:xfrm>
              <a:off x="-1935019" y="2415278"/>
              <a:ext cx="360" cy="360"/>
            </p14:xfrm>
          </p:contentPart>
        </mc:Choice>
        <mc:Fallback xmlns="">
          <p:pic>
            <p:nvPicPr>
              <p:cNvPr id="83" name="墨迹 82">
                <a:extLst>
                  <a:ext uri="{FF2B5EF4-FFF2-40B4-BE49-F238E27FC236}">
                    <a16:creationId xmlns:a16="http://schemas.microsoft.com/office/drawing/2014/main" id="{761B598E-4D89-4D94-F579-37407FDA70BC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-1944019" y="2406278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84" name="墨迹 83">
                <a:extLst>
                  <a:ext uri="{FF2B5EF4-FFF2-40B4-BE49-F238E27FC236}">
                    <a16:creationId xmlns:a16="http://schemas.microsoft.com/office/drawing/2014/main" id="{516F6B8C-8447-8853-7B00-6CDA8521882D}"/>
                  </a:ext>
                </a:extLst>
              </p14:cNvPr>
              <p14:cNvContentPartPr/>
              <p14:nvPr/>
            </p14:nvContentPartPr>
            <p14:xfrm>
              <a:off x="-2810899" y="2126558"/>
              <a:ext cx="360" cy="360"/>
            </p14:xfrm>
          </p:contentPart>
        </mc:Choice>
        <mc:Fallback xmlns="">
          <p:pic>
            <p:nvPicPr>
              <p:cNvPr id="84" name="墨迹 83">
                <a:extLst>
                  <a:ext uri="{FF2B5EF4-FFF2-40B4-BE49-F238E27FC236}">
                    <a16:creationId xmlns:a16="http://schemas.microsoft.com/office/drawing/2014/main" id="{516F6B8C-8447-8853-7B00-6CDA8521882D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-2819899" y="2117558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85" name="墨迹 84">
                <a:extLst>
                  <a:ext uri="{FF2B5EF4-FFF2-40B4-BE49-F238E27FC236}">
                    <a16:creationId xmlns:a16="http://schemas.microsoft.com/office/drawing/2014/main" id="{F5D4434C-BB02-85E3-4D61-A82F64A5C929}"/>
                  </a:ext>
                </a:extLst>
              </p14:cNvPr>
              <p14:cNvContentPartPr/>
              <p14:nvPr/>
            </p14:nvContentPartPr>
            <p14:xfrm>
              <a:off x="-1184059" y="2271278"/>
              <a:ext cx="360" cy="360"/>
            </p14:xfrm>
          </p:contentPart>
        </mc:Choice>
        <mc:Fallback xmlns="">
          <p:pic>
            <p:nvPicPr>
              <p:cNvPr id="85" name="墨迹 84">
                <a:extLst>
                  <a:ext uri="{FF2B5EF4-FFF2-40B4-BE49-F238E27FC236}">
                    <a16:creationId xmlns:a16="http://schemas.microsoft.com/office/drawing/2014/main" id="{F5D4434C-BB02-85E3-4D61-A82F64A5C929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-1193059" y="2262278"/>
                <a:ext cx="18000" cy="18000"/>
              </a:xfrm>
              <a:prstGeom prst="rect">
                <a:avLst/>
              </a:prstGeom>
            </p:spPr>
          </p:pic>
        </mc:Fallback>
      </mc:AlternateContent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5AB81262-E55E-4738-93C4-41E48914F3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96439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8" grpId="0" animBg="1"/>
      <p:bldP spid="10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图片 30">
            <a:extLst>
              <a:ext uri="{FF2B5EF4-FFF2-40B4-BE49-F238E27FC236}">
                <a16:creationId xmlns:a16="http://schemas.microsoft.com/office/drawing/2014/main" id="{EAC7BAD0-D219-EA84-8937-81201A1F67D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1" y="735391"/>
            <a:ext cx="9061397" cy="5071960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FD50798C-ECF7-7509-52C5-155313E3E8E9}"/>
              </a:ext>
            </a:extLst>
          </p:cNvPr>
          <p:cNvSpPr/>
          <p:nvPr/>
        </p:nvSpPr>
        <p:spPr>
          <a:xfrm>
            <a:off x="7355251" y="2945149"/>
            <a:ext cx="3194146" cy="1015663"/>
          </a:xfrm>
          <a:prstGeom prst="rect">
            <a:avLst/>
          </a:prstGeom>
          <a:noFill/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>
                <a:latin typeface="Consolas" panose="020B0609020204030204" pitchFamily="49" charset="0"/>
              </a:rPr>
              <a:t>最多真消息数</a:t>
            </a:r>
            <a:r>
              <a:rPr lang="en-US" altLang="zh-CN" sz="2000" dirty="0" err="1">
                <a:latin typeface="Consolas" panose="020B0609020204030204" pitchFamily="49" charset="0"/>
              </a:rPr>
              <a:t>ans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pPr algn="ctr"/>
            <a:r>
              <a:rPr lang="zh-CN" altLang="en-US" sz="2000" dirty="0">
                <a:latin typeface="Consolas" panose="020B0609020204030204" pitchFamily="49" charset="0"/>
              </a:rPr>
              <a:t>初始化为序列</a:t>
            </a:r>
            <a:r>
              <a:rPr lang="en-US" altLang="zh-CN" sz="2000" dirty="0">
                <a:latin typeface="Consolas" panose="020B0609020204030204" pitchFamily="49" charset="0"/>
              </a:rPr>
              <a:t>L</a:t>
            </a:r>
            <a:r>
              <a:rPr lang="zh-CN" altLang="en-US" sz="2000" dirty="0">
                <a:latin typeface="Consolas" panose="020B0609020204030204" pitchFamily="49" charset="0"/>
              </a:rPr>
              <a:t>和</a:t>
            </a:r>
            <a:r>
              <a:rPr lang="en-US" altLang="zh-CN" sz="2000" dirty="0">
                <a:latin typeface="Consolas" panose="020B0609020204030204" pitchFamily="49" charset="0"/>
              </a:rPr>
              <a:t>G</a:t>
            </a:r>
            <a:r>
              <a:rPr lang="zh-CN" altLang="en-US" sz="2000" dirty="0">
                <a:latin typeface="Consolas" panose="020B0609020204030204" pitchFamily="49" charset="0"/>
              </a:rPr>
              <a:t>的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pPr algn="ctr"/>
            <a:r>
              <a:rPr lang="zh-CN" altLang="en-US" sz="2000" dirty="0">
                <a:latin typeface="Consolas" panose="020B0609020204030204" pitchFamily="49" charset="0"/>
              </a:rPr>
              <a:t>长度的较大者</a:t>
            </a:r>
            <a:endParaRPr lang="en-US" altLang="zh-CN" sz="2000" dirty="0">
              <a:latin typeface="Consolas" panose="020B0609020204030204" pitchFamily="49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DA330EE-2934-0FFF-2E14-8094A0809BEB}"/>
              </a:ext>
            </a:extLst>
          </p:cNvPr>
          <p:cNvSpPr/>
          <p:nvPr/>
        </p:nvSpPr>
        <p:spPr>
          <a:xfrm>
            <a:off x="8513640" y="4664356"/>
            <a:ext cx="1687052" cy="491683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3B904BD-8F37-E1CD-A102-DCE6CF872683}"/>
              </a:ext>
            </a:extLst>
          </p:cNvPr>
          <p:cNvSpPr/>
          <p:nvPr/>
        </p:nvSpPr>
        <p:spPr>
          <a:xfrm>
            <a:off x="5087888" y="5085184"/>
            <a:ext cx="792088" cy="38832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Consolas" pitchFamily="49" charset="0"/>
              <a:cs typeface="Consolas" pitchFamily="49" charset="0"/>
            </a:endParaRPr>
          </a:p>
        </p:txBody>
      </p: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F9EBD14F-9FCC-D878-ADF7-B300D4649890}"/>
              </a:ext>
            </a:extLst>
          </p:cNvPr>
          <p:cNvCxnSpPr>
            <a:cxnSpLocks/>
          </p:cNvCxnSpPr>
          <p:nvPr/>
        </p:nvCxnSpPr>
        <p:spPr>
          <a:xfrm flipH="1">
            <a:off x="6635171" y="3429000"/>
            <a:ext cx="720080" cy="140412"/>
          </a:xfrm>
          <a:prstGeom prst="straightConnector1">
            <a:avLst/>
          </a:prstGeom>
          <a:ln w="28575">
            <a:solidFill>
              <a:schemeClr val="tx2">
                <a:lumMod val="60000"/>
                <a:lumOff val="4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9F1D1D2E-88F2-334A-E8AE-2E995E8A9A5E}"/>
              </a:ext>
            </a:extLst>
          </p:cNvPr>
          <p:cNvGrpSpPr/>
          <p:nvPr/>
        </p:nvGrpSpPr>
        <p:grpSpPr>
          <a:xfrm>
            <a:off x="8256240" y="692696"/>
            <a:ext cx="1537200" cy="1041742"/>
            <a:chOff x="7468901" y="1412776"/>
            <a:chExt cx="1537200" cy="1041742"/>
          </a:xfrm>
        </p:grpSpPr>
        <p:grpSp>
          <p:nvGrpSpPr>
            <p:cNvPr id="14" name="组合 13">
              <a:extLst>
                <a:ext uri="{FF2B5EF4-FFF2-40B4-BE49-F238E27FC236}">
                  <a16:creationId xmlns:a16="http://schemas.microsoft.com/office/drawing/2014/main" id="{E602B20C-3447-498E-AD4D-DA5D91ED1B25}"/>
                </a:ext>
              </a:extLst>
            </p:cNvPr>
            <p:cNvGrpSpPr/>
            <p:nvPr/>
          </p:nvGrpSpPr>
          <p:grpSpPr>
            <a:xfrm>
              <a:off x="7776874" y="1412776"/>
              <a:ext cx="1008112" cy="358280"/>
              <a:chOff x="7812360" y="697459"/>
              <a:chExt cx="1008112" cy="358280"/>
            </a:xfrm>
          </p:grpSpPr>
          <p:cxnSp>
            <p:nvCxnSpPr>
              <p:cNvPr id="29" name="连接符: 肘形 28">
                <a:extLst>
                  <a:ext uri="{FF2B5EF4-FFF2-40B4-BE49-F238E27FC236}">
                    <a16:creationId xmlns:a16="http://schemas.microsoft.com/office/drawing/2014/main" id="{2251DD60-0CE5-358A-E71F-8CE654432E18}"/>
                  </a:ext>
                </a:extLst>
              </p:cNvPr>
              <p:cNvCxnSpPr/>
              <p:nvPr/>
            </p:nvCxnSpPr>
            <p:spPr>
              <a:xfrm>
                <a:off x="7812360" y="697459"/>
                <a:ext cx="1008112" cy="358280"/>
              </a:xfrm>
              <a:prstGeom prst="bentConnector3">
                <a:avLst>
                  <a:gd name="adj1" fmla="val -603"/>
                </a:avLst>
              </a:prstGeom>
              <a:ln w="34925">
                <a:solidFill>
                  <a:srgbClr val="FFC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直接连接符 29">
                <a:extLst>
                  <a:ext uri="{FF2B5EF4-FFF2-40B4-BE49-F238E27FC236}">
                    <a16:creationId xmlns:a16="http://schemas.microsoft.com/office/drawing/2014/main" id="{755C1D90-2F3E-65F3-824B-2FAD8065BAF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820472" y="697459"/>
                <a:ext cx="0" cy="358280"/>
              </a:xfrm>
              <a:prstGeom prst="line">
                <a:avLst/>
              </a:prstGeom>
              <a:ln w="34925">
                <a:solidFill>
                  <a:srgbClr val="FFC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15" name="墨迹 14">
                  <a:extLst>
                    <a:ext uri="{FF2B5EF4-FFF2-40B4-BE49-F238E27FC236}">
                      <a16:creationId xmlns:a16="http://schemas.microsoft.com/office/drawing/2014/main" id="{A0BD53B4-5740-35F9-87BA-0299099D3AA5}"/>
                    </a:ext>
                  </a:extLst>
                </p14:cNvPr>
                <p14:cNvContentPartPr/>
                <p14:nvPr/>
              </p14:nvContentPartPr>
              <p14:xfrm>
                <a:off x="8816741" y="2454158"/>
                <a:ext cx="360" cy="360"/>
              </p14:xfrm>
            </p:contentPart>
          </mc:Choice>
          <mc:Fallback xmlns="">
            <p:pic>
              <p:nvPicPr>
                <p:cNvPr id="15" name="墨迹 14">
                  <a:extLst>
                    <a:ext uri="{FF2B5EF4-FFF2-40B4-BE49-F238E27FC236}">
                      <a16:creationId xmlns:a16="http://schemas.microsoft.com/office/drawing/2014/main" id="{A0BD53B4-5740-35F9-87BA-0299099D3AA5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8808101" y="2445158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p:grpSp>
          <p:nvGrpSpPr>
            <p:cNvPr id="16" name="组合 15">
              <a:extLst>
                <a:ext uri="{FF2B5EF4-FFF2-40B4-BE49-F238E27FC236}">
                  <a16:creationId xmlns:a16="http://schemas.microsoft.com/office/drawing/2014/main" id="{807CDF74-EA7D-91CD-24BD-D38634A01191}"/>
                </a:ext>
              </a:extLst>
            </p:cNvPr>
            <p:cNvGrpSpPr/>
            <p:nvPr/>
          </p:nvGrpSpPr>
          <p:grpSpPr>
            <a:xfrm>
              <a:off x="7468901" y="1873478"/>
              <a:ext cx="575640" cy="379800"/>
              <a:chOff x="7468901" y="1873478"/>
              <a:chExt cx="575640" cy="37980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6">
                <p14:nvContentPartPr>
                  <p14:cNvPr id="23" name="墨迹 22">
                    <a:extLst>
                      <a:ext uri="{FF2B5EF4-FFF2-40B4-BE49-F238E27FC236}">
                        <a16:creationId xmlns:a16="http://schemas.microsoft.com/office/drawing/2014/main" id="{20932AE5-2873-467B-B668-322FC8A65294}"/>
                      </a:ext>
                    </a:extLst>
                  </p14:cNvPr>
                  <p14:cNvContentPartPr/>
                  <p14:nvPr/>
                </p14:nvContentPartPr>
                <p14:xfrm>
                  <a:off x="7726301" y="1873478"/>
                  <a:ext cx="196560" cy="300600"/>
                </p14:xfrm>
              </p:contentPart>
            </mc:Choice>
            <mc:Fallback xmlns="">
              <p:pic>
                <p:nvPicPr>
                  <p:cNvPr id="23" name="墨迹 22">
                    <a:extLst>
                      <a:ext uri="{FF2B5EF4-FFF2-40B4-BE49-F238E27FC236}">
                        <a16:creationId xmlns:a16="http://schemas.microsoft.com/office/drawing/2014/main" id="{20932AE5-2873-467B-B668-322FC8A65294}"/>
                      </a:ext>
                    </a:extLst>
                  </p:cNvPr>
                  <p:cNvPicPr/>
                  <p:nvPr/>
                </p:nvPicPr>
                <p:blipFill>
                  <a:blip r:embed="rId7"/>
                  <a:stretch>
                    <a:fillRect/>
                  </a:stretch>
                </p:blipFill>
                <p:spPr>
                  <a:xfrm>
                    <a:off x="7717661" y="1864838"/>
                    <a:ext cx="214200" cy="3182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8">
                <p14:nvContentPartPr>
                  <p14:cNvPr id="24" name="墨迹 23">
                    <a:extLst>
                      <a:ext uri="{FF2B5EF4-FFF2-40B4-BE49-F238E27FC236}">
                        <a16:creationId xmlns:a16="http://schemas.microsoft.com/office/drawing/2014/main" id="{7B059038-B1BA-DE84-83A1-A3F7A36F1ED1}"/>
                      </a:ext>
                    </a:extLst>
                  </p14:cNvPr>
                  <p14:cNvContentPartPr/>
                  <p14:nvPr/>
                </p14:nvContentPartPr>
                <p14:xfrm>
                  <a:off x="7854101" y="2039798"/>
                  <a:ext cx="105120" cy="360"/>
                </p14:xfrm>
              </p:contentPart>
            </mc:Choice>
            <mc:Fallback xmlns="">
              <p:pic>
                <p:nvPicPr>
                  <p:cNvPr id="24" name="墨迹 23">
                    <a:extLst>
                      <a:ext uri="{FF2B5EF4-FFF2-40B4-BE49-F238E27FC236}">
                        <a16:creationId xmlns:a16="http://schemas.microsoft.com/office/drawing/2014/main" id="{7B059038-B1BA-DE84-83A1-A3F7A36F1ED1}"/>
                      </a:ext>
                    </a:extLst>
                  </p:cNvPr>
                  <p:cNvPicPr/>
                  <p:nvPr/>
                </p:nvPicPr>
                <p:blipFill>
                  <a:blip r:embed="rId9"/>
                  <a:stretch>
                    <a:fillRect/>
                  </a:stretch>
                </p:blipFill>
                <p:spPr>
                  <a:xfrm>
                    <a:off x="7845461" y="2031158"/>
                    <a:ext cx="122760" cy="180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0">
                <p14:nvContentPartPr>
                  <p14:cNvPr id="25" name="墨迹 24">
                    <a:extLst>
                      <a:ext uri="{FF2B5EF4-FFF2-40B4-BE49-F238E27FC236}">
                        <a16:creationId xmlns:a16="http://schemas.microsoft.com/office/drawing/2014/main" id="{38F79048-62B4-E2B8-FC04-7B8C64E43CC0}"/>
                      </a:ext>
                    </a:extLst>
                  </p14:cNvPr>
                  <p14:cNvContentPartPr/>
                  <p14:nvPr/>
                </p14:nvContentPartPr>
                <p14:xfrm>
                  <a:off x="7468901" y="1953758"/>
                  <a:ext cx="184680" cy="145080"/>
                </p14:xfrm>
              </p:contentPart>
            </mc:Choice>
            <mc:Fallback xmlns="">
              <p:pic>
                <p:nvPicPr>
                  <p:cNvPr id="25" name="墨迹 24">
                    <a:extLst>
                      <a:ext uri="{FF2B5EF4-FFF2-40B4-BE49-F238E27FC236}">
                        <a16:creationId xmlns:a16="http://schemas.microsoft.com/office/drawing/2014/main" id="{38F79048-62B4-E2B8-FC04-7B8C64E43CC0}"/>
                      </a:ext>
                    </a:extLst>
                  </p:cNvPr>
                  <p:cNvPicPr/>
                  <p:nvPr/>
                </p:nvPicPr>
                <p:blipFill>
                  <a:blip r:embed="rId11"/>
                  <a:stretch>
                    <a:fillRect/>
                  </a:stretch>
                </p:blipFill>
                <p:spPr>
                  <a:xfrm>
                    <a:off x="7459901" y="1944758"/>
                    <a:ext cx="202320" cy="16272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2">
                <p14:nvContentPartPr>
                  <p14:cNvPr id="26" name="墨迹 25">
                    <a:extLst>
                      <a:ext uri="{FF2B5EF4-FFF2-40B4-BE49-F238E27FC236}">
                        <a16:creationId xmlns:a16="http://schemas.microsoft.com/office/drawing/2014/main" id="{C9DDDCEB-A334-E479-8EA0-557FFCEDA038}"/>
                      </a:ext>
                    </a:extLst>
                  </p14:cNvPr>
                  <p14:cNvContentPartPr/>
                  <p14:nvPr/>
                </p14:nvContentPartPr>
                <p14:xfrm>
                  <a:off x="7505261" y="2107478"/>
                  <a:ext cx="116640" cy="50040"/>
                </p14:xfrm>
              </p:contentPart>
            </mc:Choice>
            <mc:Fallback xmlns="">
              <p:pic>
                <p:nvPicPr>
                  <p:cNvPr id="26" name="墨迹 25">
                    <a:extLst>
                      <a:ext uri="{FF2B5EF4-FFF2-40B4-BE49-F238E27FC236}">
                        <a16:creationId xmlns:a16="http://schemas.microsoft.com/office/drawing/2014/main" id="{C9DDDCEB-A334-E479-8EA0-557FFCEDA038}"/>
                      </a:ext>
                    </a:extLst>
                  </p:cNvPr>
                  <p:cNvPicPr/>
                  <p:nvPr/>
                </p:nvPicPr>
                <p:blipFill>
                  <a:blip r:embed="rId13"/>
                  <a:stretch>
                    <a:fillRect/>
                  </a:stretch>
                </p:blipFill>
                <p:spPr>
                  <a:xfrm>
                    <a:off x="7496261" y="2098838"/>
                    <a:ext cx="134280" cy="6768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4">
                <p14:nvContentPartPr>
                  <p14:cNvPr id="27" name="墨迹 26">
                    <a:extLst>
                      <a:ext uri="{FF2B5EF4-FFF2-40B4-BE49-F238E27FC236}">
                        <a16:creationId xmlns:a16="http://schemas.microsoft.com/office/drawing/2014/main" id="{B6785566-5042-61C5-808F-1DF09646CB5F}"/>
                      </a:ext>
                    </a:extLst>
                  </p14:cNvPr>
                  <p14:cNvContentPartPr/>
                  <p14:nvPr/>
                </p14:nvContentPartPr>
                <p14:xfrm>
                  <a:off x="7951301" y="2136638"/>
                  <a:ext cx="93240" cy="116640"/>
                </p14:xfrm>
              </p:contentPart>
            </mc:Choice>
            <mc:Fallback xmlns="">
              <p:pic>
                <p:nvPicPr>
                  <p:cNvPr id="27" name="墨迹 26">
                    <a:extLst>
                      <a:ext uri="{FF2B5EF4-FFF2-40B4-BE49-F238E27FC236}">
                        <a16:creationId xmlns:a16="http://schemas.microsoft.com/office/drawing/2014/main" id="{B6785566-5042-61C5-808F-1DF09646CB5F}"/>
                      </a:ext>
                    </a:extLst>
                  </p:cNvPr>
                  <p:cNvPicPr/>
                  <p:nvPr/>
                </p:nvPicPr>
                <p:blipFill>
                  <a:blip r:embed="rId15"/>
                  <a:stretch>
                    <a:fillRect/>
                  </a:stretch>
                </p:blipFill>
                <p:spPr>
                  <a:xfrm>
                    <a:off x="7942301" y="2127638"/>
                    <a:ext cx="110880" cy="13428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6">
                <p14:nvContentPartPr>
                  <p14:cNvPr id="28" name="墨迹 27">
                    <a:extLst>
                      <a:ext uri="{FF2B5EF4-FFF2-40B4-BE49-F238E27FC236}">
                        <a16:creationId xmlns:a16="http://schemas.microsoft.com/office/drawing/2014/main" id="{5950012F-968A-0DDB-5C79-33D075A78D30}"/>
                      </a:ext>
                    </a:extLst>
                  </p14:cNvPr>
                  <p14:cNvContentPartPr/>
                  <p14:nvPr/>
                </p14:nvContentPartPr>
                <p14:xfrm>
                  <a:off x="8007821" y="2080838"/>
                  <a:ext cx="10440" cy="7920"/>
                </p14:xfrm>
              </p:contentPart>
            </mc:Choice>
            <mc:Fallback xmlns="">
              <p:pic>
                <p:nvPicPr>
                  <p:cNvPr id="28" name="墨迹 27">
                    <a:extLst>
                      <a:ext uri="{FF2B5EF4-FFF2-40B4-BE49-F238E27FC236}">
                        <a16:creationId xmlns:a16="http://schemas.microsoft.com/office/drawing/2014/main" id="{5950012F-968A-0DDB-5C79-33D075A78D30}"/>
                      </a:ext>
                    </a:extLst>
                  </p:cNvPr>
                  <p:cNvPicPr/>
                  <p:nvPr/>
                </p:nvPicPr>
                <p:blipFill>
                  <a:blip r:embed="rId17"/>
                  <a:stretch>
                    <a:fillRect/>
                  </a:stretch>
                </p:blipFill>
                <p:spPr>
                  <a:xfrm>
                    <a:off x="7999181" y="2071838"/>
                    <a:ext cx="28080" cy="25560"/>
                  </a:xfrm>
                  <a:prstGeom prst="rect">
                    <a:avLst/>
                  </a:prstGeom>
                </p:spPr>
              </p:pic>
            </mc:Fallback>
          </mc:AlternateContent>
        </p:grpSp>
        <p:grpSp>
          <p:nvGrpSpPr>
            <p:cNvPr id="17" name="组合 16">
              <a:extLst>
                <a:ext uri="{FF2B5EF4-FFF2-40B4-BE49-F238E27FC236}">
                  <a16:creationId xmlns:a16="http://schemas.microsoft.com/office/drawing/2014/main" id="{F74CB035-64FF-3192-96BC-CE52D49038AE}"/>
                </a:ext>
              </a:extLst>
            </p:cNvPr>
            <p:cNvGrpSpPr/>
            <p:nvPr/>
          </p:nvGrpSpPr>
          <p:grpSpPr>
            <a:xfrm>
              <a:off x="8576261" y="1837838"/>
              <a:ext cx="429840" cy="473040"/>
              <a:chOff x="8576261" y="1837838"/>
              <a:chExt cx="429840" cy="47304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18">
                <p14:nvContentPartPr>
                  <p14:cNvPr id="18" name="墨迹 17">
                    <a:extLst>
                      <a:ext uri="{FF2B5EF4-FFF2-40B4-BE49-F238E27FC236}">
                        <a16:creationId xmlns:a16="http://schemas.microsoft.com/office/drawing/2014/main" id="{C2993968-A348-E767-22C8-3CC086D5FD7F}"/>
                      </a:ext>
                    </a:extLst>
                  </p14:cNvPr>
                  <p14:cNvContentPartPr/>
                  <p14:nvPr/>
                </p14:nvContentPartPr>
                <p14:xfrm>
                  <a:off x="8585261" y="1943678"/>
                  <a:ext cx="145080" cy="156240"/>
                </p14:xfrm>
              </p:contentPart>
            </mc:Choice>
            <mc:Fallback xmlns="">
              <p:pic>
                <p:nvPicPr>
                  <p:cNvPr id="18" name="墨迹 17">
                    <a:extLst>
                      <a:ext uri="{FF2B5EF4-FFF2-40B4-BE49-F238E27FC236}">
                        <a16:creationId xmlns:a16="http://schemas.microsoft.com/office/drawing/2014/main" id="{C2993968-A348-E767-22C8-3CC086D5FD7F}"/>
                      </a:ext>
                    </a:extLst>
                  </p:cNvPr>
                  <p:cNvPicPr/>
                  <p:nvPr/>
                </p:nvPicPr>
                <p:blipFill>
                  <a:blip r:embed="rId19"/>
                  <a:stretch>
                    <a:fillRect/>
                  </a:stretch>
                </p:blipFill>
                <p:spPr>
                  <a:xfrm>
                    <a:off x="8576621" y="1935038"/>
                    <a:ext cx="162720" cy="17388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0">
                <p14:nvContentPartPr>
                  <p14:cNvPr id="19" name="墨迹 18">
                    <a:extLst>
                      <a:ext uri="{FF2B5EF4-FFF2-40B4-BE49-F238E27FC236}">
                        <a16:creationId xmlns:a16="http://schemas.microsoft.com/office/drawing/2014/main" id="{9639B268-7FEB-52FF-394F-ED0E1618A408}"/>
                      </a:ext>
                    </a:extLst>
                  </p14:cNvPr>
                  <p14:cNvContentPartPr/>
                  <p14:nvPr/>
                </p14:nvContentPartPr>
                <p14:xfrm>
                  <a:off x="8576261" y="2107478"/>
                  <a:ext cx="154080" cy="50400"/>
                </p14:xfrm>
              </p:contentPart>
            </mc:Choice>
            <mc:Fallback xmlns="">
              <p:pic>
                <p:nvPicPr>
                  <p:cNvPr id="19" name="墨迹 18">
                    <a:extLst>
                      <a:ext uri="{FF2B5EF4-FFF2-40B4-BE49-F238E27FC236}">
                        <a16:creationId xmlns:a16="http://schemas.microsoft.com/office/drawing/2014/main" id="{9639B268-7FEB-52FF-394F-ED0E1618A408}"/>
                      </a:ext>
                    </a:extLst>
                  </p:cNvPr>
                  <p:cNvPicPr/>
                  <p:nvPr/>
                </p:nvPicPr>
                <p:blipFill>
                  <a:blip r:embed="rId21"/>
                  <a:stretch>
                    <a:fillRect/>
                  </a:stretch>
                </p:blipFill>
                <p:spPr>
                  <a:xfrm>
                    <a:off x="8567261" y="2098838"/>
                    <a:ext cx="171720" cy="680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2">
                <p14:nvContentPartPr>
                  <p14:cNvPr id="20" name="墨迹 19">
                    <a:extLst>
                      <a:ext uri="{FF2B5EF4-FFF2-40B4-BE49-F238E27FC236}">
                        <a16:creationId xmlns:a16="http://schemas.microsoft.com/office/drawing/2014/main" id="{F1B3E70A-DB20-DA88-9BAB-E071A7BB5BF7}"/>
                      </a:ext>
                    </a:extLst>
                  </p14:cNvPr>
                  <p14:cNvContentPartPr/>
                  <p14:nvPr/>
                </p14:nvContentPartPr>
                <p14:xfrm>
                  <a:off x="8806661" y="1837838"/>
                  <a:ext cx="124920" cy="320040"/>
                </p14:xfrm>
              </p:contentPart>
            </mc:Choice>
            <mc:Fallback xmlns="">
              <p:pic>
                <p:nvPicPr>
                  <p:cNvPr id="20" name="墨迹 19">
                    <a:extLst>
                      <a:ext uri="{FF2B5EF4-FFF2-40B4-BE49-F238E27FC236}">
                        <a16:creationId xmlns:a16="http://schemas.microsoft.com/office/drawing/2014/main" id="{F1B3E70A-DB20-DA88-9BAB-E071A7BB5BF7}"/>
                      </a:ext>
                    </a:extLst>
                  </p:cNvPr>
                  <p:cNvPicPr/>
                  <p:nvPr/>
                </p:nvPicPr>
                <p:blipFill>
                  <a:blip r:embed="rId23"/>
                  <a:stretch>
                    <a:fillRect/>
                  </a:stretch>
                </p:blipFill>
                <p:spPr>
                  <a:xfrm>
                    <a:off x="8797661" y="1829198"/>
                    <a:ext cx="142560" cy="33768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4">
                <p14:nvContentPartPr>
                  <p14:cNvPr id="21" name="墨迹 20">
                    <a:extLst>
                      <a:ext uri="{FF2B5EF4-FFF2-40B4-BE49-F238E27FC236}">
                        <a16:creationId xmlns:a16="http://schemas.microsoft.com/office/drawing/2014/main" id="{77AA9734-3901-3938-9C37-E975BB184F06}"/>
                      </a:ext>
                    </a:extLst>
                  </p14:cNvPr>
                  <p14:cNvContentPartPr/>
                  <p14:nvPr/>
                </p14:nvContentPartPr>
                <p14:xfrm>
                  <a:off x="8970821" y="2105318"/>
                  <a:ext cx="18720" cy="11160"/>
                </p14:xfrm>
              </p:contentPart>
            </mc:Choice>
            <mc:Fallback xmlns="">
              <p:pic>
                <p:nvPicPr>
                  <p:cNvPr id="21" name="墨迹 20">
                    <a:extLst>
                      <a:ext uri="{FF2B5EF4-FFF2-40B4-BE49-F238E27FC236}">
                        <a16:creationId xmlns:a16="http://schemas.microsoft.com/office/drawing/2014/main" id="{77AA9734-3901-3938-9C37-E975BB184F06}"/>
                      </a:ext>
                    </a:extLst>
                  </p:cNvPr>
                  <p:cNvPicPr/>
                  <p:nvPr/>
                </p:nvPicPr>
                <p:blipFill>
                  <a:blip r:embed="rId25"/>
                  <a:stretch>
                    <a:fillRect/>
                  </a:stretch>
                </p:blipFill>
                <p:spPr>
                  <a:xfrm>
                    <a:off x="8961821" y="2096678"/>
                    <a:ext cx="36360" cy="288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6">
                <p14:nvContentPartPr>
                  <p14:cNvPr id="22" name="墨迹 21">
                    <a:extLst>
                      <a:ext uri="{FF2B5EF4-FFF2-40B4-BE49-F238E27FC236}">
                        <a16:creationId xmlns:a16="http://schemas.microsoft.com/office/drawing/2014/main" id="{DB73ED30-ABBF-35BB-AEA6-2B027B381CD7}"/>
                      </a:ext>
                    </a:extLst>
                  </p14:cNvPr>
                  <p14:cNvContentPartPr/>
                  <p14:nvPr/>
                </p14:nvContentPartPr>
                <p14:xfrm>
                  <a:off x="8970101" y="2174798"/>
                  <a:ext cx="36000" cy="136080"/>
                </p14:xfrm>
              </p:contentPart>
            </mc:Choice>
            <mc:Fallback xmlns="">
              <p:pic>
                <p:nvPicPr>
                  <p:cNvPr id="22" name="墨迹 21">
                    <a:extLst>
                      <a:ext uri="{FF2B5EF4-FFF2-40B4-BE49-F238E27FC236}">
                        <a16:creationId xmlns:a16="http://schemas.microsoft.com/office/drawing/2014/main" id="{DB73ED30-ABBF-35BB-AEA6-2B027B381CD7}"/>
                      </a:ext>
                    </a:extLst>
                  </p:cNvPr>
                  <p:cNvPicPr/>
                  <p:nvPr/>
                </p:nvPicPr>
                <p:blipFill>
                  <a:blip r:embed="rId27"/>
                  <a:stretch>
                    <a:fillRect/>
                  </a:stretch>
                </p:blipFill>
                <p:spPr>
                  <a:xfrm>
                    <a:off x="8961461" y="2165798"/>
                    <a:ext cx="53640" cy="153720"/>
                  </a:xfrm>
                  <a:prstGeom prst="rect">
                    <a:avLst/>
                  </a:prstGeom>
                </p:spPr>
              </p:pic>
            </mc:Fallback>
          </mc:AlternateContent>
        </p:grpSp>
      </p:grpSp>
      <p:sp>
        <p:nvSpPr>
          <p:cNvPr id="32" name="矩形 31">
            <a:extLst>
              <a:ext uri="{FF2B5EF4-FFF2-40B4-BE49-F238E27FC236}">
                <a16:creationId xmlns:a16="http://schemas.microsoft.com/office/drawing/2014/main" id="{A28B895F-8D8F-C267-2ABD-A0B81D7D6B7E}"/>
              </a:ext>
            </a:extLst>
          </p:cNvPr>
          <p:cNvSpPr/>
          <p:nvPr/>
        </p:nvSpPr>
        <p:spPr>
          <a:xfrm>
            <a:off x="3863752" y="5463887"/>
            <a:ext cx="720080" cy="38832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7C9C1588-81F4-49F1-B04C-3873288723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23825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3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F1E976-E7D6-8426-B05A-DB40C48F6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3">
            <a:extLst>
              <a:ext uri="{FF2B5EF4-FFF2-40B4-BE49-F238E27FC236}">
                <a16:creationId xmlns:a16="http://schemas.microsoft.com/office/drawing/2014/main" id="{58AF0DB1-FA76-B53F-770F-A54555503574}"/>
              </a:ext>
            </a:extLst>
          </p:cNvPr>
          <p:cNvSpPr txBox="1"/>
          <p:nvPr/>
        </p:nvSpPr>
        <p:spPr>
          <a:xfrm>
            <a:off x="-210616" y="2636912"/>
            <a:ext cx="12613232" cy="1015659"/>
          </a:xfrm>
          <a:prstGeom prst="rect">
            <a:avLst/>
          </a:prstGeom>
          <a:solidFill>
            <a:srgbClr val="F2F2F2"/>
          </a:solidFill>
          <a:ln w="12700">
            <a:solidFill>
              <a:srgbClr val="4A452A"/>
            </a:solidFill>
          </a:ln>
        </p:spPr>
        <p:txBody>
          <a:bodyPr wrap="square" lIns="45718" tIns="45718" rIns="45718" bIns="45718">
            <a:spAutoFit/>
          </a:bodyPr>
          <a:lstStyle>
            <a:defPPr>
              <a:defRPr lang="zh-CN"/>
            </a:defPPr>
            <a:lvl1pPr algn="ctr" defTabSz="914367">
              <a:defRPr sz="3937">
                <a:latin typeface="Calibri"/>
                <a:ea typeface="Calibri"/>
                <a:cs typeface="Calibri"/>
              </a:defRPr>
            </a:lvl1pPr>
          </a:lstStyle>
          <a:p>
            <a:pPr>
              <a:defRPr sz="5600">
                <a:latin typeface="Calibri"/>
                <a:ea typeface="Calibri"/>
                <a:cs typeface="Calibri"/>
                <a:sym typeface="Calibri"/>
              </a:defRPr>
            </a:pPr>
            <a:r>
              <a:rPr lang="en-US" altLang="zh-CN" sz="6000"/>
              <a:t>T2 </a:t>
            </a:r>
            <a:r>
              <a:rPr lang="zh-CN" altLang="en-US" sz="6000"/>
              <a:t>消磨假期</a:t>
            </a:r>
            <a:endParaRPr lang="zh-CN" altLang="en-US" sz="60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9D79162-2E5E-2A96-CC9E-D0A2FD574880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altLang="zh-CN" smtClean="0"/>
              <a:t>10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292086638"/>
      </p:ext>
    </p:extLst>
  </p:cSld>
  <p:clrMapOvr>
    <a:masterClrMapping/>
  </p:clrMapOvr>
  <p:transition spd="slow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2603612" y="1124744"/>
            <a:ext cx="6984776" cy="5232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2800">
                <a:latin typeface="Consolas" pitchFamily="49" charset="0"/>
                <a:cs typeface="Consolas" pitchFamily="49" charset="0"/>
              </a:rPr>
              <a:t>题目</a:t>
            </a:r>
            <a:endParaRPr lang="zh-CN" altLang="en-US" sz="2800" dirty="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2603612" y="1988840"/>
            <a:ext cx="6984776" cy="1143390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latin typeface="Consolas" pitchFamily="49" charset="0"/>
                <a:cs typeface="Consolas" pitchFamily="49" charset="0"/>
              </a:rPr>
              <a:t>已知</a:t>
            </a:r>
            <a:r>
              <a:rPr lang="en-US" altLang="zh-CN" sz="2400" dirty="0">
                <a:latin typeface="Consolas" pitchFamily="49" charset="0"/>
                <a:cs typeface="Consolas" pitchFamily="49" charset="0"/>
              </a:rPr>
              <a:t>m</a:t>
            </a:r>
            <a:r>
              <a:rPr lang="zh-CN" altLang="en-US" sz="2400" dirty="0">
                <a:latin typeface="Consolas" pitchFamily="49" charset="0"/>
                <a:cs typeface="Consolas" pitchFamily="49" charset="0"/>
              </a:rPr>
              <a:t>册小说的欢乐值，每天看若干册，晚上减半，求</a:t>
            </a:r>
            <a:r>
              <a:rPr lang="en-US" altLang="zh-CN" sz="2400" dirty="0">
                <a:latin typeface="Consolas" pitchFamily="49" charset="0"/>
                <a:cs typeface="Consolas" pitchFamily="49" charset="0"/>
              </a:rPr>
              <a:t>n</a:t>
            </a:r>
            <a:r>
              <a:rPr lang="zh-CN" altLang="en-US" sz="2400" dirty="0">
                <a:latin typeface="Consolas" pitchFamily="49" charset="0"/>
                <a:cs typeface="Consolas" pitchFamily="49" charset="0"/>
              </a:rPr>
              <a:t>天内欢乐值的最小值至少是多少</a:t>
            </a:r>
            <a:endParaRPr lang="zh-CN" altLang="zh-CN" sz="2400" dirty="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775520" y="3631888"/>
            <a:ext cx="9325966" cy="2706254"/>
          </a:xfrm>
          <a:prstGeom prst="rect">
            <a:avLst/>
          </a:prstGeom>
          <a:noFill/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zh-CN" sz="2200" dirty="0">
                <a:latin typeface="Consolas" panose="020B0609020204030204" pitchFamily="49" charset="0"/>
              </a:rPr>
              <a:t>【数据规模与约定】</a:t>
            </a:r>
          </a:p>
          <a:p>
            <a:pPr>
              <a:lnSpc>
                <a:spcPct val="200000"/>
              </a:lnSpc>
            </a:pPr>
            <a:r>
              <a:rPr lang="zh-CN" altLang="en-US" sz="2200" dirty="0">
                <a:latin typeface="Consolas" panose="020B0609020204030204" pitchFamily="49" charset="0"/>
              </a:rPr>
              <a:t> 对于 </a:t>
            </a:r>
            <a:r>
              <a:rPr lang="en-US" altLang="zh-CN" sz="2200" dirty="0">
                <a:latin typeface="Consolas" panose="020B0609020204030204" pitchFamily="49" charset="0"/>
              </a:rPr>
              <a:t>30%</a:t>
            </a:r>
            <a:r>
              <a:rPr lang="zh-CN" altLang="en-US" sz="2200" dirty="0">
                <a:latin typeface="Consolas" panose="020B0609020204030204" pitchFamily="49" charset="0"/>
              </a:rPr>
              <a:t>的数据，</a:t>
            </a:r>
            <a:r>
              <a:rPr lang="en-US" altLang="zh-CN" sz="2200" dirty="0">
                <a:latin typeface="Consolas" panose="020B0609020204030204" pitchFamily="49" charset="0"/>
              </a:rPr>
              <a:t>1≤n≤7</a:t>
            </a:r>
            <a:r>
              <a:rPr lang="zh-CN" altLang="en-US" sz="2200" dirty="0">
                <a:latin typeface="Consolas" panose="020B0609020204030204" pitchFamily="49" charset="0"/>
              </a:rPr>
              <a:t>，</a:t>
            </a:r>
            <a:r>
              <a:rPr lang="en-US" altLang="zh-CN" sz="2200" dirty="0">
                <a:latin typeface="Consolas" panose="020B0609020204030204" pitchFamily="49" charset="0"/>
              </a:rPr>
              <a:t>1≤m≤7</a:t>
            </a:r>
            <a:r>
              <a:rPr lang="zh-CN" altLang="en-US" sz="2200" dirty="0">
                <a:latin typeface="Consolas" panose="020B0609020204030204" pitchFamily="49" charset="0"/>
              </a:rPr>
              <a:t>；</a:t>
            </a:r>
          </a:p>
          <a:p>
            <a:pPr>
              <a:lnSpc>
                <a:spcPct val="200000"/>
              </a:lnSpc>
            </a:pPr>
            <a:r>
              <a:rPr lang="zh-CN" altLang="en-US" sz="2200" dirty="0">
                <a:latin typeface="Consolas" panose="020B0609020204030204" pitchFamily="49" charset="0"/>
              </a:rPr>
              <a:t> 对于 </a:t>
            </a:r>
            <a:r>
              <a:rPr lang="en-US" altLang="zh-CN" sz="2200" dirty="0">
                <a:latin typeface="Consolas" panose="020B0609020204030204" pitchFamily="49" charset="0"/>
              </a:rPr>
              <a:t>60%</a:t>
            </a:r>
            <a:r>
              <a:rPr lang="zh-CN" altLang="en-US" sz="2200" dirty="0">
                <a:latin typeface="Consolas" panose="020B0609020204030204" pitchFamily="49" charset="0"/>
              </a:rPr>
              <a:t>的数据，</a:t>
            </a:r>
            <a:r>
              <a:rPr lang="en-US" altLang="zh-CN" sz="2200" dirty="0">
                <a:latin typeface="Consolas" panose="020B0609020204030204" pitchFamily="49" charset="0"/>
              </a:rPr>
              <a:t>1≤n≤500</a:t>
            </a:r>
            <a:r>
              <a:rPr lang="zh-CN" altLang="en-US" sz="2200" dirty="0">
                <a:latin typeface="Consolas" panose="020B0609020204030204" pitchFamily="49" charset="0"/>
              </a:rPr>
              <a:t>，</a:t>
            </a:r>
            <a:r>
              <a:rPr lang="en-US" altLang="zh-CN" sz="2200" dirty="0">
                <a:latin typeface="Consolas" panose="020B0609020204030204" pitchFamily="49" charset="0"/>
              </a:rPr>
              <a:t>1≤m≤500</a:t>
            </a:r>
            <a:r>
              <a:rPr lang="zh-CN" altLang="en-US" sz="2200" dirty="0">
                <a:latin typeface="Consolas" panose="020B0609020204030204" pitchFamily="49" charset="0"/>
              </a:rPr>
              <a:t>；</a:t>
            </a:r>
          </a:p>
          <a:p>
            <a:pPr>
              <a:lnSpc>
                <a:spcPct val="200000"/>
              </a:lnSpc>
            </a:pPr>
            <a:r>
              <a:rPr lang="zh-CN" altLang="en-US" sz="2200" dirty="0">
                <a:latin typeface="Consolas" panose="020B0609020204030204" pitchFamily="49" charset="0"/>
              </a:rPr>
              <a:t> 对于 </a:t>
            </a:r>
            <a:r>
              <a:rPr lang="en-US" altLang="zh-CN" sz="2200" dirty="0">
                <a:latin typeface="Consolas" panose="020B0609020204030204" pitchFamily="49" charset="0"/>
              </a:rPr>
              <a:t>100%</a:t>
            </a:r>
            <a:r>
              <a:rPr lang="zh-CN" altLang="en-US" sz="2200" dirty="0">
                <a:latin typeface="Consolas" panose="020B0609020204030204" pitchFamily="49" charset="0"/>
              </a:rPr>
              <a:t>的数据，</a:t>
            </a:r>
            <a:r>
              <a:rPr lang="en-US" altLang="zh-CN" sz="2200" dirty="0">
                <a:latin typeface="Consolas" panose="020B0609020204030204" pitchFamily="49" charset="0"/>
              </a:rPr>
              <a:t>1≤n≤100000</a:t>
            </a:r>
            <a:r>
              <a:rPr lang="zh-CN" altLang="en-US" sz="2200" dirty="0">
                <a:latin typeface="Consolas" panose="020B0609020204030204" pitchFamily="49" charset="0"/>
              </a:rPr>
              <a:t>，</a:t>
            </a:r>
            <a:r>
              <a:rPr lang="en-US" altLang="zh-CN" sz="2200" dirty="0">
                <a:latin typeface="Consolas" panose="020B0609020204030204" pitchFamily="49" charset="0"/>
              </a:rPr>
              <a:t>1≤m≤</a:t>
            </a:r>
            <a:r>
              <a:rPr lang="en-US" altLang="zh-CN" sz="2200">
                <a:latin typeface="Consolas" panose="020B0609020204030204" pitchFamily="49" charset="0"/>
              </a:rPr>
              <a:t>100000</a:t>
            </a:r>
            <a:r>
              <a:rPr lang="zh-CN" altLang="en-US" sz="2200">
                <a:latin typeface="Consolas" panose="020B0609020204030204" pitchFamily="49" charset="0"/>
              </a:rPr>
              <a:t>； </a:t>
            </a:r>
            <a:r>
              <a:rPr lang="en-US" altLang="zh-CN" sz="2200" dirty="0">
                <a:latin typeface="Consolas" panose="020B0609020204030204" pitchFamily="49" charset="0"/>
              </a:rPr>
              <a:t>1≤ai≤20000</a:t>
            </a:r>
            <a:r>
              <a:rPr lang="zh-CN" altLang="en-US" sz="2200" dirty="0">
                <a:latin typeface="Consolas" panose="020B0609020204030204" pitchFamily="49" charset="0"/>
              </a:rPr>
              <a:t>。</a:t>
            </a:r>
            <a:endParaRPr lang="zh-CN" altLang="zh-CN" sz="2200" dirty="0">
              <a:latin typeface="Consolas" panose="020B0609020204030204" pitchFamily="49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7D739BFE-78A8-4AD5-A0A7-B55826F25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64852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3215680" y="1822950"/>
            <a:ext cx="2520280" cy="46166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2400" dirty="0">
                <a:latin typeface="Consolas" pitchFamily="49" charset="0"/>
                <a:cs typeface="Consolas" pitchFamily="49" charset="0"/>
              </a:rPr>
              <a:t>输入</a:t>
            </a:r>
          </a:p>
        </p:txBody>
      </p:sp>
      <p:sp>
        <p:nvSpPr>
          <p:cNvPr id="7" name="矩形 6"/>
          <p:cNvSpPr/>
          <p:nvPr/>
        </p:nvSpPr>
        <p:spPr>
          <a:xfrm>
            <a:off x="3215680" y="2780929"/>
            <a:ext cx="2520280" cy="646331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pPr>
              <a:tabLst>
                <a:tab pos="266700" algn="l"/>
                <a:tab pos="533400" algn="l"/>
                <a:tab pos="800100" algn="l"/>
                <a:tab pos="1066800" algn="l"/>
                <a:tab pos="1333500" algn="l"/>
                <a:tab pos="1600200" algn="l"/>
                <a:tab pos="1866900" algn="l"/>
                <a:tab pos="2133600" algn="l"/>
                <a:tab pos="2400300" algn="l"/>
                <a:tab pos="2667000" algn="l"/>
                <a:tab pos="2933700" algn="l"/>
              </a:tabLst>
            </a:pPr>
            <a:r>
              <a:rPr lang="en-US" altLang="zh-CN" kern="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4 6</a:t>
            </a:r>
            <a:endParaRPr lang="zh-CN" altLang="zh-CN" kern="100" dirty="0">
              <a:solidFill>
                <a:srgbClr val="000000"/>
              </a:solidFill>
              <a:uFill>
                <a:solidFill>
                  <a:srgbClr val="000000"/>
                </a:solidFill>
              </a:u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r>
              <a:rPr lang="en-US" altLang="zh-CN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1 5 3 3 4 6</a:t>
            </a:r>
            <a:endParaRPr lang="zh-CN" altLang="zh-CN" sz="2800" dirty="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363DB74-201B-4606-8BBB-78854042BD4D}"/>
              </a:ext>
            </a:extLst>
          </p:cNvPr>
          <p:cNvSpPr/>
          <p:nvPr/>
        </p:nvSpPr>
        <p:spPr>
          <a:xfrm>
            <a:off x="6456040" y="1822949"/>
            <a:ext cx="2520280" cy="46166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2400" dirty="0">
                <a:latin typeface="Consolas" pitchFamily="49" charset="0"/>
                <a:cs typeface="Consolas" pitchFamily="49" charset="0"/>
              </a:rPr>
              <a:t>输出</a:t>
            </a:r>
            <a:r>
              <a:rPr lang="en-US" altLang="zh-CN" sz="2400" dirty="0">
                <a:latin typeface="Consolas" pitchFamily="49" charset="0"/>
                <a:cs typeface="Consolas" pitchFamily="49" charset="0"/>
              </a:rPr>
              <a:t>?</a:t>
            </a:r>
            <a:endParaRPr lang="zh-CN" altLang="en-US" sz="2400" dirty="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2C08569-477C-4D8D-AA3D-37D74906637F}"/>
              </a:ext>
            </a:extLst>
          </p:cNvPr>
          <p:cNvSpPr/>
          <p:nvPr/>
        </p:nvSpPr>
        <p:spPr>
          <a:xfrm>
            <a:off x="6456040" y="2780929"/>
            <a:ext cx="2520280" cy="461665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US" altLang="zh-CN" sz="2400" dirty="0">
                <a:latin typeface="Consolas" pitchFamily="49" charset="0"/>
                <a:cs typeface="Consolas" pitchFamily="49" charset="0"/>
              </a:rPr>
              <a:t>7</a:t>
            </a:r>
            <a:endParaRPr lang="zh-CN" altLang="zh-CN" sz="2400" dirty="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7574574D-A137-4508-8139-4113A6BB85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17537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69262D58-20AA-4264-B926-A2EE8F135328}"/>
              </a:ext>
            </a:extLst>
          </p:cNvPr>
          <p:cNvSpPr/>
          <p:nvPr/>
        </p:nvSpPr>
        <p:spPr>
          <a:xfrm>
            <a:off x="3430774" y="1849022"/>
            <a:ext cx="5330452" cy="1143390"/>
          </a:xfrm>
          <a:prstGeom prst="rect">
            <a:avLst/>
          </a:prstGeom>
          <a:solidFill>
            <a:srgbClr val="FFFFCC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400" dirty="0">
                <a:latin typeface="Consolas" pitchFamily="49" charset="0"/>
                <a:cs typeface="Consolas" pitchFamily="49" charset="0"/>
              </a:rPr>
              <a:t>最小值最大化问题</a:t>
            </a:r>
            <a:endParaRPr lang="en-US" altLang="zh-CN" sz="2400" dirty="0">
              <a:latin typeface="Consolas" pitchFamily="49" charset="0"/>
              <a:cs typeface="Consolas" pitchFamily="49" charset="0"/>
            </a:endParaRPr>
          </a:p>
          <a:p>
            <a:pPr algn="ctr">
              <a:lnSpc>
                <a:spcPct val="150000"/>
              </a:lnSpc>
            </a:pPr>
            <a:r>
              <a:rPr lang="zh-CN" altLang="en-US" sz="2400" dirty="0">
                <a:latin typeface="Consolas" pitchFamily="49" charset="0"/>
                <a:cs typeface="Consolas" pitchFamily="49" charset="0"/>
              </a:rPr>
              <a:t>是经典问题</a:t>
            </a:r>
            <a:endParaRPr lang="zh-CN" altLang="zh-CN" sz="2400" dirty="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66BA63D-65DA-424B-ABC5-2C4037F4D86B}"/>
              </a:ext>
            </a:extLst>
          </p:cNvPr>
          <p:cNvSpPr/>
          <p:nvPr/>
        </p:nvSpPr>
        <p:spPr>
          <a:xfrm>
            <a:off x="3464310" y="3390824"/>
            <a:ext cx="5330452" cy="461665"/>
          </a:xfrm>
          <a:prstGeom prst="rect">
            <a:avLst/>
          </a:prstGeom>
          <a:solidFill>
            <a:srgbClr val="FFFFCC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2400" dirty="0">
                <a:latin typeface="Consolas" pitchFamily="49" charset="0"/>
                <a:cs typeface="Consolas" pitchFamily="49" charset="0"/>
              </a:rPr>
              <a:t>判断可行性</a:t>
            </a:r>
            <a:r>
              <a:rPr lang="en-US" altLang="zh-CN" sz="2400" dirty="0">
                <a:latin typeface="Consolas" pitchFamily="49" charset="0"/>
                <a:cs typeface="Consolas" pitchFamily="49" charset="0"/>
              </a:rPr>
              <a:t>+</a:t>
            </a:r>
            <a:r>
              <a:rPr lang="zh-CN" altLang="en-US" sz="2400" dirty="0">
                <a:latin typeface="Consolas" pitchFamily="49" charset="0"/>
                <a:cs typeface="Consolas" pitchFamily="49" charset="0"/>
              </a:rPr>
              <a:t>二分</a:t>
            </a:r>
            <a:endParaRPr lang="zh-CN" altLang="zh-CN" sz="2400" dirty="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57984F75-31C8-4383-9A0F-D2896DCE27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66587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249577BC-01D2-44D3-B6EA-9B9871E077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3512" y="1628800"/>
            <a:ext cx="5904656" cy="4380952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F1461825-66A5-4CA6-A7A9-447369A936B0}"/>
              </a:ext>
            </a:extLst>
          </p:cNvPr>
          <p:cNvSpPr/>
          <p:nvPr/>
        </p:nvSpPr>
        <p:spPr>
          <a:xfrm>
            <a:off x="3503712" y="404664"/>
            <a:ext cx="5330452" cy="523220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2800" dirty="0">
                <a:latin typeface="Consolas" pitchFamily="49" charset="0"/>
                <a:cs typeface="Consolas" pitchFamily="49" charset="0"/>
              </a:rPr>
              <a:t>是否每天的欢乐值能在</a:t>
            </a:r>
            <a:r>
              <a:rPr lang="en-US" altLang="zh-CN" sz="2800" dirty="0">
                <a:latin typeface="Consolas" pitchFamily="49" charset="0"/>
                <a:cs typeface="Consolas" pitchFamily="49" charset="0"/>
              </a:rPr>
              <a:t>hp</a:t>
            </a:r>
            <a:r>
              <a:rPr lang="zh-CN" altLang="en-US" sz="2800" dirty="0">
                <a:latin typeface="Consolas" pitchFamily="49" charset="0"/>
                <a:cs typeface="Consolas" pitchFamily="49" charset="0"/>
              </a:rPr>
              <a:t>以上</a:t>
            </a:r>
            <a:endParaRPr lang="zh-CN" altLang="zh-CN" sz="2800" dirty="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C677F01-E9BF-4F5F-886F-3F370EEB2B15}"/>
              </a:ext>
            </a:extLst>
          </p:cNvPr>
          <p:cNvSpPr/>
          <p:nvPr/>
        </p:nvSpPr>
        <p:spPr>
          <a:xfrm>
            <a:off x="8832045" y="404664"/>
            <a:ext cx="1800459" cy="4616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2400" dirty="0">
                <a:latin typeface="Consolas" panose="020B0609020204030204" pitchFamily="49" charset="0"/>
              </a:rPr>
              <a:t>可行性分析</a:t>
            </a:r>
            <a:endParaRPr lang="zh-CN" altLang="zh-CN" sz="3200" dirty="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03CCC9B8-E26E-462F-B6BA-6113696003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14</a:t>
            </a:fld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8BCD1BB-B2B3-4CDC-A919-51468685BEB9}"/>
              </a:ext>
            </a:extLst>
          </p:cNvPr>
          <p:cNvSpPr/>
          <p:nvPr/>
        </p:nvSpPr>
        <p:spPr>
          <a:xfrm>
            <a:off x="4789808" y="3104259"/>
            <a:ext cx="576064" cy="276749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Consolas" pitchFamily="49" charset="0"/>
              <a:cs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95204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D5504004-1782-4E18-907E-B5216F1EFD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7529" y="332657"/>
            <a:ext cx="7533333" cy="6133333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FC2CBA8E-5C0B-4C7F-A5C6-2E41E91E2331}"/>
              </a:ext>
            </a:extLst>
          </p:cNvPr>
          <p:cNvSpPr/>
          <p:nvPr/>
        </p:nvSpPr>
        <p:spPr>
          <a:xfrm>
            <a:off x="3719736" y="3933056"/>
            <a:ext cx="4968552" cy="1152128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F49A184A-2081-4439-965F-1325C55042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77086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F1E976-E7D6-8426-B05A-DB40C48F6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3">
            <a:extLst>
              <a:ext uri="{FF2B5EF4-FFF2-40B4-BE49-F238E27FC236}">
                <a16:creationId xmlns:a16="http://schemas.microsoft.com/office/drawing/2014/main" id="{58AF0DB1-FA76-B53F-770F-A54555503574}"/>
              </a:ext>
            </a:extLst>
          </p:cNvPr>
          <p:cNvSpPr txBox="1"/>
          <p:nvPr/>
        </p:nvSpPr>
        <p:spPr>
          <a:xfrm>
            <a:off x="-210616" y="2636912"/>
            <a:ext cx="12613232" cy="1015659"/>
          </a:xfrm>
          <a:prstGeom prst="rect">
            <a:avLst/>
          </a:prstGeom>
          <a:solidFill>
            <a:srgbClr val="F2F2F2"/>
          </a:solidFill>
          <a:ln w="12700">
            <a:solidFill>
              <a:srgbClr val="4A452A"/>
            </a:solidFill>
          </a:ln>
        </p:spPr>
        <p:txBody>
          <a:bodyPr wrap="square" lIns="45718" tIns="45718" rIns="45718" bIns="45718">
            <a:spAutoFit/>
          </a:bodyPr>
          <a:lstStyle>
            <a:defPPr>
              <a:defRPr lang="zh-CN"/>
            </a:defPPr>
            <a:lvl1pPr algn="ctr" defTabSz="914367">
              <a:defRPr sz="3937">
                <a:latin typeface="Calibri"/>
                <a:ea typeface="Calibri"/>
                <a:cs typeface="Calibri"/>
              </a:defRPr>
            </a:lvl1pPr>
          </a:lstStyle>
          <a:p>
            <a:pPr>
              <a:defRPr sz="5600">
                <a:latin typeface="Calibri"/>
                <a:ea typeface="Calibri"/>
                <a:cs typeface="Calibri"/>
                <a:sym typeface="Calibri"/>
              </a:defRPr>
            </a:pPr>
            <a:r>
              <a:rPr lang="en-US" altLang="zh-CN" sz="6000"/>
              <a:t>T3  </a:t>
            </a:r>
            <a:endParaRPr lang="zh-CN" altLang="en-US" sz="60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9D79162-2E5E-2A96-CC9E-D0A2FD574880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altLang="zh-CN" smtClean="0"/>
              <a:t>16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708118808"/>
      </p:ext>
    </p:extLst>
  </p:cSld>
  <p:clrMapOvr>
    <a:masterClrMapping/>
  </p:clrMapOvr>
  <p:transition spd="slow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3215680" y="908722"/>
            <a:ext cx="2520280" cy="46166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2400" dirty="0">
                <a:latin typeface="Consolas" pitchFamily="49" charset="0"/>
                <a:cs typeface="Consolas" pitchFamily="49" charset="0"/>
              </a:rPr>
              <a:t>输入</a:t>
            </a:r>
          </a:p>
        </p:txBody>
      </p:sp>
      <p:sp>
        <p:nvSpPr>
          <p:cNvPr id="7" name="矩形 6"/>
          <p:cNvSpPr/>
          <p:nvPr/>
        </p:nvSpPr>
        <p:spPr>
          <a:xfrm>
            <a:off x="3215680" y="1866700"/>
            <a:ext cx="2520280" cy="1938992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US" altLang="zh-CN" sz="2400" dirty="0">
                <a:latin typeface="Consolas" panose="020B0609020204030204" pitchFamily="49" charset="0"/>
              </a:rPr>
              <a:t>4 5</a:t>
            </a:r>
          </a:p>
          <a:p>
            <a:pPr algn="just"/>
            <a:r>
              <a:rPr lang="en-US" altLang="zh-CN" sz="2400" dirty="0" err="1">
                <a:latin typeface="Consolas" panose="020B0609020204030204" pitchFamily="49" charset="0"/>
              </a:rPr>
              <a:t>qonoc</a:t>
            </a:r>
            <a:endParaRPr lang="en-US" altLang="zh-CN" sz="2400" dirty="0">
              <a:latin typeface="Consolas" panose="020B0609020204030204" pitchFamily="49" charset="0"/>
            </a:endParaRPr>
          </a:p>
          <a:p>
            <a:pPr algn="just"/>
            <a:r>
              <a:rPr lang="en-US" altLang="zh-CN" sz="2400" dirty="0" err="1">
                <a:latin typeface="Consolas" panose="020B0609020204030204" pitchFamily="49" charset="0"/>
              </a:rPr>
              <a:t>ohoho</a:t>
            </a:r>
            <a:endParaRPr lang="en-US" altLang="zh-CN" sz="2400" dirty="0">
              <a:latin typeface="Consolas" panose="020B0609020204030204" pitchFamily="49" charset="0"/>
            </a:endParaRPr>
          </a:p>
          <a:p>
            <a:pPr algn="just"/>
            <a:r>
              <a:rPr lang="en-US" altLang="zh-CN" sz="2400" dirty="0" err="1">
                <a:latin typeface="Consolas" panose="020B0609020204030204" pitchFamily="49" charset="0"/>
              </a:rPr>
              <a:t>hlaqo</a:t>
            </a:r>
            <a:endParaRPr lang="en-US" altLang="zh-CN" sz="2400" dirty="0">
              <a:latin typeface="Consolas" panose="020B0609020204030204" pitchFamily="49" charset="0"/>
            </a:endParaRPr>
          </a:p>
          <a:p>
            <a:pPr algn="just"/>
            <a:r>
              <a:rPr lang="en-US" altLang="zh-CN" sz="2400" dirty="0" err="1">
                <a:latin typeface="Consolas" panose="020B0609020204030204" pitchFamily="49" charset="0"/>
              </a:rPr>
              <a:t>mirko</a:t>
            </a:r>
            <a:r>
              <a:rPr lang="en-US" altLang="zh-CN" sz="2400" dirty="0">
                <a:latin typeface="Consolas" panose="020B0609020204030204" pitchFamily="49" charset="0"/>
              </a:rPr>
              <a:t> </a:t>
            </a:r>
            <a:endParaRPr lang="zh-CN" altLang="zh-CN" sz="2400" dirty="0">
              <a:latin typeface="Consolas" panose="020B0609020204030204" pitchFamily="49" charset="0"/>
              <a:cs typeface="Consolas" pitchFamily="49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363DB74-201B-4606-8BBB-78854042BD4D}"/>
              </a:ext>
            </a:extLst>
          </p:cNvPr>
          <p:cNvSpPr/>
          <p:nvPr/>
        </p:nvSpPr>
        <p:spPr>
          <a:xfrm>
            <a:off x="6456040" y="908721"/>
            <a:ext cx="2520280" cy="46166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2400" dirty="0">
                <a:latin typeface="Consolas" pitchFamily="49" charset="0"/>
                <a:cs typeface="Consolas" pitchFamily="49" charset="0"/>
              </a:rPr>
              <a:t>输出</a:t>
            </a:r>
            <a:r>
              <a:rPr lang="en-US" altLang="zh-CN" sz="2400" dirty="0">
                <a:latin typeface="Consolas" pitchFamily="49" charset="0"/>
                <a:cs typeface="Consolas" pitchFamily="49" charset="0"/>
              </a:rPr>
              <a:t>?</a:t>
            </a:r>
            <a:endParaRPr lang="zh-CN" altLang="en-US" sz="2400" dirty="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2C08569-477C-4D8D-AA3D-37D74906637F}"/>
              </a:ext>
            </a:extLst>
          </p:cNvPr>
          <p:cNvSpPr/>
          <p:nvPr/>
        </p:nvSpPr>
        <p:spPr>
          <a:xfrm>
            <a:off x="6456040" y="1866701"/>
            <a:ext cx="2520280" cy="461665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US" altLang="zh-CN" sz="2400" dirty="0" err="1">
                <a:latin typeface="Consolas" pitchFamily="49" charset="0"/>
                <a:cs typeface="Consolas" pitchFamily="49" charset="0"/>
              </a:rPr>
              <a:t>qohlaqko</a:t>
            </a:r>
            <a:endParaRPr lang="zh-CN" altLang="zh-CN" sz="2400" dirty="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665883A-C5DE-41E8-B978-D746B73C0C76}"/>
              </a:ext>
            </a:extLst>
          </p:cNvPr>
          <p:cNvSpPr txBox="1"/>
          <p:nvPr/>
        </p:nvSpPr>
        <p:spPr>
          <a:xfrm>
            <a:off x="1524001" y="-14238"/>
            <a:ext cx="899592" cy="461665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>
                <a:latin typeface="Consolas" pitchFamily="49" charset="0"/>
                <a:ea typeface="宋体" pitchFamily="2" charset="-122"/>
                <a:cs typeface="Consolas" pitchFamily="49" charset="0"/>
              </a:rPr>
              <a:t>手算</a:t>
            </a:r>
            <a:endParaRPr lang="zh-CN" altLang="zh-CN" sz="2400" dirty="0">
              <a:latin typeface="Consolas" pitchFamily="49" charset="0"/>
              <a:ea typeface="宋体" pitchFamily="2" charset="-122"/>
              <a:cs typeface="Consolas" pitchFamily="49" charset="0"/>
            </a:endParaRPr>
          </a:p>
        </p:txBody>
      </p:sp>
      <p:graphicFrame>
        <p:nvGraphicFramePr>
          <p:cNvPr id="12" name="表格 11">
            <a:extLst>
              <a:ext uri="{FF2B5EF4-FFF2-40B4-BE49-F238E27FC236}">
                <a16:creationId xmlns:a16="http://schemas.microsoft.com/office/drawing/2014/main" id="{38615834-C782-44B2-A789-4D1FFF5F4149}"/>
              </a:ext>
            </a:extLst>
          </p:cNvPr>
          <p:cNvGraphicFramePr>
            <a:graphicFrameLocks noGrp="1"/>
          </p:cNvGraphicFramePr>
          <p:nvPr/>
        </p:nvGraphicFramePr>
        <p:xfrm>
          <a:off x="6456040" y="2815259"/>
          <a:ext cx="2520280" cy="20726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40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85420">
                <a:tc>
                  <a:txBody>
                    <a:bodyPr/>
                    <a:lstStyle/>
                    <a:p>
                      <a:pPr marL="0" algn="ctr"/>
                      <a:r>
                        <a:rPr lang="en-US" altLang="zh-CN" sz="2800" dirty="0">
                          <a:latin typeface="Consolas" pitchFamily="49" charset="0"/>
                          <a:cs typeface="Consolas" pitchFamily="49" charset="0"/>
                        </a:rPr>
                        <a:t>q</a:t>
                      </a:r>
                      <a:endParaRPr lang="zh-CN" altLang="en-US" sz="2800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US" altLang="zh-CN" sz="2800" dirty="0">
                          <a:latin typeface="Consolas" pitchFamily="49" charset="0"/>
                          <a:cs typeface="Consolas" pitchFamily="49" charset="0"/>
                        </a:rPr>
                        <a:t>o</a:t>
                      </a:r>
                      <a:endParaRPr lang="zh-CN" altLang="en-US" sz="2800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US" altLang="zh-CN" sz="2800" dirty="0">
                          <a:latin typeface="Consolas" pitchFamily="49" charset="0"/>
                          <a:cs typeface="Consolas" pitchFamily="49" charset="0"/>
                        </a:rPr>
                        <a:t>n</a:t>
                      </a:r>
                      <a:endParaRPr lang="zh-CN" altLang="en-US" sz="2800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US" altLang="zh-CN" sz="2800" dirty="0">
                          <a:latin typeface="Consolas" pitchFamily="49" charset="0"/>
                          <a:cs typeface="Consolas" pitchFamily="49" charset="0"/>
                        </a:rPr>
                        <a:t>o</a:t>
                      </a:r>
                      <a:endParaRPr lang="zh-CN" altLang="en-US" sz="2800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US" altLang="zh-CN" sz="2800" dirty="0">
                          <a:latin typeface="Consolas" pitchFamily="49" charset="0"/>
                          <a:cs typeface="Consolas" pitchFamily="49" charset="0"/>
                        </a:rPr>
                        <a:t>c</a:t>
                      </a:r>
                      <a:endParaRPr lang="zh-CN" altLang="en-US" sz="2800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marL="0" algn="ctr"/>
                      <a:r>
                        <a:rPr lang="en-US" altLang="zh-CN" sz="2800" dirty="0">
                          <a:latin typeface="Consolas" pitchFamily="49" charset="0"/>
                          <a:cs typeface="Consolas" pitchFamily="49" charset="0"/>
                        </a:rPr>
                        <a:t>o</a:t>
                      </a:r>
                      <a:endParaRPr lang="zh-CN" altLang="en-US" sz="2800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US" altLang="zh-CN" sz="2800" dirty="0">
                          <a:latin typeface="Consolas" pitchFamily="49" charset="0"/>
                          <a:cs typeface="Consolas" pitchFamily="49" charset="0"/>
                        </a:rPr>
                        <a:t>h</a:t>
                      </a:r>
                      <a:endParaRPr lang="zh-CN" altLang="en-US" sz="2800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US" altLang="zh-CN" sz="2800" dirty="0">
                          <a:latin typeface="Consolas" pitchFamily="49" charset="0"/>
                          <a:cs typeface="Consolas" pitchFamily="49" charset="0"/>
                        </a:rPr>
                        <a:t>o</a:t>
                      </a:r>
                      <a:endParaRPr lang="zh-CN" altLang="en-US" sz="2800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US" altLang="zh-CN" sz="2800" dirty="0">
                          <a:latin typeface="Consolas" pitchFamily="49" charset="0"/>
                          <a:cs typeface="Consolas" pitchFamily="49" charset="0"/>
                        </a:rPr>
                        <a:t>h</a:t>
                      </a:r>
                      <a:endParaRPr lang="zh-CN" altLang="en-US" sz="2800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US" altLang="zh-CN" sz="2800" dirty="0">
                          <a:latin typeface="Consolas" pitchFamily="49" charset="0"/>
                          <a:cs typeface="Consolas" pitchFamily="49" charset="0"/>
                        </a:rPr>
                        <a:t>o</a:t>
                      </a:r>
                      <a:endParaRPr lang="zh-CN" altLang="en-US" sz="2800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87408999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marL="0" algn="ctr"/>
                      <a:r>
                        <a:rPr lang="en-US" altLang="zh-CN" sz="2800" dirty="0">
                          <a:latin typeface="Consolas" pitchFamily="49" charset="0"/>
                          <a:cs typeface="Consolas" pitchFamily="49" charset="0"/>
                        </a:rPr>
                        <a:t>h</a:t>
                      </a:r>
                      <a:endParaRPr lang="zh-CN" altLang="en-US" sz="2800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US" altLang="zh-CN" sz="2800" dirty="0">
                          <a:latin typeface="Consolas" pitchFamily="49" charset="0"/>
                          <a:cs typeface="Consolas" pitchFamily="49" charset="0"/>
                        </a:rPr>
                        <a:t>l</a:t>
                      </a:r>
                      <a:endParaRPr lang="zh-CN" altLang="en-US" sz="2800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US" altLang="zh-CN" sz="2800" dirty="0">
                          <a:latin typeface="Consolas" pitchFamily="49" charset="0"/>
                          <a:cs typeface="Consolas" pitchFamily="49" charset="0"/>
                        </a:rPr>
                        <a:t>a</a:t>
                      </a:r>
                      <a:endParaRPr lang="zh-CN" altLang="en-US" sz="2800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US" altLang="zh-CN" sz="2800" dirty="0">
                          <a:latin typeface="Consolas" pitchFamily="49" charset="0"/>
                          <a:cs typeface="Consolas" pitchFamily="49" charset="0"/>
                        </a:rPr>
                        <a:t>q</a:t>
                      </a:r>
                      <a:endParaRPr lang="zh-CN" altLang="en-US" sz="2800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US" altLang="zh-CN" sz="2800" dirty="0">
                          <a:latin typeface="Consolas" pitchFamily="49" charset="0"/>
                          <a:cs typeface="Consolas" pitchFamily="49" charset="0"/>
                        </a:rPr>
                        <a:t>o</a:t>
                      </a:r>
                      <a:endParaRPr lang="zh-CN" altLang="en-US" sz="2800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marL="0" algn="ctr"/>
                      <a:r>
                        <a:rPr lang="en-US" altLang="zh-CN" sz="2800" dirty="0">
                          <a:latin typeface="Consolas" pitchFamily="49" charset="0"/>
                          <a:cs typeface="Consolas" pitchFamily="49" charset="0"/>
                        </a:rPr>
                        <a:t>m</a:t>
                      </a:r>
                      <a:endParaRPr lang="zh-CN" altLang="en-US" sz="2800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US" altLang="zh-CN" sz="2800" dirty="0" err="1">
                          <a:latin typeface="Consolas" pitchFamily="49" charset="0"/>
                          <a:cs typeface="Consolas" pitchFamily="49" charset="0"/>
                        </a:rPr>
                        <a:t>i</a:t>
                      </a:r>
                      <a:endParaRPr lang="zh-CN" altLang="en-US" sz="2800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US" altLang="zh-CN" sz="2800" dirty="0">
                          <a:latin typeface="Consolas" pitchFamily="49" charset="0"/>
                          <a:cs typeface="Consolas" pitchFamily="49" charset="0"/>
                        </a:rPr>
                        <a:t>r</a:t>
                      </a:r>
                      <a:endParaRPr lang="zh-CN" altLang="en-US" sz="2800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US" altLang="zh-CN" sz="2800" dirty="0">
                          <a:latin typeface="Consolas" pitchFamily="49" charset="0"/>
                          <a:cs typeface="Consolas" pitchFamily="49" charset="0"/>
                        </a:rPr>
                        <a:t>k</a:t>
                      </a:r>
                      <a:endParaRPr lang="zh-CN" altLang="en-US" sz="2800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US" altLang="zh-CN" sz="2800" dirty="0">
                          <a:latin typeface="Consolas" pitchFamily="49" charset="0"/>
                          <a:cs typeface="Consolas" pitchFamily="49" charset="0"/>
                        </a:rPr>
                        <a:t>o</a:t>
                      </a:r>
                      <a:endParaRPr lang="zh-CN" altLang="en-US" sz="2800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4165280"/>
                  </a:ext>
                </a:extLst>
              </a:tr>
            </a:tbl>
          </a:graphicData>
        </a:graphic>
      </p:graphicFrame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82BF6025-325E-443C-8DA1-B3D270A078F5}"/>
              </a:ext>
            </a:extLst>
          </p:cNvPr>
          <p:cNvCxnSpPr>
            <a:cxnSpLocks/>
          </p:cNvCxnSpPr>
          <p:nvPr/>
        </p:nvCxnSpPr>
        <p:spPr>
          <a:xfrm>
            <a:off x="6816080" y="3140968"/>
            <a:ext cx="288032" cy="0"/>
          </a:xfrm>
          <a:prstGeom prst="straightConnector1">
            <a:avLst/>
          </a:prstGeom>
          <a:ln w="28575">
            <a:solidFill>
              <a:schemeClr val="accent6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D6A3184D-4019-4744-806E-A821869D89D8}"/>
              </a:ext>
            </a:extLst>
          </p:cNvPr>
          <p:cNvCxnSpPr>
            <a:cxnSpLocks/>
          </p:cNvCxnSpPr>
          <p:nvPr/>
        </p:nvCxnSpPr>
        <p:spPr>
          <a:xfrm>
            <a:off x="7320136" y="4149080"/>
            <a:ext cx="288032" cy="0"/>
          </a:xfrm>
          <a:prstGeom prst="straightConnector1">
            <a:avLst/>
          </a:prstGeom>
          <a:ln w="28575">
            <a:solidFill>
              <a:schemeClr val="accent6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81B583FA-683B-4C11-833D-9001322DD017}"/>
              </a:ext>
            </a:extLst>
          </p:cNvPr>
          <p:cNvCxnSpPr>
            <a:cxnSpLocks/>
          </p:cNvCxnSpPr>
          <p:nvPr/>
        </p:nvCxnSpPr>
        <p:spPr>
          <a:xfrm>
            <a:off x="7824192" y="4149080"/>
            <a:ext cx="288032" cy="0"/>
          </a:xfrm>
          <a:prstGeom prst="straightConnector1">
            <a:avLst/>
          </a:prstGeom>
          <a:ln w="28575">
            <a:solidFill>
              <a:schemeClr val="accent6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CFFF89DC-8448-4E95-8F86-E41BCA4BA54A}"/>
              </a:ext>
            </a:extLst>
          </p:cNvPr>
          <p:cNvCxnSpPr>
            <a:cxnSpLocks/>
          </p:cNvCxnSpPr>
          <p:nvPr/>
        </p:nvCxnSpPr>
        <p:spPr>
          <a:xfrm>
            <a:off x="8328248" y="4653136"/>
            <a:ext cx="288032" cy="0"/>
          </a:xfrm>
          <a:prstGeom prst="straightConnector1">
            <a:avLst/>
          </a:prstGeom>
          <a:ln w="28575">
            <a:solidFill>
              <a:schemeClr val="accent6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805E6FF2-CDFD-43F3-9134-135C9E8A485B}"/>
              </a:ext>
            </a:extLst>
          </p:cNvPr>
          <p:cNvCxnSpPr>
            <a:cxnSpLocks/>
          </p:cNvCxnSpPr>
          <p:nvPr/>
        </p:nvCxnSpPr>
        <p:spPr>
          <a:xfrm>
            <a:off x="7248127" y="3264047"/>
            <a:ext cx="0" cy="216024"/>
          </a:xfrm>
          <a:prstGeom prst="straightConnector1">
            <a:avLst/>
          </a:prstGeom>
          <a:ln w="28575">
            <a:solidFill>
              <a:schemeClr val="accent6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35945D69-111B-4187-A8C6-525BCA1D0E11}"/>
              </a:ext>
            </a:extLst>
          </p:cNvPr>
          <p:cNvCxnSpPr>
            <a:cxnSpLocks/>
          </p:cNvCxnSpPr>
          <p:nvPr/>
        </p:nvCxnSpPr>
        <p:spPr>
          <a:xfrm>
            <a:off x="7248127" y="3768103"/>
            <a:ext cx="0" cy="216024"/>
          </a:xfrm>
          <a:prstGeom prst="straightConnector1">
            <a:avLst/>
          </a:prstGeom>
          <a:ln w="28575">
            <a:solidFill>
              <a:schemeClr val="accent6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C1D26054-B2A2-4A6D-AB11-727A9CA64E2F}"/>
              </a:ext>
            </a:extLst>
          </p:cNvPr>
          <p:cNvCxnSpPr>
            <a:cxnSpLocks/>
          </p:cNvCxnSpPr>
          <p:nvPr/>
        </p:nvCxnSpPr>
        <p:spPr>
          <a:xfrm>
            <a:off x="8328248" y="4293096"/>
            <a:ext cx="0" cy="216024"/>
          </a:xfrm>
          <a:prstGeom prst="straightConnector1">
            <a:avLst/>
          </a:prstGeom>
          <a:ln w="28575">
            <a:solidFill>
              <a:schemeClr val="accent6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FFF88795-9532-4E10-BB3E-72BAFAA9B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58510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3503712" y="770413"/>
            <a:ext cx="5330452" cy="83099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2400" dirty="0">
                <a:latin typeface="Consolas" pitchFamily="49" charset="0"/>
                <a:cs typeface="Consolas" pitchFamily="49" charset="0"/>
              </a:rPr>
              <a:t>请同学写出题目大意</a:t>
            </a:r>
            <a:endParaRPr lang="en-US" altLang="zh-CN" sz="2400" dirty="0">
              <a:latin typeface="Consolas" pitchFamily="49" charset="0"/>
              <a:cs typeface="Consolas" pitchFamily="49" charset="0"/>
            </a:endParaRPr>
          </a:p>
          <a:p>
            <a:pPr algn="ctr"/>
            <a:r>
              <a:rPr lang="zh-CN" altLang="en-US" sz="2400" dirty="0">
                <a:latin typeface="Consolas" pitchFamily="49" charset="0"/>
                <a:cs typeface="Consolas" pitchFamily="49" charset="0"/>
              </a:rPr>
              <a:t>已知什么求什么</a:t>
            </a:r>
          </a:p>
        </p:txBody>
      </p:sp>
      <p:sp>
        <p:nvSpPr>
          <p:cNvPr id="7" name="矩形 6"/>
          <p:cNvSpPr/>
          <p:nvPr/>
        </p:nvSpPr>
        <p:spPr>
          <a:xfrm>
            <a:off x="3503712" y="1728392"/>
            <a:ext cx="5330452" cy="646331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US" altLang="zh-CN" dirty="0"/>
              <a:t>n*m</a:t>
            </a:r>
            <a:r>
              <a:rPr lang="zh-CN" altLang="en-US" dirty="0"/>
              <a:t>字符</a:t>
            </a:r>
            <a:r>
              <a:rPr lang="en-US" altLang="zh-CN" dirty="0"/>
              <a:t>,</a:t>
            </a:r>
            <a:r>
              <a:rPr lang="zh-CN" altLang="en-US" dirty="0"/>
              <a:t>从左上角到右下角走</a:t>
            </a:r>
            <a:r>
              <a:rPr lang="en-US" altLang="zh-CN" dirty="0"/>
              <a:t>,</a:t>
            </a:r>
            <a:r>
              <a:rPr lang="zh-CN" altLang="en-US" dirty="0"/>
              <a:t>可以向下或右</a:t>
            </a:r>
            <a:r>
              <a:rPr lang="en-US" altLang="zh-CN" dirty="0"/>
              <a:t>,</a:t>
            </a:r>
            <a:r>
              <a:rPr lang="zh-CN" altLang="en-US" dirty="0"/>
              <a:t>取出走过的字符组成字符串</a:t>
            </a:r>
            <a:r>
              <a:rPr lang="en-US" altLang="zh-CN" dirty="0"/>
              <a:t>,</a:t>
            </a:r>
            <a:r>
              <a:rPr lang="zh-CN" altLang="en-US" dirty="0"/>
              <a:t>要求字典序最小。</a:t>
            </a:r>
            <a:endParaRPr lang="zh-CN" altLang="zh-CN" sz="2800" dirty="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3504335" y="3965999"/>
            <a:ext cx="5330452" cy="1296637"/>
          </a:xfrm>
          <a:prstGeom prst="rect">
            <a:avLst/>
          </a:prstGeom>
          <a:noFill/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dirty="0"/>
              <a:t>对于</a:t>
            </a:r>
            <a:r>
              <a:rPr lang="en-US" altLang="zh-CN" dirty="0"/>
              <a:t>20%</a:t>
            </a:r>
            <a:r>
              <a:rPr lang="zh-CN" altLang="zh-CN" dirty="0"/>
              <a:t>数据</a:t>
            </a:r>
            <a:r>
              <a:rPr lang="en-US" altLang="zh-CN" dirty="0"/>
              <a:t>, m=1</a:t>
            </a:r>
            <a:r>
              <a:rPr lang="zh-CN" altLang="zh-CN" dirty="0"/>
              <a:t>。</a:t>
            </a:r>
          </a:p>
          <a:p>
            <a:pPr>
              <a:lnSpc>
                <a:spcPct val="150000"/>
              </a:lnSpc>
            </a:pPr>
            <a:r>
              <a:rPr lang="zh-CN" altLang="zh-CN" dirty="0"/>
              <a:t>对于</a:t>
            </a:r>
            <a:r>
              <a:rPr lang="en-US" altLang="zh-CN" dirty="0"/>
              <a:t>30%</a:t>
            </a:r>
            <a:r>
              <a:rPr lang="zh-CN" altLang="zh-CN" dirty="0"/>
              <a:t>数据</a:t>
            </a:r>
            <a:r>
              <a:rPr lang="en-US" altLang="zh-CN" dirty="0"/>
              <a:t>, n&lt;=100, m&lt;=100</a:t>
            </a:r>
            <a:r>
              <a:rPr lang="zh-CN" altLang="zh-CN" dirty="0"/>
              <a:t>。</a:t>
            </a:r>
          </a:p>
          <a:p>
            <a:pPr>
              <a:lnSpc>
                <a:spcPct val="150000"/>
              </a:lnSpc>
            </a:pPr>
            <a:r>
              <a:rPr lang="zh-CN" altLang="zh-CN" dirty="0"/>
              <a:t>对于</a:t>
            </a:r>
            <a:r>
              <a:rPr lang="en-US" altLang="zh-CN" dirty="0"/>
              <a:t>100%</a:t>
            </a:r>
            <a:r>
              <a:rPr lang="zh-CN" altLang="zh-CN" dirty="0"/>
              <a:t>数据</a:t>
            </a:r>
            <a:r>
              <a:rPr lang="en-US" altLang="zh-CN" dirty="0"/>
              <a:t>, n&lt;=2000, m&lt;=2000</a:t>
            </a:r>
            <a:r>
              <a:rPr lang="zh-CN" altLang="zh-CN" dirty="0"/>
              <a:t>。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363DB74-201B-4606-8BBB-78854042BD4D}"/>
              </a:ext>
            </a:extLst>
          </p:cNvPr>
          <p:cNvSpPr/>
          <p:nvPr/>
        </p:nvSpPr>
        <p:spPr>
          <a:xfrm>
            <a:off x="3503712" y="2981486"/>
            <a:ext cx="5330452" cy="83099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2400" dirty="0">
                <a:latin typeface="Consolas" pitchFamily="49" charset="0"/>
                <a:cs typeface="Consolas" pitchFamily="49" charset="0"/>
              </a:rPr>
              <a:t>请同学阅读</a:t>
            </a:r>
            <a:r>
              <a:rPr lang="en-US" altLang="zh-CN" sz="2400" dirty="0">
                <a:latin typeface="Consolas" pitchFamily="49" charset="0"/>
                <a:cs typeface="Consolas" pitchFamily="49" charset="0"/>
              </a:rPr>
              <a:t>[</a:t>
            </a:r>
            <a:r>
              <a:rPr lang="zh-CN" altLang="en-US" sz="2400" dirty="0">
                <a:latin typeface="Consolas" pitchFamily="49" charset="0"/>
                <a:cs typeface="Consolas" pitchFamily="49" charset="0"/>
              </a:rPr>
              <a:t>数据规模和约定</a:t>
            </a:r>
            <a:r>
              <a:rPr lang="en-US" altLang="zh-CN" sz="2400" dirty="0">
                <a:latin typeface="Consolas" pitchFamily="49" charset="0"/>
                <a:cs typeface="Consolas" pitchFamily="49" charset="0"/>
              </a:rPr>
              <a:t>]</a:t>
            </a:r>
          </a:p>
          <a:p>
            <a:pPr algn="ctr"/>
            <a:r>
              <a:rPr lang="zh-CN" altLang="en-US" sz="2400" dirty="0">
                <a:latin typeface="Consolas" pitchFamily="49" charset="0"/>
                <a:cs typeface="Consolas" pitchFamily="49" charset="0"/>
              </a:rPr>
              <a:t>识别部分得分点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B1DFFD54-A58A-4E01-AD30-902C772CDE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44718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4" grpId="0" animBg="1"/>
      <p:bldP spid="8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673576" y="260649"/>
            <a:ext cx="4844848" cy="584775"/>
          </a:xfrm>
          <a:prstGeom prst="rect">
            <a:avLst/>
          </a:prstGeom>
          <a:solidFill>
            <a:srgbClr val="CCFFFF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dirty="0">
                <a:latin typeface="Consolas" pitchFamily="49" charset="0"/>
                <a:cs typeface="Consolas" pitchFamily="49" charset="0"/>
              </a:rPr>
              <a:t>观察发现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E0E1486-9772-4416-9A4D-9ECB5A010E89}"/>
              </a:ext>
            </a:extLst>
          </p:cNvPr>
          <p:cNvSpPr/>
          <p:nvPr/>
        </p:nvSpPr>
        <p:spPr>
          <a:xfrm>
            <a:off x="3674140" y="1196752"/>
            <a:ext cx="4844285" cy="400110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>
                <a:latin typeface="Consolas" panose="020B0609020204030204" pitchFamily="49" charset="0"/>
              </a:rPr>
              <a:t>首个字母一定是左上角</a:t>
            </a:r>
            <a:endParaRPr lang="zh-CN" altLang="zh-CN" sz="2800" dirty="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73B71A4-2776-4C76-BFC7-103A3CEF97B4}"/>
              </a:ext>
            </a:extLst>
          </p:cNvPr>
          <p:cNvSpPr/>
          <p:nvPr/>
        </p:nvSpPr>
        <p:spPr>
          <a:xfrm>
            <a:off x="3674140" y="1781527"/>
            <a:ext cx="4844285" cy="400110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>
                <a:latin typeface="Consolas" panose="020B0609020204030204" pitchFamily="49" charset="0"/>
              </a:rPr>
              <a:t>第二个字母可以二选一</a:t>
            </a:r>
            <a:r>
              <a:rPr lang="en-US" altLang="zh-CN" sz="2000" dirty="0">
                <a:latin typeface="Consolas" panose="020B0609020204030204" pitchFamily="49" charset="0"/>
              </a:rPr>
              <a:t>,</a:t>
            </a:r>
            <a:r>
              <a:rPr lang="zh-CN" altLang="en-US" sz="2000" dirty="0">
                <a:latin typeface="Consolas" panose="020B0609020204030204" pitchFamily="49" charset="0"/>
              </a:rPr>
              <a:t>挑字典序小的</a:t>
            </a:r>
            <a:endParaRPr lang="zh-CN" altLang="zh-CN" sz="2800" dirty="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B673B30-8809-4D56-B70E-E68498A5D084}"/>
              </a:ext>
            </a:extLst>
          </p:cNvPr>
          <p:cNvSpPr/>
          <p:nvPr/>
        </p:nvSpPr>
        <p:spPr>
          <a:xfrm>
            <a:off x="2279861" y="5025369"/>
            <a:ext cx="982265" cy="954107"/>
          </a:xfrm>
          <a:prstGeom prst="rect">
            <a:avLst/>
          </a:prstGeom>
          <a:solidFill>
            <a:srgbClr val="CCFFFF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2800" dirty="0">
                <a:latin typeface="Consolas" panose="020B0609020204030204" pitchFamily="49" charset="0"/>
              </a:rPr>
              <a:t>贪心变种</a:t>
            </a:r>
            <a:endParaRPr lang="zh-CN" altLang="zh-CN" sz="3600" dirty="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C25CE10-9248-47A7-98E6-D7F29FF76EFE}"/>
              </a:ext>
            </a:extLst>
          </p:cNvPr>
          <p:cNvSpPr/>
          <p:nvPr/>
        </p:nvSpPr>
        <p:spPr>
          <a:xfrm>
            <a:off x="3673574" y="3193969"/>
            <a:ext cx="4844285" cy="400110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/>
              <a:t>平局时如何处理</a:t>
            </a:r>
            <a:r>
              <a:rPr lang="en-US" altLang="zh-CN" sz="2000" dirty="0"/>
              <a:t>?</a:t>
            </a:r>
            <a:endParaRPr lang="zh-CN" altLang="zh-CN" sz="3200" dirty="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057683A-E019-45B8-8213-4B08F567F256}"/>
              </a:ext>
            </a:extLst>
          </p:cNvPr>
          <p:cNvSpPr/>
          <p:nvPr/>
        </p:nvSpPr>
        <p:spPr>
          <a:xfrm>
            <a:off x="3673858" y="5302366"/>
            <a:ext cx="4844285" cy="400110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/>
              <a:t>平局时维护多个最优候选人</a:t>
            </a:r>
            <a:endParaRPr lang="zh-CN" altLang="zh-CN" sz="3200" dirty="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FFD5A29-21FA-443E-87BE-E531C260BC24}"/>
              </a:ext>
            </a:extLst>
          </p:cNvPr>
          <p:cNvSpPr/>
          <p:nvPr/>
        </p:nvSpPr>
        <p:spPr>
          <a:xfrm>
            <a:off x="3673575" y="2365503"/>
            <a:ext cx="4844285" cy="400110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>
                <a:latin typeface="Consolas" panose="020B0609020204030204" pitchFamily="49" charset="0"/>
              </a:rPr>
              <a:t>按照斜线的方向逐个确定答案字符串</a:t>
            </a:r>
            <a:endParaRPr lang="zh-CN" altLang="zh-CN" sz="2800" dirty="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844AD0E-B54F-401F-AAE2-4E2D2F8063EB}"/>
              </a:ext>
            </a:extLst>
          </p:cNvPr>
          <p:cNvSpPr/>
          <p:nvPr/>
        </p:nvSpPr>
        <p:spPr>
          <a:xfrm>
            <a:off x="2279577" y="3861049"/>
            <a:ext cx="982265" cy="95410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2800" dirty="0">
                <a:latin typeface="Consolas" panose="020B0609020204030204" pitchFamily="49" charset="0"/>
              </a:rPr>
              <a:t>暴力枚举</a:t>
            </a:r>
            <a:endParaRPr lang="zh-CN" altLang="zh-CN" sz="3600" dirty="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011AA27-3DFE-473E-9F10-AD2296D7B8F9}"/>
              </a:ext>
            </a:extLst>
          </p:cNvPr>
          <p:cNvSpPr/>
          <p:nvPr/>
        </p:nvSpPr>
        <p:spPr>
          <a:xfrm>
            <a:off x="3673574" y="4138046"/>
            <a:ext cx="4844285" cy="400110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/>
              <a:t>枚举每格可走的</a:t>
            </a:r>
            <a:r>
              <a:rPr lang="en-US" altLang="zh-CN" sz="2000" dirty="0"/>
              <a:t>2</a:t>
            </a:r>
            <a:r>
              <a:rPr lang="zh-CN" altLang="en-US" sz="2000" dirty="0"/>
              <a:t>种方向：向右或向下</a:t>
            </a:r>
            <a:endParaRPr lang="zh-CN" altLang="zh-CN" sz="3200" dirty="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CB3EE9D8-C368-492D-A9FE-432F6B94ED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94038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12" grpId="0" animBg="1"/>
      <p:bldP spid="13" grpId="0" animBg="1"/>
      <p:bldP spid="14" grpId="0" animBg="1"/>
      <p:bldP spid="16" grpId="0" animBg="1"/>
      <p:bldP spid="11" grpId="0" animBg="1"/>
      <p:bldP spid="17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D43A45B3-CB03-46F1-A433-B2006F9F1C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3765" y="1556257"/>
            <a:ext cx="7167838" cy="4764298"/>
          </a:xfrm>
          <a:prstGeom prst="rect">
            <a:avLst/>
          </a:prstGeom>
        </p:spPr>
      </p:pic>
      <p:sp>
        <p:nvSpPr>
          <p:cNvPr id="13" name="TextBox 6">
            <a:extLst>
              <a:ext uri="{FF2B5EF4-FFF2-40B4-BE49-F238E27FC236}">
                <a16:creationId xmlns:a16="http://schemas.microsoft.com/office/drawing/2014/main" id="{3F9928DA-8768-4913-8E1C-6F9D28F88A36}"/>
              </a:ext>
            </a:extLst>
          </p:cNvPr>
          <p:cNvSpPr txBox="1"/>
          <p:nvPr/>
        </p:nvSpPr>
        <p:spPr>
          <a:xfrm>
            <a:off x="4583832" y="453182"/>
            <a:ext cx="2952328" cy="830997"/>
          </a:xfrm>
          <a:prstGeom prst="rect">
            <a:avLst/>
          </a:prstGeom>
          <a:solidFill>
            <a:srgbClr val="FFFF99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400"/>
            </a:lvl1pPr>
          </a:lstStyle>
          <a:p>
            <a:pPr algn="ctr"/>
            <a:r>
              <a:rPr lang="zh-CN" altLang="en-US" dirty="0">
                <a:latin typeface="Consolas" pitchFamily="49" charset="0"/>
                <a:ea typeface="宋体" pitchFamily="2" charset="-122"/>
                <a:cs typeface="Consolas" pitchFamily="49" charset="0"/>
              </a:rPr>
              <a:t>大小数据分离</a:t>
            </a:r>
            <a:endParaRPr lang="en-US" altLang="zh-CN" dirty="0">
              <a:latin typeface="Consolas" pitchFamily="49" charset="0"/>
              <a:ea typeface="宋体" pitchFamily="2" charset="-122"/>
              <a:cs typeface="Consolas" pitchFamily="49" charset="0"/>
            </a:endParaRPr>
          </a:p>
          <a:p>
            <a:pPr algn="ctr"/>
            <a:r>
              <a:rPr lang="zh-CN" altLang="en-US" dirty="0">
                <a:latin typeface="Consolas" pitchFamily="49" charset="0"/>
                <a:ea typeface="宋体" pitchFamily="2" charset="-122"/>
                <a:cs typeface="Consolas" pitchFamily="49" charset="0"/>
              </a:rPr>
              <a:t>确保部分分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3AD2CFD3-11BE-418B-8849-1D86AF86DD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53050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3844AD0E-B54F-401F-AAE2-4E2D2F8063EB}"/>
              </a:ext>
            </a:extLst>
          </p:cNvPr>
          <p:cNvSpPr/>
          <p:nvPr/>
        </p:nvSpPr>
        <p:spPr>
          <a:xfrm>
            <a:off x="2495601" y="1844825"/>
            <a:ext cx="982265" cy="95410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2800" dirty="0">
                <a:latin typeface="Consolas" panose="020B0609020204030204" pitchFamily="49" charset="0"/>
              </a:rPr>
              <a:t>暴力枚举</a:t>
            </a:r>
            <a:endParaRPr lang="zh-CN" altLang="zh-CN" sz="3600" dirty="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011AA27-3DFE-473E-9F10-AD2296D7B8F9}"/>
              </a:ext>
            </a:extLst>
          </p:cNvPr>
          <p:cNvSpPr/>
          <p:nvPr/>
        </p:nvSpPr>
        <p:spPr>
          <a:xfrm>
            <a:off x="3889598" y="2121822"/>
            <a:ext cx="4844285" cy="400110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/>
              <a:t>枚举每格可走的</a:t>
            </a:r>
            <a:r>
              <a:rPr lang="en-US" altLang="zh-CN" sz="2000" dirty="0"/>
              <a:t>2</a:t>
            </a:r>
            <a:r>
              <a:rPr lang="zh-CN" altLang="en-US" sz="2000" dirty="0"/>
              <a:t>种方向：向右或向下</a:t>
            </a:r>
            <a:endParaRPr lang="zh-CN" altLang="zh-CN" sz="3200" dirty="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94A920D3-6A8A-45B0-8C7F-A504FA021867}"/>
              </a:ext>
            </a:extLst>
          </p:cNvPr>
          <p:cNvSpPr/>
          <p:nvPr/>
        </p:nvSpPr>
        <p:spPr>
          <a:xfrm>
            <a:off x="3889598" y="3157596"/>
            <a:ext cx="4844285" cy="400110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/>
              <a:t>对所有可能的字符串进行字典序比较</a:t>
            </a:r>
            <a:endParaRPr lang="zh-CN" altLang="zh-CN" sz="3200" dirty="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F0351A06-8F33-41E5-94FE-EA647C4BD7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316481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0CEC08CF-10F1-4C91-9E8B-3DCBBF8790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1584" y="1196752"/>
            <a:ext cx="6574330" cy="4658446"/>
          </a:xfrm>
          <a:prstGeom prst="rect">
            <a:avLst/>
          </a:prstGeom>
        </p:spPr>
      </p:pic>
      <p:sp>
        <p:nvSpPr>
          <p:cNvPr id="6" name="TextBox 13">
            <a:extLst>
              <a:ext uri="{FF2B5EF4-FFF2-40B4-BE49-F238E27FC236}">
                <a16:creationId xmlns:a16="http://schemas.microsoft.com/office/drawing/2014/main" id="{3333E450-A92C-48B9-A367-9A676CD74E0E}"/>
              </a:ext>
            </a:extLst>
          </p:cNvPr>
          <p:cNvSpPr txBox="1"/>
          <p:nvPr/>
        </p:nvSpPr>
        <p:spPr>
          <a:xfrm>
            <a:off x="9854526" y="-1488"/>
            <a:ext cx="827584" cy="400110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400"/>
            </a:lvl1pPr>
          </a:lstStyle>
          <a:p>
            <a:pPr algn="ctr"/>
            <a:r>
              <a:rPr lang="zh-CN" altLang="en-US" sz="2000" dirty="0">
                <a:latin typeface="Consolas" pitchFamily="49" charset="0"/>
                <a:cs typeface="Consolas" pitchFamily="49" charset="0"/>
              </a:rPr>
              <a:t>暴力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7298CE6D-4D14-4A2B-A558-97E4929C8A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58899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13">
            <a:extLst>
              <a:ext uri="{FF2B5EF4-FFF2-40B4-BE49-F238E27FC236}">
                <a16:creationId xmlns:a16="http://schemas.microsoft.com/office/drawing/2014/main" id="{3333E450-A92C-48B9-A367-9A676CD74E0E}"/>
              </a:ext>
            </a:extLst>
          </p:cNvPr>
          <p:cNvSpPr txBox="1"/>
          <p:nvPr/>
        </p:nvSpPr>
        <p:spPr>
          <a:xfrm>
            <a:off x="9854526" y="-1488"/>
            <a:ext cx="827584" cy="400110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400"/>
            </a:lvl1pPr>
          </a:lstStyle>
          <a:p>
            <a:pPr algn="ctr"/>
            <a:r>
              <a:rPr lang="zh-CN" altLang="en-US" sz="2000" dirty="0">
                <a:latin typeface="Consolas" pitchFamily="49" charset="0"/>
                <a:cs typeface="Consolas" pitchFamily="49" charset="0"/>
              </a:rPr>
              <a:t>暴力</a:t>
            </a:r>
          </a:p>
        </p:txBody>
      </p:sp>
      <p:sp>
        <p:nvSpPr>
          <p:cNvPr id="9" name="TextBox 6">
            <a:extLst>
              <a:ext uri="{FF2B5EF4-FFF2-40B4-BE49-F238E27FC236}">
                <a16:creationId xmlns:a16="http://schemas.microsoft.com/office/drawing/2014/main" id="{03CA6DC2-709A-40AB-9A5F-17072E913200}"/>
              </a:ext>
            </a:extLst>
          </p:cNvPr>
          <p:cNvSpPr txBox="1"/>
          <p:nvPr/>
        </p:nvSpPr>
        <p:spPr>
          <a:xfrm>
            <a:off x="4799856" y="5733257"/>
            <a:ext cx="2952328" cy="46166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400"/>
            </a:lvl1pPr>
          </a:lstStyle>
          <a:p>
            <a:pPr algn="ctr"/>
            <a:r>
              <a:rPr lang="zh-CN" altLang="en-US" dirty="0">
                <a:latin typeface="Consolas" pitchFamily="49" charset="0"/>
                <a:ea typeface="宋体" pitchFamily="2" charset="-122"/>
                <a:cs typeface="Consolas" pitchFamily="49" charset="0"/>
              </a:rPr>
              <a:t>请写出时间复杂度</a:t>
            </a:r>
          </a:p>
        </p:txBody>
      </p:sp>
      <p:sp>
        <p:nvSpPr>
          <p:cNvPr id="10" name="TextBox 6">
            <a:extLst>
              <a:ext uri="{FF2B5EF4-FFF2-40B4-BE49-F238E27FC236}">
                <a16:creationId xmlns:a16="http://schemas.microsoft.com/office/drawing/2014/main" id="{DF49D925-7FC1-44C5-9868-3F447FD37C26}"/>
              </a:ext>
            </a:extLst>
          </p:cNvPr>
          <p:cNvSpPr txBox="1"/>
          <p:nvPr/>
        </p:nvSpPr>
        <p:spPr>
          <a:xfrm>
            <a:off x="4799856" y="6194922"/>
            <a:ext cx="2952328" cy="461665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400"/>
            </a:lvl1pPr>
          </a:lstStyle>
          <a:p>
            <a:pPr algn="ctr"/>
            <a:r>
              <a:rPr lang="en-US" altLang="zh-CN" dirty="0">
                <a:latin typeface="Consolas" pitchFamily="49" charset="0"/>
                <a:ea typeface="宋体" pitchFamily="2" charset="-122"/>
                <a:cs typeface="Consolas" pitchFamily="49" charset="0"/>
              </a:rPr>
              <a:t>O(2</a:t>
            </a:r>
            <a:r>
              <a:rPr lang="en-US" altLang="zh-CN" baseline="30000" dirty="0">
                <a:latin typeface="Consolas" pitchFamily="49" charset="0"/>
                <a:ea typeface="宋体" pitchFamily="2" charset="-122"/>
                <a:cs typeface="Consolas" pitchFamily="49" charset="0"/>
              </a:rPr>
              <a:t>n+m</a:t>
            </a:r>
            <a:r>
              <a:rPr lang="en-US" altLang="zh-CN" dirty="0">
                <a:latin typeface="Consolas" pitchFamily="49" charset="0"/>
                <a:ea typeface="宋体" pitchFamily="2" charset="-122"/>
                <a:cs typeface="Consolas" pitchFamily="49" charset="0"/>
              </a:rPr>
              <a:t>)</a:t>
            </a:r>
            <a:endParaRPr lang="zh-CN" altLang="en-US" dirty="0">
              <a:latin typeface="Consolas" pitchFamily="49" charset="0"/>
              <a:ea typeface="宋体" pitchFamily="2" charset="-122"/>
              <a:cs typeface="Consolas" pitchFamily="49" charset="0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F73D58F6-CA45-473C-ACE5-7ABCDEF823E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47098"/>
          <a:stretch/>
        </p:blipFill>
        <p:spPr>
          <a:xfrm>
            <a:off x="1919536" y="807979"/>
            <a:ext cx="6475382" cy="4133625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67572BA2-DC3B-40BE-A138-582B5E584D44}"/>
              </a:ext>
            </a:extLst>
          </p:cNvPr>
          <p:cNvSpPr/>
          <p:nvPr/>
        </p:nvSpPr>
        <p:spPr>
          <a:xfrm>
            <a:off x="3359696" y="1628801"/>
            <a:ext cx="4536503" cy="432048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845A38B-5970-4BD6-8DF3-FCFFD0486D1D}"/>
              </a:ext>
            </a:extLst>
          </p:cNvPr>
          <p:cNvSpPr/>
          <p:nvPr/>
        </p:nvSpPr>
        <p:spPr>
          <a:xfrm>
            <a:off x="3359696" y="4131815"/>
            <a:ext cx="4536503" cy="432048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C461EC33-B118-4B1F-9F47-82DCEF37E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8770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2" grpId="0" animBg="1"/>
      <p:bldP spid="13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A694A0EC-398C-4A29-BAF9-E76C92E23BDD}"/>
              </a:ext>
            </a:extLst>
          </p:cNvPr>
          <p:cNvSpPr/>
          <p:nvPr/>
        </p:nvSpPr>
        <p:spPr>
          <a:xfrm>
            <a:off x="2469756" y="1787468"/>
            <a:ext cx="982265" cy="954107"/>
          </a:xfrm>
          <a:prstGeom prst="rect">
            <a:avLst/>
          </a:prstGeom>
          <a:solidFill>
            <a:srgbClr val="CCFFFF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2800" dirty="0">
                <a:latin typeface="Consolas" panose="020B0609020204030204" pitchFamily="49" charset="0"/>
              </a:rPr>
              <a:t>贪心变种</a:t>
            </a:r>
            <a:endParaRPr lang="zh-CN" altLang="zh-CN" sz="3600" dirty="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32CBB2B-966A-4A2D-9147-6A406F94BCA2}"/>
              </a:ext>
            </a:extLst>
          </p:cNvPr>
          <p:cNvSpPr/>
          <p:nvPr/>
        </p:nvSpPr>
        <p:spPr>
          <a:xfrm>
            <a:off x="3863754" y="2189203"/>
            <a:ext cx="4844285" cy="400110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/>
              <a:t>平局时维护多个最优候选人</a:t>
            </a:r>
            <a:endParaRPr lang="zh-CN" altLang="zh-CN" sz="3200" dirty="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C8DA5DE-FC21-4342-84C6-855A2C4113A2}"/>
              </a:ext>
            </a:extLst>
          </p:cNvPr>
          <p:cNvSpPr/>
          <p:nvPr/>
        </p:nvSpPr>
        <p:spPr>
          <a:xfrm>
            <a:off x="3863753" y="1787467"/>
            <a:ext cx="4844285" cy="400110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>
                <a:latin typeface="Consolas" panose="020B0609020204030204" pitchFamily="49" charset="0"/>
              </a:rPr>
              <a:t>按照斜线的方向逐个确定答案字符串</a:t>
            </a:r>
            <a:endParaRPr lang="zh-CN" altLang="zh-CN" sz="2800" dirty="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979D85C2-ADB9-4EC5-AA26-9FCA27B1BF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28573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F93F1856-2264-4978-9A29-A8A2B78E9A3D}"/>
              </a:ext>
            </a:extLst>
          </p:cNvPr>
          <p:cNvGraphicFramePr>
            <a:graphicFrameLocks noGrp="1"/>
          </p:cNvGraphicFramePr>
          <p:nvPr/>
        </p:nvGraphicFramePr>
        <p:xfrm>
          <a:off x="3839595" y="1484784"/>
          <a:ext cx="4488655" cy="345638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977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77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977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977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9773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64096">
                <a:tc>
                  <a:txBody>
                    <a:bodyPr/>
                    <a:lstStyle/>
                    <a:p>
                      <a:pPr marL="0" algn="ctr"/>
                      <a:r>
                        <a:rPr lang="en-US" altLang="zh-CN" sz="4800" dirty="0">
                          <a:latin typeface="Consolas" pitchFamily="49" charset="0"/>
                          <a:cs typeface="Consolas" pitchFamily="49" charset="0"/>
                        </a:rPr>
                        <a:t>q</a:t>
                      </a:r>
                      <a:endParaRPr lang="zh-CN" altLang="en-US" sz="4800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US" altLang="zh-CN" sz="4800" dirty="0">
                          <a:latin typeface="Consolas" pitchFamily="49" charset="0"/>
                          <a:cs typeface="Consolas" pitchFamily="49" charset="0"/>
                        </a:rPr>
                        <a:t>o</a:t>
                      </a:r>
                      <a:endParaRPr lang="zh-CN" altLang="en-US" sz="4800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US" altLang="zh-CN" sz="4800" dirty="0">
                          <a:latin typeface="Consolas" pitchFamily="49" charset="0"/>
                          <a:cs typeface="Consolas" pitchFamily="49" charset="0"/>
                        </a:rPr>
                        <a:t>n</a:t>
                      </a:r>
                      <a:endParaRPr lang="zh-CN" altLang="en-US" sz="4800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US" altLang="zh-CN" sz="4800" dirty="0">
                          <a:latin typeface="Consolas" pitchFamily="49" charset="0"/>
                          <a:cs typeface="Consolas" pitchFamily="49" charset="0"/>
                        </a:rPr>
                        <a:t>o</a:t>
                      </a:r>
                      <a:endParaRPr lang="zh-CN" altLang="en-US" sz="4800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US" altLang="zh-CN" sz="4800" dirty="0">
                          <a:latin typeface="Consolas" pitchFamily="49" charset="0"/>
                          <a:cs typeface="Consolas" pitchFamily="49" charset="0"/>
                        </a:rPr>
                        <a:t>c</a:t>
                      </a:r>
                      <a:endParaRPr lang="zh-CN" altLang="en-US" sz="4800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4096">
                <a:tc>
                  <a:txBody>
                    <a:bodyPr/>
                    <a:lstStyle/>
                    <a:p>
                      <a:pPr marL="0" algn="ctr"/>
                      <a:r>
                        <a:rPr lang="en-US" altLang="zh-CN" sz="4800" dirty="0">
                          <a:latin typeface="Consolas" pitchFamily="49" charset="0"/>
                          <a:cs typeface="Consolas" pitchFamily="49" charset="0"/>
                        </a:rPr>
                        <a:t>o</a:t>
                      </a:r>
                      <a:endParaRPr lang="zh-CN" altLang="en-US" sz="4800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US" altLang="zh-CN" sz="4800" dirty="0">
                          <a:latin typeface="Consolas" pitchFamily="49" charset="0"/>
                          <a:cs typeface="Consolas" pitchFamily="49" charset="0"/>
                        </a:rPr>
                        <a:t>h</a:t>
                      </a:r>
                      <a:endParaRPr lang="zh-CN" altLang="en-US" sz="4800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US" altLang="zh-CN" sz="4800" dirty="0">
                          <a:latin typeface="Consolas" pitchFamily="49" charset="0"/>
                          <a:cs typeface="Consolas" pitchFamily="49" charset="0"/>
                        </a:rPr>
                        <a:t>o</a:t>
                      </a:r>
                      <a:endParaRPr lang="zh-CN" altLang="en-US" sz="4800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US" altLang="zh-CN" sz="4800" dirty="0">
                          <a:latin typeface="Consolas" pitchFamily="49" charset="0"/>
                          <a:cs typeface="Consolas" pitchFamily="49" charset="0"/>
                        </a:rPr>
                        <a:t>h</a:t>
                      </a:r>
                      <a:endParaRPr lang="zh-CN" altLang="en-US" sz="4800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US" altLang="zh-CN" sz="4800" dirty="0">
                          <a:latin typeface="Consolas" pitchFamily="49" charset="0"/>
                          <a:cs typeface="Consolas" pitchFamily="49" charset="0"/>
                        </a:rPr>
                        <a:t>o</a:t>
                      </a:r>
                      <a:endParaRPr lang="zh-CN" altLang="en-US" sz="4800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7408999"/>
                  </a:ext>
                </a:extLst>
              </a:tr>
              <a:tr h="864096">
                <a:tc>
                  <a:txBody>
                    <a:bodyPr/>
                    <a:lstStyle/>
                    <a:p>
                      <a:pPr marL="0" algn="ctr"/>
                      <a:r>
                        <a:rPr lang="en-US" altLang="zh-CN" sz="4800" dirty="0">
                          <a:latin typeface="Consolas" pitchFamily="49" charset="0"/>
                          <a:cs typeface="Consolas" pitchFamily="49" charset="0"/>
                        </a:rPr>
                        <a:t>h</a:t>
                      </a:r>
                      <a:endParaRPr lang="zh-CN" altLang="en-US" sz="4800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US" altLang="zh-CN" sz="4800" dirty="0">
                          <a:latin typeface="Consolas" pitchFamily="49" charset="0"/>
                          <a:cs typeface="Consolas" pitchFamily="49" charset="0"/>
                        </a:rPr>
                        <a:t>z</a:t>
                      </a:r>
                      <a:endParaRPr lang="zh-CN" altLang="en-US" sz="4800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US" altLang="zh-CN" sz="4800" dirty="0">
                          <a:latin typeface="Consolas" pitchFamily="49" charset="0"/>
                          <a:cs typeface="Consolas" pitchFamily="49" charset="0"/>
                        </a:rPr>
                        <a:t>a</a:t>
                      </a:r>
                      <a:endParaRPr lang="zh-CN" altLang="en-US" sz="4800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US" altLang="zh-CN" sz="4800" dirty="0">
                          <a:latin typeface="Consolas" pitchFamily="49" charset="0"/>
                          <a:cs typeface="Consolas" pitchFamily="49" charset="0"/>
                        </a:rPr>
                        <a:t>q</a:t>
                      </a:r>
                      <a:endParaRPr lang="zh-CN" altLang="en-US" sz="4800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US" altLang="zh-CN" sz="4800" dirty="0">
                          <a:latin typeface="Consolas" pitchFamily="49" charset="0"/>
                          <a:cs typeface="Consolas" pitchFamily="49" charset="0"/>
                        </a:rPr>
                        <a:t>o</a:t>
                      </a:r>
                      <a:endParaRPr lang="zh-CN" altLang="en-US" sz="4800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4096">
                <a:tc>
                  <a:txBody>
                    <a:bodyPr/>
                    <a:lstStyle/>
                    <a:p>
                      <a:pPr marL="0" algn="ctr"/>
                      <a:r>
                        <a:rPr lang="en-US" altLang="zh-CN" sz="4800" dirty="0">
                          <a:latin typeface="Consolas" pitchFamily="49" charset="0"/>
                          <a:cs typeface="Consolas" pitchFamily="49" charset="0"/>
                        </a:rPr>
                        <a:t>p</a:t>
                      </a:r>
                      <a:endParaRPr lang="zh-CN" altLang="en-US" sz="4800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US" altLang="zh-CN" sz="4800" dirty="0" err="1">
                          <a:latin typeface="Consolas" pitchFamily="49" charset="0"/>
                          <a:cs typeface="Consolas" pitchFamily="49" charset="0"/>
                        </a:rPr>
                        <a:t>i</a:t>
                      </a:r>
                      <a:endParaRPr lang="zh-CN" altLang="en-US" sz="4800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US" altLang="zh-CN" sz="4800" dirty="0">
                          <a:latin typeface="Consolas" pitchFamily="49" charset="0"/>
                          <a:cs typeface="Consolas" pitchFamily="49" charset="0"/>
                        </a:rPr>
                        <a:t>r</a:t>
                      </a:r>
                      <a:endParaRPr lang="zh-CN" altLang="en-US" sz="4800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US" altLang="zh-CN" sz="4800" dirty="0">
                          <a:latin typeface="Consolas" pitchFamily="49" charset="0"/>
                          <a:cs typeface="Consolas" pitchFamily="49" charset="0"/>
                        </a:rPr>
                        <a:t>k</a:t>
                      </a:r>
                      <a:endParaRPr lang="zh-CN" altLang="en-US" sz="4800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US" altLang="zh-CN" sz="4800" dirty="0">
                          <a:latin typeface="Consolas" pitchFamily="49" charset="0"/>
                          <a:cs typeface="Consolas" pitchFamily="49" charset="0"/>
                        </a:rPr>
                        <a:t>o</a:t>
                      </a:r>
                      <a:endParaRPr lang="zh-CN" altLang="en-US" sz="4800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4165280"/>
                  </a:ext>
                </a:extLst>
              </a:tr>
            </a:tbl>
          </a:graphicData>
        </a:graphic>
      </p:graphicFrame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CCA2BB40-C3E7-4443-8211-0D410ED7C6E2}"/>
              </a:ext>
            </a:extLst>
          </p:cNvPr>
          <p:cNvCxnSpPr>
            <a:cxnSpLocks/>
          </p:cNvCxnSpPr>
          <p:nvPr/>
        </p:nvCxnSpPr>
        <p:spPr>
          <a:xfrm flipV="1">
            <a:off x="2423592" y="417018"/>
            <a:ext cx="4320480" cy="4176463"/>
          </a:xfrm>
          <a:prstGeom prst="line">
            <a:avLst/>
          </a:prstGeom>
          <a:ln w="76200">
            <a:solidFill>
              <a:schemeClr val="tx1">
                <a:lumMod val="75000"/>
                <a:lumOff val="25000"/>
                <a:alpha val="50196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C53B128A-6178-4695-B13E-412F0B98E9D7}"/>
              </a:ext>
            </a:extLst>
          </p:cNvPr>
          <p:cNvCxnSpPr>
            <a:cxnSpLocks/>
          </p:cNvCxnSpPr>
          <p:nvPr/>
        </p:nvCxnSpPr>
        <p:spPr>
          <a:xfrm>
            <a:off x="4511824" y="1916832"/>
            <a:ext cx="504056" cy="0"/>
          </a:xfrm>
          <a:prstGeom prst="straightConnector1">
            <a:avLst/>
          </a:prstGeom>
          <a:ln w="57150">
            <a:solidFill>
              <a:schemeClr val="accent6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E5C20091-1A62-4C93-8521-EE67733948B2}"/>
              </a:ext>
            </a:extLst>
          </p:cNvPr>
          <p:cNvCxnSpPr>
            <a:cxnSpLocks/>
          </p:cNvCxnSpPr>
          <p:nvPr/>
        </p:nvCxnSpPr>
        <p:spPr>
          <a:xfrm>
            <a:off x="4079776" y="2204865"/>
            <a:ext cx="0" cy="483119"/>
          </a:xfrm>
          <a:prstGeom prst="straightConnector1">
            <a:avLst/>
          </a:prstGeom>
          <a:ln w="57150">
            <a:solidFill>
              <a:schemeClr val="accent6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6">
            <a:extLst>
              <a:ext uri="{FF2B5EF4-FFF2-40B4-BE49-F238E27FC236}">
                <a16:creationId xmlns:a16="http://schemas.microsoft.com/office/drawing/2014/main" id="{8F233F5F-4C24-4EA2-AC0C-D05F96CE2365}"/>
              </a:ext>
            </a:extLst>
          </p:cNvPr>
          <p:cNvSpPr txBox="1"/>
          <p:nvPr/>
        </p:nvSpPr>
        <p:spPr>
          <a:xfrm>
            <a:off x="1811526" y="5863054"/>
            <a:ext cx="4968552" cy="5847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400"/>
            </a:lvl1pPr>
          </a:lstStyle>
          <a:p>
            <a:r>
              <a:rPr lang="zh-CN" altLang="en-US" sz="3200" dirty="0">
                <a:latin typeface="Consolas" pitchFamily="49" charset="0"/>
                <a:ea typeface="宋体" pitchFamily="2" charset="-122"/>
                <a:cs typeface="Consolas" pitchFamily="49" charset="0"/>
              </a:rPr>
              <a:t>答案字符串 </a:t>
            </a:r>
            <a:r>
              <a:rPr lang="en-US" altLang="zh-CN" sz="3200" dirty="0">
                <a:latin typeface="Consolas" pitchFamily="49" charset="0"/>
                <a:ea typeface="宋体" pitchFamily="2" charset="-122"/>
                <a:cs typeface="Consolas" pitchFamily="49" charset="0"/>
              </a:rPr>
              <a:t>= q???????</a:t>
            </a:r>
            <a:endParaRPr lang="zh-CN" altLang="en-US" sz="3200" dirty="0">
              <a:latin typeface="Consolas" pitchFamily="49" charset="0"/>
              <a:ea typeface="宋体" pitchFamily="2" charset="-122"/>
              <a:cs typeface="Consolas" pitchFamily="49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00D71D6B-3E86-4D12-98DA-8430B7B0FB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25</a:t>
            </a:fld>
            <a:endParaRPr lang="zh-CN" altLang="en-US"/>
          </a:p>
        </p:txBody>
      </p:sp>
      <p:sp>
        <p:nvSpPr>
          <p:cNvPr id="10" name="TextBox 6">
            <a:extLst>
              <a:ext uri="{FF2B5EF4-FFF2-40B4-BE49-F238E27FC236}">
                <a16:creationId xmlns:a16="http://schemas.microsoft.com/office/drawing/2014/main" id="{3FB4930E-8C8B-4283-848B-63108AB6FFC5}"/>
              </a:ext>
            </a:extLst>
          </p:cNvPr>
          <p:cNvSpPr txBox="1"/>
          <p:nvPr/>
        </p:nvSpPr>
        <p:spPr>
          <a:xfrm>
            <a:off x="280241" y="260648"/>
            <a:ext cx="2484276" cy="5232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400"/>
            </a:lvl1pPr>
          </a:lstStyle>
          <a:p>
            <a:r>
              <a:rPr lang="en-US" altLang="zh-CN" sz="2800">
                <a:latin typeface="Consolas" pitchFamily="49" charset="0"/>
                <a:ea typeface="宋体" pitchFamily="2" charset="-122"/>
                <a:cs typeface="Consolas" pitchFamily="49" charset="0"/>
              </a:rPr>
              <a:t>step = 1</a:t>
            </a:r>
            <a:endParaRPr lang="zh-CN" altLang="en-US" sz="2800" dirty="0">
              <a:latin typeface="Consolas" pitchFamily="49" charset="0"/>
              <a:ea typeface="宋体" pitchFamily="2" charset="-122"/>
              <a:cs typeface="Consolas" pitchFamily="49" charset="0"/>
            </a:endParaRPr>
          </a:p>
        </p:txBody>
      </p:sp>
      <p:sp>
        <p:nvSpPr>
          <p:cNvPr id="13" name="TextBox 6">
            <a:extLst>
              <a:ext uri="{FF2B5EF4-FFF2-40B4-BE49-F238E27FC236}">
                <a16:creationId xmlns:a16="http://schemas.microsoft.com/office/drawing/2014/main" id="{3C70C82F-7DFC-4C4D-A996-FC8AD614348C}"/>
              </a:ext>
            </a:extLst>
          </p:cNvPr>
          <p:cNvSpPr txBox="1"/>
          <p:nvPr/>
        </p:nvSpPr>
        <p:spPr>
          <a:xfrm>
            <a:off x="277234" y="762309"/>
            <a:ext cx="1882316" cy="5232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400"/>
            </a:lvl1pPr>
          </a:lstStyle>
          <a:p>
            <a:r>
              <a:rPr lang="en-US" altLang="zh-CN" sz="2800">
                <a:solidFill>
                  <a:srgbClr val="0070C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(</a:t>
            </a:r>
            <a:r>
              <a:rPr lang="en-US" altLang="zh-CN" sz="2800">
                <a:solidFill>
                  <a:srgbClr val="FF000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1,1</a:t>
            </a:r>
            <a:r>
              <a:rPr lang="en-US" altLang="zh-CN" sz="2800">
                <a:solidFill>
                  <a:srgbClr val="0070C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)</a:t>
            </a:r>
            <a:endParaRPr lang="zh-CN" altLang="en-US" sz="2800" dirty="0">
              <a:solidFill>
                <a:srgbClr val="0070C0"/>
              </a:solidFill>
              <a:latin typeface="Consolas" pitchFamily="49" charset="0"/>
              <a:ea typeface="宋体" pitchFamily="2" charset="-122"/>
              <a:cs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99695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3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F93F1856-2264-4978-9A29-A8A2B78E9A3D}"/>
              </a:ext>
            </a:extLst>
          </p:cNvPr>
          <p:cNvGraphicFramePr>
            <a:graphicFrameLocks noGrp="1"/>
          </p:cNvGraphicFramePr>
          <p:nvPr/>
        </p:nvGraphicFramePr>
        <p:xfrm>
          <a:off x="3839595" y="1484784"/>
          <a:ext cx="4488655" cy="345638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977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77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977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977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9773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64096">
                <a:tc>
                  <a:txBody>
                    <a:bodyPr/>
                    <a:lstStyle/>
                    <a:p>
                      <a:pPr marL="0" algn="ctr"/>
                      <a:r>
                        <a:rPr lang="en-US" altLang="zh-CN" sz="4800" dirty="0">
                          <a:latin typeface="Consolas" pitchFamily="49" charset="0"/>
                          <a:cs typeface="Consolas" pitchFamily="49" charset="0"/>
                        </a:rPr>
                        <a:t>q</a:t>
                      </a:r>
                      <a:endParaRPr lang="zh-CN" altLang="en-US" sz="4800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US" altLang="zh-CN" sz="4800" dirty="0">
                          <a:latin typeface="Consolas" pitchFamily="49" charset="0"/>
                          <a:cs typeface="Consolas" pitchFamily="49" charset="0"/>
                        </a:rPr>
                        <a:t>o</a:t>
                      </a:r>
                      <a:endParaRPr lang="zh-CN" altLang="en-US" sz="4800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US" altLang="zh-CN" sz="4800" dirty="0">
                          <a:latin typeface="Consolas" pitchFamily="49" charset="0"/>
                          <a:cs typeface="Consolas" pitchFamily="49" charset="0"/>
                        </a:rPr>
                        <a:t>n</a:t>
                      </a:r>
                      <a:endParaRPr lang="zh-CN" altLang="en-US" sz="4800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US" altLang="zh-CN" sz="4800" dirty="0">
                          <a:latin typeface="Consolas" pitchFamily="49" charset="0"/>
                          <a:cs typeface="Consolas" pitchFamily="49" charset="0"/>
                        </a:rPr>
                        <a:t>o</a:t>
                      </a:r>
                      <a:endParaRPr lang="zh-CN" altLang="en-US" sz="4800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US" altLang="zh-CN" sz="4800" dirty="0">
                          <a:latin typeface="Consolas" pitchFamily="49" charset="0"/>
                          <a:cs typeface="Consolas" pitchFamily="49" charset="0"/>
                        </a:rPr>
                        <a:t>c</a:t>
                      </a:r>
                      <a:endParaRPr lang="zh-CN" altLang="en-US" sz="4800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4096">
                <a:tc>
                  <a:txBody>
                    <a:bodyPr/>
                    <a:lstStyle/>
                    <a:p>
                      <a:pPr marL="0" algn="ctr"/>
                      <a:r>
                        <a:rPr lang="en-US" altLang="zh-CN" sz="4800" dirty="0">
                          <a:latin typeface="Consolas" pitchFamily="49" charset="0"/>
                          <a:cs typeface="Consolas" pitchFamily="49" charset="0"/>
                        </a:rPr>
                        <a:t>o</a:t>
                      </a:r>
                      <a:endParaRPr lang="zh-CN" altLang="en-US" sz="4800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US" altLang="zh-CN" sz="4800" dirty="0">
                          <a:latin typeface="Consolas" pitchFamily="49" charset="0"/>
                          <a:cs typeface="Consolas" pitchFamily="49" charset="0"/>
                        </a:rPr>
                        <a:t>h</a:t>
                      </a:r>
                      <a:endParaRPr lang="zh-CN" altLang="en-US" sz="4800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US" altLang="zh-CN" sz="4800" dirty="0">
                          <a:latin typeface="Consolas" pitchFamily="49" charset="0"/>
                          <a:cs typeface="Consolas" pitchFamily="49" charset="0"/>
                        </a:rPr>
                        <a:t>o</a:t>
                      </a:r>
                      <a:endParaRPr lang="zh-CN" altLang="en-US" sz="4800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US" altLang="zh-CN" sz="4800" dirty="0">
                          <a:latin typeface="Consolas" pitchFamily="49" charset="0"/>
                          <a:cs typeface="Consolas" pitchFamily="49" charset="0"/>
                        </a:rPr>
                        <a:t>h</a:t>
                      </a:r>
                      <a:endParaRPr lang="zh-CN" altLang="en-US" sz="4800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US" altLang="zh-CN" sz="4800" dirty="0">
                          <a:latin typeface="Consolas" pitchFamily="49" charset="0"/>
                          <a:cs typeface="Consolas" pitchFamily="49" charset="0"/>
                        </a:rPr>
                        <a:t>o</a:t>
                      </a:r>
                      <a:endParaRPr lang="zh-CN" altLang="en-US" sz="4800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7408999"/>
                  </a:ext>
                </a:extLst>
              </a:tr>
              <a:tr h="864096">
                <a:tc>
                  <a:txBody>
                    <a:bodyPr/>
                    <a:lstStyle/>
                    <a:p>
                      <a:pPr marL="0" algn="ctr"/>
                      <a:r>
                        <a:rPr lang="en-US" altLang="zh-CN" sz="4800" dirty="0">
                          <a:latin typeface="Consolas" pitchFamily="49" charset="0"/>
                          <a:cs typeface="Consolas" pitchFamily="49" charset="0"/>
                        </a:rPr>
                        <a:t>h</a:t>
                      </a:r>
                      <a:endParaRPr lang="zh-CN" altLang="en-US" sz="4800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US" altLang="zh-CN" sz="4800" dirty="0">
                          <a:latin typeface="Consolas" pitchFamily="49" charset="0"/>
                          <a:cs typeface="Consolas" pitchFamily="49" charset="0"/>
                        </a:rPr>
                        <a:t>z</a:t>
                      </a:r>
                      <a:endParaRPr lang="zh-CN" altLang="en-US" sz="4800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US" altLang="zh-CN" sz="4800" dirty="0">
                          <a:latin typeface="Consolas" pitchFamily="49" charset="0"/>
                          <a:cs typeface="Consolas" pitchFamily="49" charset="0"/>
                        </a:rPr>
                        <a:t>a</a:t>
                      </a:r>
                      <a:endParaRPr lang="zh-CN" altLang="en-US" sz="4800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US" altLang="zh-CN" sz="4800" dirty="0">
                          <a:latin typeface="Consolas" pitchFamily="49" charset="0"/>
                          <a:cs typeface="Consolas" pitchFamily="49" charset="0"/>
                        </a:rPr>
                        <a:t>q</a:t>
                      </a:r>
                      <a:endParaRPr lang="zh-CN" altLang="en-US" sz="4800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US" altLang="zh-CN" sz="4800" dirty="0">
                          <a:latin typeface="Consolas" pitchFamily="49" charset="0"/>
                          <a:cs typeface="Consolas" pitchFamily="49" charset="0"/>
                        </a:rPr>
                        <a:t>o</a:t>
                      </a:r>
                      <a:endParaRPr lang="zh-CN" altLang="en-US" sz="4800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409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4800" dirty="0">
                          <a:latin typeface="Consolas" pitchFamily="49" charset="0"/>
                          <a:cs typeface="Consolas" pitchFamily="49" charset="0"/>
                        </a:rPr>
                        <a:t>p</a:t>
                      </a:r>
                      <a:endParaRPr lang="zh-CN" altLang="en-US" sz="4800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US" altLang="zh-CN" sz="4800" dirty="0" err="1">
                          <a:latin typeface="Consolas" pitchFamily="49" charset="0"/>
                          <a:cs typeface="Consolas" pitchFamily="49" charset="0"/>
                        </a:rPr>
                        <a:t>i</a:t>
                      </a:r>
                      <a:endParaRPr lang="zh-CN" altLang="en-US" sz="4800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US" altLang="zh-CN" sz="4800" dirty="0">
                          <a:latin typeface="Consolas" pitchFamily="49" charset="0"/>
                          <a:cs typeface="Consolas" pitchFamily="49" charset="0"/>
                        </a:rPr>
                        <a:t>r</a:t>
                      </a:r>
                      <a:endParaRPr lang="zh-CN" altLang="en-US" sz="4800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US" altLang="zh-CN" sz="4800" dirty="0">
                          <a:latin typeface="Consolas" pitchFamily="49" charset="0"/>
                          <a:cs typeface="Consolas" pitchFamily="49" charset="0"/>
                        </a:rPr>
                        <a:t>k</a:t>
                      </a:r>
                      <a:endParaRPr lang="zh-CN" altLang="en-US" sz="4800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US" altLang="zh-CN" sz="4800" dirty="0">
                          <a:latin typeface="Consolas" pitchFamily="49" charset="0"/>
                          <a:cs typeface="Consolas" pitchFamily="49" charset="0"/>
                        </a:rPr>
                        <a:t>o</a:t>
                      </a:r>
                      <a:endParaRPr lang="zh-CN" altLang="en-US" sz="4800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4165280"/>
                  </a:ext>
                </a:extLst>
              </a:tr>
            </a:tbl>
          </a:graphicData>
        </a:graphic>
      </p:graphicFrame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CCA2BB40-C3E7-4443-8211-0D410ED7C6E2}"/>
              </a:ext>
            </a:extLst>
          </p:cNvPr>
          <p:cNvCxnSpPr>
            <a:cxnSpLocks/>
          </p:cNvCxnSpPr>
          <p:nvPr/>
        </p:nvCxnSpPr>
        <p:spPr>
          <a:xfrm flipV="1">
            <a:off x="2783632" y="908721"/>
            <a:ext cx="4320480" cy="4176463"/>
          </a:xfrm>
          <a:prstGeom prst="line">
            <a:avLst/>
          </a:prstGeom>
          <a:ln w="76200">
            <a:solidFill>
              <a:schemeClr val="tx1">
                <a:lumMod val="75000"/>
                <a:lumOff val="25000"/>
                <a:alpha val="50196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C53B128A-6178-4695-B13E-412F0B98E9D7}"/>
              </a:ext>
            </a:extLst>
          </p:cNvPr>
          <p:cNvCxnSpPr>
            <a:cxnSpLocks/>
          </p:cNvCxnSpPr>
          <p:nvPr/>
        </p:nvCxnSpPr>
        <p:spPr>
          <a:xfrm>
            <a:off x="4511824" y="2636912"/>
            <a:ext cx="504056" cy="0"/>
          </a:xfrm>
          <a:prstGeom prst="straightConnector1">
            <a:avLst/>
          </a:prstGeom>
          <a:ln w="57150">
            <a:solidFill>
              <a:schemeClr val="accent6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E5C20091-1A62-4C93-8521-EE67733948B2}"/>
              </a:ext>
            </a:extLst>
          </p:cNvPr>
          <p:cNvCxnSpPr>
            <a:cxnSpLocks/>
          </p:cNvCxnSpPr>
          <p:nvPr/>
        </p:nvCxnSpPr>
        <p:spPr>
          <a:xfrm>
            <a:off x="4079776" y="3068961"/>
            <a:ext cx="0" cy="483119"/>
          </a:xfrm>
          <a:prstGeom prst="straightConnector1">
            <a:avLst/>
          </a:prstGeom>
          <a:ln w="57150">
            <a:solidFill>
              <a:schemeClr val="accent6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21198842-8902-480D-96D8-375B34A819C5}"/>
              </a:ext>
            </a:extLst>
          </p:cNvPr>
          <p:cNvCxnSpPr>
            <a:cxnSpLocks/>
          </p:cNvCxnSpPr>
          <p:nvPr/>
        </p:nvCxnSpPr>
        <p:spPr>
          <a:xfrm>
            <a:off x="5375920" y="2060849"/>
            <a:ext cx="0" cy="483119"/>
          </a:xfrm>
          <a:prstGeom prst="straightConnector1">
            <a:avLst/>
          </a:prstGeom>
          <a:ln w="57150">
            <a:solidFill>
              <a:schemeClr val="accent6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6">
            <a:extLst>
              <a:ext uri="{FF2B5EF4-FFF2-40B4-BE49-F238E27FC236}">
                <a16:creationId xmlns:a16="http://schemas.microsoft.com/office/drawing/2014/main" id="{431B25AB-6AAE-46F7-BC43-9389DFBF842C}"/>
              </a:ext>
            </a:extLst>
          </p:cNvPr>
          <p:cNvSpPr txBox="1"/>
          <p:nvPr/>
        </p:nvSpPr>
        <p:spPr>
          <a:xfrm>
            <a:off x="1811526" y="5863054"/>
            <a:ext cx="4968552" cy="5847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400"/>
            </a:lvl1pPr>
          </a:lstStyle>
          <a:p>
            <a:r>
              <a:rPr lang="zh-CN" altLang="en-US" sz="3200" dirty="0">
                <a:latin typeface="Consolas" pitchFamily="49" charset="0"/>
                <a:ea typeface="宋体" pitchFamily="2" charset="-122"/>
                <a:cs typeface="Consolas" pitchFamily="49" charset="0"/>
              </a:rPr>
              <a:t>答案字符串 </a:t>
            </a:r>
            <a:r>
              <a:rPr lang="en-US" altLang="zh-CN" sz="3200" dirty="0">
                <a:latin typeface="Consolas" pitchFamily="49" charset="0"/>
                <a:ea typeface="宋体" pitchFamily="2" charset="-122"/>
                <a:cs typeface="Consolas" pitchFamily="49" charset="0"/>
              </a:rPr>
              <a:t>= </a:t>
            </a:r>
            <a:r>
              <a:rPr lang="en-US" altLang="zh-CN" sz="3200" dirty="0" err="1">
                <a:latin typeface="Consolas" pitchFamily="49" charset="0"/>
                <a:ea typeface="宋体" pitchFamily="2" charset="-122"/>
                <a:cs typeface="Consolas" pitchFamily="49" charset="0"/>
              </a:rPr>
              <a:t>qo</a:t>
            </a:r>
            <a:r>
              <a:rPr lang="en-US" altLang="zh-CN" sz="3200" dirty="0">
                <a:latin typeface="Consolas" pitchFamily="49" charset="0"/>
                <a:ea typeface="宋体" pitchFamily="2" charset="-122"/>
                <a:cs typeface="Consolas" pitchFamily="49" charset="0"/>
              </a:rPr>
              <a:t>??????</a:t>
            </a:r>
            <a:endParaRPr lang="zh-CN" altLang="en-US" sz="3200" dirty="0">
              <a:latin typeface="Consolas" pitchFamily="49" charset="0"/>
              <a:ea typeface="宋体" pitchFamily="2" charset="-122"/>
              <a:cs typeface="Consolas" pitchFamily="49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BC1D7F20-150E-41F5-93C2-97659A1EF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26</a:t>
            </a:fld>
            <a:endParaRPr lang="zh-CN" altLang="en-US"/>
          </a:p>
        </p:txBody>
      </p:sp>
      <p:sp>
        <p:nvSpPr>
          <p:cNvPr id="18" name="TextBox 6">
            <a:extLst>
              <a:ext uri="{FF2B5EF4-FFF2-40B4-BE49-F238E27FC236}">
                <a16:creationId xmlns:a16="http://schemas.microsoft.com/office/drawing/2014/main" id="{01B69616-C7BC-4889-BA66-AA95FE038168}"/>
              </a:ext>
            </a:extLst>
          </p:cNvPr>
          <p:cNvSpPr txBox="1"/>
          <p:nvPr/>
        </p:nvSpPr>
        <p:spPr>
          <a:xfrm>
            <a:off x="280241" y="1295551"/>
            <a:ext cx="2484276" cy="5232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400"/>
            </a:lvl1pPr>
          </a:lstStyle>
          <a:p>
            <a:r>
              <a:rPr lang="en-US" altLang="zh-CN" sz="2800">
                <a:latin typeface="Consolas" pitchFamily="49" charset="0"/>
                <a:ea typeface="宋体" pitchFamily="2" charset="-122"/>
                <a:cs typeface="Consolas" pitchFamily="49" charset="0"/>
              </a:rPr>
              <a:t>step = 2</a:t>
            </a:r>
            <a:endParaRPr lang="zh-CN" altLang="en-US" sz="2800" dirty="0">
              <a:latin typeface="Consolas" pitchFamily="49" charset="0"/>
              <a:ea typeface="宋体" pitchFamily="2" charset="-122"/>
              <a:cs typeface="Consolas" pitchFamily="49" charset="0"/>
            </a:endParaRPr>
          </a:p>
        </p:txBody>
      </p:sp>
      <p:sp>
        <p:nvSpPr>
          <p:cNvPr id="22" name="TextBox 6">
            <a:extLst>
              <a:ext uri="{FF2B5EF4-FFF2-40B4-BE49-F238E27FC236}">
                <a16:creationId xmlns:a16="http://schemas.microsoft.com/office/drawing/2014/main" id="{70B7AC8D-A278-4DD2-9A2A-EBE6D0C4D977}"/>
              </a:ext>
            </a:extLst>
          </p:cNvPr>
          <p:cNvSpPr txBox="1"/>
          <p:nvPr/>
        </p:nvSpPr>
        <p:spPr>
          <a:xfrm>
            <a:off x="280241" y="260648"/>
            <a:ext cx="2484276" cy="5232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400"/>
            </a:lvl1pPr>
          </a:lstStyle>
          <a:p>
            <a:r>
              <a:rPr lang="en-US" altLang="zh-CN" sz="2800">
                <a:latin typeface="Consolas" pitchFamily="49" charset="0"/>
                <a:ea typeface="宋体" pitchFamily="2" charset="-122"/>
                <a:cs typeface="Consolas" pitchFamily="49" charset="0"/>
              </a:rPr>
              <a:t>step = 1</a:t>
            </a:r>
            <a:endParaRPr lang="zh-CN" altLang="en-US" sz="2800" dirty="0">
              <a:latin typeface="Consolas" pitchFamily="49" charset="0"/>
              <a:ea typeface="宋体" pitchFamily="2" charset="-122"/>
              <a:cs typeface="Consolas" pitchFamily="49" charset="0"/>
            </a:endParaRPr>
          </a:p>
        </p:txBody>
      </p:sp>
      <p:sp>
        <p:nvSpPr>
          <p:cNvPr id="26" name="TextBox 6">
            <a:extLst>
              <a:ext uri="{FF2B5EF4-FFF2-40B4-BE49-F238E27FC236}">
                <a16:creationId xmlns:a16="http://schemas.microsoft.com/office/drawing/2014/main" id="{C903AC05-DA4B-4D54-8D05-BDE333DC7065}"/>
              </a:ext>
            </a:extLst>
          </p:cNvPr>
          <p:cNvSpPr txBox="1"/>
          <p:nvPr/>
        </p:nvSpPr>
        <p:spPr>
          <a:xfrm>
            <a:off x="233272" y="1797212"/>
            <a:ext cx="2484276" cy="5232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400"/>
            </a:lvl1pPr>
          </a:lstStyle>
          <a:p>
            <a:r>
              <a:rPr lang="en-US" altLang="zh-CN" sz="2800">
                <a:solidFill>
                  <a:srgbClr val="0070C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(</a:t>
            </a:r>
            <a:r>
              <a:rPr lang="en-US" altLang="zh-CN" sz="2800">
                <a:solidFill>
                  <a:srgbClr val="FF000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1</a:t>
            </a:r>
            <a:r>
              <a:rPr lang="en-US" altLang="zh-CN" sz="2800">
                <a:solidFill>
                  <a:srgbClr val="0070C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,</a:t>
            </a:r>
            <a:r>
              <a:rPr lang="en-US" altLang="zh-CN" sz="2800">
                <a:solidFill>
                  <a:srgbClr val="FF000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2</a:t>
            </a:r>
            <a:r>
              <a:rPr lang="en-US" altLang="zh-CN" sz="2800">
                <a:solidFill>
                  <a:srgbClr val="0070C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) (</a:t>
            </a:r>
            <a:r>
              <a:rPr lang="en-US" altLang="zh-CN" sz="2800">
                <a:solidFill>
                  <a:srgbClr val="FF000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2</a:t>
            </a:r>
            <a:r>
              <a:rPr lang="en-US" altLang="zh-CN" sz="2800">
                <a:solidFill>
                  <a:srgbClr val="0070C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,</a:t>
            </a:r>
            <a:r>
              <a:rPr lang="en-US" altLang="zh-CN" sz="2800">
                <a:solidFill>
                  <a:srgbClr val="FF000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1</a:t>
            </a:r>
            <a:r>
              <a:rPr lang="en-US" altLang="zh-CN" sz="2800">
                <a:solidFill>
                  <a:srgbClr val="0070C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)</a:t>
            </a:r>
            <a:endParaRPr lang="zh-CN" altLang="en-US" sz="2800" dirty="0">
              <a:solidFill>
                <a:srgbClr val="0070C0"/>
              </a:solidFill>
              <a:latin typeface="Consolas" pitchFamily="49" charset="0"/>
              <a:ea typeface="宋体" pitchFamily="2" charset="-122"/>
              <a:cs typeface="Consolas" pitchFamily="49" charset="0"/>
            </a:endParaRPr>
          </a:p>
        </p:txBody>
      </p:sp>
      <p:sp>
        <p:nvSpPr>
          <p:cNvPr id="27" name="TextBox 6">
            <a:extLst>
              <a:ext uri="{FF2B5EF4-FFF2-40B4-BE49-F238E27FC236}">
                <a16:creationId xmlns:a16="http://schemas.microsoft.com/office/drawing/2014/main" id="{A457A96D-2265-436A-B098-FF330273FDA1}"/>
              </a:ext>
            </a:extLst>
          </p:cNvPr>
          <p:cNvSpPr txBox="1"/>
          <p:nvPr/>
        </p:nvSpPr>
        <p:spPr>
          <a:xfrm>
            <a:off x="277234" y="762309"/>
            <a:ext cx="1882316" cy="5232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400"/>
            </a:lvl1pPr>
          </a:lstStyle>
          <a:p>
            <a:r>
              <a:rPr lang="en-US" altLang="zh-CN" sz="2800">
                <a:solidFill>
                  <a:srgbClr val="0070C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(</a:t>
            </a:r>
            <a:r>
              <a:rPr lang="en-US" altLang="zh-CN" sz="2800">
                <a:solidFill>
                  <a:srgbClr val="FF000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1,1</a:t>
            </a:r>
            <a:r>
              <a:rPr lang="en-US" altLang="zh-CN" sz="2800">
                <a:solidFill>
                  <a:srgbClr val="0070C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)</a:t>
            </a:r>
            <a:endParaRPr lang="zh-CN" altLang="en-US" sz="2800" dirty="0">
              <a:solidFill>
                <a:srgbClr val="0070C0"/>
              </a:solidFill>
              <a:latin typeface="Consolas" pitchFamily="49" charset="0"/>
              <a:ea typeface="宋体" pitchFamily="2" charset="-122"/>
              <a:cs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8953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26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F93F1856-2264-4978-9A29-A8A2B78E9A3D}"/>
              </a:ext>
            </a:extLst>
          </p:cNvPr>
          <p:cNvGraphicFramePr>
            <a:graphicFrameLocks noGrp="1"/>
          </p:cNvGraphicFramePr>
          <p:nvPr/>
        </p:nvGraphicFramePr>
        <p:xfrm>
          <a:off x="3839595" y="1484784"/>
          <a:ext cx="4488655" cy="345638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977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77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977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977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9773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64096">
                <a:tc>
                  <a:txBody>
                    <a:bodyPr/>
                    <a:lstStyle/>
                    <a:p>
                      <a:pPr marL="0" algn="ctr"/>
                      <a:r>
                        <a:rPr lang="en-US" altLang="zh-CN" sz="4800" dirty="0">
                          <a:latin typeface="Consolas" pitchFamily="49" charset="0"/>
                          <a:cs typeface="Consolas" pitchFamily="49" charset="0"/>
                        </a:rPr>
                        <a:t>q</a:t>
                      </a:r>
                      <a:endParaRPr lang="zh-CN" altLang="en-US" sz="4800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US" altLang="zh-CN" sz="4800" dirty="0">
                          <a:latin typeface="Consolas" pitchFamily="49" charset="0"/>
                          <a:cs typeface="Consolas" pitchFamily="49" charset="0"/>
                        </a:rPr>
                        <a:t>o</a:t>
                      </a:r>
                      <a:endParaRPr lang="zh-CN" altLang="en-US" sz="4800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US" altLang="zh-CN" sz="4800" dirty="0">
                          <a:latin typeface="Consolas" pitchFamily="49" charset="0"/>
                          <a:cs typeface="Consolas" pitchFamily="49" charset="0"/>
                        </a:rPr>
                        <a:t>n</a:t>
                      </a:r>
                      <a:endParaRPr lang="zh-CN" altLang="en-US" sz="4800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US" altLang="zh-CN" sz="4800" dirty="0">
                          <a:latin typeface="Consolas" pitchFamily="49" charset="0"/>
                          <a:cs typeface="Consolas" pitchFamily="49" charset="0"/>
                        </a:rPr>
                        <a:t>o</a:t>
                      </a:r>
                      <a:endParaRPr lang="zh-CN" altLang="en-US" sz="4800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US" altLang="zh-CN" sz="4800" dirty="0">
                          <a:latin typeface="Consolas" pitchFamily="49" charset="0"/>
                          <a:cs typeface="Consolas" pitchFamily="49" charset="0"/>
                        </a:rPr>
                        <a:t>c</a:t>
                      </a:r>
                      <a:endParaRPr lang="zh-CN" altLang="en-US" sz="4800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4096">
                <a:tc>
                  <a:txBody>
                    <a:bodyPr/>
                    <a:lstStyle/>
                    <a:p>
                      <a:pPr marL="0" algn="ctr"/>
                      <a:r>
                        <a:rPr lang="en-US" altLang="zh-CN" sz="4800" dirty="0">
                          <a:latin typeface="Consolas" pitchFamily="49" charset="0"/>
                          <a:cs typeface="Consolas" pitchFamily="49" charset="0"/>
                        </a:rPr>
                        <a:t>o</a:t>
                      </a:r>
                      <a:endParaRPr lang="zh-CN" altLang="en-US" sz="4800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US" altLang="zh-CN" sz="4800" dirty="0">
                          <a:latin typeface="Consolas" pitchFamily="49" charset="0"/>
                          <a:cs typeface="Consolas" pitchFamily="49" charset="0"/>
                        </a:rPr>
                        <a:t>h</a:t>
                      </a:r>
                      <a:endParaRPr lang="zh-CN" altLang="en-US" sz="4800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US" altLang="zh-CN" sz="4800" dirty="0">
                          <a:latin typeface="Consolas" pitchFamily="49" charset="0"/>
                          <a:cs typeface="Consolas" pitchFamily="49" charset="0"/>
                        </a:rPr>
                        <a:t>o</a:t>
                      </a:r>
                      <a:endParaRPr lang="zh-CN" altLang="en-US" sz="4800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US" altLang="zh-CN" sz="4800" dirty="0">
                          <a:latin typeface="Consolas" pitchFamily="49" charset="0"/>
                          <a:cs typeface="Consolas" pitchFamily="49" charset="0"/>
                        </a:rPr>
                        <a:t>h</a:t>
                      </a:r>
                      <a:endParaRPr lang="zh-CN" altLang="en-US" sz="4800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US" altLang="zh-CN" sz="4800" dirty="0">
                          <a:latin typeface="Consolas" pitchFamily="49" charset="0"/>
                          <a:cs typeface="Consolas" pitchFamily="49" charset="0"/>
                        </a:rPr>
                        <a:t>o</a:t>
                      </a:r>
                      <a:endParaRPr lang="zh-CN" altLang="en-US" sz="4800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7408999"/>
                  </a:ext>
                </a:extLst>
              </a:tr>
              <a:tr h="864096">
                <a:tc>
                  <a:txBody>
                    <a:bodyPr/>
                    <a:lstStyle/>
                    <a:p>
                      <a:pPr marL="0" algn="ctr"/>
                      <a:r>
                        <a:rPr lang="en-US" altLang="zh-CN" sz="4800" dirty="0">
                          <a:latin typeface="Consolas" pitchFamily="49" charset="0"/>
                          <a:cs typeface="Consolas" pitchFamily="49" charset="0"/>
                        </a:rPr>
                        <a:t>h</a:t>
                      </a:r>
                      <a:endParaRPr lang="zh-CN" altLang="en-US" sz="4800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US" altLang="zh-CN" sz="4800" dirty="0">
                          <a:latin typeface="Consolas" pitchFamily="49" charset="0"/>
                          <a:cs typeface="Consolas" pitchFamily="49" charset="0"/>
                        </a:rPr>
                        <a:t>z</a:t>
                      </a:r>
                      <a:endParaRPr lang="zh-CN" altLang="en-US" sz="4800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US" altLang="zh-CN" sz="4800" dirty="0">
                          <a:latin typeface="Consolas" pitchFamily="49" charset="0"/>
                          <a:cs typeface="Consolas" pitchFamily="49" charset="0"/>
                        </a:rPr>
                        <a:t>a</a:t>
                      </a:r>
                      <a:endParaRPr lang="zh-CN" altLang="en-US" sz="4800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US" altLang="zh-CN" sz="4800" dirty="0">
                          <a:latin typeface="Consolas" pitchFamily="49" charset="0"/>
                          <a:cs typeface="Consolas" pitchFamily="49" charset="0"/>
                        </a:rPr>
                        <a:t>q</a:t>
                      </a:r>
                      <a:endParaRPr lang="zh-CN" altLang="en-US" sz="4800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US" altLang="zh-CN" sz="4800" dirty="0">
                          <a:latin typeface="Consolas" pitchFamily="49" charset="0"/>
                          <a:cs typeface="Consolas" pitchFamily="49" charset="0"/>
                        </a:rPr>
                        <a:t>o</a:t>
                      </a:r>
                      <a:endParaRPr lang="zh-CN" altLang="en-US" sz="4800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4096">
                <a:tc>
                  <a:txBody>
                    <a:bodyPr/>
                    <a:lstStyle/>
                    <a:p>
                      <a:pPr marL="0" algn="ctr"/>
                      <a:r>
                        <a:rPr lang="en-US" altLang="zh-CN" sz="4800" dirty="0">
                          <a:latin typeface="Consolas" pitchFamily="49" charset="0"/>
                          <a:cs typeface="Consolas" pitchFamily="49" charset="0"/>
                        </a:rPr>
                        <a:t>p</a:t>
                      </a:r>
                      <a:endParaRPr lang="zh-CN" altLang="en-US" sz="4800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US" altLang="zh-CN" sz="4800" dirty="0" err="1">
                          <a:latin typeface="Consolas" pitchFamily="49" charset="0"/>
                          <a:cs typeface="Consolas" pitchFamily="49" charset="0"/>
                        </a:rPr>
                        <a:t>i</a:t>
                      </a:r>
                      <a:endParaRPr lang="zh-CN" altLang="en-US" sz="4800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US" altLang="zh-CN" sz="4800" dirty="0">
                          <a:latin typeface="Consolas" pitchFamily="49" charset="0"/>
                          <a:cs typeface="Consolas" pitchFamily="49" charset="0"/>
                        </a:rPr>
                        <a:t>r</a:t>
                      </a:r>
                      <a:endParaRPr lang="zh-CN" altLang="en-US" sz="4800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US" altLang="zh-CN" sz="4800" dirty="0">
                          <a:latin typeface="Consolas" pitchFamily="49" charset="0"/>
                          <a:cs typeface="Consolas" pitchFamily="49" charset="0"/>
                        </a:rPr>
                        <a:t>k</a:t>
                      </a:r>
                      <a:endParaRPr lang="zh-CN" altLang="en-US" sz="4800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US" altLang="zh-CN" sz="4800" dirty="0">
                          <a:latin typeface="Consolas" pitchFamily="49" charset="0"/>
                          <a:cs typeface="Consolas" pitchFamily="49" charset="0"/>
                        </a:rPr>
                        <a:t>o</a:t>
                      </a:r>
                      <a:endParaRPr lang="zh-CN" altLang="en-US" sz="4800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4165280"/>
                  </a:ext>
                </a:extLst>
              </a:tr>
            </a:tbl>
          </a:graphicData>
        </a:graphic>
      </p:graphicFrame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CCA2BB40-C3E7-4443-8211-0D410ED7C6E2}"/>
              </a:ext>
            </a:extLst>
          </p:cNvPr>
          <p:cNvCxnSpPr>
            <a:cxnSpLocks/>
          </p:cNvCxnSpPr>
          <p:nvPr/>
        </p:nvCxnSpPr>
        <p:spPr>
          <a:xfrm flipV="1">
            <a:off x="3431704" y="1181350"/>
            <a:ext cx="4320480" cy="4176463"/>
          </a:xfrm>
          <a:prstGeom prst="line">
            <a:avLst/>
          </a:prstGeom>
          <a:ln w="76200">
            <a:solidFill>
              <a:schemeClr val="tx1">
                <a:lumMod val="75000"/>
                <a:lumOff val="25000"/>
                <a:alpha val="50196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C53B128A-6178-4695-B13E-412F0B98E9D7}"/>
              </a:ext>
            </a:extLst>
          </p:cNvPr>
          <p:cNvCxnSpPr>
            <a:cxnSpLocks/>
          </p:cNvCxnSpPr>
          <p:nvPr/>
        </p:nvCxnSpPr>
        <p:spPr>
          <a:xfrm>
            <a:off x="5447928" y="2636912"/>
            <a:ext cx="504056" cy="0"/>
          </a:xfrm>
          <a:prstGeom prst="straightConnector1">
            <a:avLst/>
          </a:prstGeom>
          <a:ln w="57150">
            <a:solidFill>
              <a:schemeClr val="accent6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6">
            <a:extLst>
              <a:ext uri="{FF2B5EF4-FFF2-40B4-BE49-F238E27FC236}">
                <a16:creationId xmlns:a16="http://schemas.microsoft.com/office/drawing/2014/main" id="{43215866-A34C-4BC1-B776-92DBD9C0FF92}"/>
              </a:ext>
            </a:extLst>
          </p:cNvPr>
          <p:cNvSpPr txBox="1"/>
          <p:nvPr/>
        </p:nvSpPr>
        <p:spPr>
          <a:xfrm>
            <a:off x="1811526" y="5863054"/>
            <a:ext cx="4968552" cy="5847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400"/>
            </a:lvl1pPr>
          </a:lstStyle>
          <a:p>
            <a:r>
              <a:rPr lang="zh-CN" altLang="en-US" sz="3200" dirty="0">
                <a:latin typeface="Consolas" pitchFamily="49" charset="0"/>
                <a:ea typeface="宋体" pitchFamily="2" charset="-122"/>
                <a:cs typeface="Consolas" pitchFamily="49" charset="0"/>
              </a:rPr>
              <a:t>答案字符串 </a:t>
            </a:r>
            <a:r>
              <a:rPr lang="en-US" altLang="zh-CN" sz="3200" dirty="0">
                <a:latin typeface="Consolas" pitchFamily="49" charset="0"/>
                <a:ea typeface="宋体" pitchFamily="2" charset="-122"/>
                <a:cs typeface="Consolas" pitchFamily="49" charset="0"/>
              </a:rPr>
              <a:t>= </a:t>
            </a:r>
            <a:r>
              <a:rPr lang="en-US" altLang="zh-CN" sz="3200" dirty="0" err="1">
                <a:latin typeface="Consolas" pitchFamily="49" charset="0"/>
                <a:ea typeface="宋体" pitchFamily="2" charset="-122"/>
                <a:cs typeface="Consolas" pitchFamily="49" charset="0"/>
              </a:rPr>
              <a:t>qoh</a:t>
            </a:r>
            <a:r>
              <a:rPr lang="en-US" altLang="zh-CN" sz="3200" dirty="0">
                <a:latin typeface="Consolas" pitchFamily="49" charset="0"/>
                <a:ea typeface="宋体" pitchFamily="2" charset="-122"/>
                <a:cs typeface="Consolas" pitchFamily="49" charset="0"/>
              </a:rPr>
              <a:t>?????</a:t>
            </a:r>
            <a:endParaRPr lang="zh-CN" altLang="en-US" sz="3200" dirty="0">
              <a:latin typeface="Consolas" pitchFamily="49" charset="0"/>
              <a:ea typeface="宋体" pitchFamily="2" charset="-122"/>
              <a:cs typeface="Consolas" pitchFamily="49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1CAF0301-B11D-4D68-AC75-3F1FF452F2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27</a:t>
            </a:fld>
            <a:endParaRPr lang="zh-CN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69B7FAE-8AF8-4633-A399-4DB9756272CA}"/>
              </a:ext>
            </a:extLst>
          </p:cNvPr>
          <p:cNvSpPr txBox="1"/>
          <p:nvPr/>
        </p:nvSpPr>
        <p:spPr>
          <a:xfrm>
            <a:off x="280241" y="1295551"/>
            <a:ext cx="2484276" cy="5232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400"/>
            </a:lvl1pPr>
          </a:lstStyle>
          <a:p>
            <a:r>
              <a:rPr lang="en-US" altLang="zh-CN" sz="2800">
                <a:latin typeface="Consolas" pitchFamily="49" charset="0"/>
                <a:ea typeface="宋体" pitchFamily="2" charset="-122"/>
                <a:cs typeface="Consolas" pitchFamily="49" charset="0"/>
              </a:rPr>
              <a:t>step = 2</a:t>
            </a:r>
            <a:endParaRPr lang="zh-CN" altLang="en-US" sz="2800" dirty="0">
              <a:latin typeface="Consolas" pitchFamily="49" charset="0"/>
              <a:ea typeface="宋体" pitchFamily="2" charset="-122"/>
              <a:cs typeface="Consolas" pitchFamily="49" charset="0"/>
            </a:endParaRPr>
          </a:p>
        </p:txBody>
      </p:sp>
      <p:sp>
        <p:nvSpPr>
          <p:cNvPr id="10" name="TextBox 6">
            <a:extLst>
              <a:ext uri="{FF2B5EF4-FFF2-40B4-BE49-F238E27FC236}">
                <a16:creationId xmlns:a16="http://schemas.microsoft.com/office/drawing/2014/main" id="{B6391A1D-097B-4091-AF5D-8F140C8D9874}"/>
              </a:ext>
            </a:extLst>
          </p:cNvPr>
          <p:cNvSpPr txBox="1"/>
          <p:nvPr/>
        </p:nvSpPr>
        <p:spPr>
          <a:xfrm>
            <a:off x="280241" y="260648"/>
            <a:ext cx="2484276" cy="5232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400"/>
            </a:lvl1pPr>
          </a:lstStyle>
          <a:p>
            <a:r>
              <a:rPr lang="en-US" altLang="zh-CN" sz="2800">
                <a:latin typeface="Consolas" pitchFamily="49" charset="0"/>
                <a:ea typeface="宋体" pitchFamily="2" charset="-122"/>
                <a:cs typeface="Consolas" pitchFamily="49" charset="0"/>
              </a:rPr>
              <a:t>step = 1</a:t>
            </a:r>
            <a:endParaRPr lang="zh-CN" altLang="en-US" sz="2800" dirty="0">
              <a:latin typeface="Consolas" pitchFamily="49" charset="0"/>
              <a:ea typeface="宋体" pitchFamily="2" charset="-122"/>
              <a:cs typeface="Consolas" pitchFamily="49" charset="0"/>
            </a:endParaRPr>
          </a:p>
        </p:txBody>
      </p:sp>
      <p:sp>
        <p:nvSpPr>
          <p:cNvPr id="14" name="TextBox 6">
            <a:extLst>
              <a:ext uri="{FF2B5EF4-FFF2-40B4-BE49-F238E27FC236}">
                <a16:creationId xmlns:a16="http://schemas.microsoft.com/office/drawing/2014/main" id="{6D6CC75E-0AFF-4DC4-A1BF-DB3AD036BE44}"/>
              </a:ext>
            </a:extLst>
          </p:cNvPr>
          <p:cNvSpPr txBox="1"/>
          <p:nvPr/>
        </p:nvSpPr>
        <p:spPr>
          <a:xfrm>
            <a:off x="309478" y="2320432"/>
            <a:ext cx="2484276" cy="5232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400"/>
            </a:lvl1pPr>
          </a:lstStyle>
          <a:p>
            <a:r>
              <a:rPr lang="en-US" altLang="zh-CN" sz="2800">
                <a:latin typeface="Consolas" pitchFamily="49" charset="0"/>
                <a:ea typeface="宋体" pitchFamily="2" charset="-122"/>
                <a:cs typeface="Consolas" pitchFamily="49" charset="0"/>
              </a:rPr>
              <a:t>step = 3</a:t>
            </a:r>
            <a:endParaRPr lang="zh-CN" altLang="en-US" sz="2800" dirty="0">
              <a:latin typeface="Consolas" pitchFamily="49" charset="0"/>
              <a:ea typeface="宋体" pitchFamily="2" charset="-122"/>
              <a:cs typeface="Consolas" pitchFamily="49" charset="0"/>
            </a:endParaRPr>
          </a:p>
        </p:txBody>
      </p:sp>
      <p:sp>
        <p:nvSpPr>
          <p:cNvPr id="18" name="TextBox 6">
            <a:extLst>
              <a:ext uri="{FF2B5EF4-FFF2-40B4-BE49-F238E27FC236}">
                <a16:creationId xmlns:a16="http://schemas.microsoft.com/office/drawing/2014/main" id="{F7B605B2-75CF-4D59-93A7-9DB7837B38D0}"/>
              </a:ext>
            </a:extLst>
          </p:cNvPr>
          <p:cNvSpPr txBox="1"/>
          <p:nvPr/>
        </p:nvSpPr>
        <p:spPr>
          <a:xfrm>
            <a:off x="262508" y="2822093"/>
            <a:ext cx="3385220" cy="5232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400"/>
            </a:lvl1pPr>
          </a:lstStyle>
          <a:p>
            <a:r>
              <a:rPr lang="en-US" altLang="zh-CN" sz="2800">
                <a:solidFill>
                  <a:srgbClr val="0070C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(1,3) (</a:t>
            </a:r>
            <a:r>
              <a:rPr lang="en-US" altLang="zh-CN" sz="2800">
                <a:solidFill>
                  <a:srgbClr val="FF000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2</a:t>
            </a:r>
            <a:r>
              <a:rPr lang="en-US" altLang="zh-CN" sz="2800">
                <a:solidFill>
                  <a:srgbClr val="0070C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,</a:t>
            </a:r>
            <a:r>
              <a:rPr lang="en-US" altLang="zh-CN" sz="2800">
                <a:solidFill>
                  <a:srgbClr val="FF000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2</a:t>
            </a:r>
            <a:r>
              <a:rPr lang="en-US" altLang="zh-CN" sz="2800">
                <a:solidFill>
                  <a:srgbClr val="0070C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) (</a:t>
            </a:r>
            <a:r>
              <a:rPr lang="en-US" altLang="zh-CN" sz="2800">
                <a:solidFill>
                  <a:srgbClr val="FF000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3</a:t>
            </a:r>
            <a:r>
              <a:rPr lang="en-US" altLang="zh-CN" sz="2800">
                <a:solidFill>
                  <a:srgbClr val="0070C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,</a:t>
            </a:r>
            <a:r>
              <a:rPr lang="en-US" altLang="zh-CN" sz="2800">
                <a:solidFill>
                  <a:srgbClr val="FF000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1</a:t>
            </a:r>
            <a:r>
              <a:rPr lang="en-US" altLang="zh-CN" sz="2800">
                <a:solidFill>
                  <a:srgbClr val="0070C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)</a:t>
            </a:r>
            <a:endParaRPr lang="zh-CN" altLang="en-US" sz="2800" dirty="0">
              <a:solidFill>
                <a:srgbClr val="0070C0"/>
              </a:solidFill>
              <a:latin typeface="Consolas" pitchFamily="49" charset="0"/>
              <a:ea typeface="宋体" pitchFamily="2" charset="-122"/>
              <a:cs typeface="Consolas" pitchFamily="49" charset="0"/>
            </a:endParaRPr>
          </a:p>
        </p:txBody>
      </p:sp>
      <p:sp>
        <p:nvSpPr>
          <p:cNvPr id="19" name="TextBox 6">
            <a:extLst>
              <a:ext uri="{FF2B5EF4-FFF2-40B4-BE49-F238E27FC236}">
                <a16:creationId xmlns:a16="http://schemas.microsoft.com/office/drawing/2014/main" id="{82F54EC1-FC20-48BD-B381-8FCDDCB3A601}"/>
              </a:ext>
            </a:extLst>
          </p:cNvPr>
          <p:cNvSpPr txBox="1"/>
          <p:nvPr/>
        </p:nvSpPr>
        <p:spPr>
          <a:xfrm>
            <a:off x="233272" y="1797212"/>
            <a:ext cx="2484276" cy="5232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400"/>
            </a:lvl1pPr>
          </a:lstStyle>
          <a:p>
            <a:r>
              <a:rPr lang="en-US" altLang="zh-CN" sz="2800">
                <a:solidFill>
                  <a:srgbClr val="0070C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(</a:t>
            </a:r>
            <a:r>
              <a:rPr lang="en-US" altLang="zh-CN" sz="2800">
                <a:solidFill>
                  <a:srgbClr val="FF000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1</a:t>
            </a:r>
            <a:r>
              <a:rPr lang="en-US" altLang="zh-CN" sz="2800">
                <a:solidFill>
                  <a:srgbClr val="0070C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,</a:t>
            </a:r>
            <a:r>
              <a:rPr lang="en-US" altLang="zh-CN" sz="2800">
                <a:solidFill>
                  <a:srgbClr val="FF000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2</a:t>
            </a:r>
            <a:r>
              <a:rPr lang="en-US" altLang="zh-CN" sz="2800">
                <a:solidFill>
                  <a:srgbClr val="0070C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) (</a:t>
            </a:r>
            <a:r>
              <a:rPr lang="en-US" altLang="zh-CN" sz="2800">
                <a:solidFill>
                  <a:srgbClr val="FF000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2</a:t>
            </a:r>
            <a:r>
              <a:rPr lang="en-US" altLang="zh-CN" sz="2800">
                <a:solidFill>
                  <a:srgbClr val="0070C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,</a:t>
            </a:r>
            <a:r>
              <a:rPr lang="en-US" altLang="zh-CN" sz="2800">
                <a:solidFill>
                  <a:srgbClr val="FF000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1</a:t>
            </a:r>
            <a:r>
              <a:rPr lang="en-US" altLang="zh-CN" sz="2800">
                <a:solidFill>
                  <a:srgbClr val="0070C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)</a:t>
            </a:r>
            <a:endParaRPr lang="zh-CN" altLang="en-US" sz="2800" dirty="0">
              <a:solidFill>
                <a:srgbClr val="0070C0"/>
              </a:solidFill>
              <a:latin typeface="Consolas" pitchFamily="49" charset="0"/>
              <a:ea typeface="宋体" pitchFamily="2" charset="-122"/>
              <a:cs typeface="Consolas" pitchFamily="49" charset="0"/>
            </a:endParaRPr>
          </a:p>
        </p:txBody>
      </p:sp>
      <p:sp>
        <p:nvSpPr>
          <p:cNvPr id="21" name="TextBox 6">
            <a:extLst>
              <a:ext uri="{FF2B5EF4-FFF2-40B4-BE49-F238E27FC236}">
                <a16:creationId xmlns:a16="http://schemas.microsoft.com/office/drawing/2014/main" id="{43C15170-0DC1-41A8-A4F6-2719944B85A7}"/>
              </a:ext>
            </a:extLst>
          </p:cNvPr>
          <p:cNvSpPr txBox="1"/>
          <p:nvPr/>
        </p:nvSpPr>
        <p:spPr>
          <a:xfrm>
            <a:off x="277234" y="762309"/>
            <a:ext cx="1882316" cy="5232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400"/>
            </a:lvl1pPr>
          </a:lstStyle>
          <a:p>
            <a:r>
              <a:rPr lang="en-US" altLang="zh-CN" sz="2800">
                <a:solidFill>
                  <a:srgbClr val="0070C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(</a:t>
            </a:r>
            <a:r>
              <a:rPr lang="en-US" altLang="zh-CN" sz="2800">
                <a:solidFill>
                  <a:srgbClr val="FF000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1,1</a:t>
            </a:r>
            <a:r>
              <a:rPr lang="en-US" altLang="zh-CN" sz="2800">
                <a:solidFill>
                  <a:srgbClr val="0070C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)</a:t>
            </a:r>
            <a:endParaRPr lang="zh-CN" altLang="en-US" sz="2800" dirty="0">
              <a:solidFill>
                <a:srgbClr val="0070C0"/>
              </a:solidFill>
              <a:latin typeface="Consolas" pitchFamily="49" charset="0"/>
              <a:ea typeface="宋体" pitchFamily="2" charset="-122"/>
              <a:cs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65005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8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F93F1856-2264-4978-9A29-A8A2B78E9A3D}"/>
              </a:ext>
            </a:extLst>
          </p:cNvPr>
          <p:cNvGraphicFramePr>
            <a:graphicFrameLocks noGrp="1"/>
          </p:cNvGraphicFramePr>
          <p:nvPr/>
        </p:nvGraphicFramePr>
        <p:xfrm>
          <a:off x="3839595" y="1484784"/>
          <a:ext cx="4488655" cy="345638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977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77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977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977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9773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64096">
                <a:tc>
                  <a:txBody>
                    <a:bodyPr/>
                    <a:lstStyle/>
                    <a:p>
                      <a:pPr marL="0" algn="ctr"/>
                      <a:r>
                        <a:rPr lang="en-US" altLang="zh-CN" sz="4800" dirty="0">
                          <a:latin typeface="Consolas" pitchFamily="49" charset="0"/>
                          <a:cs typeface="Consolas" pitchFamily="49" charset="0"/>
                        </a:rPr>
                        <a:t>q</a:t>
                      </a:r>
                      <a:endParaRPr lang="zh-CN" altLang="en-US" sz="4800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US" altLang="zh-CN" sz="4800" dirty="0">
                          <a:latin typeface="Consolas" pitchFamily="49" charset="0"/>
                          <a:cs typeface="Consolas" pitchFamily="49" charset="0"/>
                        </a:rPr>
                        <a:t>o</a:t>
                      </a:r>
                      <a:endParaRPr lang="zh-CN" altLang="en-US" sz="4800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US" altLang="zh-CN" sz="4800" dirty="0">
                          <a:latin typeface="Consolas" pitchFamily="49" charset="0"/>
                          <a:cs typeface="Consolas" pitchFamily="49" charset="0"/>
                        </a:rPr>
                        <a:t>n</a:t>
                      </a:r>
                      <a:endParaRPr lang="zh-CN" altLang="en-US" sz="4800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US" altLang="zh-CN" sz="4800" dirty="0">
                          <a:latin typeface="Consolas" pitchFamily="49" charset="0"/>
                          <a:cs typeface="Consolas" pitchFamily="49" charset="0"/>
                        </a:rPr>
                        <a:t>o</a:t>
                      </a:r>
                      <a:endParaRPr lang="zh-CN" altLang="en-US" sz="4800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US" altLang="zh-CN" sz="4800" dirty="0">
                          <a:latin typeface="Consolas" pitchFamily="49" charset="0"/>
                          <a:cs typeface="Consolas" pitchFamily="49" charset="0"/>
                        </a:rPr>
                        <a:t>c</a:t>
                      </a:r>
                      <a:endParaRPr lang="zh-CN" altLang="en-US" sz="4800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4096">
                <a:tc>
                  <a:txBody>
                    <a:bodyPr/>
                    <a:lstStyle/>
                    <a:p>
                      <a:pPr marL="0" algn="ctr"/>
                      <a:r>
                        <a:rPr lang="en-US" altLang="zh-CN" sz="4800" dirty="0">
                          <a:latin typeface="Consolas" pitchFamily="49" charset="0"/>
                          <a:cs typeface="Consolas" pitchFamily="49" charset="0"/>
                        </a:rPr>
                        <a:t>o</a:t>
                      </a:r>
                      <a:endParaRPr lang="zh-CN" altLang="en-US" sz="4800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US" altLang="zh-CN" sz="4800" dirty="0">
                          <a:latin typeface="Consolas" pitchFamily="49" charset="0"/>
                          <a:cs typeface="Consolas" pitchFamily="49" charset="0"/>
                        </a:rPr>
                        <a:t>h</a:t>
                      </a:r>
                      <a:endParaRPr lang="zh-CN" altLang="en-US" sz="4800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US" altLang="zh-CN" sz="4800" dirty="0">
                          <a:latin typeface="Consolas" pitchFamily="49" charset="0"/>
                          <a:cs typeface="Consolas" pitchFamily="49" charset="0"/>
                        </a:rPr>
                        <a:t>o</a:t>
                      </a:r>
                      <a:endParaRPr lang="zh-CN" altLang="en-US" sz="4800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US" altLang="zh-CN" sz="4800" dirty="0">
                          <a:latin typeface="Consolas" pitchFamily="49" charset="0"/>
                          <a:cs typeface="Consolas" pitchFamily="49" charset="0"/>
                        </a:rPr>
                        <a:t>h</a:t>
                      </a:r>
                      <a:endParaRPr lang="zh-CN" altLang="en-US" sz="4800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US" altLang="zh-CN" sz="4800" dirty="0">
                          <a:latin typeface="Consolas" pitchFamily="49" charset="0"/>
                          <a:cs typeface="Consolas" pitchFamily="49" charset="0"/>
                        </a:rPr>
                        <a:t>o</a:t>
                      </a:r>
                      <a:endParaRPr lang="zh-CN" altLang="en-US" sz="4800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7408999"/>
                  </a:ext>
                </a:extLst>
              </a:tr>
              <a:tr h="864096">
                <a:tc>
                  <a:txBody>
                    <a:bodyPr/>
                    <a:lstStyle/>
                    <a:p>
                      <a:pPr marL="0" algn="ctr"/>
                      <a:r>
                        <a:rPr lang="en-US" altLang="zh-CN" sz="4800" dirty="0">
                          <a:latin typeface="Consolas" pitchFamily="49" charset="0"/>
                          <a:cs typeface="Consolas" pitchFamily="49" charset="0"/>
                        </a:rPr>
                        <a:t>h</a:t>
                      </a:r>
                      <a:endParaRPr lang="zh-CN" altLang="en-US" sz="4800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US" altLang="zh-CN" sz="4800" dirty="0">
                          <a:latin typeface="Consolas" pitchFamily="49" charset="0"/>
                          <a:cs typeface="Consolas" pitchFamily="49" charset="0"/>
                        </a:rPr>
                        <a:t>z</a:t>
                      </a:r>
                      <a:endParaRPr lang="zh-CN" altLang="en-US" sz="4800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US" altLang="zh-CN" sz="4800" dirty="0">
                          <a:latin typeface="Consolas" pitchFamily="49" charset="0"/>
                          <a:cs typeface="Consolas" pitchFamily="49" charset="0"/>
                        </a:rPr>
                        <a:t>a</a:t>
                      </a:r>
                      <a:endParaRPr lang="zh-CN" altLang="en-US" sz="4800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US" altLang="zh-CN" sz="4800" dirty="0">
                          <a:latin typeface="Consolas" pitchFamily="49" charset="0"/>
                          <a:cs typeface="Consolas" pitchFamily="49" charset="0"/>
                        </a:rPr>
                        <a:t>q</a:t>
                      </a:r>
                      <a:endParaRPr lang="zh-CN" altLang="en-US" sz="4800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US" altLang="zh-CN" sz="4800" dirty="0">
                          <a:latin typeface="Consolas" pitchFamily="49" charset="0"/>
                          <a:cs typeface="Consolas" pitchFamily="49" charset="0"/>
                        </a:rPr>
                        <a:t>o</a:t>
                      </a:r>
                      <a:endParaRPr lang="zh-CN" altLang="en-US" sz="4800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4096">
                <a:tc>
                  <a:txBody>
                    <a:bodyPr/>
                    <a:lstStyle/>
                    <a:p>
                      <a:pPr marL="0" algn="ctr"/>
                      <a:r>
                        <a:rPr lang="en-US" altLang="zh-CN" sz="4800" dirty="0">
                          <a:latin typeface="Consolas" pitchFamily="49" charset="0"/>
                          <a:cs typeface="Consolas" pitchFamily="49" charset="0"/>
                        </a:rPr>
                        <a:t>p</a:t>
                      </a:r>
                      <a:endParaRPr lang="zh-CN" altLang="en-US" sz="4800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US" altLang="zh-CN" sz="4800" dirty="0" err="1">
                          <a:latin typeface="Consolas" pitchFamily="49" charset="0"/>
                          <a:cs typeface="Consolas" pitchFamily="49" charset="0"/>
                        </a:rPr>
                        <a:t>i</a:t>
                      </a:r>
                      <a:endParaRPr lang="zh-CN" altLang="en-US" sz="4800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US" altLang="zh-CN" sz="4800" dirty="0">
                          <a:latin typeface="Consolas" pitchFamily="49" charset="0"/>
                          <a:cs typeface="Consolas" pitchFamily="49" charset="0"/>
                        </a:rPr>
                        <a:t>r</a:t>
                      </a:r>
                      <a:endParaRPr lang="zh-CN" altLang="en-US" sz="4800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US" altLang="zh-CN" sz="4800" dirty="0">
                          <a:latin typeface="Consolas" pitchFamily="49" charset="0"/>
                          <a:cs typeface="Consolas" pitchFamily="49" charset="0"/>
                        </a:rPr>
                        <a:t>k</a:t>
                      </a:r>
                      <a:endParaRPr lang="zh-CN" altLang="en-US" sz="4800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US" altLang="zh-CN" sz="4800" dirty="0">
                          <a:latin typeface="Consolas" pitchFamily="49" charset="0"/>
                          <a:cs typeface="Consolas" pitchFamily="49" charset="0"/>
                        </a:rPr>
                        <a:t>o</a:t>
                      </a:r>
                      <a:endParaRPr lang="zh-CN" altLang="en-US" sz="4800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4165280"/>
                  </a:ext>
                </a:extLst>
              </a:tr>
            </a:tbl>
          </a:graphicData>
        </a:graphic>
      </p:graphicFrame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CCA2BB40-C3E7-4443-8211-0D410ED7C6E2}"/>
              </a:ext>
            </a:extLst>
          </p:cNvPr>
          <p:cNvCxnSpPr>
            <a:cxnSpLocks/>
          </p:cNvCxnSpPr>
          <p:nvPr/>
        </p:nvCxnSpPr>
        <p:spPr>
          <a:xfrm flipV="1">
            <a:off x="4223792" y="1268761"/>
            <a:ext cx="4320480" cy="4176463"/>
          </a:xfrm>
          <a:prstGeom prst="line">
            <a:avLst/>
          </a:prstGeom>
          <a:ln w="76200">
            <a:solidFill>
              <a:schemeClr val="tx1">
                <a:lumMod val="75000"/>
                <a:lumOff val="25000"/>
                <a:alpha val="50196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7AA5DC26-3E9D-4C42-8121-4094935C8D58}"/>
              </a:ext>
            </a:extLst>
          </p:cNvPr>
          <p:cNvCxnSpPr>
            <a:cxnSpLocks/>
          </p:cNvCxnSpPr>
          <p:nvPr/>
        </p:nvCxnSpPr>
        <p:spPr>
          <a:xfrm>
            <a:off x="6240016" y="2996953"/>
            <a:ext cx="0" cy="483119"/>
          </a:xfrm>
          <a:prstGeom prst="straightConnector1">
            <a:avLst/>
          </a:prstGeom>
          <a:ln w="57150">
            <a:solidFill>
              <a:schemeClr val="accent6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6">
            <a:extLst>
              <a:ext uri="{FF2B5EF4-FFF2-40B4-BE49-F238E27FC236}">
                <a16:creationId xmlns:a16="http://schemas.microsoft.com/office/drawing/2014/main" id="{C2558104-7863-4DED-AC30-691C5BDCABAD}"/>
              </a:ext>
            </a:extLst>
          </p:cNvPr>
          <p:cNvSpPr txBox="1"/>
          <p:nvPr/>
        </p:nvSpPr>
        <p:spPr>
          <a:xfrm>
            <a:off x="1811526" y="5863054"/>
            <a:ext cx="4968552" cy="5847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400"/>
            </a:lvl1pPr>
          </a:lstStyle>
          <a:p>
            <a:r>
              <a:rPr lang="zh-CN" altLang="en-US" sz="3200" dirty="0">
                <a:latin typeface="Consolas" pitchFamily="49" charset="0"/>
                <a:ea typeface="宋体" pitchFamily="2" charset="-122"/>
                <a:cs typeface="Consolas" pitchFamily="49" charset="0"/>
              </a:rPr>
              <a:t>答案字符串 </a:t>
            </a:r>
            <a:r>
              <a:rPr lang="en-US" altLang="zh-CN" sz="3200" dirty="0">
                <a:latin typeface="Consolas" pitchFamily="49" charset="0"/>
                <a:ea typeface="宋体" pitchFamily="2" charset="-122"/>
                <a:cs typeface="Consolas" pitchFamily="49" charset="0"/>
              </a:rPr>
              <a:t>= </a:t>
            </a:r>
            <a:r>
              <a:rPr lang="en-US" altLang="zh-CN" sz="3200" dirty="0" err="1">
                <a:latin typeface="Consolas" pitchFamily="49" charset="0"/>
                <a:ea typeface="宋体" pitchFamily="2" charset="-122"/>
                <a:cs typeface="Consolas" pitchFamily="49" charset="0"/>
              </a:rPr>
              <a:t>qoho</a:t>
            </a:r>
            <a:r>
              <a:rPr lang="en-US" altLang="zh-CN" sz="3200" dirty="0">
                <a:latin typeface="Consolas" pitchFamily="49" charset="0"/>
                <a:ea typeface="宋体" pitchFamily="2" charset="-122"/>
                <a:cs typeface="Consolas" pitchFamily="49" charset="0"/>
              </a:rPr>
              <a:t>????</a:t>
            </a:r>
            <a:endParaRPr lang="zh-CN" altLang="en-US" sz="3200" dirty="0">
              <a:latin typeface="Consolas" pitchFamily="49" charset="0"/>
              <a:ea typeface="宋体" pitchFamily="2" charset="-122"/>
              <a:cs typeface="Consolas" pitchFamily="49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CA33BD5A-09A2-42AF-9CC6-1374BE019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28</a:t>
            </a:fld>
            <a:endParaRPr lang="zh-CN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BD2D010-7B18-4A69-AB57-F1E8012F24B0}"/>
              </a:ext>
            </a:extLst>
          </p:cNvPr>
          <p:cNvSpPr txBox="1"/>
          <p:nvPr/>
        </p:nvSpPr>
        <p:spPr>
          <a:xfrm>
            <a:off x="280241" y="1295551"/>
            <a:ext cx="2484276" cy="5232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400"/>
            </a:lvl1pPr>
          </a:lstStyle>
          <a:p>
            <a:r>
              <a:rPr lang="en-US" altLang="zh-CN" sz="2800">
                <a:latin typeface="Consolas" pitchFamily="49" charset="0"/>
                <a:ea typeface="宋体" pitchFamily="2" charset="-122"/>
                <a:cs typeface="Consolas" pitchFamily="49" charset="0"/>
              </a:rPr>
              <a:t>step = 2</a:t>
            </a:r>
            <a:endParaRPr lang="zh-CN" altLang="en-US" sz="2800" dirty="0">
              <a:latin typeface="Consolas" pitchFamily="49" charset="0"/>
              <a:ea typeface="宋体" pitchFamily="2" charset="-122"/>
              <a:cs typeface="Consolas" pitchFamily="49" charset="0"/>
            </a:endParaRPr>
          </a:p>
        </p:txBody>
      </p:sp>
      <p:sp>
        <p:nvSpPr>
          <p:cNvPr id="13" name="TextBox 6">
            <a:extLst>
              <a:ext uri="{FF2B5EF4-FFF2-40B4-BE49-F238E27FC236}">
                <a16:creationId xmlns:a16="http://schemas.microsoft.com/office/drawing/2014/main" id="{00BBAE3A-FF35-4D8B-983C-DB09E323C44A}"/>
              </a:ext>
            </a:extLst>
          </p:cNvPr>
          <p:cNvSpPr txBox="1"/>
          <p:nvPr/>
        </p:nvSpPr>
        <p:spPr>
          <a:xfrm>
            <a:off x="280241" y="260648"/>
            <a:ext cx="2484276" cy="5232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400"/>
            </a:lvl1pPr>
          </a:lstStyle>
          <a:p>
            <a:r>
              <a:rPr lang="en-US" altLang="zh-CN" sz="2800">
                <a:latin typeface="Consolas" pitchFamily="49" charset="0"/>
                <a:ea typeface="宋体" pitchFamily="2" charset="-122"/>
                <a:cs typeface="Consolas" pitchFamily="49" charset="0"/>
              </a:rPr>
              <a:t>step = 1</a:t>
            </a:r>
            <a:endParaRPr lang="zh-CN" altLang="en-US" sz="2800" dirty="0">
              <a:latin typeface="Consolas" pitchFamily="49" charset="0"/>
              <a:ea typeface="宋体" pitchFamily="2" charset="-122"/>
              <a:cs typeface="Consolas" pitchFamily="49" charset="0"/>
            </a:endParaRPr>
          </a:p>
        </p:txBody>
      </p:sp>
      <p:sp>
        <p:nvSpPr>
          <p:cNvPr id="15" name="TextBox 6">
            <a:extLst>
              <a:ext uri="{FF2B5EF4-FFF2-40B4-BE49-F238E27FC236}">
                <a16:creationId xmlns:a16="http://schemas.microsoft.com/office/drawing/2014/main" id="{24CADD0C-5144-4A2F-8E3C-277FA1E74A3A}"/>
              </a:ext>
            </a:extLst>
          </p:cNvPr>
          <p:cNvSpPr txBox="1"/>
          <p:nvPr/>
        </p:nvSpPr>
        <p:spPr>
          <a:xfrm>
            <a:off x="309478" y="2320432"/>
            <a:ext cx="2484276" cy="5232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400"/>
            </a:lvl1pPr>
          </a:lstStyle>
          <a:p>
            <a:r>
              <a:rPr lang="en-US" altLang="zh-CN" sz="2800">
                <a:latin typeface="Consolas" pitchFamily="49" charset="0"/>
                <a:ea typeface="宋体" pitchFamily="2" charset="-122"/>
                <a:cs typeface="Consolas" pitchFamily="49" charset="0"/>
              </a:rPr>
              <a:t>step = 3</a:t>
            </a:r>
            <a:endParaRPr lang="zh-CN" altLang="en-US" sz="2800" dirty="0">
              <a:latin typeface="Consolas" pitchFamily="49" charset="0"/>
              <a:ea typeface="宋体" pitchFamily="2" charset="-122"/>
              <a:cs typeface="Consolas" pitchFamily="49" charset="0"/>
            </a:endParaRPr>
          </a:p>
        </p:txBody>
      </p:sp>
      <p:sp>
        <p:nvSpPr>
          <p:cNvPr id="17" name="TextBox 6">
            <a:extLst>
              <a:ext uri="{FF2B5EF4-FFF2-40B4-BE49-F238E27FC236}">
                <a16:creationId xmlns:a16="http://schemas.microsoft.com/office/drawing/2014/main" id="{0F1DFE67-3929-4309-8B68-B6B06C55294D}"/>
              </a:ext>
            </a:extLst>
          </p:cNvPr>
          <p:cNvSpPr txBox="1"/>
          <p:nvPr/>
        </p:nvSpPr>
        <p:spPr>
          <a:xfrm>
            <a:off x="280242" y="3353764"/>
            <a:ext cx="2484276" cy="5232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400"/>
            </a:lvl1pPr>
          </a:lstStyle>
          <a:p>
            <a:r>
              <a:rPr lang="en-US" altLang="zh-CN" sz="2800">
                <a:latin typeface="Consolas" pitchFamily="49" charset="0"/>
                <a:ea typeface="宋体" pitchFamily="2" charset="-122"/>
                <a:cs typeface="Consolas" pitchFamily="49" charset="0"/>
              </a:rPr>
              <a:t>step = 4</a:t>
            </a:r>
            <a:endParaRPr lang="zh-CN" altLang="en-US" sz="2800" dirty="0">
              <a:latin typeface="Consolas" pitchFamily="49" charset="0"/>
              <a:ea typeface="宋体" pitchFamily="2" charset="-122"/>
              <a:cs typeface="Consolas" pitchFamily="49" charset="0"/>
            </a:endParaRPr>
          </a:p>
        </p:txBody>
      </p:sp>
      <p:sp>
        <p:nvSpPr>
          <p:cNvPr id="23" name="TextBox 6">
            <a:extLst>
              <a:ext uri="{FF2B5EF4-FFF2-40B4-BE49-F238E27FC236}">
                <a16:creationId xmlns:a16="http://schemas.microsoft.com/office/drawing/2014/main" id="{59D00872-ACB1-4567-A85C-37C4004877AD}"/>
              </a:ext>
            </a:extLst>
          </p:cNvPr>
          <p:cNvSpPr txBox="1"/>
          <p:nvPr/>
        </p:nvSpPr>
        <p:spPr>
          <a:xfrm>
            <a:off x="233272" y="3855425"/>
            <a:ext cx="3385220" cy="5232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400"/>
            </a:lvl1pPr>
          </a:lstStyle>
          <a:p>
            <a:r>
              <a:rPr lang="en-US" altLang="zh-CN" sz="2800">
                <a:solidFill>
                  <a:srgbClr val="0070C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(</a:t>
            </a:r>
            <a:r>
              <a:rPr lang="en-US" altLang="zh-CN" sz="2800">
                <a:solidFill>
                  <a:srgbClr val="FF000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2</a:t>
            </a:r>
            <a:r>
              <a:rPr lang="en-US" altLang="zh-CN" sz="2800">
                <a:solidFill>
                  <a:srgbClr val="0070C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,</a:t>
            </a:r>
            <a:r>
              <a:rPr lang="en-US" altLang="zh-CN" sz="2800">
                <a:solidFill>
                  <a:srgbClr val="FF000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3</a:t>
            </a:r>
            <a:r>
              <a:rPr lang="en-US" altLang="zh-CN" sz="2800">
                <a:solidFill>
                  <a:srgbClr val="0070C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) (3,2) (4,1)</a:t>
            </a:r>
            <a:endParaRPr lang="zh-CN" altLang="en-US" sz="2800" dirty="0">
              <a:solidFill>
                <a:srgbClr val="0070C0"/>
              </a:solidFill>
              <a:latin typeface="Consolas" pitchFamily="49" charset="0"/>
              <a:ea typeface="宋体" pitchFamily="2" charset="-122"/>
              <a:cs typeface="Consolas" pitchFamily="49" charset="0"/>
            </a:endParaRPr>
          </a:p>
        </p:txBody>
      </p:sp>
      <p:sp>
        <p:nvSpPr>
          <p:cNvPr id="24" name="TextBox 6">
            <a:extLst>
              <a:ext uri="{FF2B5EF4-FFF2-40B4-BE49-F238E27FC236}">
                <a16:creationId xmlns:a16="http://schemas.microsoft.com/office/drawing/2014/main" id="{7B339CDC-1181-4766-B904-3A4A7E7521A3}"/>
              </a:ext>
            </a:extLst>
          </p:cNvPr>
          <p:cNvSpPr txBox="1"/>
          <p:nvPr/>
        </p:nvSpPr>
        <p:spPr>
          <a:xfrm>
            <a:off x="262508" y="2822093"/>
            <a:ext cx="3385220" cy="5232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400"/>
            </a:lvl1pPr>
          </a:lstStyle>
          <a:p>
            <a:r>
              <a:rPr lang="en-US" altLang="zh-CN" sz="2800">
                <a:solidFill>
                  <a:srgbClr val="0070C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(1,3) (</a:t>
            </a:r>
            <a:r>
              <a:rPr lang="en-US" altLang="zh-CN" sz="2800">
                <a:solidFill>
                  <a:srgbClr val="FF000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2</a:t>
            </a:r>
            <a:r>
              <a:rPr lang="en-US" altLang="zh-CN" sz="2800">
                <a:solidFill>
                  <a:srgbClr val="0070C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,</a:t>
            </a:r>
            <a:r>
              <a:rPr lang="en-US" altLang="zh-CN" sz="2800">
                <a:solidFill>
                  <a:srgbClr val="FF000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2</a:t>
            </a:r>
            <a:r>
              <a:rPr lang="en-US" altLang="zh-CN" sz="2800">
                <a:solidFill>
                  <a:srgbClr val="0070C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) (</a:t>
            </a:r>
            <a:r>
              <a:rPr lang="en-US" altLang="zh-CN" sz="2800">
                <a:solidFill>
                  <a:srgbClr val="FF000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3</a:t>
            </a:r>
            <a:r>
              <a:rPr lang="en-US" altLang="zh-CN" sz="2800">
                <a:solidFill>
                  <a:srgbClr val="0070C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,</a:t>
            </a:r>
            <a:r>
              <a:rPr lang="en-US" altLang="zh-CN" sz="2800">
                <a:solidFill>
                  <a:srgbClr val="FF000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1</a:t>
            </a:r>
            <a:r>
              <a:rPr lang="en-US" altLang="zh-CN" sz="2800">
                <a:solidFill>
                  <a:srgbClr val="0070C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)</a:t>
            </a:r>
            <a:endParaRPr lang="zh-CN" altLang="en-US" sz="2800" dirty="0">
              <a:solidFill>
                <a:srgbClr val="0070C0"/>
              </a:solidFill>
              <a:latin typeface="Consolas" pitchFamily="49" charset="0"/>
              <a:ea typeface="宋体" pitchFamily="2" charset="-122"/>
              <a:cs typeface="Consolas" pitchFamily="49" charset="0"/>
            </a:endParaRPr>
          </a:p>
        </p:txBody>
      </p:sp>
      <p:sp>
        <p:nvSpPr>
          <p:cNvPr id="25" name="TextBox 6">
            <a:extLst>
              <a:ext uri="{FF2B5EF4-FFF2-40B4-BE49-F238E27FC236}">
                <a16:creationId xmlns:a16="http://schemas.microsoft.com/office/drawing/2014/main" id="{80CF5EB9-5C02-44EF-86EC-A645C61A92B9}"/>
              </a:ext>
            </a:extLst>
          </p:cNvPr>
          <p:cNvSpPr txBox="1"/>
          <p:nvPr/>
        </p:nvSpPr>
        <p:spPr>
          <a:xfrm>
            <a:off x="233272" y="1797212"/>
            <a:ext cx="2484276" cy="5232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400"/>
            </a:lvl1pPr>
          </a:lstStyle>
          <a:p>
            <a:r>
              <a:rPr lang="en-US" altLang="zh-CN" sz="2800">
                <a:solidFill>
                  <a:srgbClr val="0070C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(</a:t>
            </a:r>
            <a:r>
              <a:rPr lang="en-US" altLang="zh-CN" sz="2800">
                <a:solidFill>
                  <a:srgbClr val="FF000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1</a:t>
            </a:r>
            <a:r>
              <a:rPr lang="en-US" altLang="zh-CN" sz="2800">
                <a:solidFill>
                  <a:srgbClr val="0070C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,</a:t>
            </a:r>
            <a:r>
              <a:rPr lang="en-US" altLang="zh-CN" sz="2800">
                <a:solidFill>
                  <a:srgbClr val="FF000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2</a:t>
            </a:r>
            <a:r>
              <a:rPr lang="en-US" altLang="zh-CN" sz="2800">
                <a:solidFill>
                  <a:srgbClr val="0070C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) (</a:t>
            </a:r>
            <a:r>
              <a:rPr lang="en-US" altLang="zh-CN" sz="2800">
                <a:solidFill>
                  <a:srgbClr val="FF000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2</a:t>
            </a:r>
            <a:r>
              <a:rPr lang="en-US" altLang="zh-CN" sz="2800">
                <a:solidFill>
                  <a:srgbClr val="0070C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,</a:t>
            </a:r>
            <a:r>
              <a:rPr lang="en-US" altLang="zh-CN" sz="2800">
                <a:solidFill>
                  <a:srgbClr val="FF000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1</a:t>
            </a:r>
            <a:r>
              <a:rPr lang="en-US" altLang="zh-CN" sz="2800">
                <a:solidFill>
                  <a:srgbClr val="0070C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)</a:t>
            </a:r>
            <a:endParaRPr lang="zh-CN" altLang="en-US" sz="2800" dirty="0">
              <a:solidFill>
                <a:srgbClr val="0070C0"/>
              </a:solidFill>
              <a:latin typeface="Consolas" pitchFamily="49" charset="0"/>
              <a:ea typeface="宋体" pitchFamily="2" charset="-122"/>
              <a:cs typeface="Consolas" pitchFamily="49" charset="0"/>
            </a:endParaRPr>
          </a:p>
        </p:txBody>
      </p:sp>
      <p:sp>
        <p:nvSpPr>
          <p:cNvPr id="26" name="TextBox 6">
            <a:extLst>
              <a:ext uri="{FF2B5EF4-FFF2-40B4-BE49-F238E27FC236}">
                <a16:creationId xmlns:a16="http://schemas.microsoft.com/office/drawing/2014/main" id="{39682B7A-EF72-4706-B495-B9E8A3140A6C}"/>
              </a:ext>
            </a:extLst>
          </p:cNvPr>
          <p:cNvSpPr txBox="1"/>
          <p:nvPr/>
        </p:nvSpPr>
        <p:spPr>
          <a:xfrm>
            <a:off x="277234" y="762309"/>
            <a:ext cx="1882316" cy="5232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400"/>
            </a:lvl1pPr>
          </a:lstStyle>
          <a:p>
            <a:r>
              <a:rPr lang="en-US" altLang="zh-CN" sz="2800">
                <a:solidFill>
                  <a:srgbClr val="0070C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(</a:t>
            </a:r>
            <a:r>
              <a:rPr lang="en-US" altLang="zh-CN" sz="2800">
                <a:solidFill>
                  <a:srgbClr val="FF000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1,1</a:t>
            </a:r>
            <a:r>
              <a:rPr lang="en-US" altLang="zh-CN" sz="2800">
                <a:solidFill>
                  <a:srgbClr val="0070C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)</a:t>
            </a:r>
            <a:endParaRPr lang="zh-CN" altLang="en-US" sz="2800" dirty="0">
              <a:solidFill>
                <a:srgbClr val="0070C0"/>
              </a:solidFill>
              <a:latin typeface="Consolas" pitchFamily="49" charset="0"/>
              <a:ea typeface="宋体" pitchFamily="2" charset="-122"/>
              <a:cs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91612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23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F93F1856-2264-4978-9A29-A8A2B78E9A3D}"/>
              </a:ext>
            </a:extLst>
          </p:cNvPr>
          <p:cNvGraphicFramePr>
            <a:graphicFrameLocks noGrp="1"/>
          </p:cNvGraphicFramePr>
          <p:nvPr/>
        </p:nvGraphicFramePr>
        <p:xfrm>
          <a:off x="3839595" y="1484784"/>
          <a:ext cx="4488655" cy="345638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977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77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977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977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9773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64096">
                <a:tc>
                  <a:txBody>
                    <a:bodyPr/>
                    <a:lstStyle/>
                    <a:p>
                      <a:pPr marL="0" algn="ctr"/>
                      <a:r>
                        <a:rPr lang="en-US" altLang="zh-CN" sz="4800" dirty="0">
                          <a:latin typeface="Consolas" pitchFamily="49" charset="0"/>
                          <a:cs typeface="Consolas" pitchFamily="49" charset="0"/>
                        </a:rPr>
                        <a:t>q</a:t>
                      </a:r>
                      <a:endParaRPr lang="zh-CN" altLang="en-US" sz="4800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US" altLang="zh-CN" sz="4800" dirty="0">
                          <a:latin typeface="Consolas" pitchFamily="49" charset="0"/>
                          <a:cs typeface="Consolas" pitchFamily="49" charset="0"/>
                        </a:rPr>
                        <a:t>o</a:t>
                      </a:r>
                      <a:endParaRPr lang="zh-CN" altLang="en-US" sz="4800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US" altLang="zh-CN" sz="4800" dirty="0">
                          <a:latin typeface="Consolas" pitchFamily="49" charset="0"/>
                          <a:cs typeface="Consolas" pitchFamily="49" charset="0"/>
                        </a:rPr>
                        <a:t>n</a:t>
                      </a:r>
                      <a:endParaRPr lang="zh-CN" altLang="en-US" sz="4800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US" altLang="zh-CN" sz="4800" dirty="0">
                          <a:latin typeface="Consolas" pitchFamily="49" charset="0"/>
                          <a:cs typeface="Consolas" pitchFamily="49" charset="0"/>
                        </a:rPr>
                        <a:t>o</a:t>
                      </a:r>
                      <a:endParaRPr lang="zh-CN" altLang="en-US" sz="4800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US" altLang="zh-CN" sz="4800" dirty="0">
                          <a:latin typeface="Consolas" pitchFamily="49" charset="0"/>
                          <a:cs typeface="Consolas" pitchFamily="49" charset="0"/>
                        </a:rPr>
                        <a:t>c</a:t>
                      </a:r>
                      <a:endParaRPr lang="zh-CN" altLang="en-US" sz="4800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4096">
                <a:tc>
                  <a:txBody>
                    <a:bodyPr/>
                    <a:lstStyle/>
                    <a:p>
                      <a:pPr marL="0" algn="ctr"/>
                      <a:r>
                        <a:rPr lang="en-US" altLang="zh-CN" sz="4800" dirty="0">
                          <a:latin typeface="Consolas" pitchFamily="49" charset="0"/>
                          <a:cs typeface="Consolas" pitchFamily="49" charset="0"/>
                        </a:rPr>
                        <a:t>o</a:t>
                      </a:r>
                      <a:endParaRPr lang="zh-CN" altLang="en-US" sz="4800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US" altLang="zh-CN" sz="4800" dirty="0">
                          <a:latin typeface="Consolas" pitchFamily="49" charset="0"/>
                          <a:cs typeface="Consolas" pitchFamily="49" charset="0"/>
                        </a:rPr>
                        <a:t>h</a:t>
                      </a:r>
                      <a:endParaRPr lang="zh-CN" altLang="en-US" sz="4800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US" altLang="zh-CN" sz="4800" dirty="0">
                          <a:latin typeface="Consolas" pitchFamily="49" charset="0"/>
                          <a:cs typeface="Consolas" pitchFamily="49" charset="0"/>
                        </a:rPr>
                        <a:t>o</a:t>
                      </a:r>
                      <a:endParaRPr lang="zh-CN" altLang="en-US" sz="4800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US" altLang="zh-CN" sz="4800" dirty="0">
                          <a:latin typeface="Consolas" pitchFamily="49" charset="0"/>
                          <a:cs typeface="Consolas" pitchFamily="49" charset="0"/>
                        </a:rPr>
                        <a:t>h</a:t>
                      </a:r>
                      <a:endParaRPr lang="zh-CN" altLang="en-US" sz="4800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US" altLang="zh-CN" sz="4800" dirty="0">
                          <a:latin typeface="Consolas" pitchFamily="49" charset="0"/>
                          <a:cs typeface="Consolas" pitchFamily="49" charset="0"/>
                        </a:rPr>
                        <a:t>o</a:t>
                      </a:r>
                      <a:endParaRPr lang="zh-CN" altLang="en-US" sz="4800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7408999"/>
                  </a:ext>
                </a:extLst>
              </a:tr>
              <a:tr h="864096">
                <a:tc>
                  <a:txBody>
                    <a:bodyPr/>
                    <a:lstStyle/>
                    <a:p>
                      <a:pPr marL="0" algn="ctr"/>
                      <a:r>
                        <a:rPr lang="en-US" altLang="zh-CN" sz="4800" dirty="0">
                          <a:latin typeface="Consolas" pitchFamily="49" charset="0"/>
                          <a:cs typeface="Consolas" pitchFamily="49" charset="0"/>
                        </a:rPr>
                        <a:t>h</a:t>
                      </a:r>
                      <a:endParaRPr lang="zh-CN" altLang="en-US" sz="4800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US" altLang="zh-CN" sz="4800" dirty="0">
                          <a:latin typeface="Consolas" pitchFamily="49" charset="0"/>
                          <a:cs typeface="Consolas" pitchFamily="49" charset="0"/>
                        </a:rPr>
                        <a:t>z</a:t>
                      </a:r>
                      <a:endParaRPr lang="zh-CN" altLang="en-US" sz="4800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US" altLang="zh-CN" sz="4800" dirty="0">
                          <a:latin typeface="Consolas" pitchFamily="49" charset="0"/>
                          <a:cs typeface="Consolas" pitchFamily="49" charset="0"/>
                        </a:rPr>
                        <a:t>a</a:t>
                      </a:r>
                      <a:endParaRPr lang="zh-CN" altLang="en-US" sz="4800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US" altLang="zh-CN" sz="4800" dirty="0">
                          <a:latin typeface="Consolas" pitchFamily="49" charset="0"/>
                          <a:cs typeface="Consolas" pitchFamily="49" charset="0"/>
                        </a:rPr>
                        <a:t>q</a:t>
                      </a:r>
                      <a:endParaRPr lang="zh-CN" altLang="en-US" sz="4800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US" altLang="zh-CN" sz="4800" dirty="0">
                          <a:latin typeface="Consolas" pitchFamily="49" charset="0"/>
                          <a:cs typeface="Consolas" pitchFamily="49" charset="0"/>
                        </a:rPr>
                        <a:t>o</a:t>
                      </a:r>
                      <a:endParaRPr lang="zh-CN" altLang="en-US" sz="4800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4096">
                <a:tc>
                  <a:txBody>
                    <a:bodyPr/>
                    <a:lstStyle/>
                    <a:p>
                      <a:pPr marL="0" algn="ctr"/>
                      <a:r>
                        <a:rPr lang="en-US" altLang="zh-CN" sz="4800" dirty="0">
                          <a:latin typeface="Consolas" pitchFamily="49" charset="0"/>
                          <a:cs typeface="Consolas" pitchFamily="49" charset="0"/>
                        </a:rPr>
                        <a:t>p</a:t>
                      </a:r>
                      <a:endParaRPr lang="zh-CN" altLang="en-US" sz="4800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US" altLang="zh-CN" sz="4800" dirty="0" err="1">
                          <a:latin typeface="Consolas" pitchFamily="49" charset="0"/>
                          <a:cs typeface="Consolas" pitchFamily="49" charset="0"/>
                        </a:rPr>
                        <a:t>i</a:t>
                      </a:r>
                      <a:endParaRPr lang="zh-CN" altLang="en-US" sz="4800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US" altLang="zh-CN" sz="4800" dirty="0">
                          <a:latin typeface="Consolas" pitchFamily="49" charset="0"/>
                          <a:cs typeface="Consolas" pitchFamily="49" charset="0"/>
                        </a:rPr>
                        <a:t>r</a:t>
                      </a:r>
                      <a:endParaRPr lang="zh-CN" altLang="en-US" sz="4800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US" altLang="zh-CN" sz="4800" dirty="0">
                          <a:latin typeface="Consolas" pitchFamily="49" charset="0"/>
                          <a:cs typeface="Consolas" pitchFamily="49" charset="0"/>
                        </a:rPr>
                        <a:t>k</a:t>
                      </a:r>
                      <a:endParaRPr lang="zh-CN" altLang="en-US" sz="4800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US" altLang="zh-CN" sz="4800" dirty="0">
                          <a:latin typeface="Consolas" pitchFamily="49" charset="0"/>
                          <a:cs typeface="Consolas" pitchFamily="49" charset="0"/>
                        </a:rPr>
                        <a:t>o</a:t>
                      </a:r>
                      <a:endParaRPr lang="zh-CN" altLang="en-US" sz="4800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4165280"/>
                  </a:ext>
                </a:extLst>
              </a:tr>
            </a:tbl>
          </a:graphicData>
        </a:graphic>
      </p:graphicFrame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CCA2BB40-C3E7-4443-8211-0D410ED7C6E2}"/>
              </a:ext>
            </a:extLst>
          </p:cNvPr>
          <p:cNvCxnSpPr>
            <a:cxnSpLocks/>
          </p:cNvCxnSpPr>
          <p:nvPr/>
        </p:nvCxnSpPr>
        <p:spPr>
          <a:xfrm flipV="1">
            <a:off x="4583832" y="1747844"/>
            <a:ext cx="4320480" cy="4176463"/>
          </a:xfrm>
          <a:prstGeom prst="line">
            <a:avLst/>
          </a:prstGeom>
          <a:ln w="76200">
            <a:solidFill>
              <a:schemeClr val="tx1">
                <a:lumMod val="75000"/>
                <a:lumOff val="25000"/>
                <a:alpha val="50196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54B6BB3D-B55A-471A-9DF9-41030AEA23DA}"/>
              </a:ext>
            </a:extLst>
          </p:cNvPr>
          <p:cNvCxnSpPr>
            <a:cxnSpLocks/>
          </p:cNvCxnSpPr>
          <p:nvPr/>
        </p:nvCxnSpPr>
        <p:spPr>
          <a:xfrm>
            <a:off x="6312024" y="3501008"/>
            <a:ext cx="504056" cy="0"/>
          </a:xfrm>
          <a:prstGeom prst="straightConnector1">
            <a:avLst/>
          </a:prstGeom>
          <a:ln w="57150">
            <a:solidFill>
              <a:schemeClr val="accent6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6">
            <a:extLst>
              <a:ext uri="{FF2B5EF4-FFF2-40B4-BE49-F238E27FC236}">
                <a16:creationId xmlns:a16="http://schemas.microsoft.com/office/drawing/2014/main" id="{96DAB298-CF10-4D16-B6A2-C76F95B120C1}"/>
              </a:ext>
            </a:extLst>
          </p:cNvPr>
          <p:cNvSpPr txBox="1"/>
          <p:nvPr/>
        </p:nvSpPr>
        <p:spPr>
          <a:xfrm>
            <a:off x="1811526" y="5863054"/>
            <a:ext cx="4968552" cy="5847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400"/>
            </a:lvl1pPr>
          </a:lstStyle>
          <a:p>
            <a:r>
              <a:rPr lang="zh-CN" altLang="en-US" sz="3200" dirty="0">
                <a:latin typeface="Consolas" pitchFamily="49" charset="0"/>
                <a:ea typeface="宋体" pitchFamily="2" charset="-122"/>
                <a:cs typeface="Consolas" pitchFamily="49" charset="0"/>
              </a:rPr>
              <a:t>答案字符串 </a:t>
            </a:r>
            <a:r>
              <a:rPr lang="en-US" altLang="zh-CN" sz="3200" dirty="0">
                <a:latin typeface="Consolas" pitchFamily="49" charset="0"/>
                <a:ea typeface="宋体" pitchFamily="2" charset="-122"/>
                <a:cs typeface="Consolas" pitchFamily="49" charset="0"/>
              </a:rPr>
              <a:t>= </a:t>
            </a:r>
            <a:r>
              <a:rPr lang="en-US" altLang="zh-CN" sz="3200" dirty="0" err="1">
                <a:latin typeface="Consolas" pitchFamily="49" charset="0"/>
                <a:ea typeface="宋体" pitchFamily="2" charset="-122"/>
                <a:cs typeface="Consolas" pitchFamily="49" charset="0"/>
              </a:rPr>
              <a:t>qohoa</a:t>
            </a:r>
            <a:r>
              <a:rPr lang="en-US" altLang="zh-CN" sz="3200" dirty="0">
                <a:latin typeface="Consolas" pitchFamily="49" charset="0"/>
                <a:ea typeface="宋体" pitchFamily="2" charset="-122"/>
                <a:cs typeface="Consolas" pitchFamily="49" charset="0"/>
              </a:rPr>
              <a:t>???</a:t>
            </a:r>
            <a:endParaRPr lang="zh-CN" altLang="en-US" sz="3200" dirty="0">
              <a:latin typeface="Consolas" pitchFamily="49" charset="0"/>
              <a:ea typeface="宋体" pitchFamily="2" charset="-122"/>
              <a:cs typeface="Consolas" pitchFamily="49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D811C003-4F4F-4371-84E7-DE9EF575C9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29</a:t>
            </a:fld>
            <a:endParaRPr lang="zh-CN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CD65A7D-25E0-4281-814D-CB087DCFD935}"/>
              </a:ext>
            </a:extLst>
          </p:cNvPr>
          <p:cNvSpPr txBox="1"/>
          <p:nvPr/>
        </p:nvSpPr>
        <p:spPr>
          <a:xfrm>
            <a:off x="280241" y="1295551"/>
            <a:ext cx="2484276" cy="5232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400"/>
            </a:lvl1pPr>
          </a:lstStyle>
          <a:p>
            <a:r>
              <a:rPr lang="en-US" altLang="zh-CN" sz="2800">
                <a:latin typeface="Consolas" pitchFamily="49" charset="0"/>
                <a:ea typeface="宋体" pitchFamily="2" charset="-122"/>
                <a:cs typeface="Consolas" pitchFamily="49" charset="0"/>
              </a:rPr>
              <a:t>step = 2</a:t>
            </a:r>
            <a:endParaRPr lang="zh-CN" altLang="en-US" sz="2800" dirty="0">
              <a:latin typeface="Consolas" pitchFamily="49" charset="0"/>
              <a:ea typeface="宋体" pitchFamily="2" charset="-122"/>
              <a:cs typeface="Consolas" pitchFamily="49" charset="0"/>
            </a:endParaRPr>
          </a:p>
        </p:txBody>
      </p:sp>
      <p:sp>
        <p:nvSpPr>
          <p:cNvPr id="13" name="TextBox 6">
            <a:extLst>
              <a:ext uri="{FF2B5EF4-FFF2-40B4-BE49-F238E27FC236}">
                <a16:creationId xmlns:a16="http://schemas.microsoft.com/office/drawing/2014/main" id="{A97A4ECA-C307-422E-98C3-555A5D521A21}"/>
              </a:ext>
            </a:extLst>
          </p:cNvPr>
          <p:cNvSpPr txBox="1"/>
          <p:nvPr/>
        </p:nvSpPr>
        <p:spPr>
          <a:xfrm>
            <a:off x="280241" y="260648"/>
            <a:ext cx="2484276" cy="5232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400"/>
            </a:lvl1pPr>
          </a:lstStyle>
          <a:p>
            <a:r>
              <a:rPr lang="en-US" altLang="zh-CN" sz="2800">
                <a:latin typeface="Consolas" pitchFamily="49" charset="0"/>
                <a:ea typeface="宋体" pitchFamily="2" charset="-122"/>
                <a:cs typeface="Consolas" pitchFamily="49" charset="0"/>
              </a:rPr>
              <a:t>step = 1</a:t>
            </a:r>
            <a:endParaRPr lang="zh-CN" altLang="en-US" sz="2800" dirty="0">
              <a:latin typeface="Consolas" pitchFamily="49" charset="0"/>
              <a:ea typeface="宋体" pitchFamily="2" charset="-122"/>
              <a:cs typeface="Consolas" pitchFamily="49" charset="0"/>
            </a:endParaRPr>
          </a:p>
        </p:txBody>
      </p:sp>
      <p:sp>
        <p:nvSpPr>
          <p:cNvPr id="15" name="TextBox 6">
            <a:extLst>
              <a:ext uri="{FF2B5EF4-FFF2-40B4-BE49-F238E27FC236}">
                <a16:creationId xmlns:a16="http://schemas.microsoft.com/office/drawing/2014/main" id="{2C56BCB5-EC55-4E0D-B43A-C3CEDD8440CE}"/>
              </a:ext>
            </a:extLst>
          </p:cNvPr>
          <p:cNvSpPr txBox="1"/>
          <p:nvPr/>
        </p:nvSpPr>
        <p:spPr>
          <a:xfrm>
            <a:off x="309478" y="2320432"/>
            <a:ext cx="2484276" cy="5232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400"/>
            </a:lvl1pPr>
          </a:lstStyle>
          <a:p>
            <a:r>
              <a:rPr lang="en-US" altLang="zh-CN" sz="2800">
                <a:latin typeface="Consolas" pitchFamily="49" charset="0"/>
                <a:ea typeface="宋体" pitchFamily="2" charset="-122"/>
                <a:cs typeface="Consolas" pitchFamily="49" charset="0"/>
              </a:rPr>
              <a:t>step = 3</a:t>
            </a:r>
            <a:endParaRPr lang="zh-CN" altLang="en-US" sz="2800" dirty="0">
              <a:latin typeface="Consolas" pitchFamily="49" charset="0"/>
              <a:ea typeface="宋体" pitchFamily="2" charset="-122"/>
              <a:cs typeface="Consolas" pitchFamily="49" charset="0"/>
            </a:endParaRPr>
          </a:p>
        </p:txBody>
      </p:sp>
      <p:sp>
        <p:nvSpPr>
          <p:cNvPr id="17" name="TextBox 6">
            <a:extLst>
              <a:ext uri="{FF2B5EF4-FFF2-40B4-BE49-F238E27FC236}">
                <a16:creationId xmlns:a16="http://schemas.microsoft.com/office/drawing/2014/main" id="{AFBB5933-02EA-47B2-82DE-CFDAC97F0560}"/>
              </a:ext>
            </a:extLst>
          </p:cNvPr>
          <p:cNvSpPr txBox="1"/>
          <p:nvPr/>
        </p:nvSpPr>
        <p:spPr>
          <a:xfrm>
            <a:off x="280242" y="3353764"/>
            <a:ext cx="2484276" cy="5232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400"/>
            </a:lvl1pPr>
          </a:lstStyle>
          <a:p>
            <a:r>
              <a:rPr lang="en-US" altLang="zh-CN" sz="2800">
                <a:latin typeface="Consolas" pitchFamily="49" charset="0"/>
                <a:ea typeface="宋体" pitchFamily="2" charset="-122"/>
                <a:cs typeface="Consolas" pitchFamily="49" charset="0"/>
              </a:rPr>
              <a:t>step = 4</a:t>
            </a:r>
            <a:endParaRPr lang="zh-CN" altLang="en-US" sz="2800" dirty="0">
              <a:latin typeface="Consolas" pitchFamily="49" charset="0"/>
              <a:ea typeface="宋体" pitchFamily="2" charset="-122"/>
              <a:cs typeface="Consolas" pitchFamily="49" charset="0"/>
            </a:endParaRPr>
          </a:p>
        </p:txBody>
      </p:sp>
      <p:sp>
        <p:nvSpPr>
          <p:cNvPr id="23" name="TextBox 6">
            <a:extLst>
              <a:ext uri="{FF2B5EF4-FFF2-40B4-BE49-F238E27FC236}">
                <a16:creationId xmlns:a16="http://schemas.microsoft.com/office/drawing/2014/main" id="{A773A773-019F-4F89-8F25-16D36C58CC0A}"/>
              </a:ext>
            </a:extLst>
          </p:cNvPr>
          <p:cNvSpPr txBox="1"/>
          <p:nvPr/>
        </p:nvSpPr>
        <p:spPr>
          <a:xfrm>
            <a:off x="233272" y="3855425"/>
            <a:ext cx="3385220" cy="5232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400"/>
            </a:lvl1pPr>
          </a:lstStyle>
          <a:p>
            <a:r>
              <a:rPr lang="en-US" altLang="zh-CN" sz="2800">
                <a:solidFill>
                  <a:srgbClr val="0070C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(</a:t>
            </a:r>
            <a:r>
              <a:rPr lang="en-US" altLang="zh-CN" sz="2800">
                <a:solidFill>
                  <a:srgbClr val="FF000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2</a:t>
            </a:r>
            <a:r>
              <a:rPr lang="en-US" altLang="zh-CN" sz="2800">
                <a:solidFill>
                  <a:srgbClr val="0070C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,</a:t>
            </a:r>
            <a:r>
              <a:rPr lang="en-US" altLang="zh-CN" sz="2800">
                <a:solidFill>
                  <a:srgbClr val="FF000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3</a:t>
            </a:r>
            <a:r>
              <a:rPr lang="en-US" altLang="zh-CN" sz="2800">
                <a:solidFill>
                  <a:srgbClr val="0070C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) (3,2) (4,1)</a:t>
            </a:r>
            <a:endParaRPr lang="zh-CN" altLang="en-US" sz="2800" dirty="0">
              <a:solidFill>
                <a:srgbClr val="0070C0"/>
              </a:solidFill>
              <a:latin typeface="Consolas" pitchFamily="49" charset="0"/>
              <a:ea typeface="宋体" pitchFamily="2" charset="-122"/>
              <a:cs typeface="Consolas" pitchFamily="49" charset="0"/>
            </a:endParaRPr>
          </a:p>
        </p:txBody>
      </p:sp>
      <p:sp>
        <p:nvSpPr>
          <p:cNvPr id="24" name="TextBox 6">
            <a:extLst>
              <a:ext uri="{FF2B5EF4-FFF2-40B4-BE49-F238E27FC236}">
                <a16:creationId xmlns:a16="http://schemas.microsoft.com/office/drawing/2014/main" id="{8653D017-5049-4B20-B8FC-248D5DF5D350}"/>
              </a:ext>
            </a:extLst>
          </p:cNvPr>
          <p:cNvSpPr txBox="1"/>
          <p:nvPr/>
        </p:nvSpPr>
        <p:spPr>
          <a:xfrm>
            <a:off x="262508" y="2822093"/>
            <a:ext cx="3385220" cy="5232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400"/>
            </a:lvl1pPr>
          </a:lstStyle>
          <a:p>
            <a:r>
              <a:rPr lang="en-US" altLang="zh-CN" sz="2800">
                <a:solidFill>
                  <a:srgbClr val="0070C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(1,3) (</a:t>
            </a:r>
            <a:r>
              <a:rPr lang="en-US" altLang="zh-CN" sz="2800">
                <a:solidFill>
                  <a:srgbClr val="FF000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2</a:t>
            </a:r>
            <a:r>
              <a:rPr lang="en-US" altLang="zh-CN" sz="2800">
                <a:solidFill>
                  <a:srgbClr val="0070C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,</a:t>
            </a:r>
            <a:r>
              <a:rPr lang="en-US" altLang="zh-CN" sz="2800">
                <a:solidFill>
                  <a:srgbClr val="FF000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2</a:t>
            </a:r>
            <a:r>
              <a:rPr lang="en-US" altLang="zh-CN" sz="2800">
                <a:solidFill>
                  <a:srgbClr val="0070C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) (</a:t>
            </a:r>
            <a:r>
              <a:rPr lang="en-US" altLang="zh-CN" sz="2800">
                <a:solidFill>
                  <a:srgbClr val="FF000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3</a:t>
            </a:r>
            <a:r>
              <a:rPr lang="en-US" altLang="zh-CN" sz="2800">
                <a:solidFill>
                  <a:srgbClr val="0070C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,</a:t>
            </a:r>
            <a:r>
              <a:rPr lang="en-US" altLang="zh-CN" sz="2800">
                <a:solidFill>
                  <a:srgbClr val="FF000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1</a:t>
            </a:r>
            <a:r>
              <a:rPr lang="en-US" altLang="zh-CN" sz="2800">
                <a:solidFill>
                  <a:srgbClr val="0070C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)</a:t>
            </a:r>
            <a:endParaRPr lang="zh-CN" altLang="en-US" sz="2800" dirty="0">
              <a:solidFill>
                <a:srgbClr val="0070C0"/>
              </a:solidFill>
              <a:latin typeface="Consolas" pitchFamily="49" charset="0"/>
              <a:ea typeface="宋体" pitchFamily="2" charset="-122"/>
              <a:cs typeface="Consolas" pitchFamily="49" charset="0"/>
            </a:endParaRPr>
          </a:p>
        </p:txBody>
      </p:sp>
      <p:sp>
        <p:nvSpPr>
          <p:cNvPr id="25" name="TextBox 6">
            <a:extLst>
              <a:ext uri="{FF2B5EF4-FFF2-40B4-BE49-F238E27FC236}">
                <a16:creationId xmlns:a16="http://schemas.microsoft.com/office/drawing/2014/main" id="{C85ED059-D939-44DF-989D-1D308DBC12D9}"/>
              </a:ext>
            </a:extLst>
          </p:cNvPr>
          <p:cNvSpPr txBox="1"/>
          <p:nvPr/>
        </p:nvSpPr>
        <p:spPr>
          <a:xfrm>
            <a:off x="233272" y="1797212"/>
            <a:ext cx="2484276" cy="5232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400"/>
            </a:lvl1pPr>
          </a:lstStyle>
          <a:p>
            <a:r>
              <a:rPr lang="en-US" altLang="zh-CN" sz="2800">
                <a:solidFill>
                  <a:srgbClr val="0070C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(</a:t>
            </a:r>
            <a:r>
              <a:rPr lang="en-US" altLang="zh-CN" sz="2800">
                <a:solidFill>
                  <a:srgbClr val="FF000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1</a:t>
            </a:r>
            <a:r>
              <a:rPr lang="en-US" altLang="zh-CN" sz="2800">
                <a:solidFill>
                  <a:srgbClr val="0070C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,</a:t>
            </a:r>
            <a:r>
              <a:rPr lang="en-US" altLang="zh-CN" sz="2800">
                <a:solidFill>
                  <a:srgbClr val="FF000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2</a:t>
            </a:r>
            <a:r>
              <a:rPr lang="en-US" altLang="zh-CN" sz="2800">
                <a:solidFill>
                  <a:srgbClr val="0070C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) (</a:t>
            </a:r>
            <a:r>
              <a:rPr lang="en-US" altLang="zh-CN" sz="2800">
                <a:solidFill>
                  <a:srgbClr val="FF000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2</a:t>
            </a:r>
            <a:r>
              <a:rPr lang="en-US" altLang="zh-CN" sz="2800">
                <a:solidFill>
                  <a:srgbClr val="0070C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,</a:t>
            </a:r>
            <a:r>
              <a:rPr lang="en-US" altLang="zh-CN" sz="2800">
                <a:solidFill>
                  <a:srgbClr val="FF000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1</a:t>
            </a:r>
            <a:r>
              <a:rPr lang="en-US" altLang="zh-CN" sz="2800">
                <a:solidFill>
                  <a:srgbClr val="0070C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)</a:t>
            </a:r>
            <a:endParaRPr lang="zh-CN" altLang="en-US" sz="2800" dirty="0">
              <a:solidFill>
                <a:srgbClr val="0070C0"/>
              </a:solidFill>
              <a:latin typeface="Consolas" pitchFamily="49" charset="0"/>
              <a:ea typeface="宋体" pitchFamily="2" charset="-122"/>
              <a:cs typeface="Consolas" pitchFamily="49" charset="0"/>
            </a:endParaRPr>
          </a:p>
        </p:txBody>
      </p:sp>
      <p:sp>
        <p:nvSpPr>
          <p:cNvPr id="26" name="TextBox 6">
            <a:extLst>
              <a:ext uri="{FF2B5EF4-FFF2-40B4-BE49-F238E27FC236}">
                <a16:creationId xmlns:a16="http://schemas.microsoft.com/office/drawing/2014/main" id="{93F0EB26-1253-4349-8D47-D55C99343191}"/>
              </a:ext>
            </a:extLst>
          </p:cNvPr>
          <p:cNvSpPr txBox="1"/>
          <p:nvPr/>
        </p:nvSpPr>
        <p:spPr>
          <a:xfrm>
            <a:off x="277234" y="762309"/>
            <a:ext cx="1882316" cy="5232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400"/>
            </a:lvl1pPr>
          </a:lstStyle>
          <a:p>
            <a:r>
              <a:rPr lang="en-US" altLang="zh-CN" sz="2800">
                <a:solidFill>
                  <a:srgbClr val="0070C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(</a:t>
            </a:r>
            <a:r>
              <a:rPr lang="en-US" altLang="zh-CN" sz="2800">
                <a:solidFill>
                  <a:srgbClr val="FF000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1,1</a:t>
            </a:r>
            <a:r>
              <a:rPr lang="en-US" altLang="zh-CN" sz="2800">
                <a:solidFill>
                  <a:srgbClr val="0070C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)</a:t>
            </a:r>
            <a:endParaRPr lang="zh-CN" altLang="en-US" sz="2800" dirty="0">
              <a:solidFill>
                <a:srgbClr val="0070C0"/>
              </a:solidFill>
              <a:latin typeface="Consolas" pitchFamily="49" charset="0"/>
              <a:ea typeface="宋体" pitchFamily="2" charset="-122"/>
              <a:cs typeface="Consolas" pitchFamily="49" charset="0"/>
            </a:endParaRPr>
          </a:p>
        </p:txBody>
      </p:sp>
      <p:sp>
        <p:nvSpPr>
          <p:cNvPr id="27" name="TextBox 6">
            <a:extLst>
              <a:ext uri="{FF2B5EF4-FFF2-40B4-BE49-F238E27FC236}">
                <a16:creationId xmlns:a16="http://schemas.microsoft.com/office/drawing/2014/main" id="{370BE7E5-2687-4406-82D2-1DB180DA2787}"/>
              </a:ext>
            </a:extLst>
          </p:cNvPr>
          <p:cNvSpPr txBox="1"/>
          <p:nvPr/>
        </p:nvSpPr>
        <p:spPr>
          <a:xfrm>
            <a:off x="9116922" y="254381"/>
            <a:ext cx="2484276" cy="5232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400"/>
            </a:lvl1pPr>
          </a:lstStyle>
          <a:p>
            <a:r>
              <a:rPr lang="en-US" altLang="zh-CN" sz="2800">
                <a:latin typeface="Consolas" pitchFamily="49" charset="0"/>
                <a:ea typeface="宋体" pitchFamily="2" charset="-122"/>
                <a:cs typeface="Consolas" pitchFamily="49" charset="0"/>
              </a:rPr>
              <a:t>step = 5</a:t>
            </a:r>
            <a:endParaRPr lang="zh-CN" altLang="en-US" sz="2800" dirty="0">
              <a:latin typeface="Consolas" pitchFamily="49" charset="0"/>
              <a:ea typeface="宋体" pitchFamily="2" charset="-122"/>
              <a:cs typeface="Consolas" pitchFamily="49" charset="0"/>
            </a:endParaRPr>
          </a:p>
        </p:txBody>
      </p:sp>
      <p:sp>
        <p:nvSpPr>
          <p:cNvPr id="28" name="TextBox 6">
            <a:extLst>
              <a:ext uri="{FF2B5EF4-FFF2-40B4-BE49-F238E27FC236}">
                <a16:creationId xmlns:a16="http://schemas.microsoft.com/office/drawing/2014/main" id="{E01F667A-845D-4536-8384-C54BC7AB3892}"/>
              </a:ext>
            </a:extLst>
          </p:cNvPr>
          <p:cNvSpPr txBox="1"/>
          <p:nvPr/>
        </p:nvSpPr>
        <p:spPr>
          <a:xfrm>
            <a:off x="9069952" y="756042"/>
            <a:ext cx="2638145" cy="5232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400"/>
            </a:lvl1pPr>
          </a:lstStyle>
          <a:p>
            <a:r>
              <a:rPr lang="en-US" altLang="zh-CN" sz="2800">
                <a:solidFill>
                  <a:srgbClr val="0070C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(2,4) (</a:t>
            </a:r>
            <a:r>
              <a:rPr lang="en-US" altLang="zh-CN" sz="2800">
                <a:solidFill>
                  <a:srgbClr val="FF000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3</a:t>
            </a:r>
            <a:r>
              <a:rPr lang="en-US" altLang="zh-CN" sz="2800">
                <a:solidFill>
                  <a:srgbClr val="0070C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,</a:t>
            </a:r>
            <a:r>
              <a:rPr lang="en-US" altLang="zh-CN" sz="2800">
                <a:solidFill>
                  <a:srgbClr val="FF000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3</a:t>
            </a:r>
            <a:r>
              <a:rPr lang="en-US" altLang="zh-CN" sz="2800">
                <a:solidFill>
                  <a:srgbClr val="0070C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)</a:t>
            </a:r>
            <a:endParaRPr lang="zh-CN" altLang="en-US" sz="2800" dirty="0">
              <a:solidFill>
                <a:srgbClr val="0070C0"/>
              </a:solidFill>
              <a:latin typeface="Consolas" pitchFamily="49" charset="0"/>
              <a:ea typeface="宋体" pitchFamily="2" charset="-122"/>
              <a:cs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78435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28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F93F1856-2264-4978-9A29-A8A2B78E9A3D}"/>
              </a:ext>
            </a:extLst>
          </p:cNvPr>
          <p:cNvGraphicFramePr>
            <a:graphicFrameLocks noGrp="1"/>
          </p:cNvGraphicFramePr>
          <p:nvPr/>
        </p:nvGraphicFramePr>
        <p:xfrm>
          <a:off x="3839595" y="1484784"/>
          <a:ext cx="4488655" cy="345638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977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77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977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977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9773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64096">
                <a:tc>
                  <a:txBody>
                    <a:bodyPr/>
                    <a:lstStyle/>
                    <a:p>
                      <a:pPr marL="0" algn="ctr"/>
                      <a:r>
                        <a:rPr lang="en-US" altLang="zh-CN" sz="4800" dirty="0">
                          <a:latin typeface="Consolas" pitchFamily="49" charset="0"/>
                          <a:cs typeface="Consolas" pitchFamily="49" charset="0"/>
                        </a:rPr>
                        <a:t>q</a:t>
                      </a:r>
                      <a:endParaRPr lang="zh-CN" altLang="en-US" sz="4800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US" altLang="zh-CN" sz="4800" dirty="0">
                          <a:latin typeface="Consolas" pitchFamily="49" charset="0"/>
                          <a:cs typeface="Consolas" pitchFamily="49" charset="0"/>
                        </a:rPr>
                        <a:t>o</a:t>
                      </a:r>
                      <a:endParaRPr lang="zh-CN" altLang="en-US" sz="4800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US" altLang="zh-CN" sz="4800" dirty="0">
                          <a:latin typeface="Consolas" pitchFamily="49" charset="0"/>
                          <a:cs typeface="Consolas" pitchFamily="49" charset="0"/>
                        </a:rPr>
                        <a:t>n</a:t>
                      </a:r>
                      <a:endParaRPr lang="zh-CN" altLang="en-US" sz="4800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US" altLang="zh-CN" sz="4800" dirty="0">
                          <a:latin typeface="Consolas" pitchFamily="49" charset="0"/>
                          <a:cs typeface="Consolas" pitchFamily="49" charset="0"/>
                        </a:rPr>
                        <a:t>o</a:t>
                      </a:r>
                      <a:endParaRPr lang="zh-CN" altLang="en-US" sz="4800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US" altLang="zh-CN" sz="4800" dirty="0">
                          <a:latin typeface="Consolas" pitchFamily="49" charset="0"/>
                          <a:cs typeface="Consolas" pitchFamily="49" charset="0"/>
                        </a:rPr>
                        <a:t>c</a:t>
                      </a:r>
                      <a:endParaRPr lang="zh-CN" altLang="en-US" sz="4800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4096">
                <a:tc>
                  <a:txBody>
                    <a:bodyPr/>
                    <a:lstStyle/>
                    <a:p>
                      <a:pPr marL="0" algn="ctr"/>
                      <a:r>
                        <a:rPr lang="en-US" altLang="zh-CN" sz="4800" dirty="0">
                          <a:latin typeface="Consolas" pitchFamily="49" charset="0"/>
                          <a:cs typeface="Consolas" pitchFamily="49" charset="0"/>
                        </a:rPr>
                        <a:t>o</a:t>
                      </a:r>
                      <a:endParaRPr lang="zh-CN" altLang="en-US" sz="4800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US" altLang="zh-CN" sz="4800" dirty="0">
                          <a:latin typeface="Consolas" pitchFamily="49" charset="0"/>
                          <a:cs typeface="Consolas" pitchFamily="49" charset="0"/>
                        </a:rPr>
                        <a:t>h</a:t>
                      </a:r>
                      <a:endParaRPr lang="zh-CN" altLang="en-US" sz="4800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US" altLang="zh-CN" sz="4800" dirty="0">
                          <a:latin typeface="Consolas" pitchFamily="49" charset="0"/>
                          <a:cs typeface="Consolas" pitchFamily="49" charset="0"/>
                        </a:rPr>
                        <a:t>o</a:t>
                      </a:r>
                      <a:endParaRPr lang="zh-CN" altLang="en-US" sz="4800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US" altLang="zh-CN" sz="4800" dirty="0">
                          <a:latin typeface="Consolas" pitchFamily="49" charset="0"/>
                          <a:cs typeface="Consolas" pitchFamily="49" charset="0"/>
                        </a:rPr>
                        <a:t>h</a:t>
                      </a:r>
                      <a:endParaRPr lang="zh-CN" altLang="en-US" sz="4800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US" altLang="zh-CN" sz="4800" dirty="0">
                          <a:latin typeface="Consolas" pitchFamily="49" charset="0"/>
                          <a:cs typeface="Consolas" pitchFamily="49" charset="0"/>
                        </a:rPr>
                        <a:t>o</a:t>
                      </a:r>
                      <a:endParaRPr lang="zh-CN" altLang="en-US" sz="4800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7408999"/>
                  </a:ext>
                </a:extLst>
              </a:tr>
              <a:tr h="864096">
                <a:tc>
                  <a:txBody>
                    <a:bodyPr/>
                    <a:lstStyle/>
                    <a:p>
                      <a:pPr marL="0" algn="ctr"/>
                      <a:r>
                        <a:rPr lang="en-US" altLang="zh-CN" sz="4800" dirty="0">
                          <a:latin typeface="Consolas" pitchFamily="49" charset="0"/>
                          <a:cs typeface="Consolas" pitchFamily="49" charset="0"/>
                        </a:rPr>
                        <a:t>h</a:t>
                      </a:r>
                      <a:endParaRPr lang="zh-CN" altLang="en-US" sz="4800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US" altLang="zh-CN" sz="4800" dirty="0">
                          <a:latin typeface="Consolas" pitchFamily="49" charset="0"/>
                          <a:cs typeface="Consolas" pitchFamily="49" charset="0"/>
                        </a:rPr>
                        <a:t>z</a:t>
                      </a:r>
                      <a:endParaRPr lang="zh-CN" altLang="en-US" sz="4800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US" altLang="zh-CN" sz="4800" dirty="0">
                          <a:latin typeface="Consolas" pitchFamily="49" charset="0"/>
                          <a:cs typeface="Consolas" pitchFamily="49" charset="0"/>
                        </a:rPr>
                        <a:t>a</a:t>
                      </a:r>
                      <a:endParaRPr lang="zh-CN" altLang="en-US" sz="4800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US" altLang="zh-CN" sz="4800" dirty="0">
                          <a:latin typeface="Consolas" pitchFamily="49" charset="0"/>
                          <a:cs typeface="Consolas" pitchFamily="49" charset="0"/>
                        </a:rPr>
                        <a:t>q</a:t>
                      </a:r>
                      <a:endParaRPr lang="zh-CN" altLang="en-US" sz="4800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US" altLang="zh-CN" sz="4800" dirty="0">
                          <a:latin typeface="Consolas" pitchFamily="49" charset="0"/>
                          <a:cs typeface="Consolas" pitchFamily="49" charset="0"/>
                        </a:rPr>
                        <a:t>o</a:t>
                      </a:r>
                      <a:endParaRPr lang="zh-CN" altLang="en-US" sz="4800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4096">
                <a:tc>
                  <a:txBody>
                    <a:bodyPr/>
                    <a:lstStyle/>
                    <a:p>
                      <a:pPr marL="0" algn="ctr"/>
                      <a:r>
                        <a:rPr lang="en-US" altLang="zh-CN" sz="4800" dirty="0">
                          <a:latin typeface="Consolas" pitchFamily="49" charset="0"/>
                          <a:cs typeface="Consolas" pitchFamily="49" charset="0"/>
                        </a:rPr>
                        <a:t>p</a:t>
                      </a:r>
                      <a:endParaRPr lang="zh-CN" altLang="en-US" sz="4800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US" altLang="zh-CN" sz="4800" dirty="0" err="1">
                          <a:latin typeface="Consolas" pitchFamily="49" charset="0"/>
                          <a:cs typeface="Consolas" pitchFamily="49" charset="0"/>
                        </a:rPr>
                        <a:t>i</a:t>
                      </a:r>
                      <a:endParaRPr lang="zh-CN" altLang="en-US" sz="4800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US" altLang="zh-CN" sz="4800" dirty="0">
                          <a:latin typeface="Consolas" pitchFamily="49" charset="0"/>
                          <a:cs typeface="Consolas" pitchFamily="49" charset="0"/>
                        </a:rPr>
                        <a:t>r</a:t>
                      </a:r>
                      <a:endParaRPr lang="zh-CN" altLang="en-US" sz="4800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US" altLang="zh-CN" sz="4800" dirty="0">
                          <a:latin typeface="Consolas" pitchFamily="49" charset="0"/>
                          <a:cs typeface="Consolas" pitchFamily="49" charset="0"/>
                        </a:rPr>
                        <a:t>k</a:t>
                      </a:r>
                      <a:endParaRPr lang="zh-CN" altLang="en-US" sz="4800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US" altLang="zh-CN" sz="4800" dirty="0">
                          <a:latin typeface="Consolas" pitchFamily="49" charset="0"/>
                          <a:cs typeface="Consolas" pitchFamily="49" charset="0"/>
                        </a:rPr>
                        <a:t>o</a:t>
                      </a:r>
                      <a:endParaRPr lang="zh-CN" altLang="en-US" sz="4800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4165280"/>
                  </a:ext>
                </a:extLst>
              </a:tr>
            </a:tbl>
          </a:graphicData>
        </a:graphic>
      </p:graphicFrame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CCA2BB40-C3E7-4443-8211-0D410ED7C6E2}"/>
              </a:ext>
            </a:extLst>
          </p:cNvPr>
          <p:cNvCxnSpPr>
            <a:cxnSpLocks/>
          </p:cNvCxnSpPr>
          <p:nvPr/>
        </p:nvCxnSpPr>
        <p:spPr>
          <a:xfrm flipV="1">
            <a:off x="5735960" y="2264522"/>
            <a:ext cx="3600400" cy="3468735"/>
          </a:xfrm>
          <a:prstGeom prst="line">
            <a:avLst/>
          </a:prstGeom>
          <a:ln w="76200">
            <a:solidFill>
              <a:schemeClr val="tx1">
                <a:lumMod val="75000"/>
                <a:lumOff val="25000"/>
                <a:alpha val="50196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6">
            <a:extLst>
              <a:ext uri="{FF2B5EF4-FFF2-40B4-BE49-F238E27FC236}">
                <a16:creationId xmlns:a16="http://schemas.microsoft.com/office/drawing/2014/main" id="{5F578DF9-A6A7-4926-8B6A-DB20C98A35BA}"/>
              </a:ext>
            </a:extLst>
          </p:cNvPr>
          <p:cNvSpPr txBox="1"/>
          <p:nvPr/>
        </p:nvSpPr>
        <p:spPr>
          <a:xfrm>
            <a:off x="1811526" y="5863054"/>
            <a:ext cx="4968552" cy="58477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400"/>
            </a:lvl1pPr>
          </a:lstStyle>
          <a:p>
            <a:r>
              <a:rPr lang="zh-CN" altLang="en-US" sz="3200" dirty="0">
                <a:latin typeface="Consolas" pitchFamily="49" charset="0"/>
                <a:ea typeface="宋体" pitchFamily="2" charset="-122"/>
                <a:cs typeface="Consolas" pitchFamily="49" charset="0"/>
              </a:rPr>
              <a:t>答案字符串 </a:t>
            </a:r>
            <a:r>
              <a:rPr lang="en-US" altLang="zh-CN" sz="3200" dirty="0">
                <a:latin typeface="Consolas" pitchFamily="49" charset="0"/>
                <a:ea typeface="宋体" pitchFamily="2" charset="-122"/>
                <a:cs typeface="Consolas" pitchFamily="49" charset="0"/>
              </a:rPr>
              <a:t>= </a:t>
            </a:r>
            <a:r>
              <a:rPr lang="en-US" altLang="zh-CN" sz="3200" dirty="0" err="1">
                <a:latin typeface="Consolas" pitchFamily="49" charset="0"/>
                <a:ea typeface="宋体" pitchFamily="2" charset="-122"/>
                <a:cs typeface="Consolas" pitchFamily="49" charset="0"/>
              </a:rPr>
              <a:t>qohoaq</a:t>
            </a:r>
            <a:r>
              <a:rPr lang="en-US" altLang="zh-CN" sz="3200" dirty="0">
                <a:latin typeface="Consolas" pitchFamily="49" charset="0"/>
                <a:ea typeface="宋体" pitchFamily="2" charset="-122"/>
                <a:cs typeface="Consolas" pitchFamily="49" charset="0"/>
              </a:rPr>
              <a:t>??</a:t>
            </a:r>
            <a:endParaRPr lang="zh-CN" altLang="en-US" sz="3200" dirty="0">
              <a:latin typeface="Consolas" pitchFamily="49" charset="0"/>
              <a:ea typeface="宋体" pitchFamily="2" charset="-122"/>
              <a:cs typeface="Consolas" pitchFamily="49" charset="0"/>
            </a:endParaRPr>
          </a:p>
        </p:txBody>
      </p: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39360727-A3BF-4685-8BCB-5504C7D2E4D4}"/>
              </a:ext>
            </a:extLst>
          </p:cNvPr>
          <p:cNvCxnSpPr>
            <a:cxnSpLocks/>
          </p:cNvCxnSpPr>
          <p:nvPr/>
        </p:nvCxnSpPr>
        <p:spPr>
          <a:xfrm>
            <a:off x="6780078" y="3861049"/>
            <a:ext cx="0" cy="483119"/>
          </a:xfrm>
          <a:prstGeom prst="straightConnector1">
            <a:avLst/>
          </a:prstGeom>
          <a:ln w="57150">
            <a:solidFill>
              <a:schemeClr val="accent6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A303961C-438C-49AE-88AC-02D438958C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30</a:t>
            </a:fld>
            <a:endParaRPr lang="zh-CN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E3CAF54-C8AA-414A-B44A-8D50054C6FC6}"/>
              </a:ext>
            </a:extLst>
          </p:cNvPr>
          <p:cNvSpPr txBox="1"/>
          <p:nvPr/>
        </p:nvSpPr>
        <p:spPr>
          <a:xfrm>
            <a:off x="280241" y="1295551"/>
            <a:ext cx="2484276" cy="5232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400"/>
            </a:lvl1pPr>
          </a:lstStyle>
          <a:p>
            <a:r>
              <a:rPr lang="en-US" altLang="zh-CN" sz="2800">
                <a:latin typeface="Consolas" pitchFamily="49" charset="0"/>
                <a:ea typeface="宋体" pitchFamily="2" charset="-122"/>
                <a:cs typeface="Consolas" pitchFamily="49" charset="0"/>
              </a:rPr>
              <a:t>step = 2</a:t>
            </a:r>
            <a:endParaRPr lang="zh-CN" altLang="en-US" sz="2800" dirty="0">
              <a:latin typeface="Consolas" pitchFamily="49" charset="0"/>
              <a:ea typeface="宋体" pitchFamily="2" charset="-122"/>
              <a:cs typeface="Consolas" pitchFamily="49" charset="0"/>
            </a:endParaRPr>
          </a:p>
        </p:txBody>
      </p:sp>
      <p:sp>
        <p:nvSpPr>
          <p:cNvPr id="9" name="TextBox 6">
            <a:extLst>
              <a:ext uri="{FF2B5EF4-FFF2-40B4-BE49-F238E27FC236}">
                <a16:creationId xmlns:a16="http://schemas.microsoft.com/office/drawing/2014/main" id="{3F64BD58-D641-40CB-BB5F-8BCDCC116BCC}"/>
              </a:ext>
            </a:extLst>
          </p:cNvPr>
          <p:cNvSpPr txBox="1"/>
          <p:nvPr/>
        </p:nvSpPr>
        <p:spPr>
          <a:xfrm>
            <a:off x="280241" y="260648"/>
            <a:ext cx="2484276" cy="5232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400"/>
            </a:lvl1pPr>
          </a:lstStyle>
          <a:p>
            <a:r>
              <a:rPr lang="en-US" altLang="zh-CN" sz="2800">
                <a:latin typeface="Consolas" pitchFamily="49" charset="0"/>
                <a:ea typeface="宋体" pitchFamily="2" charset="-122"/>
                <a:cs typeface="Consolas" pitchFamily="49" charset="0"/>
              </a:rPr>
              <a:t>step = 1</a:t>
            </a:r>
            <a:endParaRPr lang="zh-CN" altLang="en-US" sz="2800" dirty="0">
              <a:latin typeface="Consolas" pitchFamily="49" charset="0"/>
              <a:ea typeface="宋体" pitchFamily="2" charset="-122"/>
              <a:cs typeface="Consolas" pitchFamily="49" charset="0"/>
            </a:endParaRPr>
          </a:p>
        </p:txBody>
      </p:sp>
      <p:sp>
        <p:nvSpPr>
          <p:cNvPr id="13" name="TextBox 6">
            <a:extLst>
              <a:ext uri="{FF2B5EF4-FFF2-40B4-BE49-F238E27FC236}">
                <a16:creationId xmlns:a16="http://schemas.microsoft.com/office/drawing/2014/main" id="{C3C39743-B19E-4A45-BF70-F2F1C60FA4B6}"/>
              </a:ext>
            </a:extLst>
          </p:cNvPr>
          <p:cNvSpPr txBox="1"/>
          <p:nvPr/>
        </p:nvSpPr>
        <p:spPr>
          <a:xfrm>
            <a:off x="309478" y="2320432"/>
            <a:ext cx="2484276" cy="5232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400"/>
            </a:lvl1pPr>
          </a:lstStyle>
          <a:p>
            <a:r>
              <a:rPr lang="en-US" altLang="zh-CN" sz="2800">
                <a:latin typeface="Consolas" pitchFamily="49" charset="0"/>
                <a:ea typeface="宋体" pitchFamily="2" charset="-122"/>
                <a:cs typeface="Consolas" pitchFamily="49" charset="0"/>
              </a:rPr>
              <a:t>step = 3</a:t>
            </a:r>
            <a:endParaRPr lang="zh-CN" altLang="en-US" sz="2800" dirty="0">
              <a:latin typeface="Consolas" pitchFamily="49" charset="0"/>
              <a:ea typeface="宋体" pitchFamily="2" charset="-122"/>
              <a:cs typeface="Consolas" pitchFamily="49" charset="0"/>
            </a:endParaRPr>
          </a:p>
        </p:txBody>
      </p:sp>
      <p:sp>
        <p:nvSpPr>
          <p:cNvPr id="14" name="TextBox 6">
            <a:extLst>
              <a:ext uri="{FF2B5EF4-FFF2-40B4-BE49-F238E27FC236}">
                <a16:creationId xmlns:a16="http://schemas.microsoft.com/office/drawing/2014/main" id="{03914348-8715-481C-9ED7-4E8557A10DBE}"/>
              </a:ext>
            </a:extLst>
          </p:cNvPr>
          <p:cNvSpPr txBox="1"/>
          <p:nvPr/>
        </p:nvSpPr>
        <p:spPr>
          <a:xfrm>
            <a:off x="280242" y="3353764"/>
            <a:ext cx="2484276" cy="5232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400"/>
            </a:lvl1pPr>
          </a:lstStyle>
          <a:p>
            <a:r>
              <a:rPr lang="en-US" altLang="zh-CN" sz="2800">
                <a:latin typeface="Consolas" pitchFamily="49" charset="0"/>
                <a:ea typeface="宋体" pitchFamily="2" charset="-122"/>
                <a:cs typeface="Consolas" pitchFamily="49" charset="0"/>
              </a:rPr>
              <a:t>step = 4</a:t>
            </a:r>
            <a:endParaRPr lang="zh-CN" altLang="en-US" sz="2800" dirty="0">
              <a:latin typeface="Consolas" pitchFamily="49" charset="0"/>
              <a:ea typeface="宋体" pitchFamily="2" charset="-122"/>
              <a:cs typeface="Consolas" pitchFamily="49" charset="0"/>
            </a:endParaRPr>
          </a:p>
        </p:txBody>
      </p:sp>
      <p:sp>
        <p:nvSpPr>
          <p:cNvPr id="15" name="TextBox 6">
            <a:extLst>
              <a:ext uri="{FF2B5EF4-FFF2-40B4-BE49-F238E27FC236}">
                <a16:creationId xmlns:a16="http://schemas.microsoft.com/office/drawing/2014/main" id="{F8BD9F24-1745-4751-A57C-BF213E3C75D8}"/>
              </a:ext>
            </a:extLst>
          </p:cNvPr>
          <p:cNvSpPr txBox="1"/>
          <p:nvPr/>
        </p:nvSpPr>
        <p:spPr>
          <a:xfrm>
            <a:off x="9116922" y="254381"/>
            <a:ext cx="2484276" cy="5232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400"/>
            </a:lvl1pPr>
          </a:lstStyle>
          <a:p>
            <a:r>
              <a:rPr lang="en-US" altLang="zh-CN" sz="2800">
                <a:latin typeface="Consolas" pitchFamily="49" charset="0"/>
                <a:ea typeface="宋体" pitchFamily="2" charset="-122"/>
                <a:cs typeface="Consolas" pitchFamily="49" charset="0"/>
              </a:rPr>
              <a:t>step = 5</a:t>
            </a:r>
            <a:endParaRPr lang="zh-CN" altLang="en-US" sz="2800" dirty="0">
              <a:latin typeface="Consolas" pitchFamily="49" charset="0"/>
              <a:ea typeface="宋体" pitchFamily="2" charset="-122"/>
              <a:cs typeface="Consolas" pitchFamily="49" charset="0"/>
            </a:endParaRPr>
          </a:p>
        </p:txBody>
      </p:sp>
      <p:sp>
        <p:nvSpPr>
          <p:cNvPr id="16" name="TextBox 6">
            <a:extLst>
              <a:ext uri="{FF2B5EF4-FFF2-40B4-BE49-F238E27FC236}">
                <a16:creationId xmlns:a16="http://schemas.microsoft.com/office/drawing/2014/main" id="{D43F49CC-E259-475E-81D5-A28B2D578D43}"/>
              </a:ext>
            </a:extLst>
          </p:cNvPr>
          <p:cNvSpPr txBox="1"/>
          <p:nvPr/>
        </p:nvSpPr>
        <p:spPr>
          <a:xfrm>
            <a:off x="9069952" y="756042"/>
            <a:ext cx="2638145" cy="5232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400"/>
            </a:lvl1pPr>
          </a:lstStyle>
          <a:p>
            <a:r>
              <a:rPr lang="en-US" altLang="zh-CN" sz="2800">
                <a:solidFill>
                  <a:srgbClr val="0070C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(2,4) (</a:t>
            </a:r>
            <a:r>
              <a:rPr lang="en-US" altLang="zh-CN" sz="2800">
                <a:solidFill>
                  <a:srgbClr val="FF000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3</a:t>
            </a:r>
            <a:r>
              <a:rPr lang="en-US" altLang="zh-CN" sz="2800">
                <a:solidFill>
                  <a:srgbClr val="0070C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,</a:t>
            </a:r>
            <a:r>
              <a:rPr lang="en-US" altLang="zh-CN" sz="2800">
                <a:solidFill>
                  <a:srgbClr val="FF000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3</a:t>
            </a:r>
            <a:r>
              <a:rPr lang="en-US" altLang="zh-CN" sz="2800">
                <a:solidFill>
                  <a:srgbClr val="0070C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)</a:t>
            </a:r>
            <a:endParaRPr lang="zh-CN" altLang="en-US" sz="2800" dirty="0">
              <a:solidFill>
                <a:srgbClr val="0070C0"/>
              </a:solidFill>
              <a:latin typeface="Consolas" pitchFamily="49" charset="0"/>
              <a:ea typeface="宋体" pitchFamily="2" charset="-122"/>
              <a:cs typeface="Consolas" pitchFamily="49" charset="0"/>
            </a:endParaRPr>
          </a:p>
        </p:txBody>
      </p:sp>
      <p:sp>
        <p:nvSpPr>
          <p:cNvPr id="19" name="TextBox 6">
            <a:extLst>
              <a:ext uri="{FF2B5EF4-FFF2-40B4-BE49-F238E27FC236}">
                <a16:creationId xmlns:a16="http://schemas.microsoft.com/office/drawing/2014/main" id="{21191C70-A4BC-4F66-B0F9-FB9F8D93BAA4}"/>
              </a:ext>
            </a:extLst>
          </p:cNvPr>
          <p:cNvSpPr txBox="1"/>
          <p:nvPr/>
        </p:nvSpPr>
        <p:spPr>
          <a:xfrm>
            <a:off x="233272" y="3855425"/>
            <a:ext cx="3385220" cy="5232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400"/>
            </a:lvl1pPr>
          </a:lstStyle>
          <a:p>
            <a:r>
              <a:rPr lang="en-US" altLang="zh-CN" sz="2800">
                <a:solidFill>
                  <a:srgbClr val="0070C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(</a:t>
            </a:r>
            <a:r>
              <a:rPr lang="en-US" altLang="zh-CN" sz="2800">
                <a:solidFill>
                  <a:srgbClr val="FF000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2</a:t>
            </a:r>
            <a:r>
              <a:rPr lang="en-US" altLang="zh-CN" sz="2800">
                <a:solidFill>
                  <a:srgbClr val="0070C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,</a:t>
            </a:r>
            <a:r>
              <a:rPr lang="en-US" altLang="zh-CN" sz="2800">
                <a:solidFill>
                  <a:srgbClr val="FF000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3</a:t>
            </a:r>
            <a:r>
              <a:rPr lang="en-US" altLang="zh-CN" sz="2800">
                <a:solidFill>
                  <a:srgbClr val="0070C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) (3,2) (4,1)</a:t>
            </a:r>
            <a:endParaRPr lang="zh-CN" altLang="en-US" sz="2800" dirty="0">
              <a:solidFill>
                <a:srgbClr val="0070C0"/>
              </a:solidFill>
              <a:latin typeface="Consolas" pitchFamily="49" charset="0"/>
              <a:ea typeface="宋体" pitchFamily="2" charset="-122"/>
              <a:cs typeface="Consolas" pitchFamily="49" charset="0"/>
            </a:endParaRPr>
          </a:p>
        </p:txBody>
      </p:sp>
      <p:sp>
        <p:nvSpPr>
          <p:cNvPr id="20" name="TextBox 6">
            <a:extLst>
              <a:ext uri="{FF2B5EF4-FFF2-40B4-BE49-F238E27FC236}">
                <a16:creationId xmlns:a16="http://schemas.microsoft.com/office/drawing/2014/main" id="{38C8FC97-AB91-4890-B568-52B32898A9AC}"/>
              </a:ext>
            </a:extLst>
          </p:cNvPr>
          <p:cNvSpPr txBox="1"/>
          <p:nvPr/>
        </p:nvSpPr>
        <p:spPr>
          <a:xfrm>
            <a:off x="262508" y="2822093"/>
            <a:ext cx="3385220" cy="5232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400"/>
            </a:lvl1pPr>
          </a:lstStyle>
          <a:p>
            <a:r>
              <a:rPr lang="en-US" altLang="zh-CN" sz="2800">
                <a:solidFill>
                  <a:srgbClr val="0070C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(1,3) (</a:t>
            </a:r>
            <a:r>
              <a:rPr lang="en-US" altLang="zh-CN" sz="2800">
                <a:solidFill>
                  <a:srgbClr val="FF000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2</a:t>
            </a:r>
            <a:r>
              <a:rPr lang="en-US" altLang="zh-CN" sz="2800">
                <a:solidFill>
                  <a:srgbClr val="0070C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,</a:t>
            </a:r>
            <a:r>
              <a:rPr lang="en-US" altLang="zh-CN" sz="2800">
                <a:solidFill>
                  <a:srgbClr val="FF000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2</a:t>
            </a:r>
            <a:r>
              <a:rPr lang="en-US" altLang="zh-CN" sz="2800">
                <a:solidFill>
                  <a:srgbClr val="0070C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) (</a:t>
            </a:r>
            <a:r>
              <a:rPr lang="en-US" altLang="zh-CN" sz="2800">
                <a:solidFill>
                  <a:srgbClr val="FF000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3</a:t>
            </a:r>
            <a:r>
              <a:rPr lang="en-US" altLang="zh-CN" sz="2800">
                <a:solidFill>
                  <a:srgbClr val="0070C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,</a:t>
            </a:r>
            <a:r>
              <a:rPr lang="en-US" altLang="zh-CN" sz="2800">
                <a:solidFill>
                  <a:srgbClr val="FF000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1</a:t>
            </a:r>
            <a:r>
              <a:rPr lang="en-US" altLang="zh-CN" sz="2800">
                <a:solidFill>
                  <a:srgbClr val="0070C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)</a:t>
            </a:r>
            <a:endParaRPr lang="zh-CN" altLang="en-US" sz="2800" dirty="0">
              <a:solidFill>
                <a:srgbClr val="0070C0"/>
              </a:solidFill>
              <a:latin typeface="Consolas" pitchFamily="49" charset="0"/>
              <a:ea typeface="宋体" pitchFamily="2" charset="-122"/>
              <a:cs typeface="Consolas" pitchFamily="49" charset="0"/>
            </a:endParaRPr>
          </a:p>
        </p:txBody>
      </p:sp>
      <p:sp>
        <p:nvSpPr>
          <p:cNvPr id="21" name="TextBox 6">
            <a:extLst>
              <a:ext uri="{FF2B5EF4-FFF2-40B4-BE49-F238E27FC236}">
                <a16:creationId xmlns:a16="http://schemas.microsoft.com/office/drawing/2014/main" id="{5A9F29A0-06FA-4B01-B99B-29046213BFD1}"/>
              </a:ext>
            </a:extLst>
          </p:cNvPr>
          <p:cNvSpPr txBox="1"/>
          <p:nvPr/>
        </p:nvSpPr>
        <p:spPr>
          <a:xfrm>
            <a:off x="233272" y="1797212"/>
            <a:ext cx="2484276" cy="5232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400"/>
            </a:lvl1pPr>
          </a:lstStyle>
          <a:p>
            <a:r>
              <a:rPr lang="en-US" altLang="zh-CN" sz="2800">
                <a:solidFill>
                  <a:srgbClr val="0070C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(</a:t>
            </a:r>
            <a:r>
              <a:rPr lang="en-US" altLang="zh-CN" sz="2800">
                <a:solidFill>
                  <a:srgbClr val="FF000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1</a:t>
            </a:r>
            <a:r>
              <a:rPr lang="en-US" altLang="zh-CN" sz="2800">
                <a:solidFill>
                  <a:srgbClr val="0070C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,</a:t>
            </a:r>
            <a:r>
              <a:rPr lang="en-US" altLang="zh-CN" sz="2800">
                <a:solidFill>
                  <a:srgbClr val="FF000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2</a:t>
            </a:r>
            <a:r>
              <a:rPr lang="en-US" altLang="zh-CN" sz="2800">
                <a:solidFill>
                  <a:srgbClr val="0070C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) (</a:t>
            </a:r>
            <a:r>
              <a:rPr lang="en-US" altLang="zh-CN" sz="2800">
                <a:solidFill>
                  <a:srgbClr val="FF000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2</a:t>
            </a:r>
            <a:r>
              <a:rPr lang="en-US" altLang="zh-CN" sz="2800">
                <a:solidFill>
                  <a:srgbClr val="0070C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,</a:t>
            </a:r>
            <a:r>
              <a:rPr lang="en-US" altLang="zh-CN" sz="2800">
                <a:solidFill>
                  <a:srgbClr val="FF000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1</a:t>
            </a:r>
            <a:r>
              <a:rPr lang="en-US" altLang="zh-CN" sz="2800">
                <a:solidFill>
                  <a:srgbClr val="0070C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)</a:t>
            </a:r>
            <a:endParaRPr lang="zh-CN" altLang="en-US" sz="2800" dirty="0">
              <a:solidFill>
                <a:srgbClr val="0070C0"/>
              </a:solidFill>
              <a:latin typeface="Consolas" pitchFamily="49" charset="0"/>
              <a:ea typeface="宋体" pitchFamily="2" charset="-122"/>
              <a:cs typeface="Consolas" pitchFamily="49" charset="0"/>
            </a:endParaRPr>
          </a:p>
        </p:txBody>
      </p:sp>
      <p:sp>
        <p:nvSpPr>
          <p:cNvPr id="22" name="TextBox 6">
            <a:extLst>
              <a:ext uri="{FF2B5EF4-FFF2-40B4-BE49-F238E27FC236}">
                <a16:creationId xmlns:a16="http://schemas.microsoft.com/office/drawing/2014/main" id="{8C02418D-9A2B-437C-BAEC-FA74B8CB4D84}"/>
              </a:ext>
            </a:extLst>
          </p:cNvPr>
          <p:cNvSpPr txBox="1"/>
          <p:nvPr/>
        </p:nvSpPr>
        <p:spPr>
          <a:xfrm>
            <a:off x="277234" y="762309"/>
            <a:ext cx="1882316" cy="5232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400"/>
            </a:lvl1pPr>
          </a:lstStyle>
          <a:p>
            <a:r>
              <a:rPr lang="en-US" altLang="zh-CN" sz="2800">
                <a:solidFill>
                  <a:srgbClr val="0070C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(</a:t>
            </a:r>
            <a:r>
              <a:rPr lang="en-US" altLang="zh-CN" sz="2800">
                <a:solidFill>
                  <a:srgbClr val="FF000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1,1</a:t>
            </a:r>
            <a:r>
              <a:rPr lang="en-US" altLang="zh-CN" sz="2800">
                <a:solidFill>
                  <a:srgbClr val="0070C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)</a:t>
            </a:r>
            <a:endParaRPr lang="zh-CN" altLang="en-US" sz="2800" dirty="0">
              <a:solidFill>
                <a:srgbClr val="0070C0"/>
              </a:solidFill>
              <a:latin typeface="Consolas" pitchFamily="49" charset="0"/>
              <a:ea typeface="宋体" pitchFamily="2" charset="-122"/>
              <a:cs typeface="Consolas" pitchFamily="49" charset="0"/>
            </a:endParaRPr>
          </a:p>
        </p:txBody>
      </p:sp>
      <p:sp>
        <p:nvSpPr>
          <p:cNvPr id="25" name="TextBox 6">
            <a:extLst>
              <a:ext uri="{FF2B5EF4-FFF2-40B4-BE49-F238E27FC236}">
                <a16:creationId xmlns:a16="http://schemas.microsoft.com/office/drawing/2014/main" id="{F4F6B5DC-E058-444A-A644-43E3B1FCCB44}"/>
              </a:ext>
            </a:extLst>
          </p:cNvPr>
          <p:cNvSpPr txBox="1"/>
          <p:nvPr/>
        </p:nvSpPr>
        <p:spPr>
          <a:xfrm>
            <a:off x="9163892" y="1406878"/>
            <a:ext cx="2484276" cy="5232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400"/>
            </a:lvl1pPr>
          </a:lstStyle>
          <a:p>
            <a:r>
              <a:rPr lang="en-US" altLang="zh-CN" sz="2800">
                <a:latin typeface="Consolas" pitchFamily="49" charset="0"/>
                <a:ea typeface="宋体" pitchFamily="2" charset="-122"/>
                <a:cs typeface="Consolas" pitchFamily="49" charset="0"/>
              </a:rPr>
              <a:t>step = 6</a:t>
            </a:r>
            <a:endParaRPr lang="zh-CN" altLang="en-US" sz="2800" dirty="0">
              <a:latin typeface="Consolas" pitchFamily="49" charset="0"/>
              <a:ea typeface="宋体" pitchFamily="2" charset="-122"/>
              <a:cs typeface="Consolas" pitchFamily="49" charset="0"/>
            </a:endParaRPr>
          </a:p>
        </p:txBody>
      </p:sp>
      <p:sp>
        <p:nvSpPr>
          <p:cNvPr id="26" name="TextBox 6">
            <a:extLst>
              <a:ext uri="{FF2B5EF4-FFF2-40B4-BE49-F238E27FC236}">
                <a16:creationId xmlns:a16="http://schemas.microsoft.com/office/drawing/2014/main" id="{1113835C-393C-439E-9844-A7A139B427EB}"/>
              </a:ext>
            </a:extLst>
          </p:cNvPr>
          <p:cNvSpPr txBox="1"/>
          <p:nvPr/>
        </p:nvSpPr>
        <p:spPr>
          <a:xfrm>
            <a:off x="9116922" y="1908539"/>
            <a:ext cx="2638145" cy="5232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400"/>
            </a:lvl1pPr>
          </a:lstStyle>
          <a:p>
            <a:r>
              <a:rPr lang="en-US" altLang="zh-CN" sz="2800">
                <a:solidFill>
                  <a:srgbClr val="0070C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(3,4) (</a:t>
            </a:r>
            <a:r>
              <a:rPr lang="en-US" altLang="zh-CN" sz="2800">
                <a:solidFill>
                  <a:srgbClr val="FF000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4</a:t>
            </a:r>
            <a:r>
              <a:rPr lang="en-US" altLang="zh-CN" sz="2800">
                <a:solidFill>
                  <a:srgbClr val="0070C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,</a:t>
            </a:r>
            <a:r>
              <a:rPr lang="en-US" altLang="zh-CN" sz="2800">
                <a:solidFill>
                  <a:srgbClr val="FF000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3</a:t>
            </a:r>
            <a:r>
              <a:rPr lang="en-US" altLang="zh-CN" sz="2800">
                <a:solidFill>
                  <a:srgbClr val="0070C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)</a:t>
            </a:r>
            <a:endParaRPr lang="zh-CN" altLang="en-US" sz="2800" dirty="0">
              <a:solidFill>
                <a:srgbClr val="0070C0"/>
              </a:solidFill>
              <a:latin typeface="Consolas" pitchFamily="49" charset="0"/>
              <a:ea typeface="宋体" pitchFamily="2" charset="-122"/>
              <a:cs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05523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6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F93F1856-2264-4978-9A29-A8A2B78E9A3D}"/>
              </a:ext>
            </a:extLst>
          </p:cNvPr>
          <p:cNvGraphicFramePr>
            <a:graphicFrameLocks noGrp="1"/>
          </p:cNvGraphicFramePr>
          <p:nvPr/>
        </p:nvGraphicFramePr>
        <p:xfrm>
          <a:off x="3839595" y="1484784"/>
          <a:ext cx="4488655" cy="345638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977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77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977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977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9773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64096">
                <a:tc>
                  <a:txBody>
                    <a:bodyPr/>
                    <a:lstStyle/>
                    <a:p>
                      <a:pPr marL="0" algn="ctr"/>
                      <a:r>
                        <a:rPr lang="en-US" altLang="zh-CN" sz="4800" dirty="0">
                          <a:latin typeface="Consolas" pitchFamily="49" charset="0"/>
                          <a:cs typeface="Consolas" pitchFamily="49" charset="0"/>
                        </a:rPr>
                        <a:t>q</a:t>
                      </a:r>
                      <a:endParaRPr lang="zh-CN" altLang="en-US" sz="4800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US" altLang="zh-CN" sz="4800" dirty="0">
                          <a:latin typeface="Consolas" pitchFamily="49" charset="0"/>
                          <a:cs typeface="Consolas" pitchFamily="49" charset="0"/>
                        </a:rPr>
                        <a:t>o</a:t>
                      </a:r>
                      <a:endParaRPr lang="zh-CN" altLang="en-US" sz="4800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US" altLang="zh-CN" sz="4800" dirty="0">
                          <a:latin typeface="Consolas" pitchFamily="49" charset="0"/>
                          <a:cs typeface="Consolas" pitchFamily="49" charset="0"/>
                        </a:rPr>
                        <a:t>n</a:t>
                      </a:r>
                      <a:endParaRPr lang="zh-CN" altLang="en-US" sz="4800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US" altLang="zh-CN" sz="4800" dirty="0">
                          <a:latin typeface="Consolas" pitchFamily="49" charset="0"/>
                          <a:cs typeface="Consolas" pitchFamily="49" charset="0"/>
                        </a:rPr>
                        <a:t>o</a:t>
                      </a:r>
                      <a:endParaRPr lang="zh-CN" altLang="en-US" sz="4800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US" altLang="zh-CN" sz="4800" dirty="0">
                          <a:latin typeface="Consolas" pitchFamily="49" charset="0"/>
                          <a:cs typeface="Consolas" pitchFamily="49" charset="0"/>
                        </a:rPr>
                        <a:t>c</a:t>
                      </a:r>
                      <a:endParaRPr lang="zh-CN" altLang="en-US" sz="4800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4096">
                <a:tc>
                  <a:txBody>
                    <a:bodyPr/>
                    <a:lstStyle/>
                    <a:p>
                      <a:pPr marL="0" algn="ctr"/>
                      <a:r>
                        <a:rPr lang="en-US" altLang="zh-CN" sz="4800" dirty="0">
                          <a:latin typeface="Consolas" pitchFamily="49" charset="0"/>
                          <a:cs typeface="Consolas" pitchFamily="49" charset="0"/>
                        </a:rPr>
                        <a:t>o</a:t>
                      </a:r>
                      <a:endParaRPr lang="zh-CN" altLang="en-US" sz="4800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US" altLang="zh-CN" sz="4800" dirty="0">
                          <a:latin typeface="Consolas" pitchFamily="49" charset="0"/>
                          <a:cs typeface="Consolas" pitchFamily="49" charset="0"/>
                        </a:rPr>
                        <a:t>h</a:t>
                      </a:r>
                      <a:endParaRPr lang="zh-CN" altLang="en-US" sz="4800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US" altLang="zh-CN" sz="4800" dirty="0">
                          <a:latin typeface="Consolas" pitchFamily="49" charset="0"/>
                          <a:cs typeface="Consolas" pitchFamily="49" charset="0"/>
                        </a:rPr>
                        <a:t>o</a:t>
                      </a:r>
                      <a:endParaRPr lang="zh-CN" altLang="en-US" sz="4800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US" altLang="zh-CN" sz="4800" dirty="0">
                          <a:latin typeface="Consolas" pitchFamily="49" charset="0"/>
                          <a:cs typeface="Consolas" pitchFamily="49" charset="0"/>
                        </a:rPr>
                        <a:t>h</a:t>
                      </a:r>
                      <a:endParaRPr lang="zh-CN" altLang="en-US" sz="4800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US" altLang="zh-CN" sz="4800" dirty="0">
                          <a:latin typeface="Consolas" pitchFamily="49" charset="0"/>
                          <a:cs typeface="Consolas" pitchFamily="49" charset="0"/>
                        </a:rPr>
                        <a:t>o</a:t>
                      </a:r>
                      <a:endParaRPr lang="zh-CN" altLang="en-US" sz="4800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7408999"/>
                  </a:ext>
                </a:extLst>
              </a:tr>
              <a:tr h="864096">
                <a:tc>
                  <a:txBody>
                    <a:bodyPr/>
                    <a:lstStyle/>
                    <a:p>
                      <a:pPr marL="0" algn="ctr"/>
                      <a:r>
                        <a:rPr lang="en-US" altLang="zh-CN" sz="4800" dirty="0">
                          <a:latin typeface="Consolas" pitchFamily="49" charset="0"/>
                          <a:cs typeface="Consolas" pitchFamily="49" charset="0"/>
                        </a:rPr>
                        <a:t>h</a:t>
                      </a:r>
                      <a:endParaRPr lang="zh-CN" altLang="en-US" sz="4800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US" altLang="zh-CN" sz="4800" dirty="0">
                          <a:latin typeface="Consolas" pitchFamily="49" charset="0"/>
                          <a:cs typeface="Consolas" pitchFamily="49" charset="0"/>
                        </a:rPr>
                        <a:t>z</a:t>
                      </a:r>
                      <a:endParaRPr lang="zh-CN" altLang="en-US" sz="4800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US" altLang="zh-CN" sz="4800" dirty="0">
                          <a:latin typeface="Consolas" pitchFamily="49" charset="0"/>
                          <a:cs typeface="Consolas" pitchFamily="49" charset="0"/>
                        </a:rPr>
                        <a:t>a</a:t>
                      </a:r>
                      <a:endParaRPr lang="zh-CN" altLang="en-US" sz="4800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US" altLang="zh-CN" sz="4800" dirty="0">
                          <a:latin typeface="Consolas" pitchFamily="49" charset="0"/>
                          <a:cs typeface="Consolas" pitchFamily="49" charset="0"/>
                        </a:rPr>
                        <a:t>q</a:t>
                      </a:r>
                      <a:endParaRPr lang="zh-CN" altLang="en-US" sz="4800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US" altLang="zh-CN" sz="4800" dirty="0">
                          <a:latin typeface="Consolas" pitchFamily="49" charset="0"/>
                          <a:cs typeface="Consolas" pitchFamily="49" charset="0"/>
                        </a:rPr>
                        <a:t>o</a:t>
                      </a:r>
                      <a:endParaRPr lang="zh-CN" altLang="en-US" sz="4800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4096">
                <a:tc>
                  <a:txBody>
                    <a:bodyPr/>
                    <a:lstStyle/>
                    <a:p>
                      <a:pPr marL="0" algn="ctr"/>
                      <a:r>
                        <a:rPr lang="en-US" altLang="zh-CN" sz="4800" dirty="0">
                          <a:latin typeface="Consolas" pitchFamily="49" charset="0"/>
                          <a:cs typeface="Consolas" pitchFamily="49" charset="0"/>
                        </a:rPr>
                        <a:t>p</a:t>
                      </a:r>
                      <a:endParaRPr lang="zh-CN" altLang="en-US" sz="4800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US" altLang="zh-CN" sz="4800" dirty="0" err="1">
                          <a:latin typeface="Consolas" pitchFamily="49" charset="0"/>
                          <a:cs typeface="Consolas" pitchFamily="49" charset="0"/>
                        </a:rPr>
                        <a:t>i</a:t>
                      </a:r>
                      <a:endParaRPr lang="zh-CN" altLang="en-US" sz="4800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US" altLang="zh-CN" sz="4800" dirty="0">
                          <a:latin typeface="Consolas" pitchFamily="49" charset="0"/>
                          <a:cs typeface="Consolas" pitchFamily="49" charset="0"/>
                        </a:rPr>
                        <a:t>r</a:t>
                      </a:r>
                      <a:endParaRPr lang="zh-CN" altLang="en-US" sz="4800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US" altLang="zh-CN" sz="4800" dirty="0">
                          <a:latin typeface="Consolas" pitchFamily="49" charset="0"/>
                          <a:cs typeface="Consolas" pitchFamily="49" charset="0"/>
                        </a:rPr>
                        <a:t>k</a:t>
                      </a:r>
                      <a:endParaRPr lang="zh-CN" altLang="en-US" sz="4800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US" altLang="zh-CN" sz="4800" dirty="0">
                          <a:latin typeface="Consolas" pitchFamily="49" charset="0"/>
                          <a:cs typeface="Consolas" pitchFamily="49" charset="0"/>
                        </a:rPr>
                        <a:t>o</a:t>
                      </a:r>
                      <a:endParaRPr lang="zh-CN" altLang="en-US" sz="4800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4165280"/>
                  </a:ext>
                </a:extLst>
              </a:tr>
            </a:tbl>
          </a:graphicData>
        </a:graphic>
      </p:graphicFrame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CCA2BB40-C3E7-4443-8211-0D410ED7C6E2}"/>
              </a:ext>
            </a:extLst>
          </p:cNvPr>
          <p:cNvCxnSpPr>
            <a:cxnSpLocks/>
          </p:cNvCxnSpPr>
          <p:nvPr/>
        </p:nvCxnSpPr>
        <p:spPr>
          <a:xfrm flipV="1">
            <a:off x="6600056" y="2996953"/>
            <a:ext cx="2808312" cy="2736305"/>
          </a:xfrm>
          <a:prstGeom prst="line">
            <a:avLst/>
          </a:prstGeom>
          <a:ln w="76200">
            <a:solidFill>
              <a:schemeClr val="tx1">
                <a:lumMod val="75000"/>
                <a:lumOff val="25000"/>
                <a:alpha val="50196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6">
            <a:extLst>
              <a:ext uri="{FF2B5EF4-FFF2-40B4-BE49-F238E27FC236}">
                <a16:creationId xmlns:a16="http://schemas.microsoft.com/office/drawing/2014/main" id="{04E59D86-0FB2-49D6-B3DC-7E24120E50E4}"/>
              </a:ext>
            </a:extLst>
          </p:cNvPr>
          <p:cNvSpPr txBox="1"/>
          <p:nvPr/>
        </p:nvSpPr>
        <p:spPr>
          <a:xfrm>
            <a:off x="1811526" y="5863054"/>
            <a:ext cx="4968552" cy="58477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400"/>
            </a:lvl1pPr>
          </a:lstStyle>
          <a:p>
            <a:r>
              <a:rPr lang="zh-CN" altLang="en-US" sz="3200" dirty="0">
                <a:latin typeface="Consolas" pitchFamily="49" charset="0"/>
                <a:ea typeface="宋体" pitchFamily="2" charset="-122"/>
                <a:cs typeface="Consolas" pitchFamily="49" charset="0"/>
              </a:rPr>
              <a:t>答案字符串 </a:t>
            </a:r>
            <a:r>
              <a:rPr lang="en-US" altLang="zh-CN" sz="3200" dirty="0">
                <a:latin typeface="Consolas" pitchFamily="49" charset="0"/>
                <a:ea typeface="宋体" pitchFamily="2" charset="-122"/>
                <a:cs typeface="Consolas" pitchFamily="49" charset="0"/>
              </a:rPr>
              <a:t>= </a:t>
            </a:r>
            <a:r>
              <a:rPr lang="en-US" altLang="zh-CN" sz="3200" dirty="0" err="1">
                <a:latin typeface="Consolas" pitchFamily="49" charset="0"/>
                <a:ea typeface="宋体" pitchFamily="2" charset="-122"/>
                <a:cs typeface="Consolas" pitchFamily="49" charset="0"/>
              </a:rPr>
              <a:t>qohoaqk</a:t>
            </a:r>
            <a:r>
              <a:rPr lang="en-US" altLang="zh-CN" sz="3200" dirty="0">
                <a:latin typeface="Consolas" pitchFamily="49" charset="0"/>
                <a:ea typeface="宋体" pitchFamily="2" charset="-122"/>
                <a:cs typeface="Consolas" pitchFamily="49" charset="0"/>
              </a:rPr>
              <a:t>?</a:t>
            </a:r>
            <a:endParaRPr lang="zh-CN" altLang="en-US" sz="3200" dirty="0">
              <a:latin typeface="Consolas" pitchFamily="49" charset="0"/>
              <a:ea typeface="宋体" pitchFamily="2" charset="-122"/>
              <a:cs typeface="Consolas" pitchFamily="49" charset="0"/>
            </a:endParaRPr>
          </a:p>
        </p:txBody>
      </p: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9F750EC0-22F5-4A3A-839E-0688876EB75F}"/>
              </a:ext>
            </a:extLst>
          </p:cNvPr>
          <p:cNvCxnSpPr>
            <a:cxnSpLocks/>
          </p:cNvCxnSpPr>
          <p:nvPr/>
        </p:nvCxnSpPr>
        <p:spPr>
          <a:xfrm>
            <a:off x="7248128" y="4365104"/>
            <a:ext cx="504056" cy="0"/>
          </a:xfrm>
          <a:prstGeom prst="straightConnector1">
            <a:avLst/>
          </a:prstGeom>
          <a:ln w="57150">
            <a:solidFill>
              <a:schemeClr val="accent6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DC8B198F-88A1-49A1-B740-FCA023C9C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31</a:t>
            </a:fld>
            <a:endParaRPr lang="zh-CN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1000CDF-CF3C-47EC-92FA-C7341D9262A8}"/>
              </a:ext>
            </a:extLst>
          </p:cNvPr>
          <p:cNvSpPr txBox="1"/>
          <p:nvPr/>
        </p:nvSpPr>
        <p:spPr>
          <a:xfrm>
            <a:off x="280241" y="1295551"/>
            <a:ext cx="2484276" cy="5232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400"/>
            </a:lvl1pPr>
          </a:lstStyle>
          <a:p>
            <a:r>
              <a:rPr lang="en-US" altLang="zh-CN" sz="2800">
                <a:latin typeface="Consolas" pitchFamily="49" charset="0"/>
                <a:ea typeface="宋体" pitchFamily="2" charset="-122"/>
                <a:cs typeface="Consolas" pitchFamily="49" charset="0"/>
              </a:rPr>
              <a:t>step = 2</a:t>
            </a:r>
            <a:endParaRPr lang="zh-CN" altLang="en-US" sz="2800" dirty="0">
              <a:latin typeface="Consolas" pitchFamily="49" charset="0"/>
              <a:ea typeface="宋体" pitchFamily="2" charset="-122"/>
              <a:cs typeface="Consolas" pitchFamily="49" charset="0"/>
            </a:endParaRPr>
          </a:p>
        </p:txBody>
      </p:sp>
      <p:sp>
        <p:nvSpPr>
          <p:cNvPr id="8" name="TextBox 6">
            <a:extLst>
              <a:ext uri="{FF2B5EF4-FFF2-40B4-BE49-F238E27FC236}">
                <a16:creationId xmlns:a16="http://schemas.microsoft.com/office/drawing/2014/main" id="{9368ED5D-1B7A-4DC9-A022-16194ACC49B6}"/>
              </a:ext>
            </a:extLst>
          </p:cNvPr>
          <p:cNvSpPr txBox="1"/>
          <p:nvPr/>
        </p:nvSpPr>
        <p:spPr>
          <a:xfrm>
            <a:off x="280241" y="260648"/>
            <a:ext cx="2484276" cy="5232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400"/>
            </a:lvl1pPr>
          </a:lstStyle>
          <a:p>
            <a:r>
              <a:rPr lang="en-US" altLang="zh-CN" sz="2800">
                <a:latin typeface="Consolas" pitchFamily="49" charset="0"/>
                <a:ea typeface="宋体" pitchFamily="2" charset="-122"/>
                <a:cs typeface="Consolas" pitchFamily="49" charset="0"/>
              </a:rPr>
              <a:t>step = 1</a:t>
            </a:r>
            <a:endParaRPr lang="zh-CN" altLang="en-US" sz="2800" dirty="0">
              <a:latin typeface="Consolas" pitchFamily="49" charset="0"/>
              <a:ea typeface="宋体" pitchFamily="2" charset="-122"/>
              <a:cs typeface="Consolas" pitchFamily="49" charset="0"/>
            </a:endParaRPr>
          </a:p>
        </p:txBody>
      </p:sp>
      <p:sp>
        <p:nvSpPr>
          <p:cNvPr id="9" name="TextBox 6">
            <a:extLst>
              <a:ext uri="{FF2B5EF4-FFF2-40B4-BE49-F238E27FC236}">
                <a16:creationId xmlns:a16="http://schemas.microsoft.com/office/drawing/2014/main" id="{E8976F4D-294B-4186-8286-22626FA7B12A}"/>
              </a:ext>
            </a:extLst>
          </p:cNvPr>
          <p:cNvSpPr txBox="1"/>
          <p:nvPr/>
        </p:nvSpPr>
        <p:spPr>
          <a:xfrm>
            <a:off x="309478" y="2320432"/>
            <a:ext cx="2484276" cy="5232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400"/>
            </a:lvl1pPr>
          </a:lstStyle>
          <a:p>
            <a:r>
              <a:rPr lang="en-US" altLang="zh-CN" sz="2800">
                <a:latin typeface="Consolas" pitchFamily="49" charset="0"/>
                <a:ea typeface="宋体" pitchFamily="2" charset="-122"/>
                <a:cs typeface="Consolas" pitchFamily="49" charset="0"/>
              </a:rPr>
              <a:t>step = 3</a:t>
            </a:r>
            <a:endParaRPr lang="zh-CN" altLang="en-US" sz="2800" dirty="0">
              <a:latin typeface="Consolas" pitchFamily="49" charset="0"/>
              <a:ea typeface="宋体" pitchFamily="2" charset="-122"/>
              <a:cs typeface="Consolas" pitchFamily="49" charset="0"/>
            </a:endParaRPr>
          </a:p>
        </p:txBody>
      </p:sp>
      <p:sp>
        <p:nvSpPr>
          <p:cNvPr id="13" name="TextBox 6">
            <a:extLst>
              <a:ext uri="{FF2B5EF4-FFF2-40B4-BE49-F238E27FC236}">
                <a16:creationId xmlns:a16="http://schemas.microsoft.com/office/drawing/2014/main" id="{0A4D0C23-DDB0-4D11-A04B-D9689E65C02F}"/>
              </a:ext>
            </a:extLst>
          </p:cNvPr>
          <p:cNvSpPr txBox="1"/>
          <p:nvPr/>
        </p:nvSpPr>
        <p:spPr>
          <a:xfrm>
            <a:off x="280242" y="3353764"/>
            <a:ext cx="2484276" cy="5232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400"/>
            </a:lvl1pPr>
          </a:lstStyle>
          <a:p>
            <a:r>
              <a:rPr lang="en-US" altLang="zh-CN" sz="2800">
                <a:latin typeface="Consolas" pitchFamily="49" charset="0"/>
                <a:ea typeface="宋体" pitchFamily="2" charset="-122"/>
                <a:cs typeface="Consolas" pitchFamily="49" charset="0"/>
              </a:rPr>
              <a:t>step = 4</a:t>
            </a:r>
            <a:endParaRPr lang="zh-CN" altLang="en-US" sz="2800" dirty="0">
              <a:latin typeface="Consolas" pitchFamily="49" charset="0"/>
              <a:ea typeface="宋体" pitchFamily="2" charset="-122"/>
              <a:cs typeface="Consolas" pitchFamily="49" charset="0"/>
            </a:endParaRPr>
          </a:p>
        </p:txBody>
      </p:sp>
      <p:sp>
        <p:nvSpPr>
          <p:cNvPr id="15" name="TextBox 6">
            <a:extLst>
              <a:ext uri="{FF2B5EF4-FFF2-40B4-BE49-F238E27FC236}">
                <a16:creationId xmlns:a16="http://schemas.microsoft.com/office/drawing/2014/main" id="{700A9DB4-3A32-41B5-9E7E-381F5A9FC317}"/>
              </a:ext>
            </a:extLst>
          </p:cNvPr>
          <p:cNvSpPr txBox="1"/>
          <p:nvPr/>
        </p:nvSpPr>
        <p:spPr>
          <a:xfrm>
            <a:off x="9116922" y="254381"/>
            <a:ext cx="2484276" cy="5232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400"/>
            </a:lvl1pPr>
          </a:lstStyle>
          <a:p>
            <a:r>
              <a:rPr lang="en-US" altLang="zh-CN" sz="2800">
                <a:latin typeface="Consolas" pitchFamily="49" charset="0"/>
                <a:ea typeface="宋体" pitchFamily="2" charset="-122"/>
                <a:cs typeface="Consolas" pitchFamily="49" charset="0"/>
              </a:rPr>
              <a:t>step = 5</a:t>
            </a:r>
            <a:endParaRPr lang="zh-CN" altLang="en-US" sz="2800" dirty="0">
              <a:latin typeface="Consolas" pitchFamily="49" charset="0"/>
              <a:ea typeface="宋体" pitchFamily="2" charset="-122"/>
              <a:cs typeface="Consolas" pitchFamily="49" charset="0"/>
            </a:endParaRPr>
          </a:p>
        </p:txBody>
      </p:sp>
      <p:sp>
        <p:nvSpPr>
          <p:cNvPr id="16" name="TextBox 6">
            <a:extLst>
              <a:ext uri="{FF2B5EF4-FFF2-40B4-BE49-F238E27FC236}">
                <a16:creationId xmlns:a16="http://schemas.microsoft.com/office/drawing/2014/main" id="{CA2EA835-A4B2-4666-9AD3-A3CCAEB9EE08}"/>
              </a:ext>
            </a:extLst>
          </p:cNvPr>
          <p:cNvSpPr txBox="1"/>
          <p:nvPr/>
        </p:nvSpPr>
        <p:spPr>
          <a:xfrm>
            <a:off x="9069952" y="756042"/>
            <a:ext cx="2638145" cy="5232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400"/>
            </a:lvl1pPr>
          </a:lstStyle>
          <a:p>
            <a:r>
              <a:rPr lang="en-US" altLang="zh-CN" sz="2800">
                <a:solidFill>
                  <a:srgbClr val="0070C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(2,4) (</a:t>
            </a:r>
            <a:r>
              <a:rPr lang="en-US" altLang="zh-CN" sz="2800">
                <a:solidFill>
                  <a:srgbClr val="FF000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3</a:t>
            </a:r>
            <a:r>
              <a:rPr lang="en-US" altLang="zh-CN" sz="2800">
                <a:solidFill>
                  <a:srgbClr val="0070C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,</a:t>
            </a:r>
            <a:r>
              <a:rPr lang="en-US" altLang="zh-CN" sz="2800">
                <a:solidFill>
                  <a:srgbClr val="FF000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3</a:t>
            </a:r>
            <a:r>
              <a:rPr lang="en-US" altLang="zh-CN" sz="2800">
                <a:solidFill>
                  <a:srgbClr val="0070C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)</a:t>
            </a:r>
            <a:endParaRPr lang="zh-CN" altLang="en-US" sz="2800" dirty="0">
              <a:solidFill>
                <a:srgbClr val="0070C0"/>
              </a:solidFill>
              <a:latin typeface="Consolas" pitchFamily="49" charset="0"/>
              <a:ea typeface="宋体" pitchFamily="2" charset="-122"/>
              <a:cs typeface="Consolas" pitchFamily="49" charset="0"/>
            </a:endParaRPr>
          </a:p>
        </p:txBody>
      </p:sp>
      <p:sp>
        <p:nvSpPr>
          <p:cNvPr id="17" name="TextBox 6">
            <a:extLst>
              <a:ext uri="{FF2B5EF4-FFF2-40B4-BE49-F238E27FC236}">
                <a16:creationId xmlns:a16="http://schemas.microsoft.com/office/drawing/2014/main" id="{9356D0E6-65F1-4D95-9A19-0655373997B8}"/>
              </a:ext>
            </a:extLst>
          </p:cNvPr>
          <p:cNvSpPr txBox="1"/>
          <p:nvPr/>
        </p:nvSpPr>
        <p:spPr>
          <a:xfrm>
            <a:off x="9163892" y="1406878"/>
            <a:ext cx="2484276" cy="5232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400"/>
            </a:lvl1pPr>
          </a:lstStyle>
          <a:p>
            <a:r>
              <a:rPr lang="en-US" altLang="zh-CN" sz="2800">
                <a:latin typeface="Consolas" pitchFamily="49" charset="0"/>
                <a:ea typeface="宋体" pitchFamily="2" charset="-122"/>
                <a:cs typeface="Consolas" pitchFamily="49" charset="0"/>
              </a:rPr>
              <a:t>step = 6</a:t>
            </a:r>
            <a:endParaRPr lang="zh-CN" altLang="en-US" sz="2800" dirty="0">
              <a:latin typeface="Consolas" pitchFamily="49" charset="0"/>
              <a:ea typeface="宋体" pitchFamily="2" charset="-122"/>
              <a:cs typeface="Consolas" pitchFamily="49" charset="0"/>
            </a:endParaRPr>
          </a:p>
        </p:txBody>
      </p:sp>
      <p:sp>
        <p:nvSpPr>
          <p:cNvPr id="18" name="TextBox 6">
            <a:extLst>
              <a:ext uri="{FF2B5EF4-FFF2-40B4-BE49-F238E27FC236}">
                <a16:creationId xmlns:a16="http://schemas.microsoft.com/office/drawing/2014/main" id="{77C7DFED-CA2F-4D25-9FF9-1DA909351D78}"/>
              </a:ext>
            </a:extLst>
          </p:cNvPr>
          <p:cNvSpPr txBox="1"/>
          <p:nvPr/>
        </p:nvSpPr>
        <p:spPr>
          <a:xfrm>
            <a:off x="9116922" y="1908539"/>
            <a:ext cx="2638145" cy="5232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400"/>
            </a:lvl1pPr>
          </a:lstStyle>
          <a:p>
            <a:r>
              <a:rPr lang="en-US" altLang="zh-CN" sz="2800">
                <a:solidFill>
                  <a:srgbClr val="0070C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(3,4) (</a:t>
            </a:r>
            <a:r>
              <a:rPr lang="en-US" altLang="zh-CN" sz="2800">
                <a:solidFill>
                  <a:srgbClr val="FF000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4</a:t>
            </a:r>
            <a:r>
              <a:rPr lang="en-US" altLang="zh-CN" sz="2800">
                <a:solidFill>
                  <a:srgbClr val="0070C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,</a:t>
            </a:r>
            <a:r>
              <a:rPr lang="en-US" altLang="zh-CN" sz="2800">
                <a:solidFill>
                  <a:srgbClr val="FF000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3</a:t>
            </a:r>
            <a:r>
              <a:rPr lang="en-US" altLang="zh-CN" sz="2800">
                <a:solidFill>
                  <a:srgbClr val="0070C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)</a:t>
            </a:r>
            <a:endParaRPr lang="zh-CN" altLang="en-US" sz="2800" dirty="0">
              <a:solidFill>
                <a:srgbClr val="0070C0"/>
              </a:solidFill>
              <a:latin typeface="Consolas" pitchFamily="49" charset="0"/>
              <a:ea typeface="宋体" pitchFamily="2" charset="-122"/>
              <a:cs typeface="Consolas" pitchFamily="49" charset="0"/>
            </a:endParaRPr>
          </a:p>
        </p:txBody>
      </p:sp>
      <p:sp>
        <p:nvSpPr>
          <p:cNvPr id="19" name="TextBox 6">
            <a:extLst>
              <a:ext uri="{FF2B5EF4-FFF2-40B4-BE49-F238E27FC236}">
                <a16:creationId xmlns:a16="http://schemas.microsoft.com/office/drawing/2014/main" id="{D0B6BBFF-6BAD-48FF-A52C-8F6AD470120D}"/>
              </a:ext>
            </a:extLst>
          </p:cNvPr>
          <p:cNvSpPr txBox="1"/>
          <p:nvPr/>
        </p:nvSpPr>
        <p:spPr>
          <a:xfrm>
            <a:off x="233272" y="3855425"/>
            <a:ext cx="3385220" cy="5232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400"/>
            </a:lvl1pPr>
          </a:lstStyle>
          <a:p>
            <a:r>
              <a:rPr lang="en-US" altLang="zh-CN" sz="2800">
                <a:solidFill>
                  <a:srgbClr val="0070C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(</a:t>
            </a:r>
            <a:r>
              <a:rPr lang="en-US" altLang="zh-CN" sz="2800">
                <a:solidFill>
                  <a:srgbClr val="FF000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2</a:t>
            </a:r>
            <a:r>
              <a:rPr lang="en-US" altLang="zh-CN" sz="2800">
                <a:solidFill>
                  <a:srgbClr val="0070C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,</a:t>
            </a:r>
            <a:r>
              <a:rPr lang="en-US" altLang="zh-CN" sz="2800">
                <a:solidFill>
                  <a:srgbClr val="FF000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3</a:t>
            </a:r>
            <a:r>
              <a:rPr lang="en-US" altLang="zh-CN" sz="2800">
                <a:solidFill>
                  <a:srgbClr val="0070C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) (3,2) (4,1)</a:t>
            </a:r>
            <a:endParaRPr lang="zh-CN" altLang="en-US" sz="2800" dirty="0">
              <a:solidFill>
                <a:srgbClr val="0070C0"/>
              </a:solidFill>
              <a:latin typeface="Consolas" pitchFamily="49" charset="0"/>
              <a:ea typeface="宋体" pitchFamily="2" charset="-122"/>
              <a:cs typeface="Consolas" pitchFamily="49" charset="0"/>
            </a:endParaRPr>
          </a:p>
        </p:txBody>
      </p:sp>
      <p:sp>
        <p:nvSpPr>
          <p:cNvPr id="20" name="TextBox 6">
            <a:extLst>
              <a:ext uri="{FF2B5EF4-FFF2-40B4-BE49-F238E27FC236}">
                <a16:creationId xmlns:a16="http://schemas.microsoft.com/office/drawing/2014/main" id="{2AB69AB7-F560-487F-943D-D81333ED8D6B}"/>
              </a:ext>
            </a:extLst>
          </p:cNvPr>
          <p:cNvSpPr txBox="1"/>
          <p:nvPr/>
        </p:nvSpPr>
        <p:spPr>
          <a:xfrm>
            <a:off x="262508" y="2822093"/>
            <a:ext cx="3385220" cy="5232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400"/>
            </a:lvl1pPr>
          </a:lstStyle>
          <a:p>
            <a:r>
              <a:rPr lang="en-US" altLang="zh-CN" sz="2800">
                <a:solidFill>
                  <a:srgbClr val="0070C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(1,3) (</a:t>
            </a:r>
            <a:r>
              <a:rPr lang="en-US" altLang="zh-CN" sz="2800">
                <a:solidFill>
                  <a:srgbClr val="FF000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2</a:t>
            </a:r>
            <a:r>
              <a:rPr lang="en-US" altLang="zh-CN" sz="2800">
                <a:solidFill>
                  <a:srgbClr val="0070C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,</a:t>
            </a:r>
            <a:r>
              <a:rPr lang="en-US" altLang="zh-CN" sz="2800">
                <a:solidFill>
                  <a:srgbClr val="FF000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2</a:t>
            </a:r>
            <a:r>
              <a:rPr lang="en-US" altLang="zh-CN" sz="2800">
                <a:solidFill>
                  <a:srgbClr val="0070C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) (</a:t>
            </a:r>
            <a:r>
              <a:rPr lang="en-US" altLang="zh-CN" sz="2800">
                <a:solidFill>
                  <a:srgbClr val="FF000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3</a:t>
            </a:r>
            <a:r>
              <a:rPr lang="en-US" altLang="zh-CN" sz="2800">
                <a:solidFill>
                  <a:srgbClr val="0070C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,</a:t>
            </a:r>
            <a:r>
              <a:rPr lang="en-US" altLang="zh-CN" sz="2800">
                <a:solidFill>
                  <a:srgbClr val="FF000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1</a:t>
            </a:r>
            <a:r>
              <a:rPr lang="en-US" altLang="zh-CN" sz="2800">
                <a:solidFill>
                  <a:srgbClr val="0070C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)</a:t>
            </a:r>
            <a:endParaRPr lang="zh-CN" altLang="en-US" sz="2800" dirty="0">
              <a:solidFill>
                <a:srgbClr val="0070C0"/>
              </a:solidFill>
              <a:latin typeface="Consolas" pitchFamily="49" charset="0"/>
              <a:ea typeface="宋体" pitchFamily="2" charset="-122"/>
              <a:cs typeface="Consolas" pitchFamily="49" charset="0"/>
            </a:endParaRPr>
          </a:p>
        </p:txBody>
      </p:sp>
      <p:sp>
        <p:nvSpPr>
          <p:cNvPr id="21" name="TextBox 6">
            <a:extLst>
              <a:ext uri="{FF2B5EF4-FFF2-40B4-BE49-F238E27FC236}">
                <a16:creationId xmlns:a16="http://schemas.microsoft.com/office/drawing/2014/main" id="{A36D1A59-EA1B-4C42-A79E-45DF95E41B1B}"/>
              </a:ext>
            </a:extLst>
          </p:cNvPr>
          <p:cNvSpPr txBox="1"/>
          <p:nvPr/>
        </p:nvSpPr>
        <p:spPr>
          <a:xfrm>
            <a:off x="233272" y="1797212"/>
            <a:ext cx="2484276" cy="5232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400"/>
            </a:lvl1pPr>
          </a:lstStyle>
          <a:p>
            <a:r>
              <a:rPr lang="en-US" altLang="zh-CN" sz="2800">
                <a:solidFill>
                  <a:srgbClr val="0070C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(</a:t>
            </a:r>
            <a:r>
              <a:rPr lang="en-US" altLang="zh-CN" sz="2800">
                <a:solidFill>
                  <a:srgbClr val="FF000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1</a:t>
            </a:r>
            <a:r>
              <a:rPr lang="en-US" altLang="zh-CN" sz="2800">
                <a:solidFill>
                  <a:srgbClr val="0070C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,</a:t>
            </a:r>
            <a:r>
              <a:rPr lang="en-US" altLang="zh-CN" sz="2800">
                <a:solidFill>
                  <a:srgbClr val="FF000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2</a:t>
            </a:r>
            <a:r>
              <a:rPr lang="en-US" altLang="zh-CN" sz="2800">
                <a:solidFill>
                  <a:srgbClr val="0070C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) (</a:t>
            </a:r>
            <a:r>
              <a:rPr lang="en-US" altLang="zh-CN" sz="2800">
                <a:solidFill>
                  <a:srgbClr val="FF000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2</a:t>
            </a:r>
            <a:r>
              <a:rPr lang="en-US" altLang="zh-CN" sz="2800">
                <a:solidFill>
                  <a:srgbClr val="0070C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,</a:t>
            </a:r>
            <a:r>
              <a:rPr lang="en-US" altLang="zh-CN" sz="2800">
                <a:solidFill>
                  <a:srgbClr val="FF000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1</a:t>
            </a:r>
            <a:r>
              <a:rPr lang="en-US" altLang="zh-CN" sz="2800">
                <a:solidFill>
                  <a:srgbClr val="0070C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)</a:t>
            </a:r>
            <a:endParaRPr lang="zh-CN" altLang="en-US" sz="2800" dirty="0">
              <a:solidFill>
                <a:srgbClr val="0070C0"/>
              </a:solidFill>
              <a:latin typeface="Consolas" pitchFamily="49" charset="0"/>
              <a:ea typeface="宋体" pitchFamily="2" charset="-122"/>
              <a:cs typeface="Consolas" pitchFamily="49" charset="0"/>
            </a:endParaRPr>
          </a:p>
        </p:txBody>
      </p:sp>
      <p:sp>
        <p:nvSpPr>
          <p:cNvPr id="22" name="TextBox 6">
            <a:extLst>
              <a:ext uri="{FF2B5EF4-FFF2-40B4-BE49-F238E27FC236}">
                <a16:creationId xmlns:a16="http://schemas.microsoft.com/office/drawing/2014/main" id="{F3D769DE-E4F1-4103-BFF8-DE4D20C14A3A}"/>
              </a:ext>
            </a:extLst>
          </p:cNvPr>
          <p:cNvSpPr txBox="1"/>
          <p:nvPr/>
        </p:nvSpPr>
        <p:spPr>
          <a:xfrm>
            <a:off x="277234" y="762309"/>
            <a:ext cx="1882316" cy="5232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400"/>
            </a:lvl1pPr>
          </a:lstStyle>
          <a:p>
            <a:r>
              <a:rPr lang="en-US" altLang="zh-CN" sz="2800">
                <a:solidFill>
                  <a:srgbClr val="0070C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(</a:t>
            </a:r>
            <a:r>
              <a:rPr lang="en-US" altLang="zh-CN" sz="2800">
                <a:solidFill>
                  <a:srgbClr val="FF000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1,1</a:t>
            </a:r>
            <a:r>
              <a:rPr lang="en-US" altLang="zh-CN" sz="2800">
                <a:solidFill>
                  <a:srgbClr val="0070C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)</a:t>
            </a:r>
            <a:endParaRPr lang="zh-CN" altLang="en-US" sz="2800" dirty="0">
              <a:solidFill>
                <a:srgbClr val="0070C0"/>
              </a:solidFill>
              <a:latin typeface="Consolas" pitchFamily="49" charset="0"/>
              <a:ea typeface="宋体" pitchFamily="2" charset="-122"/>
              <a:cs typeface="Consolas" pitchFamily="49" charset="0"/>
            </a:endParaRPr>
          </a:p>
        </p:txBody>
      </p:sp>
      <p:sp>
        <p:nvSpPr>
          <p:cNvPr id="23" name="TextBox 6">
            <a:extLst>
              <a:ext uri="{FF2B5EF4-FFF2-40B4-BE49-F238E27FC236}">
                <a16:creationId xmlns:a16="http://schemas.microsoft.com/office/drawing/2014/main" id="{4F496973-D876-4E27-B9FD-E6E572803021}"/>
              </a:ext>
            </a:extLst>
          </p:cNvPr>
          <p:cNvSpPr txBox="1"/>
          <p:nvPr/>
        </p:nvSpPr>
        <p:spPr>
          <a:xfrm>
            <a:off x="9195447" y="2470045"/>
            <a:ext cx="2484276" cy="5232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400"/>
            </a:lvl1pPr>
          </a:lstStyle>
          <a:p>
            <a:r>
              <a:rPr lang="en-US" altLang="zh-CN" sz="2800">
                <a:latin typeface="Consolas" pitchFamily="49" charset="0"/>
                <a:ea typeface="宋体" pitchFamily="2" charset="-122"/>
                <a:cs typeface="Consolas" pitchFamily="49" charset="0"/>
              </a:rPr>
              <a:t>step = 7</a:t>
            </a:r>
            <a:endParaRPr lang="zh-CN" altLang="en-US" sz="2800" dirty="0">
              <a:latin typeface="Consolas" pitchFamily="49" charset="0"/>
              <a:ea typeface="宋体" pitchFamily="2" charset="-122"/>
              <a:cs typeface="Consolas" pitchFamily="49" charset="0"/>
            </a:endParaRPr>
          </a:p>
        </p:txBody>
      </p:sp>
      <p:sp>
        <p:nvSpPr>
          <p:cNvPr id="24" name="TextBox 6">
            <a:extLst>
              <a:ext uri="{FF2B5EF4-FFF2-40B4-BE49-F238E27FC236}">
                <a16:creationId xmlns:a16="http://schemas.microsoft.com/office/drawing/2014/main" id="{17621745-FAC1-4D43-BD40-A3A450D6627B}"/>
              </a:ext>
            </a:extLst>
          </p:cNvPr>
          <p:cNvSpPr txBox="1"/>
          <p:nvPr/>
        </p:nvSpPr>
        <p:spPr>
          <a:xfrm>
            <a:off x="9148477" y="2971706"/>
            <a:ext cx="2638145" cy="5232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400"/>
            </a:lvl1pPr>
          </a:lstStyle>
          <a:p>
            <a:r>
              <a:rPr lang="en-US" altLang="zh-CN" sz="2800">
                <a:solidFill>
                  <a:srgbClr val="0070C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(</a:t>
            </a:r>
            <a:r>
              <a:rPr lang="en-US" altLang="zh-CN" sz="2800">
                <a:solidFill>
                  <a:schemeClr val="accent1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3,5</a:t>
            </a:r>
            <a:r>
              <a:rPr lang="en-US" altLang="zh-CN" sz="2800">
                <a:solidFill>
                  <a:srgbClr val="0070C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) (</a:t>
            </a:r>
            <a:r>
              <a:rPr lang="en-US" altLang="zh-CN" sz="2800">
                <a:solidFill>
                  <a:srgbClr val="FF000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4</a:t>
            </a:r>
            <a:r>
              <a:rPr lang="en-US" altLang="zh-CN" sz="2800">
                <a:solidFill>
                  <a:srgbClr val="0070C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,</a:t>
            </a:r>
            <a:r>
              <a:rPr lang="en-US" altLang="zh-CN" sz="2800">
                <a:solidFill>
                  <a:srgbClr val="FF000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4</a:t>
            </a:r>
            <a:r>
              <a:rPr lang="en-US" altLang="zh-CN" sz="2800">
                <a:solidFill>
                  <a:srgbClr val="0070C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)</a:t>
            </a:r>
            <a:endParaRPr lang="zh-CN" altLang="en-US" sz="2800" dirty="0">
              <a:solidFill>
                <a:srgbClr val="0070C0"/>
              </a:solidFill>
              <a:latin typeface="Consolas" pitchFamily="49" charset="0"/>
              <a:ea typeface="宋体" pitchFamily="2" charset="-122"/>
              <a:cs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08783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F93F1856-2264-4978-9A29-A8A2B78E9A3D}"/>
              </a:ext>
            </a:extLst>
          </p:cNvPr>
          <p:cNvGraphicFramePr>
            <a:graphicFrameLocks noGrp="1"/>
          </p:cNvGraphicFramePr>
          <p:nvPr/>
        </p:nvGraphicFramePr>
        <p:xfrm>
          <a:off x="3839595" y="1484784"/>
          <a:ext cx="4488655" cy="345638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977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77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977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977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9773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64096">
                <a:tc>
                  <a:txBody>
                    <a:bodyPr/>
                    <a:lstStyle/>
                    <a:p>
                      <a:pPr marL="0" algn="ctr"/>
                      <a:r>
                        <a:rPr lang="en-US" altLang="zh-CN" sz="4800" dirty="0">
                          <a:latin typeface="Consolas" pitchFamily="49" charset="0"/>
                          <a:cs typeface="Consolas" pitchFamily="49" charset="0"/>
                        </a:rPr>
                        <a:t>q</a:t>
                      </a:r>
                      <a:endParaRPr lang="zh-CN" altLang="en-US" sz="4800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US" altLang="zh-CN" sz="4800" dirty="0">
                          <a:latin typeface="Consolas" pitchFamily="49" charset="0"/>
                          <a:cs typeface="Consolas" pitchFamily="49" charset="0"/>
                        </a:rPr>
                        <a:t>o</a:t>
                      </a:r>
                      <a:endParaRPr lang="zh-CN" altLang="en-US" sz="4800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US" altLang="zh-CN" sz="4800" dirty="0">
                          <a:latin typeface="Consolas" pitchFamily="49" charset="0"/>
                          <a:cs typeface="Consolas" pitchFamily="49" charset="0"/>
                        </a:rPr>
                        <a:t>n</a:t>
                      </a:r>
                      <a:endParaRPr lang="zh-CN" altLang="en-US" sz="4800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US" altLang="zh-CN" sz="4800" dirty="0">
                          <a:latin typeface="Consolas" pitchFamily="49" charset="0"/>
                          <a:cs typeface="Consolas" pitchFamily="49" charset="0"/>
                        </a:rPr>
                        <a:t>o</a:t>
                      </a:r>
                      <a:endParaRPr lang="zh-CN" altLang="en-US" sz="4800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US" altLang="zh-CN" sz="4800" dirty="0">
                          <a:latin typeface="Consolas" pitchFamily="49" charset="0"/>
                          <a:cs typeface="Consolas" pitchFamily="49" charset="0"/>
                        </a:rPr>
                        <a:t>c</a:t>
                      </a:r>
                      <a:endParaRPr lang="zh-CN" altLang="en-US" sz="4800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4096">
                <a:tc>
                  <a:txBody>
                    <a:bodyPr/>
                    <a:lstStyle/>
                    <a:p>
                      <a:pPr marL="0" algn="ctr"/>
                      <a:r>
                        <a:rPr lang="en-US" altLang="zh-CN" sz="4800" dirty="0">
                          <a:latin typeface="Consolas" pitchFamily="49" charset="0"/>
                          <a:cs typeface="Consolas" pitchFamily="49" charset="0"/>
                        </a:rPr>
                        <a:t>o</a:t>
                      </a:r>
                      <a:endParaRPr lang="zh-CN" altLang="en-US" sz="4800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US" altLang="zh-CN" sz="4800" dirty="0">
                          <a:latin typeface="Consolas" pitchFamily="49" charset="0"/>
                          <a:cs typeface="Consolas" pitchFamily="49" charset="0"/>
                        </a:rPr>
                        <a:t>h</a:t>
                      </a:r>
                      <a:endParaRPr lang="zh-CN" altLang="en-US" sz="4800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US" altLang="zh-CN" sz="4800" dirty="0">
                          <a:latin typeface="Consolas" pitchFamily="49" charset="0"/>
                          <a:cs typeface="Consolas" pitchFamily="49" charset="0"/>
                        </a:rPr>
                        <a:t>o</a:t>
                      </a:r>
                      <a:endParaRPr lang="zh-CN" altLang="en-US" sz="4800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US" altLang="zh-CN" sz="4800" dirty="0">
                          <a:latin typeface="Consolas" pitchFamily="49" charset="0"/>
                          <a:cs typeface="Consolas" pitchFamily="49" charset="0"/>
                        </a:rPr>
                        <a:t>h</a:t>
                      </a:r>
                      <a:endParaRPr lang="zh-CN" altLang="en-US" sz="4800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US" altLang="zh-CN" sz="4800" dirty="0">
                          <a:latin typeface="Consolas" pitchFamily="49" charset="0"/>
                          <a:cs typeface="Consolas" pitchFamily="49" charset="0"/>
                        </a:rPr>
                        <a:t>o</a:t>
                      </a:r>
                      <a:endParaRPr lang="zh-CN" altLang="en-US" sz="4800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7408999"/>
                  </a:ext>
                </a:extLst>
              </a:tr>
              <a:tr h="864096">
                <a:tc>
                  <a:txBody>
                    <a:bodyPr/>
                    <a:lstStyle/>
                    <a:p>
                      <a:pPr marL="0" algn="ctr"/>
                      <a:r>
                        <a:rPr lang="en-US" altLang="zh-CN" sz="4800" dirty="0">
                          <a:latin typeface="Consolas" pitchFamily="49" charset="0"/>
                          <a:cs typeface="Consolas" pitchFamily="49" charset="0"/>
                        </a:rPr>
                        <a:t>h</a:t>
                      </a:r>
                      <a:endParaRPr lang="zh-CN" altLang="en-US" sz="4800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US" altLang="zh-CN" sz="4800" dirty="0">
                          <a:latin typeface="Consolas" pitchFamily="49" charset="0"/>
                          <a:cs typeface="Consolas" pitchFamily="49" charset="0"/>
                        </a:rPr>
                        <a:t>z</a:t>
                      </a:r>
                      <a:endParaRPr lang="zh-CN" altLang="en-US" sz="4800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US" altLang="zh-CN" sz="4800" dirty="0">
                          <a:latin typeface="Consolas" pitchFamily="49" charset="0"/>
                          <a:cs typeface="Consolas" pitchFamily="49" charset="0"/>
                        </a:rPr>
                        <a:t>a</a:t>
                      </a:r>
                      <a:endParaRPr lang="zh-CN" altLang="en-US" sz="4800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US" altLang="zh-CN" sz="4800" dirty="0">
                          <a:latin typeface="Consolas" pitchFamily="49" charset="0"/>
                          <a:cs typeface="Consolas" pitchFamily="49" charset="0"/>
                        </a:rPr>
                        <a:t>q</a:t>
                      </a:r>
                      <a:endParaRPr lang="zh-CN" altLang="en-US" sz="4800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US" altLang="zh-CN" sz="4800" dirty="0">
                          <a:latin typeface="Consolas" pitchFamily="49" charset="0"/>
                          <a:cs typeface="Consolas" pitchFamily="49" charset="0"/>
                        </a:rPr>
                        <a:t>o</a:t>
                      </a:r>
                      <a:endParaRPr lang="zh-CN" altLang="en-US" sz="4800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4096">
                <a:tc>
                  <a:txBody>
                    <a:bodyPr/>
                    <a:lstStyle/>
                    <a:p>
                      <a:pPr marL="0" algn="ctr"/>
                      <a:r>
                        <a:rPr lang="en-US" altLang="zh-CN" sz="4800">
                          <a:latin typeface="Consolas" pitchFamily="49" charset="0"/>
                          <a:cs typeface="Consolas" pitchFamily="49" charset="0"/>
                        </a:rPr>
                        <a:t>p</a:t>
                      </a:r>
                      <a:endParaRPr lang="zh-CN" altLang="en-US" sz="4800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US" altLang="zh-CN" sz="4800" dirty="0" err="1">
                          <a:latin typeface="Consolas" pitchFamily="49" charset="0"/>
                          <a:cs typeface="Consolas" pitchFamily="49" charset="0"/>
                        </a:rPr>
                        <a:t>i</a:t>
                      </a:r>
                      <a:endParaRPr lang="zh-CN" altLang="en-US" sz="4800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US" altLang="zh-CN" sz="4800" dirty="0">
                          <a:latin typeface="Consolas" pitchFamily="49" charset="0"/>
                          <a:cs typeface="Consolas" pitchFamily="49" charset="0"/>
                        </a:rPr>
                        <a:t>r</a:t>
                      </a:r>
                      <a:endParaRPr lang="zh-CN" altLang="en-US" sz="4800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US" altLang="zh-CN" sz="4800" dirty="0">
                          <a:latin typeface="Consolas" pitchFamily="49" charset="0"/>
                          <a:cs typeface="Consolas" pitchFamily="49" charset="0"/>
                        </a:rPr>
                        <a:t>k</a:t>
                      </a:r>
                      <a:endParaRPr lang="zh-CN" altLang="en-US" sz="4800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US" altLang="zh-CN" sz="4800" dirty="0">
                          <a:latin typeface="Consolas" pitchFamily="49" charset="0"/>
                          <a:cs typeface="Consolas" pitchFamily="49" charset="0"/>
                        </a:rPr>
                        <a:t>o</a:t>
                      </a:r>
                      <a:endParaRPr lang="zh-CN" altLang="en-US" sz="4800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4165280"/>
                  </a:ext>
                </a:extLst>
              </a:tr>
            </a:tbl>
          </a:graphicData>
        </a:graphic>
      </p:graphicFrame>
      <p:sp>
        <p:nvSpPr>
          <p:cNvPr id="9" name="TextBox 6">
            <a:extLst>
              <a:ext uri="{FF2B5EF4-FFF2-40B4-BE49-F238E27FC236}">
                <a16:creationId xmlns:a16="http://schemas.microsoft.com/office/drawing/2014/main" id="{E71735B3-12A9-44E1-9DFC-8473E3CABBD8}"/>
              </a:ext>
            </a:extLst>
          </p:cNvPr>
          <p:cNvSpPr txBox="1"/>
          <p:nvPr/>
        </p:nvSpPr>
        <p:spPr>
          <a:xfrm>
            <a:off x="1811526" y="5863054"/>
            <a:ext cx="4968552" cy="58477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400"/>
            </a:lvl1pPr>
          </a:lstStyle>
          <a:p>
            <a:r>
              <a:rPr lang="zh-CN" altLang="en-US" sz="3200" dirty="0">
                <a:latin typeface="Consolas" pitchFamily="49" charset="0"/>
                <a:ea typeface="宋体" pitchFamily="2" charset="-122"/>
                <a:cs typeface="Consolas" pitchFamily="49" charset="0"/>
              </a:rPr>
              <a:t>答案字符串 </a:t>
            </a:r>
            <a:r>
              <a:rPr lang="en-US" altLang="zh-CN" sz="3200" dirty="0">
                <a:latin typeface="Consolas" pitchFamily="49" charset="0"/>
                <a:ea typeface="宋体" pitchFamily="2" charset="-122"/>
                <a:cs typeface="Consolas" pitchFamily="49" charset="0"/>
              </a:rPr>
              <a:t>= </a:t>
            </a:r>
            <a:r>
              <a:rPr lang="en-US" altLang="zh-CN" sz="3200" dirty="0" err="1">
                <a:latin typeface="Consolas" pitchFamily="49" charset="0"/>
                <a:ea typeface="宋体" pitchFamily="2" charset="-122"/>
                <a:cs typeface="Consolas" pitchFamily="49" charset="0"/>
              </a:rPr>
              <a:t>qohoaqko</a:t>
            </a:r>
            <a:endParaRPr lang="zh-CN" altLang="en-US" sz="3200" dirty="0">
              <a:latin typeface="Consolas" pitchFamily="49" charset="0"/>
              <a:ea typeface="宋体" pitchFamily="2" charset="-122"/>
              <a:cs typeface="Consolas" pitchFamily="49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7D3D8ACF-96C8-4764-B7BB-18857CA427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32</a:t>
            </a:fld>
            <a:endParaRPr lang="zh-CN" altLang="en-US"/>
          </a:p>
        </p:txBody>
      </p:sp>
      <p:sp>
        <p:nvSpPr>
          <p:cNvPr id="5" name="TextBox 6">
            <a:extLst>
              <a:ext uri="{FF2B5EF4-FFF2-40B4-BE49-F238E27FC236}">
                <a16:creationId xmlns:a16="http://schemas.microsoft.com/office/drawing/2014/main" id="{0DDEABBF-77F1-4FED-A3A1-A8FB91608D5E}"/>
              </a:ext>
            </a:extLst>
          </p:cNvPr>
          <p:cNvSpPr txBox="1"/>
          <p:nvPr/>
        </p:nvSpPr>
        <p:spPr>
          <a:xfrm>
            <a:off x="280241" y="1295551"/>
            <a:ext cx="2484276" cy="5232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400"/>
            </a:lvl1pPr>
          </a:lstStyle>
          <a:p>
            <a:r>
              <a:rPr lang="en-US" altLang="zh-CN" sz="2800">
                <a:latin typeface="Consolas" pitchFamily="49" charset="0"/>
                <a:ea typeface="宋体" pitchFamily="2" charset="-122"/>
                <a:cs typeface="Consolas" pitchFamily="49" charset="0"/>
              </a:rPr>
              <a:t>step = 2</a:t>
            </a:r>
            <a:endParaRPr lang="zh-CN" altLang="en-US" sz="2800" dirty="0">
              <a:latin typeface="Consolas" pitchFamily="49" charset="0"/>
              <a:ea typeface="宋体" pitchFamily="2" charset="-122"/>
              <a:cs typeface="Consolas" pitchFamily="49" charset="0"/>
            </a:endParaRP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D874457B-D99B-4F70-AD3F-FD39136097C1}"/>
              </a:ext>
            </a:extLst>
          </p:cNvPr>
          <p:cNvSpPr txBox="1"/>
          <p:nvPr/>
        </p:nvSpPr>
        <p:spPr>
          <a:xfrm>
            <a:off x="280241" y="260648"/>
            <a:ext cx="2484276" cy="5232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400"/>
            </a:lvl1pPr>
          </a:lstStyle>
          <a:p>
            <a:r>
              <a:rPr lang="en-US" altLang="zh-CN" sz="2800">
                <a:latin typeface="Consolas" pitchFamily="49" charset="0"/>
                <a:ea typeface="宋体" pitchFamily="2" charset="-122"/>
                <a:cs typeface="Consolas" pitchFamily="49" charset="0"/>
              </a:rPr>
              <a:t>step = 1</a:t>
            </a:r>
            <a:endParaRPr lang="zh-CN" altLang="en-US" sz="2800" dirty="0">
              <a:latin typeface="Consolas" pitchFamily="49" charset="0"/>
              <a:ea typeface="宋体" pitchFamily="2" charset="-122"/>
              <a:cs typeface="Consolas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ABE9FF4-FF91-42B3-881C-238510E0BEC2}"/>
              </a:ext>
            </a:extLst>
          </p:cNvPr>
          <p:cNvSpPr txBox="1"/>
          <p:nvPr/>
        </p:nvSpPr>
        <p:spPr>
          <a:xfrm>
            <a:off x="309478" y="2320432"/>
            <a:ext cx="2484276" cy="5232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400"/>
            </a:lvl1pPr>
          </a:lstStyle>
          <a:p>
            <a:r>
              <a:rPr lang="en-US" altLang="zh-CN" sz="2800">
                <a:latin typeface="Consolas" pitchFamily="49" charset="0"/>
                <a:ea typeface="宋体" pitchFamily="2" charset="-122"/>
                <a:cs typeface="Consolas" pitchFamily="49" charset="0"/>
              </a:rPr>
              <a:t>step = 3</a:t>
            </a:r>
            <a:endParaRPr lang="zh-CN" altLang="en-US" sz="2800" dirty="0">
              <a:latin typeface="Consolas" pitchFamily="49" charset="0"/>
              <a:ea typeface="宋体" pitchFamily="2" charset="-122"/>
              <a:cs typeface="Consolas" pitchFamily="49" charset="0"/>
            </a:endParaRPr>
          </a:p>
        </p:txBody>
      </p:sp>
      <p:sp>
        <p:nvSpPr>
          <p:cNvPr id="8" name="TextBox 6">
            <a:extLst>
              <a:ext uri="{FF2B5EF4-FFF2-40B4-BE49-F238E27FC236}">
                <a16:creationId xmlns:a16="http://schemas.microsoft.com/office/drawing/2014/main" id="{97C07181-4A13-48AB-8EAA-7320B3DE4747}"/>
              </a:ext>
            </a:extLst>
          </p:cNvPr>
          <p:cNvSpPr txBox="1"/>
          <p:nvPr/>
        </p:nvSpPr>
        <p:spPr>
          <a:xfrm>
            <a:off x="280242" y="3353764"/>
            <a:ext cx="2484276" cy="5232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400"/>
            </a:lvl1pPr>
          </a:lstStyle>
          <a:p>
            <a:r>
              <a:rPr lang="en-US" altLang="zh-CN" sz="2800">
                <a:latin typeface="Consolas" pitchFamily="49" charset="0"/>
                <a:ea typeface="宋体" pitchFamily="2" charset="-122"/>
                <a:cs typeface="Consolas" pitchFamily="49" charset="0"/>
              </a:rPr>
              <a:t>step = 4</a:t>
            </a:r>
            <a:endParaRPr lang="zh-CN" altLang="en-US" sz="2800" dirty="0">
              <a:latin typeface="Consolas" pitchFamily="49" charset="0"/>
              <a:ea typeface="宋体" pitchFamily="2" charset="-122"/>
              <a:cs typeface="Consolas" pitchFamily="49" charset="0"/>
            </a:endParaRPr>
          </a:p>
        </p:txBody>
      </p:sp>
      <p:sp>
        <p:nvSpPr>
          <p:cNvPr id="10" name="TextBox 6">
            <a:extLst>
              <a:ext uri="{FF2B5EF4-FFF2-40B4-BE49-F238E27FC236}">
                <a16:creationId xmlns:a16="http://schemas.microsoft.com/office/drawing/2014/main" id="{4814D928-EAC8-4F63-9D32-C4001A514641}"/>
              </a:ext>
            </a:extLst>
          </p:cNvPr>
          <p:cNvSpPr txBox="1"/>
          <p:nvPr/>
        </p:nvSpPr>
        <p:spPr>
          <a:xfrm>
            <a:off x="9116922" y="254381"/>
            <a:ext cx="2484276" cy="5232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400"/>
            </a:lvl1pPr>
          </a:lstStyle>
          <a:p>
            <a:r>
              <a:rPr lang="en-US" altLang="zh-CN" sz="2800">
                <a:latin typeface="Consolas" pitchFamily="49" charset="0"/>
                <a:ea typeface="宋体" pitchFamily="2" charset="-122"/>
                <a:cs typeface="Consolas" pitchFamily="49" charset="0"/>
              </a:rPr>
              <a:t>step = 5</a:t>
            </a:r>
            <a:endParaRPr lang="zh-CN" altLang="en-US" sz="2800" dirty="0">
              <a:latin typeface="Consolas" pitchFamily="49" charset="0"/>
              <a:ea typeface="宋体" pitchFamily="2" charset="-122"/>
              <a:cs typeface="Consolas" pitchFamily="49" charset="0"/>
            </a:endParaRPr>
          </a:p>
        </p:txBody>
      </p:sp>
      <p:sp>
        <p:nvSpPr>
          <p:cNvPr id="12" name="TextBox 6">
            <a:extLst>
              <a:ext uri="{FF2B5EF4-FFF2-40B4-BE49-F238E27FC236}">
                <a16:creationId xmlns:a16="http://schemas.microsoft.com/office/drawing/2014/main" id="{A8263067-8352-4A13-9504-98521B6EBA27}"/>
              </a:ext>
            </a:extLst>
          </p:cNvPr>
          <p:cNvSpPr txBox="1"/>
          <p:nvPr/>
        </p:nvSpPr>
        <p:spPr>
          <a:xfrm>
            <a:off x="9069952" y="756042"/>
            <a:ext cx="2638145" cy="5232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400"/>
            </a:lvl1pPr>
          </a:lstStyle>
          <a:p>
            <a:r>
              <a:rPr lang="en-US" altLang="zh-CN" sz="2800">
                <a:solidFill>
                  <a:srgbClr val="0070C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(2,4) (</a:t>
            </a:r>
            <a:r>
              <a:rPr lang="en-US" altLang="zh-CN" sz="2800">
                <a:solidFill>
                  <a:srgbClr val="FF000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3</a:t>
            </a:r>
            <a:r>
              <a:rPr lang="en-US" altLang="zh-CN" sz="2800">
                <a:solidFill>
                  <a:srgbClr val="0070C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,</a:t>
            </a:r>
            <a:r>
              <a:rPr lang="en-US" altLang="zh-CN" sz="2800">
                <a:solidFill>
                  <a:srgbClr val="FF000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3</a:t>
            </a:r>
            <a:r>
              <a:rPr lang="en-US" altLang="zh-CN" sz="2800">
                <a:solidFill>
                  <a:srgbClr val="0070C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)</a:t>
            </a:r>
            <a:endParaRPr lang="zh-CN" altLang="en-US" sz="2800" dirty="0">
              <a:solidFill>
                <a:srgbClr val="0070C0"/>
              </a:solidFill>
              <a:latin typeface="Consolas" pitchFamily="49" charset="0"/>
              <a:ea typeface="宋体" pitchFamily="2" charset="-122"/>
              <a:cs typeface="Consolas" pitchFamily="49" charset="0"/>
            </a:endParaRPr>
          </a:p>
        </p:txBody>
      </p:sp>
      <p:sp>
        <p:nvSpPr>
          <p:cNvPr id="13" name="TextBox 6">
            <a:extLst>
              <a:ext uri="{FF2B5EF4-FFF2-40B4-BE49-F238E27FC236}">
                <a16:creationId xmlns:a16="http://schemas.microsoft.com/office/drawing/2014/main" id="{715F38D8-334B-4D38-8A73-68D2DB756784}"/>
              </a:ext>
            </a:extLst>
          </p:cNvPr>
          <p:cNvSpPr txBox="1"/>
          <p:nvPr/>
        </p:nvSpPr>
        <p:spPr>
          <a:xfrm>
            <a:off x="9163892" y="1406878"/>
            <a:ext cx="2484276" cy="5232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400"/>
            </a:lvl1pPr>
          </a:lstStyle>
          <a:p>
            <a:r>
              <a:rPr lang="en-US" altLang="zh-CN" sz="2800">
                <a:latin typeface="Consolas" pitchFamily="49" charset="0"/>
                <a:ea typeface="宋体" pitchFamily="2" charset="-122"/>
                <a:cs typeface="Consolas" pitchFamily="49" charset="0"/>
              </a:rPr>
              <a:t>step = 6</a:t>
            </a:r>
            <a:endParaRPr lang="zh-CN" altLang="en-US" sz="2800" dirty="0">
              <a:latin typeface="Consolas" pitchFamily="49" charset="0"/>
              <a:ea typeface="宋体" pitchFamily="2" charset="-122"/>
              <a:cs typeface="Consolas" pitchFamily="49" charset="0"/>
            </a:endParaRPr>
          </a:p>
        </p:txBody>
      </p:sp>
      <p:sp>
        <p:nvSpPr>
          <p:cNvPr id="14" name="TextBox 6">
            <a:extLst>
              <a:ext uri="{FF2B5EF4-FFF2-40B4-BE49-F238E27FC236}">
                <a16:creationId xmlns:a16="http://schemas.microsoft.com/office/drawing/2014/main" id="{7976EB6B-BA1B-4B34-B36C-4F8E9DCA111F}"/>
              </a:ext>
            </a:extLst>
          </p:cNvPr>
          <p:cNvSpPr txBox="1"/>
          <p:nvPr/>
        </p:nvSpPr>
        <p:spPr>
          <a:xfrm>
            <a:off x="9116922" y="1908539"/>
            <a:ext cx="2638145" cy="5232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400"/>
            </a:lvl1pPr>
          </a:lstStyle>
          <a:p>
            <a:r>
              <a:rPr lang="en-US" altLang="zh-CN" sz="2800">
                <a:solidFill>
                  <a:srgbClr val="0070C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(3,4) (</a:t>
            </a:r>
            <a:r>
              <a:rPr lang="en-US" altLang="zh-CN" sz="2800">
                <a:solidFill>
                  <a:srgbClr val="FF000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4</a:t>
            </a:r>
            <a:r>
              <a:rPr lang="en-US" altLang="zh-CN" sz="2800">
                <a:solidFill>
                  <a:srgbClr val="0070C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,</a:t>
            </a:r>
            <a:r>
              <a:rPr lang="en-US" altLang="zh-CN" sz="2800">
                <a:solidFill>
                  <a:srgbClr val="FF000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3</a:t>
            </a:r>
            <a:r>
              <a:rPr lang="en-US" altLang="zh-CN" sz="2800">
                <a:solidFill>
                  <a:srgbClr val="0070C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)</a:t>
            </a:r>
            <a:endParaRPr lang="zh-CN" altLang="en-US" sz="2800" dirty="0">
              <a:solidFill>
                <a:srgbClr val="0070C0"/>
              </a:solidFill>
              <a:latin typeface="Consolas" pitchFamily="49" charset="0"/>
              <a:ea typeface="宋体" pitchFamily="2" charset="-122"/>
              <a:cs typeface="Consolas" pitchFamily="49" charset="0"/>
            </a:endParaRPr>
          </a:p>
        </p:txBody>
      </p:sp>
      <p:sp>
        <p:nvSpPr>
          <p:cNvPr id="15" name="TextBox 6">
            <a:extLst>
              <a:ext uri="{FF2B5EF4-FFF2-40B4-BE49-F238E27FC236}">
                <a16:creationId xmlns:a16="http://schemas.microsoft.com/office/drawing/2014/main" id="{5C27D116-B906-4B86-BBC6-50A7441704B1}"/>
              </a:ext>
            </a:extLst>
          </p:cNvPr>
          <p:cNvSpPr txBox="1"/>
          <p:nvPr/>
        </p:nvSpPr>
        <p:spPr>
          <a:xfrm>
            <a:off x="233272" y="3855425"/>
            <a:ext cx="3385220" cy="5232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400"/>
            </a:lvl1pPr>
          </a:lstStyle>
          <a:p>
            <a:r>
              <a:rPr lang="en-US" altLang="zh-CN" sz="2800">
                <a:solidFill>
                  <a:srgbClr val="0070C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(</a:t>
            </a:r>
            <a:r>
              <a:rPr lang="en-US" altLang="zh-CN" sz="2800">
                <a:solidFill>
                  <a:srgbClr val="FF000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2</a:t>
            </a:r>
            <a:r>
              <a:rPr lang="en-US" altLang="zh-CN" sz="2800">
                <a:solidFill>
                  <a:srgbClr val="0070C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,</a:t>
            </a:r>
            <a:r>
              <a:rPr lang="en-US" altLang="zh-CN" sz="2800">
                <a:solidFill>
                  <a:srgbClr val="FF000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3</a:t>
            </a:r>
            <a:r>
              <a:rPr lang="en-US" altLang="zh-CN" sz="2800">
                <a:solidFill>
                  <a:srgbClr val="0070C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) (3,2) (4,1)</a:t>
            </a:r>
            <a:endParaRPr lang="zh-CN" altLang="en-US" sz="2800" dirty="0">
              <a:solidFill>
                <a:srgbClr val="0070C0"/>
              </a:solidFill>
              <a:latin typeface="Consolas" pitchFamily="49" charset="0"/>
              <a:ea typeface="宋体" pitchFamily="2" charset="-122"/>
              <a:cs typeface="Consolas" pitchFamily="49" charset="0"/>
            </a:endParaRPr>
          </a:p>
        </p:txBody>
      </p:sp>
      <p:sp>
        <p:nvSpPr>
          <p:cNvPr id="16" name="TextBox 6">
            <a:extLst>
              <a:ext uri="{FF2B5EF4-FFF2-40B4-BE49-F238E27FC236}">
                <a16:creationId xmlns:a16="http://schemas.microsoft.com/office/drawing/2014/main" id="{A0313B6E-9535-4DD8-938A-31A0AB834854}"/>
              </a:ext>
            </a:extLst>
          </p:cNvPr>
          <p:cNvSpPr txBox="1"/>
          <p:nvPr/>
        </p:nvSpPr>
        <p:spPr>
          <a:xfrm>
            <a:off x="262508" y="2822093"/>
            <a:ext cx="3385220" cy="5232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400"/>
            </a:lvl1pPr>
          </a:lstStyle>
          <a:p>
            <a:r>
              <a:rPr lang="en-US" altLang="zh-CN" sz="2800">
                <a:solidFill>
                  <a:srgbClr val="0070C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(1,3) (</a:t>
            </a:r>
            <a:r>
              <a:rPr lang="en-US" altLang="zh-CN" sz="2800">
                <a:solidFill>
                  <a:srgbClr val="FF000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2</a:t>
            </a:r>
            <a:r>
              <a:rPr lang="en-US" altLang="zh-CN" sz="2800">
                <a:solidFill>
                  <a:srgbClr val="0070C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,</a:t>
            </a:r>
            <a:r>
              <a:rPr lang="en-US" altLang="zh-CN" sz="2800">
                <a:solidFill>
                  <a:srgbClr val="FF000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2</a:t>
            </a:r>
            <a:r>
              <a:rPr lang="en-US" altLang="zh-CN" sz="2800">
                <a:solidFill>
                  <a:srgbClr val="0070C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) (</a:t>
            </a:r>
            <a:r>
              <a:rPr lang="en-US" altLang="zh-CN" sz="2800">
                <a:solidFill>
                  <a:srgbClr val="FF000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3</a:t>
            </a:r>
            <a:r>
              <a:rPr lang="en-US" altLang="zh-CN" sz="2800">
                <a:solidFill>
                  <a:srgbClr val="0070C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,</a:t>
            </a:r>
            <a:r>
              <a:rPr lang="en-US" altLang="zh-CN" sz="2800">
                <a:solidFill>
                  <a:srgbClr val="FF000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1</a:t>
            </a:r>
            <a:r>
              <a:rPr lang="en-US" altLang="zh-CN" sz="2800">
                <a:solidFill>
                  <a:srgbClr val="0070C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)</a:t>
            </a:r>
            <a:endParaRPr lang="zh-CN" altLang="en-US" sz="2800" dirty="0">
              <a:solidFill>
                <a:srgbClr val="0070C0"/>
              </a:solidFill>
              <a:latin typeface="Consolas" pitchFamily="49" charset="0"/>
              <a:ea typeface="宋体" pitchFamily="2" charset="-122"/>
              <a:cs typeface="Consolas" pitchFamily="49" charset="0"/>
            </a:endParaRPr>
          </a:p>
        </p:txBody>
      </p:sp>
      <p:sp>
        <p:nvSpPr>
          <p:cNvPr id="17" name="TextBox 6">
            <a:extLst>
              <a:ext uri="{FF2B5EF4-FFF2-40B4-BE49-F238E27FC236}">
                <a16:creationId xmlns:a16="http://schemas.microsoft.com/office/drawing/2014/main" id="{E5A0DEF4-F87C-4048-B5C4-A7F0801B3F3E}"/>
              </a:ext>
            </a:extLst>
          </p:cNvPr>
          <p:cNvSpPr txBox="1"/>
          <p:nvPr/>
        </p:nvSpPr>
        <p:spPr>
          <a:xfrm>
            <a:off x="233272" y="1797212"/>
            <a:ext cx="2484276" cy="5232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400"/>
            </a:lvl1pPr>
          </a:lstStyle>
          <a:p>
            <a:r>
              <a:rPr lang="en-US" altLang="zh-CN" sz="2800">
                <a:solidFill>
                  <a:srgbClr val="0070C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(</a:t>
            </a:r>
            <a:r>
              <a:rPr lang="en-US" altLang="zh-CN" sz="2800">
                <a:solidFill>
                  <a:srgbClr val="FF000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1</a:t>
            </a:r>
            <a:r>
              <a:rPr lang="en-US" altLang="zh-CN" sz="2800">
                <a:solidFill>
                  <a:srgbClr val="0070C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,</a:t>
            </a:r>
            <a:r>
              <a:rPr lang="en-US" altLang="zh-CN" sz="2800">
                <a:solidFill>
                  <a:srgbClr val="FF000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2</a:t>
            </a:r>
            <a:r>
              <a:rPr lang="en-US" altLang="zh-CN" sz="2800">
                <a:solidFill>
                  <a:srgbClr val="0070C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) (</a:t>
            </a:r>
            <a:r>
              <a:rPr lang="en-US" altLang="zh-CN" sz="2800">
                <a:solidFill>
                  <a:srgbClr val="FF000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2</a:t>
            </a:r>
            <a:r>
              <a:rPr lang="en-US" altLang="zh-CN" sz="2800">
                <a:solidFill>
                  <a:srgbClr val="0070C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,</a:t>
            </a:r>
            <a:r>
              <a:rPr lang="en-US" altLang="zh-CN" sz="2800">
                <a:solidFill>
                  <a:srgbClr val="FF000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1</a:t>
            </a:r>
            <a:r>
              <a:rPr lang="en-US" altLang="zh-CN" sz="2800">
                <a:solidFill>
                  <a:srgbClr val="0070C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)</a:t>
            </a:r>
            <a:endParaRPr lang="zh-CN" altLang="en-US" sz="2800" dirty="0">
              <a:solidFill>
                <a:srgbClr val="0070C0"/>
              </a:solidFill>
              <a:latin typeface="Consolas" pitchFamily="49" charset="0"/>
              <a:ea typeface="宋体" pitchFamily="2" charset="-122"/>
              <a:cs typeface="Consolas" pitchFamily="49" charset="0"/>
            </a:endParaRPr>
          </a:p>
        </p:txBody>
      </p:sp>
      <p:sp>
        <p:nvSpPr>
          <p:cNvPr id="18" name="TextBox 6">
            <a:extLst>
              <a:ext uri="{FF2B5EF4-FFF2-40B4-BE49-F238E27FC236}">
                <a16:creationId xmlns:a16="http://schemas.microsoft.com/office/drawing/2014/main" id="{8CBBDA22-BE0C-45F7-8EE9-8AEC53CD22C7}"/>
              </a:ext>
            </a:extLst>
          </p:cNvPr>
          <p:cNvSpPr txBox="1"/>
          <p:nvPr/>
        </p:nvSpPr>
        <p:spPr>
          <a:xfrm>
            <a:off x="277234" y="762309"/>
            <a:ext cx="1882316" cy="5232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400"/>
            </a:lvl1pPr>
          </a:lstStyle>
          <a:p>
            <a:r>
              <a:rPr lang="en-US" altLang="zh-CN" sz="2800">
                <a:solidFill>
                  <a:srgbClr val="0070C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(</a:t>
            </a:r>
            <a:r>
              <a:rPr lang="en-US" altLang="zh-CN" sz="2800">
                <a:solidFill>
                  <a:srgbClr val="FF000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1,1</a:t>
            </a:r>
            <a:r>
              <a:rPr lang="en-US" altLang="zh-CN" sz="2800">
                <a:solidFill>
                  <a:srgbClr val="0070C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)</a:t>
            </a:r>
            <a:endParaRPr lang="zh-CN" altLang="en-US" sz="2800" dirty="0">
              <a:solidFill>
                <a:srgbClr val="0070C0"/>
              </a:solidFill>
              <a:latin typeface="Consolas" pitchFamily="49" charset="0"/>
              <a:ea typeface="宋体" pitchFamily="2" charset="-122"/>
              <a:cs typeface="Consolas" pitchFamily="49" charset="0"/>
            </a:endParaRPr>
          </a:p>
        </p:txBody>
      </p:sp>
      <p:sp>
        <p:nvSpPr>
          <p:cNvPr id="19" name="TextBox 6">
            <a:extLst>
              <a:ext uri="{FF2B5EF4-FFF2-40B4-BE49-F238E27FC236}">
                <a16:creationId xmlns:a16="http://schemas.microsoft.com/office/drawing/2014/main" id="{952B5AD7-0243-4193-851E-D4686523ACA6}"/>
              </a:ext>
            </a:extLst>
          </p:cNvPr>
          <p:cNvSpPr txBox="1"/>
          <p:nvPr/>
        </p:nvSpPr>
        <p:spPr>
          <a:xfrm>
            <a:off x="9195447" y="2470045"/>
            <a:ext cx="2484276" cy="5232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400"/>
            </a:lvl1pPr>
          </a:lstStyle>
          <a:p>
            <a:r>
              <a:rPr lang="en-US" altLang="zh-CN" sz="2800">
                <a:latin typeface="Consolas" pitchFamily="49" charset="0"/>
                <a:ea typeface="宋体" pitchFamily="2" charset="-122"/>
                <a:cs typeface="Consolas" pitchFamily="49" charset="0"/>
              </a:rPr>
              <a:t>step = 7</a:t>
            </a:r>
            <a:endParaRPr lang="zh-CN" altLang="en-US" sz="2800" dirty="0">
              <a:latin typeface="Consolas" pitchFamily="49" charset="0"/>
              <a:ea typeface="宋体" pitchFamily="2" charset="-122"/>
              <a:cs typeface="Consolas" pitchFamily="49" charset="0"/>
            </a:endParaRPr>
          </a:p>
        </p:txBody>
      </p:sp>
      <p:sp>
        <p:nvSpPr>
          <p:cNvPr id="20" name="TextBox 6">
            <a:extLst>
              <a:ext uri="{FF2B5EF4-FFF2-40B4-BE49-F238E27FC236}">
                <a16:creationId xmlns:a16="http://schemas.microsoft.com/office/drawing/2014/main" id="{10681275-8B95-406C-A5A7-F3E66B94E75C}"/>
              </a:ext>
            </a:extLst>
          </p:cNvPr>
          <p:cNvSpPr txBox="1"/>
          <p:nvPr/>
        </p:nvSpPr>
        <p:spPr>
          <a:xfrm>
            <a:off x="9148477" y="2971706"/>
            <a:ext cx="2638145" cy="5232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400"/>
            </a:lvl1pPr>
          </a:lstStyle>
          <a:p>
            <a:r>
              <a:rPr lang="en-US" altLang="zh-CN" sz="2800">
                <a:solidFill>
                  <a:srgbClr val="0070C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(</a:t>
            </a:r>
            <a:r>
              <a:rPr lang="en-US" altLang="zh-CN" sz="2800">
                <a:solidFill>
                  <a:schemeClr val="accent1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3,5</a:t>
            </a:r>
            <a:r>
              <a:rPr lang="en-US" altLang="zh-CN" sz="2800">
                <a:solidFill>
                  <a:srgbClr val="0070C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) (</a:t>
            </a:r>
            <a:r>
              <a:rPr lang="en-US" altLang="zh-CN" sz="2800">
                <a:solidFill>
                  <a:srgbClr val="FF000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4</a:t>
            </a:r>
            <a:r>
              <a:rPr lang="en-US" altLang="zh-CN" sz="2800">
                <a:solidFill>
                  <a:srgbClr val="0070C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,</a:t>
            </a:r>
            <a:r>
              <a:rPr lang="en-US" altLang="zh-CN" sz="2800">
                <a:solidFill>
                  <a:srgbClr val="FF000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4</a:t>
            </a:r>
            <a:r>
              <a:rPr lang="en-US" altLang="zh-CN" sz="2800">
                <a:solidFill>
                  <a:srgbClr val="0070C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)</a:t>
            </a:r>
            <a:endParaRPr lang="zh-CN" altLang="en-US" sz="2800" dirty="0">
              <a:solidFill>
                <a:srgbClr val="0070C0"/>
              </a:solidFill>
              <a:latin typeface="Consolas" pitchFamily="49" charset="0"/>
              <a:ea typeface="宋体" pitchFamily="2" charset="-122"/>
              <a:cs typeface="Consolas" pitchFamily="49" charset="0"/>
            </a:endParaRPr>
          </a:p>
        </p:txBody>
      </p:sp>
      <p:sp>
        <p:nvSpPr>
          <p:cNvPr id="21" name="TextBox 6">
            <a:extLst>
              <a:ext uri="{FF2B5EF4-FFF2-40B4-BE49-F238E27FC236}">
                <a16:creationId xmlns:a16="http://schemas.microsoft.com/office/drawing/2014/main" id="{DF7E69AF-09D5-480B-A9BD-94F9CA6B502F}"/>
              </a:ext>
            </a:extLst>
          </p:cNvPr>
          <p:cNvSpPr txBox="1"/>
          <p:nvPr/>
        </p:nvSpPr>
        <p:spPr>
          <a:xfrm>
            <a:off x="9210862" y="3625080"/>
            <a:ext cx="2484276" cy="5232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400"/>
            </a:lvl1pPr>
          </a:lstStyle>
          <a:p>
            <a:r>
              <a:rPr lang="en-US" altLang="zh-CN" sz="2800">
                <a:latin typeface="Consolas" pitchFamily="49" charset="0"/>
                <a:ea typeface="宋体" pitchFamily="2" charset="-122"/>
                <a:cs typeface="Consolas" pitchFamily="49" charset="0"/>
              </a:rPr>
              <a:t>step = 8</a:t>
            </a:r>
            <a:endParaRPr lang="zh-CN" altLang="en-US" sz="2800" dirty="0">
              <a:latin typeface="Consolas" pitchFamily="49" charset="0"/>
              <a:ea typeface="宋体" pitchFamily="2" charset="-122"/>
              <a:cs typeface="Consolas" pitchFamily="49" charset="0"/>
            </a:endParaRPr>
          </a:p>
        </p:txBody>
      </p:sp>
      <p:sp>
        <p:nvSpPr>
          <p:cNvPr id="22" name="TextBox 6">
            <a:extLst>
              <a:ext uri="{FF2B5EF4-FFF2-40B4-BE49-F238E27FC236}">
                <a16:creationId xmlns:a16="http://schemas.microsoft.com/office/drawing/2014/main" id="{0301A1EC-9B56-4EE3-9465-CA0EE4D5F3B8}"/>
              </a:ext>
            </a:extLst>
          </p:cNvPr>
          <p:cNvSpPr txBox="1"/>
          <p:nvPr/>
        </p:nvSpPr>
        <p:spPr>
          <a:xfrm>
            <a:off x="9163892" y="4126741"/>
            <a:ext cx="2638145" cy="5232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400"/>
            </a:lvl1pPr>
          </a:lstStyle>
          <a:p>
            <a:r>
              <a:rPr lang="en-US" altLang="zh-CN" sz="2800">
                <a:solidFill>
                  <a:srgbClr val="0070C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(</a:t>
            </a:r>
            <a:r>
              <a:rPr lang="en-US" altLang="zh-CN" sz="2800">
                <a:solidFill>
                  <a:srgbClr val="FF000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4</a:t>
            </a:r>
            <a:r>
              <a:rPr lang="en-US" altLang="zh-CN" sz="2800">
                <a:solidFill>
                  <a:srgbClr val="0070C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,</a:t>
            </a:r>
            <a:r>
              <a:rPr lang="en-US" altLang="zh-CN" sz="2800">
                <a:solidFill>
                  <a:srgbClr val="FF000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5</a:t>
            </a:r>
            <a:r>
              <a:rPr lang="en-US" altLang="zh-CN" sz="2800">
                <a:solidFill>
                  <a:srgbClr val="0070C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)</a:t>
            </a:r>
            <a:endParaRPr lang="zh-CN" altLang="en-US" sz="2800" dirty="0">
              <a:solidFill>
                <a:srgbClr val="0070C0"/>
              </a:solidFill>
              <a:latin typeface="Consolas" pitchFamily="49" charset="0"/>
              <a:ea typeface="宋体" pitchFamily="2" charset="-122"/>
              <a:cs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73786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E37B439C-B2D6-4325-8A1F-DC4AAFD6D6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4657" y="0"/>
            <a:ext cx="5649542" cy="6858000"/>
          </a:xfrm>
          <a:prstGeom prst="rect">
            <a:avLst/>
          </a:prstGeom>
        </p:spPr>
      </p:pic>
      <p:sp>
        <p:nvSpPr>
          <p:cNvPr id="6" name="TextBox 13">
            <a:extLst>
              <a:ext uri="{FF2B5EF4-FFF2-40B4-BE49-F238E27FC236}">
                <a16:creationId xmlns:a16="http://schemas.microsoft.com/office/drawing/2014/main" id="{3333E450-A92C-48B9-A367-9A676CD74E0E}"/>
              </a:ext>
            </a:extLst>
          </p:cNvPr>
          <p:cNvSpPr txBox="1"/>
          <p:nvPr/>
        </p:nvSpPr>
        <p:spPr>
          <a:xfrm>
            <a:off x="9854526" y="-1488"/>
            <a:ext cx="827584" cy="707886"/>
          </a:xfrm>
          <a:prstGeom prst="rect">
            <a:avLst/>
          </a:prstGeom>
          <a:solidFill>
            <a:srgbClr val="CCFFFF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400"/>
            </a:lvl1pPr>
          </a:lstStyle>
          <a:p>
            <a:pPr algn="ctr"/>
            <a:r>
              <a:rPr lang="zh-CN" altLang="en-US" sz="2000" dirty="0">
                <a:latin typeface="Consolas" pitchFamily="49" charset="0"/>
                <a:cs typeface="Consolas" pitchFamily="49" charset="0"/>
              </a:rPr>
              <a:t>贪心变种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AF32B26-1F04-429A-8007-3F0DFA17931F}"/>
              </a:ext>
            </a:extLst>
          </p:cNvPr>
          <p:cNvSpPr/>
          <p:nvPr/>
        </p:nvSpPr>
        <p:spPr>
          <a:xfrm>
            <a:off x="3863752" y="4280323"/>
            <a:ext cx="3276364" cy="271189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C265158-6FB6-47E2-BEC2-54C6B32B172D}"/>
              </a:ext>
            </a:extLst>
          </p:cNvPr>
          <p:cNvSpPr/>
          <p:nvPr/>
        </p:nvSpPr>
        <p:spPr>
          <a:xfrm>
            <a:off x="3863752" y="5433567"/>
            <a:ext cx="3276364" cy="271189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717A9C41-E6A1-449A-9730-597DDAB5DD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33</a:t>
            </a:fld>
            <a:endParaRPr lang="zh-CN" altLang="en-US"/>
          </a:p>
        </p:txBody>
      </p:sp>
      <p:sp>
        <p:nvSpPr>
          <p:cNvPr id="13" name="TextBox 6">
            <a:extLst>
              <a:ext uri="{FF2B5EF4-FFF2-40B4-BE49-F238E27FC236}">
                <a16:creationId xmlns:a16="http://schemas.microsoft.com/office/drawing/2014/main" id="{70DB877F-54A6-442E-A2A2-3C4D036656CA}"/>
              </a:ext>
            </a:extLst>
          </p:cNvPr>
          <p:cNvSpPr txBox="1"/>
          <p:nvPr/>
        </p:nvSpPr>
        <p:spPr>
          <a:xfrm>
            <a:off x="7320136" y="1111687"/>
            <a:ext cx="1142081" cy="33855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400"/>
            </a:lvl1pPr>
          </a:lstStyle>
          <a:p>
            <a:r>
              <a:rPr lang="zh-CN" altLang="en-US" sz="1600">
                <a:solidFill>
                  <a:srgbClr val="0070C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枚举步长</a:t>
            </a:r>
            <a:endParaRPr lang="zh-CN" altLang="en-US" sz="1600" dirty="0">
              <a:solidFill>
                <a:srgbClr val="0070C0"/>
              </a:solidFill>
              <a:latin typeface="Consolas" pitchFamily="49" charset="0"/>
              <a:ea typeface="宋体" pitchFamily="2" charset="-122"/>
              <a:cs typeface="Consolas" pitchFamily="49" charset="0"/>
            </a:endParaRPr>
          </a:p>
        </p:txBody>
      </p:sp>
      <p:sp>
        <p:nvSpPr>
          <p:cNvPr id="14" name="TextBox 6">
            <a:extLst>
              <a:ext uri="{FF2B5EF4-FFF2-40B4-BE49-F238E27FC236}">
                <a16:creationId xmlns:a16="http://schemas.microsoft.com/office/drawing/2014/main" id="{F0B1697A-D820-45AC-B52F-418627CF76A3}"/>
              </a:ext>
            </a:extLst>
          </p:cNvPr>
          <p:cNvSpPr txBox="1"/>
          <p:nvPr/>
        </p:nvSpPr>
        <p:spPr>
          <a:xfrm>
            <a:off x="7320135" y="1722521"/>
            <a:ext cx="1142081" cy="27979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400"/>
            </a:lvl1pPr>
          </a:lstStyle>
          <a:p>
            <a:r>
              <a:rPr lang="zh-CN" altLang="en-US" sz="1600">
                <a:solidFill>
                  <a:srgbClr val="0070C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枚举行</a:t>
            </a:r>
            <a:endParaRPr lang="zh-CN" altLang="en-US" sz="1600" dirty="0">
              <a:solidFill>
                <a:srgbClr val="0070C0"/>
              </a:solidFill>
              <a:latin typeface="Consolas" pitchFamily="49" charset="0"/>
              <a:ea typeface="宋体" pitchFamily="2" charset="-122"/>
              <a:cs typeface="Consolas" pitchFamily="49" charset="0"/>
            </a:endParaRPr>
          </a:p>
        </p:txBody>
      </p:sp>
      <p:sp>
        <p:nvSpPr>
          <p:cNvPr id="15" name="TextBox 6">
            <a:extLst>
              <a:ext uri="{FF2B5EF4-FFF2-40B4-BE49-F238E27FC236}">
                <a16:creationId xmlns:a16="http://schemas.microsoft.com/office/drawing/2014/main" id="{3261A115-542A-42AE-A40E-D05F36060F22}"/>
              </a:ext>
            </a:extLst>
          </p:cNvPr>
          <p:cNvSpPr txBox="1"/>
          <p:nvPr/>
        </p:nvSpPr>
        <p:spPr>
          <a:xfrm>
            <a:off x="7320135" y="2031063"/>
            <a:ext cx="1643713" cy="33855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400"/>
            </a:lvl1pPr>
          </a:lstStyle>
          <a:p>
            <a:r>
              <a:rPr lang="zh-CN" altLang="en-US" sz="1600">
                <a:solidFill>
                  <a:srgbClr val="0070C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计算对应</a:t>
            </a:r>
            <a:r>
              <a:rPr lang="en-US" altLang="zh-CN" sz="1600">
                <a:solidFill>
                  <a:srgbClr val="0070C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y</a:t>
            </a:r>
            <a:r>
              <a:rPr lang="zh-CN" altLang="en-US" sz="1600">
                <a:solidFill>
                  <a:srgbClr val="0070C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坐标</a:t>
            </a:r>
            <a:endParaRPr lang="zh-CN" altLang="en-US" sz="1600" dirty="0">
              <a:solidFill>
                <a:srgbClr val="0070C0"/>
              </a:solidFill>
              <a:latin typeface="Consolas" pitchFamily="49" charset="0"/>
              <a:ea typeface="宋体" pitchFamily="2" charset="-122"/>
              <a:cs typeface="Consolas" pitchFamily="49" charset="0"/>
            </a:endParaRPr>
          </a:p>
        </p:txBody>
      </p:sp>
      <p:sp>
        <p:nvSpPr>
          <p:cNvPr id="9" name="TextBox 6">
            <a:extLst>
              <a:ext uri="{FF2B5EF4-FFF2-40B4-BE49-F238E27FC236}">
                <a16:creationId xmlns:a16="http://schemas.microsoft.com/office/drawing/2014/main" id="{03CA6DC2-709A-40AB-9A5F-17072E913200}"/>
              </a:ext>
            </a:extLst>
          </p:cNvPr>
          <p:cNvSpPr txBox="1"/>
          <p:nvPr/>
        </p:nvSpPr>
        <p:spPr>
          <a:xfrm>
            <a:off x="8963848" y="5764974"/>
            <a:ext cx="2952328" cy="46166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400"/>
            </a:lvl1pPr>
          </a:lstStyle>
          <a:p>
            <a:pPr algn="ctr"/>
            <a:r>
              <a:rPr lang="zh-CN" altLang="en-US" dirty="0">
                <a:latin typeface="Consolas" pitchFamily="49" charset="0"/>
                <a:ea typeface="宋体" pitchFamily="2" charset="-122"/>
                <a:cs typeface="Consolas" pitchFamily="49" charset="0"/>
              </a:rPr>
              <a:t>请写出时间复杂度</a:t>
            </a:r>
          </a:p>
        </p:txBody>
      </p:sp>
      <p:sp>
        <p:nvSpPr>
          <p:cNvPr id="10" name="TextBox 6">
            <a:extLst>
              <a:ext uri="{FF2B5EF4-FFF2-40B4-BE49-F238E27FC236}">
                <a16:creationId xmlns:a16="http://schemas.microsoft.com/office/drawing/2014/main" id="{DF49D925-7FC1-44C5-9868-3F447FD37C26}"/>
              </a:ext>
            </a:extLst>
          </p:cNvPr>
          <p:cNvSpPr txBox="1"/>
          <p:nvPr/>
        </p:nvSpPr>
        <p:spPr>
          <a:xfrm>
            <a:off x="8963848" y="6226639"/>
            <a:ext cx="2952328" cy="461665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400"/>
            </a:lvl1pPr>
          </a:lstStyle>
          <a:p>
            <a:pPr algn="ctr"/>
            <a:r>
              <a:rPr lang="en-US" altLang="zh-CN" dirty="0">
                <a:latin typeface="Consolas" pitchFamily="49" charset="0"/>
                <a:ea typeface="宋体" pitchFamily="2" charset="-122"/>
                <a:cs typeface="Consolas" pitchFamily="49" charset="0"/>
              </a:rPr>
              <a:t>O(nm)</a:t>
            </a:r>
            <a:endParaRPr lang="zh-CN" altLang="en-US" dirty="0">
              <a:latin typeface="Consolas" pitchFamily="49" charset="0"/>
              <a:ea typeface="宋体" pitchFamily="2" charset="-122"/>
              <a:cs typeface="Consolas" pitchFamily="49" charset="0"/>
            </a:endParaRPr>
          </a:p>
        </p:txBody>
      </p:sp>
      <p:sp>
        <p:nvSpPr>
          <p:cNvPr id="16" name="TextBox 6">
            <a:extLst>
              <a:ext uri="{FF2B5EF4-FFF2-40B4-BE49-F238E27FC236}">
                <a16:creationId xmlns:a16="http://schemas.microsoft.com/office/drawing/2014/main" id="{F006830C-A153-421A-BFB6-A71CC1BD2BEC}"/>
              </a:ext>
            </a:extLst>
          </p:cNvPr>
          <p:cNvSpPr txBox="1"/>
          <p:nvPr/>
        </p:nvSpPr>
        <p:spPr>
          <a:xfrm>
            <a:off x="7320135" y="2892991"/>
            <a:ext cx="1643713" cy="33855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400"/>
            </a:lvl1pPr>
          </a:lstStyle>
          <a:p>
            <a:r>
              <a:rPr lang="zh-CN" altLang="en-US" sz="1600">
                <a:solidFill>
                  <a:srgbClr val="0070C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取最小的字符</a:t>
            </a:r>
            <a:endParaRPr lang="zh-CN" altLang="en-US" sz="1600" dirty="0">
              <a:solidFill>
                <a:srgbClr val="0070C0"/>
              </a:solidFill>
              <a:latin typeface="Consolas" pitchFamily="49" charset="0"/>
              <a:ea typeface="宋体" pitchFamily="2" charset="-122"/>
              <a:cs typeface="Consolas" pitchFamily="49" charset="0"/>
            </a:endParaRPr>
          </a:p>
        </p:txBody>
      </p:sp>
      <p:sp>
        <p:nvSpPr>
          <p:cNvPr id="19" name="TextBox 6">
            <a:extLst>
              <a:ext uri="{FF2B5EF4-FFF2-40B4-BE49-F238E27FC236}">
                <a16:creationId xmlns:a16="http://schemas.microsoft.com/office/drawing/2014/main" id="{764E90EF-65D0-4BA8-9BFC-724AC42B1783}"/>
              </a:ext>
            </a:extLst>
          </p:cNvPr>
          <p:cNvSpPr txBox="1"/>
          <p:nvPr/>
        </p:nvSpPr>
        <p:spPr>
          <a:xfrm>
            <a:off x="7320134" y="4875495"/>
            <a:ext cx="2880322" cy="33855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400"/>
            </a:lvl1pPr>
          </a:lstStyle>
          <a:p>
            <a:r>
              <a:rPr lang="zh-CN" altLang="en-US" sz="1600">
                <a:solidFill>
                  <a:srgbClr val="0070C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当前位置是否是选择的位置？</a:t>
            </a:r>
            <a:endParaRPr lang="zh-CN" altLang="en-US" sz="1600" dirty="0">
              <a:solidFill>
                <a:srgbClr val="0070C0"/>
              </a:solidFill>
              <a:latin typeface="Consolas" pitchFamily="49" charset="0"/>
              <a:ea typeface="宋体" pitchFamily="2" charset="-122"/>
              <a:cs typeface="Consolas" pitchFamily="49" charset="0"/>
            </a:endParaRPr>
          </a:p>
        </p:txBody>
      </p:sp>
      <p:sp>
        <p:nvSpPr>
          <p:cNvPr id="20" name="TextBox 6">
            <a:extLst>
              <a:ext uri="{FF2B5EF4-FFF2-40B4-BE49-F238E27FC236}">
                <a16:creationId xmlns:a16="http://schemas.microsoft.com/office/drawing/2014/main" id="{EA30D8F4-665B-469B-92A6-48643260F9D5}"/>
              </a:ext>
            </a:extLst>
          </p:cNvPr>
          <p:cNvSpPr txBox="1"/>
          <p:nvPr/>
        </p:nvSpPr>
        <p:spPr>
          <a:xfrm>
            <a:off x="7329892" y="5238750"/>
            <a:ext cx="2880322" cy="5847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400"/>
            </a:lvl1pPr>
          </a:lstStyle>
          <a:p>
            <a:r>
              <a:rPr lang="zh-CN" altLang="en-US" sz="1600">
                <a:solidFill>
                  <a:srgbClr val="0070C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从当前位置向下、向右，</a:t>
            </a:r>
            <a:endParaRPr lang="en-US" altLang="zh-CN" sz="1600">
              <a:solidFill>
                <a:srgbClr val="0070C0"/>
              </a:solidFill>
              <a:latin typeface="Consolas" pitchFamily="49" charset="0"/>
              <a:ea typeface="宋体" pitchFamily="2" charset="-122"/>
              <a:cs typeface="Consolas" pitchFamily="49" charset="0"/>
            </a:endParaRPr>
          </a:p>
          <a:p>
            <a:r>
              <a:rPr lang="zh-CN" altLang="en-US" sz="1600">
                <a:solidFill>
                  <a:srgbClr val="0070C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标记已访问</a:t>
            </a:r>
            <a:endParaRPr lang="zh-CN" altLang="en-US" sz="1600" dirty="0">
              <a:solidFill>
                <a:srgbClr val="0070C0"/>
              </a:solidFill>
              <a:latin typeface="Consolas" pitchFamily="49" charset="0"/>
              <a:ea typeface="宋体" pitchFamily="2" charset="-122"/>
              <a:cs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48722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9" grpId="0" animBg="1"/>
      <p:bldP spid="10" grpId="0" animBg="1"/>
      <p:bldP spid="16" grpId="0" animBg="1"/>
      <p:bldP spid="19" grpId="0" animBg="1"/>
      <p:bldP spid="20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D43A45B3-CB03-46F1-A433-B2006F9F1C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9576" y="1772816"/>
            <a:ext cx="6516216" cy="4331180"/>
          </a:xfrm>
          <a:prstGeom prst="rect">
            <a:avLst/>
          </a:prstGeom>
        </p:spPr>
      </p:pic>
      <p:sp>
        <p:nvSpPr>
          <p:cNvPr id="13" name="TextBox 6">
            <a:extLst>
              <a:ext uri="{FF2B5EF4-FFF2-40B4-BE49-F238E27FC236}">
                <a16:creationId xmlns:a16="http://schemas.microsoft.com/office/drawing/2014/main" id="{3F9928DA-8768-4913-8E1C-6F9D28F88A36}"/>
              </a:ext>
            </a:extLst>
          </p:cNvPr>
          <p:cNvSpPr txBox="1"/>
          <p:nvPr/>
        </p:nvSpPr>
        <p:spPr>
          <a:xfrm>
            <a:off x="4583832" y="453182"/>
            <a:ext cx="2952328" cy="830997"/>
          </a:xfrm>
          <a:prstGeom prst="rect">
            <a:avLst/>
          </a:prstGeom>
          <a:solidFill>
            <a:srgbClr val="FFFF99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400"/>
            </a:lvl1pPr>
          </a:lstStyle>
          <a:p>
            <a:pPr algn="ctr"/>
            <a:r>
              <a:rPr lang="zh-CN" altLang="en-US" dirty="0">
                <a:latin typeface="Consolas" pitchFamily="49" charset="0"/>
                <a:ea typeface="宋体" pitchFamily="2" charset="-122"/>
                <a:cs typeface="Consolas" pitchFamily="49" charset="0"/>
              </a:rPr>
              <a:t>大小数据分离</a:t>
            </a:r>
            <a:endParaRPr lang="en-US" altLang="zh-CN" dirty="0">
              <a:latin typeface="Consolas" pitchFamily="49" charset="0"/>
              <a:ea typeface="宋体" pitchFamily="2" charset="-122"/>
              <a:cs typeface="Consolas" pitchFamily="49" charset="0"/>
            </a:endParaRPr>
          </a:p>
          <a:p>
            <a:pPr algn="ctr"/>
            <a:r>
              <a:rPr lang="zh-CN" altLang="en-US" dirty="0">
                <a:latin typeface="Consolas" pitchFamily="49" charset="0"/>
                <a:ea typeface="宋体" pitchFamily="2" charset="-122"/>
                <a:cs typeface="Consolas" pitchFamily="49" charset="0"/>
              </a:rPr>
              <a:t>确保部分分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B030AECF-D159-47F6-A584-7C8E30F62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106806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F1E976-E7D6-8426-B05A-DB40C48F6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3">
            <a:extLst>
              <a:ext uri="{FF2B5EF4-FFF2-40B4-BE49-F238E27FC236}">
                <a16:creationId xmlns:a16="http://schemas.microsoft.com/office/drawing/2014/main" id="{58AF0DB1-FA76-B53F-770F-A54555503574}"/>
              </a:ext>
            </a:extLst>
          </p:cNvPr>
          <p:cNvSpPr txBox="1"/>
          <p:nvPr/>
        </p:nvSpPr>
        <p:spPr>
          <a:xfrm>
            <a:off x="-210616" y="2636912"/>
            <a:ext cx="12613232" cy="1015659"/>
          </a:xfrm>
          <a:prstGeom prst="rect">
            <a:avLst/>
          </a:prstGeom>
          <a:solidFill>
            <a:srgbClr val="F2F2F2"/>
          </a:solidFill>
          <a:ln w="12700">
            <a:solidFill>
              <a:srgbClr val="4A452A"/>
            </a:solidFill>
          </a:ln>
        </p:spPr>
        <p:txBody>
          <a:bodyPr wrap="square" lIns="45718" tIns="45718" rIns="45718" bIns="45718">
            <a:spAutoFit/>
          </a:bodyPr>
          <a:lstStyle>
            <a:defPPr>
              <a:defRPr lang="zh-CN"/>
            </a:defPPr>
            <a:lvl1pPr algn="ctr" defTabSz="914367">
              <a:defRPr sz="3937">
                <a:latin typeface="Calibri"/>
                <a:ea typeface="Calibri"/>
                <a:cs typeface="Calibri"/>
              </a:defRPr>
            </a:lvl1pPr>
          </a:lstStyle>
          <a:p>
            <a:pPr>
              <a:defRPr sz="5600">
                <a:latin typeface="Calibri"/>
                <a:ea typeface="Calibri"/>
                <a:cs typeface="Calibri"/>
                <a:sym typeface="Calibri"/>
              </a:defRPr>
            </a:pPr>
            <a:r>
              <a:rPr lang="en-US" altLang="zh-CN" sz="6000"/>
              <a:t>T4 </a:t>
            </a:r>
            <a:r>
              <a:rPr lang="zh-CN" altLang="en-US" sz="6000"/>
              <a:t>风水大师</a:t>
            </a:r>
            <a:endParaRPr lang="zh-CN" altLang="en-US" sz="60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9D79162-2E5E-2A96-CC9E-D0A2FD574880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altLang="zh-CN" smtClean="0"/>
              <a:t>35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20336601"/>
      </p:ext>
    </p:extLst>
  </p:cSld>
  <p:clrMapOvr>
    <a:masterClrMapping/>
  </p:clrMapOvr>
  <p:transition spd="slow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3431957" y="1628800"/>
            <a:ext cx="5330452" cy="1144031"/>
          </a:xfrm>
          <a:prstGeom prst="rect">
            <a:avLst/>
          </a:prstGeom>
          <a:noFill/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400" dirty="0"/>
              <a:t>给定</a:t>
            </a:r>
            <a:r>
              <a:rPr lang="en-US" altLang="zh-CN" sz="2400" dirty="0"/>
              <a:t>n</a:t>
            </a:r>
            <a:r>
              <a:rPr lang="zh-CN" altLang="en-US" sz="2400" dirty="0"/>
              <a:t>个物品的</a:t>
            </a:r>
            <a:r>
              <a:rPr lang="en-US" altLang="zh-CN" sz="2400" dirty="0"/>
              <a:t>m</a:t>
            </a:r>
            <a:r>
              <a:rPr lang="zh-CN" altLang="en-US" sz="2400" dirty="0"/>
              <a:t>条对它们属性的相生相克判断，求矛盾的判断数量</a:t>
            </a:r>
          </a:p>
        </p:txBody>
      </p:sp>
      <p:sp>
        <p:nvSpPr>
          <p:cNvPr id="3" name="矩形 2"/>
          <p:cNvSpPr/>
          <p:nvPr>
            <p:custDataLst>
              <p:tags r:id="rId1"/>
            </p:custDataLst>
          </p:nvPr>
        </p:nvSpPr>
        <p:spPr>
          <a:xfrm>
            <a:off x="3432176" y="3030856"/>
            <a:ext cx="5323205" cy="460375"/>
          </a:xfrm>
          <a:prstGeom prst="rect">
            <a:avLst/>
          </a:prstGeom>
          <a:noFill/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2400" dirty="0"/>
              <a:t>如何记录相生相克关系？</a:t>
            </a:r>
          </a:p>
        </p:txBody>
      </p:sp>
      <p:sp>
        <p:nvSpPr>
          <p:cNvPr id="4" name="矩形 3"/>
          <p:cNvSpPr/>
          <p:nvPr>
            <p:custDataLst>
              <p:tags r:id="rId2"/>
            </p:custDataLst>
          </p:nvPr>
        </p:nvSpPr>
        <p:spPr>
          <a:xfrm>
            <a:off x="3432176" y="3813176"/>
            <a:ext cx="5329555" cy="460375"/>
          </a:xfrm>
          <a:prstGeom prst="rect">
            <a:avLst/>
          </a:prstGeom>
          <a:noFill/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2400" dirty="0"/>
              <a:t>带权并查集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F68144A-C7E4-4AC4-9ACE-F49E3AFDFA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36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ldLvl="0" animBg="1"/>
      <p:bldP spid="4" grpId="0" bldLvl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3503965" y="3150410"/>
            <a:ext cx="5184576" cy="49149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2600" dirty="0"/>
              <a:t>考虑特殊数据</a:t>
            </a:r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/>
          <a:srcRect b="27324"/>
          <a:stretch>
            <a:fillRect/>
          </a:stretch>
        </p:blipFill>
        <p:spPr>
          <a:xfrm>
            <a:off x="983432" y="1124744"/>
            <a:ext cx="9340984" cy="1533166"/>
          </a:xfrm>
          <a:prstGeom prst="rect">
            <a:avLst/>
          </a:prstGeom>
        </p:spPr>
      </p:pic>
      <p:sp>
        <p:nvSpPr>
          <p:cNvPr id="5" name="TextBox 5"/>
          <p:cNvSpPr txBox="1"/>
          <p:nvPr>
            <p:custDataLst>
              <p:tags r:id="rId2"/>
            </p:custDataLst>
          </p:nvPr>
        </p:nvSpPr>
        <p:spPr>
          <a:xfrm>
            <a:off x="3503931" y="3935730"/>
            <a:ext cx="2517775" cy="49149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2600" dirty="0"/>
              <a:t>全为克制</a:t>
            </a:r>
          </a:p>
        </p:txBody>
      </p:sp>
      <p:sp>
        <p:nvSpPr>
          <p:cNvPr id="11" name="TextBox 5"/>
          <p:cNvSpPr txBox="1"/>
          <p:nvPr>
            <p:custDataLst>
              <p:tags r:id="rId3"/>
            </p:custDataLst>
          </p:nvPr>
        </p:nvSpPr>
        <p:spPr>
          <a:xfrm>
            <a:off x="6148706" y="3935730"/>
            <a:ext cx="2517775" cy="49149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2600" dirty="0"/>
              <a:t>全为相生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2E2F74C8-3B24-4E5C-AE46-CE51BD187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37</a:t>
            </a:fld>
            <a:endParaRPr lang="zh-CN" alt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1"/>
          <p:cNvSpPr txBox="1"/>
          <p:nvPr/>
        </p:nvSpPr>
        <p:spPr>
          <a:xfrm>
            <a:off x="2329064" y="320998"/>
            <a:ext cx="7505700" cy="44370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4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并查集</a:t>
            </a:r>
          </a:p>
        </p:txBody>
      </p:sp>
      <p:sp>
        <p:nvSpPr>
          <p:cNvPr id="3" name="矩形 2"/>
          <p:cNvSpPr/>
          <p:nvPr/>
        </p:nvSpPr>
        <p:spPr>
          <a:xfrm>
            <a:off x="3434397" y="1052736"/>
            <a:ext cx="5323205" cy="1144031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400" dirty="0"/>
              <a:t>查找</a:t>
            </a:r>
            <a:r>
              <a:rPr lang="en-US" altLang="zh-CN" sz="2400" dirty="0"/>
              <a:t>+</a:t>
            </a:r>
            <a:r>
              <a:rPr lang="zh-CN" altLang="en-US" sz="2400" dirty="0"/>
              <a:t>合并</a:t>
            </a:r>
          </a:p>
          <a:p>
            <a:pPr algn="ctr">
              <a:lnSpc>
                <a:spcPct val="150000"/>
              </a:lnSpc>
            </a:pPr>
            <a:r>
              <a:rPr lang="zh-CN" altLang="en-US" sz="2400" dirty="0"/>
              <a:t>建立最方便查找的双向关系</a:t>
            </a:r>
          </a:p>
        </p:txBody>
      </p:sp>
      <p:sp>
        <p:nvSpPr>
          <p:cNvPr id="4" name="矩形 3"/>
          <p:cNvSpPr/>
          <p:nvPr>
            <p:custDataLst>
              <p:tags r:id="rId1"/>
            </p:custDataLst>
          </p:nvPr>
        </p:nvSpPr>
        <p:spPr>
          <a:xfrm>
            <a:off x="3446262" y="2295191"/>
            <a:ext cx="5323205" cy="1198880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2400" dirty="0"/>
              <a:t>是否等价</a:t>
            </a:r>
            <a:r>
              <a:rPr lang="en-US" altLang="zh-CN" sz="2400" dirty="0"/>
              <a:t>/</a:t>
            </a:r>
            <a:r>
              <a:rPr lang="zh-CN" altLang="en-US" sz="2400" dirty="0"/>
              <a:t>相连</a:t>
            </a:r>
            <a:r>
              <a:rPr lang="en-US" altLang="zh-CN" sz="2400" dirty="0"/>
              <a:t>/</a:t>
            </a:r>
            <a:r>
              <a:rPr lang="zh-CN" altLang="en-US" sz="2400" dirty="0"/>
              <a:t>有关</a:t>
            </a:r>
            <a:endParaRPr lang="en-US" altLang="zh-CN" sz="2400" dirty="0"/>
          </a:p>
          <a:p>
            <a:pPr algn="ctr"/>
            <a:r>
              <a:rPr lang="en-US" altLang="zh-CN" sz="2400" dirty="0"/>
              <a:t>=</a:t>
            </a:r>
          </a:p>
          <a:p>
            <a:pPr algn="ctr"/>
            <a:r>
              <a:rPr lang="zh-CN" altLang="en-US" sz="2400" dirty="0"/>
              <a:t>是否有相同的根</a:t>
            </a:r>
          </a:p>
        </p:txBody>
      </p:sp>
      <p:sp>
        <p:nvSpPr>
          <p:cNvPr id="5" name="矩形 4"/>
          <p:cNvSpPr/>
          <p:nvPr>
            <p:custDataLst>
              <p:tags r:id="rId2"/>
            </p:custDataLst>
          </p:nvPr>
        </p:nvSpPr>
        <p:spPr>
          <a:xfrm>
            <a:off x="3446262" y="3676317"/>
            <a:ext cx="5323205" cy="1144031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400" dirty="0"/>
              <a:t>相生相克关系</a:t>
            </a:r>
          </a:p>
          <a:p>
            <a:pPr algn="ctr">
              <a:lnSpc>
                <a:spcPct val="150000"/>
              </a:lnSpc>
            </a:pPr>
            <a:r>
              <a:rPr lang="zh-CN" altLang="en-US" sz="2400" dirty="0"/>
              <a:t>不是双向关系，单向且有层级</a:t>
            </a:r>
          </a:p>
        </p:txBody>
      </p:sp>
      <p:sp>
        <p:nvSpPr>
          <p:cNvPr id="9" name="矩形 8"/>
          <p:cNvSpPr/>
          <p:nvPr>
            <p:custDataLst>
              <p:tags r:id="rId3"/>
            </p:custDataLst>
          </p:nvPr>
        </p:nvSpPr>
        <p:spPr>
          <a:xfrm>
            <a:off x="3446262" y="4971331"/>
            <a:ext cx="5323205" cy="1698029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400" dirty="0"/>
              <a:t>如何快速判断两个物品之间的</a:t>
            </a:r>
          </a:p>
          <a:p>
            <a:pPr algn="ctr">
              <a:lnSpc>
                <a:spcPct val="150000"/>
              </a:lnSpc>
            </a:pPr>
            <a:r>
              <a:rPr lang="zh-CN" altLang="en-US" sz="2400" dirty="0"/>
              <a:t>单向关系：</a:t>
            </a:r>
          </a:p>
          <a:p>
            <a:pPr algn="ctr">
              <a:lnSpc>
                <a:spcPct val="150000"/>
              </a:lnSpc>
            </a:pPr>
            <a:r>
              <a:rPr lang="zh-CN" altLang="en-US" sz="2400" dirty="0"/>
              <a:t>大于</a:t>
            </a:r>
            <a:r>
              <a:rPr lang="en-US" altLang="zh-CN" sz="2400" dirty="0"/>
              <a:t>/</a:t>
            </a:r>
            <a:r>
              <a:rPr lang="zh-CN" altLang="en-US" sz="2400" dirty="0"/>
              <a:t>小于</a:t>
            </a:r>
            <a:r>
              <a:rPr lang="en-US" altLang="zh-CN" sz="2400" dirty="0"/>
              <a:t>/</a:t>
            </a:r>
            <a:r>
              <a:rPr lang="zh-CN" altLang="en-US" sz="2400" dirty="0"/>
              <a:t>吃</a:t>
            </a:r>
            <a:r>
              <a:rPr lang="en-US" altLang="zh-CN" sz="2400" dirty="0"/>
              <a:t>/</a:t>
            </a:r>
            <a:r>
              <a:rPr lang="zh-CN" altLang="en-US" sz="2400" dirty="0"/>
              <a:t>被吃</a:t>
            </a:r>
            <a:r>
              <a:rPr lang="en-US" altLang="zh-CN" sz="2400" dirty="0"/>
              <a:t>/</a:t>
            </a:r>
            <a:r>
              <a:rPr lang="zh-CN" altLang="en-US" sz="2400" dirty="0"/>
              <a:t>生</a:t>
            </a:r>
            <a:r>
              <a:rPr lang="en-US" altLang="zh-CN" sz="2400" dirty="0"/>
              <a:t>/</a:t>
            </a:r>
            <a:r>
              <a:rPr lang="zh-CN" altLang="en-US" sz="2400" dirty="0"/>
              <a:t>克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B98C4AEC-086F-4058-96C4-76E4CAF44E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38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" grpId="1" animBg="1"/>
      <p:bldP spid="4" grpId="0" bldLvl="0" animBg="1"/>
      <p:bldP spid="5" grpId="0" bldLvl="0" animBg="1"/>
      <p:bldP spid="9" grpId="0" bldLvl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1"/>
          <p:cNvSpPr txBox="1"/>
          <p:nvPr/>
        </p:nvSpPr>
        <p:spPr>
          <a:xfrm>
            <a:off x="2329064" y="320998"/>
            <a:ext cx="7505700" cy="44370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4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带权并查集</a:t>
            </a:r>
          </a:p>
        </p:txBody>
      </p:sp>
      <p:sp>
        <p:nvSpPr>
          <p:cNvPr id="3" name="矩形 2"/>
          <p:cNvSpPr/>
          <p:nvPr>
            <p:custDataLst>
              <p:tags r:id="rId1"/>
            </p:custDataLst>
          </p:nvPr>
        </p:nvSpPr>
        <p:spPr>
          <a:xfrm>
            <a:off x="3432176" y="1268731"/>
            <a:ext cx="5544144" cy="829945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2400" dirty="0"/>
              <a:t>查找</a:t>
            </a:r>
            <a:r>
              <a:rPr lang="en-US" altLang="zh-CN" sz="2400" dirty="0"/>
              <a:t>+</a:t>
            </a:r>
            <a:r>
              <a:rPr lang="zh-CN" altLang="en-US" sz="2400" dirty="0"/>
              <a:t>合并</a:t>
            </a:r>
          </a:p>
          <a:p>
            <a:pPr algn="ctr"/>
            <a:r>
              <a:rPr lang="zh-CN" altLang="en-US" sz="2400" dirty="0"/>
              <a:t>建立最方便查找的单向关系</a:t>
            </a:r>
          </a:p>
        </p:txBody>
      </p:sp>
      <p:sp>
        <p:nvSpPr>
          <p:cNvPr id="4" name="矩形 3"/>
          <p:cNvSpPr/>
          <p:nvPr>
            <p:custDataLst>
              <p:tags r:id="rId2"/>
            </p:custDataLst>
          </p:nvPr>
        </p:nvSpPr>
        <p:spPr>
          <a:xfrm>
            <a:off x="3432176" y="2263776"/>
            <a:ext cx="2505075" cy="829945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2400" dirty="0"/>
              <a:t>是否</a:t>
            </a:r>
            <a:r>
              <a:rPr lang="zh-CN" altLang="en-US" sz="2400" dirty="0">
                <a:sym typeface="+mn-ea"/>
              </a:rPr>
              <a:t>大于</a:t>
            </a:r>
            <a:r>
              <a:rPr lang="en-US" altLang="zh-CN" sz="2400" dirty="0">
                <a:sym typeface="+mn-ea"/>
              </a:rPr>
              <a:t>/</a:t>
            </a:r>
            <a:r>
              <a:rPr lang="zh-CN" altLang="en-US" sz="2400" dirty="0">
                <a:sym typeface="+mn-ea"/>
              </a:rPr>
              <a:t>小于</a:t>
            </a:r>
            <a:r>
              <a:rPr lang="en-US" altLang="zh-CN" sz="2400" dirty="0">
                <a:sym typeface="+mn-ea"/>
              </a:rPr>
              <a:t>/</a:t>
            </a:r>
            <a:r>
              <a:rPr lang="zh-CN" altLang="en-US" sz="2400" dirty="0">
                <a:sym typeface="+mn-ea"/>
              </a:rPr>
              <a:t>吃</a:t>
            </a:r>
            <a:r>
              <a:rPr lang="en-US" altLang="zh-CN" sz="2400" dirty="0">
                <a:sym typeface="+mn-ea"/>
              </a:rPr>
              <a:t>/</a:t>
            </a:r>
            <a:r>
              <a:rPr lang="zh-CN" altLang="en-US" sz="2400" dirty="0">
                <a:sym typeface="+mn-ea"/>
              </a:rPr>
              <a:t>被吃</a:t>
            </a:r>
            <a:r>
              <a:rPr lang="en-US" altLang="zh-CN" sz="2400" dirty="0">
                <a:sym typeface="+mn-ea"/>
              </a:rPr>
              <a:t>/</a:t>
            </a:r>
            <a:r>
              <a:rPr lang="zh-CN" altLang="en-US" sz="2400" dirty="0">
                <a:sym typeface="+mn-ea"/>
              </a:rPr>
              <a:t>生</a:t>
            </a:r>
            <a:r>
              <a:rPr lang="en-US" altLang="zh-CN" sz="2400" dirty="0">
                <a:sym typeface="+mn-ea"/>
              </a:rPr>
              <a:t>/</a:t>
            </a:r>
            <a:r>
              <a:rPr lang="zh-CN" altLang="en-US" sz="2400" dirty="0">
                <a:sym typeface="+mn-ea"/>
              </a:rPr>
              <a:t>克</a:t>
            </a:r>
            <a:endParaRPr lang="zh-CN" altLang="en-US" sz="2400" dirty="0"/>
          </a:p>
        </p:txBody>
      </p:sp>
      <p:sp>
        <p:nvSpPr>
          <p:cNvPr id="5" name="矩形 4"/>
          <p:cNvSpPr/>
          <p:nvPr>
            <p:custDataLst>
              <p:tags r:id="rId3"/>
            </p:custDataLst>
          </p:nvPr>
        </p:nvSpPr>
        <p:spPr>
          <a:xfrm>
            <a:off x="3422016" y="3284710"/>
            <a:ext cx="5554438" cy="460375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2400" dirty="0"/>
              <a:t>带权并查集使用两个数组记录关系</a:t>
            </a:r>
          </a:p>
        </p:txBody>
      </p:sp>
      <p:sp>
        <p:nvSpPr>
          <p:cNvPr id="2" name="矩形 1"/>
          <p:cNvSpPr/>
          <p:nvPr>
            <p:custDataLst>
              <p:tags r:id="rId4"/>
            </p:custDataLst>
          </p:nvPr>
        </p:nvSpPr>
        <p:spPr>
          <a:xfrm>
            <a:off x="6240146" y="2277111"/>
            <a:ext cx="2699224" cy="829945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2400" dirty="0"/>
              <a:t>比较节点和根之间的距离（权值）</a:t>
            </a:r>
          </a:p>
        </p:txBody>
      </p:sp>
      <p:sp>
        <p:nvSpPr>
          <p:cNvPr id="6" name="矩形 5"/>
          <p:cNvSpPr/>
          <p:nvPr>
            <p:custDataLst>
              <p:tags r:id="rId5"/>
            </p:custDataLst>
          </p:nvPr>
        </p:nvSpPr>
        <p:spPr>
          <a:xfrm>
            <a:off x="3422016" y="3932556"/>
            <a:ext cx="2505075" cy="829945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2400" dirty="0"/>
              <a:t>p[i]</a:t>
            </a:r>
            <a:r>
              <a:rPr lang="zh-CN" altLang="en-US" sz="2400" dirty="0"/>
              <a:t>数组记录</a:t>
            </a:r>
          </a:p>
          <a:p>
            <a:pPr algn="ctr"/>
            <a:r>
              <a:rPr lang="zh-CN" altLang="en-US" sz="2400" dirty="0"/>
              <a:t>父亲关系</a:t>
            </a:r>
          </a:p>
        </p:txBody>
      </p:sp>
      <p:sp>
        <p:nvSpPr>
          <p:cNvPr id="10" name="矩形 9"/>
          <p:cNvSpPr/>
          <p:nvPr>
            <p:custDataLst>
              <p:tags r:id="rId6"/>
            </p:custDataLst>
          </p:nvPr>
        </p:nvSpPr>
        <p:spPr>
          <a:xfrm>
            <a:off x="6240146" y="3923031"/>
            <a:ext cx="2736174" cy="830997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2400" dirty="0"/>
              <a:t>w[i]</a:t>
            </a:r>
            <a:r>
              <a:rPr lang="zh-CN" altLang="en-US" sz="2400" dirty="0"/>
              <a:t>数组记录</a:t>
            </a:r>
          </a:p>
          <a:p>
            <a:pPr algn="ctr"/>
            <a:r>
              <a:rPr lang="zh-CN" altLang="en-US" sz="2400" dirty="0"/>
              <a:t>和根的距离</a:t>
            </a:r>
            <a:r>
              <a:rPr lang="en-US" altLang="zh-CN" sz="2400" dirty="0"/>
              <a:t>=</a:t>
            </a:r>
            <a:r>
              <a:rPr lang="zh-CN" altLang="en-US" sz="2400" dirty="0"/>
              <a:t>权值</a:t>
            </a:r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C2B9C60-8D2D-4B27-842E-D5E2BB4B58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39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ldLvl="0" animBg="1"/>
      <p:bldP spid="4" grpId="0" bldLvl="0" animBg="1"/>
      <p:bldP spid="5" grpId="0" bldLvl="0" animBg="1"/>
      <p:bldP spid="2" grpId="0" bldLvl="0" animBg="1"/>
      <p:bldP spid="6" grpId="0" bldLvl="0" animBg="1"/>
      <p:bldP spid="10" grpId="0" bldLvl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1"/>
          <p:cNvSpPr txBox="1"/>
          <p:nvPr/>
        </p:nvSpPr>
        <p:spPr>
          <a:xfrm>
            <a:off x="2329064" y="320998"/>
            <a:ext cx="7505700" cy="44370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4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相生关系</a:t>
            </a:r>
          </a:p>
        </p:txBody>
      </p:sp>
      <p:pic>
        <p:nvPicPr>
          <p:cNvPr id="100" name="图片 99"/>
          <p:cNvPicPr/>
          <p:nvPr/>
        </p:nvPicPr>
        <p:blipFill>
          <a:blip r:embed="rId8"/>
          <a:stretch>
            <a:fillRect/>
          </a:stretch>
        </p:blipFill>
        <p:spPr>
          <a:xfrm>
            <a:off x="3863975" y="1052830"/>
            <a:ext cx="4514850" cy="43624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矩形 2"/>
          <p:cNvSpPr/>
          <p:nvPr>
            <p:custDataLst>
              <p:tags r:id="rId1"/>
            </p:custDataLst>
          </p:nvPr>
        </p:nvSpPr>
        <p:spPr>
          <a:xfrm>
            <a:off x="3575686" y="5415281"/>
            <a:ext cx="5323205" cy="460375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2400" dirty="0"/>
              <a:t>5</a:t>
            </a:r>
            <a:r>
              <a:rPr lang="zh-CN" altLang="en-US" sz="2400" dirty="0"/>
              <a:t>个属性地位相同，任意属性都能做根</a:t>
            </a:r>
          </a:p>
        </p:txBody>
      </p:sp>
      <p:sp>
        <p:nvSpPr>
          <p:cNvPr id="2" name="矩形 1"/>
          <p:cNvSpPr/>
          <p:nvPr/>
        </p:nvSpPr>
        <p:spPr>
          <a:xfrm>
            <a:off x="6366983" y="692786"/>
            <a:ext cx="526106" cy="830997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lstStyle/>
          <a:p>
            <a:pPr algn="ctr"/>
            <a:r>
              <a:rPr lang="en-US" altLang="zh-CN" sz="48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0</a:t>
            </a:r>
          </a:p>
        </p:txBody>
      </p:sp>
      <p:sp>
        <p:nvSpPr>
          <p:cNvPr id="4" name="矩形 3"/>
          <p:cNvSpPr/>
          <p:nvPr/>
        </p:nvSpPr>
        <p:spPr>
          <a:xfrm>
            <a:off x="8238963" y="2204721"/>
            <a:ext cx="526106" cy="830997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lstStyle/>
          <a:p>
            <a:pPr algn="ctr"/>
            <a:r>
              <a:rPr lang="en-US" altLang="zh-CN" sz="48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1</a:t>
            </a:r>
          </a:p>
        </p:txBody>
      </p:sp>
      <p:sp>
        <p:nvSpPr>
          <p:cNvPr id="5" name="矩形 4"/>
          <p:cNvSpPr/>
          <p:nvPr>
            <p:custDataLst>
              <p:tags r:id="rId2"/>
            </p:custDataLst>
          </p:nvPr>
        </p:nvSpPr>
        <p:spPr>
          <a:xfrm>
            <a:off x="7518873" y="4364991"/>
            <a:ext cx="526106" cy="830997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lstStyle/>
          <a:p>
            <a:pPr algn="ctr"/>
            <a:r>
              <a:rPr lang="en-US" altLang="zh-CN" sz="48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2</a:t>
            </a:r>
          </a:p>
        </p:txBody>
      </p:sp>
      <p:sp>
        <p:nvSpPr>
          <p:cNvPr id="6" name="矩形 5"/>
          <p:cNvSpPr/>
          <p:nvPr>
            <p:custDataLst>
              <p:tags r:id="rId3"/>
            </p:custDataLst>
          </p:nvPr>
        </p:nvSpPr>
        <p:spPr>
          <a:xfrm>
            <a:off x="4422613" y="4437381"/>
            <a:ext cx="526106" cy="830997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lstStyle/>
          <a:p>
            <a:pPr algn="ctr"/>
            <a:r>
              <a:rPr lang="en-US" altLang="zh-CN" sz="48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3</a:t>
            </a:r>
          </a:p>
        </p:txBody>
      </p:sp>
      <p:sp>
        <p:nvSpPr>
          <p:cNvPr id="9" name="矩形 8"/>
          <p:cNvSpPr/>
          <p:nvPr>
            <p:custDataLst>
              <p:tags r:id="rId4"/>
            </p:custDataLst>
          </p:nvPr>
        </p:nvSpPr>
        <p:spPr>
          <a:xfrm>
            <a:off x="3702523" y="2204721"/>
            <a:ext cx="526106" cy="830997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lstStyle/>
          <a:p>
            <a:pPr algn="ctr"/>
            <a:r>
              <a:rPr lang="en-US" altLang="zh-CN" sz="48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4</a:t>
            </a:r>
          </a:p>
        </p:txBody>
      </p:sp>
      <p:sp>
        <p:nvSpPr>
          <p:cNvPr id="10" name="矩形 9"/>
          <p:cNvSpPr/>
          <p:nvPr>
            <p:custDataLst>
              <p:tags r:id="rId5"/>
            </p:custDataLst>
          </p:nvPr>
        </p:nvSpPr>
        <p:spPr>
          <a:xfrm>
            <a:off x="3575686" y="6023611"/>
            <a:ext cx="5323205" cy="460375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2400" dirty="0"/>
              <a:t>沿</a:t>
            </a:r>
            <a:r>
              <a:rPr lang="en-US" altLang="zh-CN" sz="2400" dirty="0"/>
              <a:t>“</a:t>
            </a:r>
            <a:r>
              <a:rPr lang="zh-CN" altLang="en-US" sz="2400" dirty="0"/>
              <a:t>生</a:t>
            </a:r>
            <a:r>
              <a:rPr lang="en-US" altLang="zh-CN" sz="2400" dirty="0"/>
              <a:t>”</a:t>
            </a:r>
            <a:r>
              <a:rPr lang="zh-CN" altLang="en-US" sz="2400" dirty="0"/>
              <a:t>方向给每个属性赋权</a:t>
            </a:r>
          </a:p>
        </p:txBody>
      </p:sp>
      <p:sp>
        <p:nvSpPr>
          <p:cNvPr id="11" name="椭圆 10"/>
          <p:cNvSpPr/>
          <p:nvPr/>
        </p:nvSpPr>
        <p:spPr>
          <a:xfrm>
            <a:off x="4871085" y="1844675"/>
            <a:ext cx="2664460" cy="266446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>
            <p:custDataLst>
              <p:tags r:id="rId6"/>
            </p:custDataLst>
          </p:nvPr>
        </p:nvSpPr>
        <p:spPr>
          <a:xfrm>
            <a:off x="7752080" y="764540"/>
            <a:ext cx="2542540" cy="1198880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2400" dirty="0"/>
              <a:t>如果只有</a:t>
            </a:r>
          </a:p>
          <a:p>
            <a:pPr algn="ctr"/>
            <a:r>
              <a:rPr lang="zh-CN" altLang="en-US" sz="2400" dirty="0"/>
              <a:t>相克关系图是什么样的呢？</a:t>
            </a:r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1AD3E46-53C1-4C16-B21B-72A632DCFC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40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ldLvl="0" animBg="1"/>
      <p:bldP spid="2" grpId="0"/>
      <p:bldP spid="4" grpId="0"/>
      <p:bldP spid="5" grpId="0"/>
      <p:bldP spid="6" grpId="0"/>
      <p:bldP spid="9" grpId="0"/>
      <p:bldP spid="10" grpId="0" bldLvl="0" animBg="1"/>
      <p:bldP spid="11" grpId="0" bldLvl="0" animBg="1"/>
      <p:bldP spid="11" grpId="1" animBg="1"/>
      <p:bldP spid="12" grpId="0" bldLvl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1"/>
          <p:cNvSpPr txBox="1"/>
          <p:nvPr/>
        </p:nvSpPr>
        <p:spPr>
          <a:xfrm>
            <a:off x="2329064" y="320998"/>
            <a:ext cx="7505700" cy="44370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4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相生相克关系</a:t>
            </a:r>
          </a:p>
        </p:txBody>
      </p:sp>
      <p:pic>
        <p:nvPicPr>
          <p:cNvPr id="100" name="图片 99"/>
          <p:cNvPicPr/>
          <p:nvPr/>
        </p:nvPicPr>
        <p:blipFill>
          <a:blip r:embed="rId7"/>
          <a:stretch>
            <a:fillRect/>
          </a:stretch>
        </p:blipFill>
        <p:spPr>
          <a:xfrm>
            <a:off x="3863975" y="1052830"/>
            <a:ext cx="4514850" cy="43624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矩形 2"/>
          <p:cNvSpPr/>
          <p:nvPr/>
        </p:nvSpPr>
        <p:spPr>
          <a:xfrm>
            <a:off x="3575686" y="5415281"/>
            <a:ext cx="5323205" cy="460375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2400" dirty="0"/>
              <a:t>观察相生相克与权值的关系</a:t>
            </a:r>
          </a:p>
        </p:txBody>
      </p:sp>
      <p:sp>
        <p:nvSpPr>
          <p:cNvPr id="2" name="矩形 1"/>
          <p:cNvSpPr/>
          <p:nvPr/>
        </p:nvSpPr>
        <p:spPr>
          <a:xfrm>
            <a:off x="6366983" y="692786"/>
            <a:ext cx="526106" cy="830997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lstStyle/>
          <a:p>
            <a:pPr algn="ctr"/>
            <a:r>
              <a:rPr lang="en-US" altLang="zh-CN" sz="48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0</a:t>
            </a:r>
          </a:p>
        </p:txBody>
      </p:sp>
      <p:sp>
        <p:nvSpPr>
          <p:cNvPr id="4" name="矩形 3"/>
          <p:cNvSpPr/>
          <p:nvPr/>
        </p:nvSpPr>
        <p:spPr>
          <a:xfrm>
            <a:off x="8238963" y="2204721"/>
            <a:ext cx="526106" cy="830997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lstStyle/>
          <a:p>
            <a:pPr algn="ctr"/>
            <a:r>
              <a:rPr lang="en-US" altLang="zh-CN" sz="48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1</a:t>
            </a:r>
          </a:p>
        </p:txBody>
      </p:sp>
      <p:sp>
        <p:nvSpPr>
          <p:cNvPr id="5" name="矩形 4"/>
          <p:cNvSpPr/>
          <p:nvPr>
            <p:custDataLst>
              <p:tags r:id="rId1"/>
            </p:custDataLst>
          </p:nvPr>
        </p:nvSpPr>
        <p:spPr>
          <a:xfrm>
            <a:off x="7518873" y="4364991"/>
            <a:ext cx="526106" cy="830997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lstStyle/>
          <a:p>
            <a:pPr algn="ctr"/>
            <a:r>
              <a:rPr lang="en-US" altLang="zh-CN" sz="48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2</a:t>
            </a:r>
          </a:p>
        </p:txBody>
      </p:sp>
      <p:sp>
        <p:nvSpPr>
          <p:cNvPr id="6" name="矩形 5"/>
          <p:cNvSpPr/>
          <p:nvPr>
            <p:custDataLst>
              <p:tags r:id="rId2"/>
            </p:custDataLst>
          </p:nvPr>
        </p:nvSpPr>
        <p:spPr>
          <a:xfrm>
            <a:off x="4422613" y="4437381"/>
            <a:ext cx="526106" cy="830997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lstStyle/>
          <a:p>
            <a:pPr algn="ctr"/>
            <a:r>
              <a:rPr lang="en-US" altLang="zh-CN" sz="48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3</a:t>
            </a:r>
          </a:p>
        </p:txBody>
      </p:sp>
      <p:sp>
        <p:nvSpPr>
          <p:cNvPr id="9" name="矩形 8"/>
          <p:cNvSpPr/>
          <p:nvPr>
            <p:custDataLst>
              <p:tags r:id="rId3"/>
            </p:custDataLst>
          </p:nvPr>
        </p:nvSpPr>
        <p:spPr>
          <a:xfrm>
            <a:off x="3702523" y="2204721"/>
            <a:ext cx="526106" cy="830997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lstStyle/>
          <a:p>
            <a:pPr algn="ctr"/>
            <a:r>
              <a:rPr lang="en-US" altLang="zh-CN" sz="48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4</a:t>
            </a:r>
          </a:p>
        </p:txBody>
      </p:sp>
      <p:sp>
        <p:nvSpPr>
          <p:cNvPr id="10" name="矩形 9"/>
          <p:cNvSpPr/>
          <p:nvPr/>
        </p:nvSpPr>
        <p:spPr>
          <a:xfrm>
            <a:off x="3575686" y="6023611"/>
            <a:ext cx="5323205" cy="460375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2400" dirty="0"/>
              <a:t>生</a:t>
            </a:r>
            <a:r>
              <a:rPr lang="en-US" altLang="zh-CN" sz="2400" dirty="0"/>
              <a:t>=+1</a:t>
            </a:r>
            <a:r>
              <a:rPr lang="zh-CN" altLang="en-US" sz="2400" dirty="0"/>
              <a:t>，克</a:t>
            </a:r>
            <a:r>
              <a:rPr lang="en-US" altLang="zh-CN" sz="2400" dirty="0"/>
              <a:t>=+2</a:t>
            </a:r>
          </a:p>
        </p:txBody>
      </p:sp>
      <p:sp>
        <p:nvSpPr>
          <p:cNvPr id="11" name="矩形 10"/>
          <p:cNvSpPr/>
          <p:nvPr>
            <p:custDataLst>
              <p:tags r:id="rId4"/>
            </p:custDataLst>
          </p:nvPr>
        </p:nvSpPr>
        <p:spPr>
          <a:xfrm>
            <a:off x="8028305" y="836931"/>
            <a:ext cx="2115820" cy="460375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2400" dirty="0"/>
              <a:t>循环了怎么办</a:t>
            </a:r>
          </a:p>
        </p:txBody>
      </p:sp>
      <p:sp>
        <p:nvSpPr>
          <p:cNvPr id="12" name="矩形 11"/>
          <p:cNvSpPr/>
          <p:nvPr>
            <p:custDataLst>
              <p:tags r:id="rId5"/>
            </p:custDataLst>
          </p:nvPr>
        </p:nvSpPr>
        <p:spPr>
          <a:xfrm>
            <a:off x="8039735" y="1369696"/>
            <a:ext cx="2115820" cy="460375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2400" dirty="0"/>
              <a:t>(</a:t>
            </a:r>
            <a:r>
              <a:rPr lang="zh-CN" altLang="en-US" sz="2400" dirty="0"/>
              <a:t>权值</a:t>
            </a:r>
            <a:r>
              <a:rPr lang="en-US" altLang="zh-CN" sz="2400" dirty="0"/>
              <a:t>+d)%5</a:t>
            </a:r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FAC9FFE-CBB0-4488-A121-2D53FB749B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41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0" grpId="0" animBg="1"/>
      <p:bldP spid="11" grpId="0" bldLvl="0" animBg="1"/>
      <p:bldP spid="12" grpId="0" bldLvl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1"/>
          <p:cNvSpPr txBox="1"/>
          <p:nvPr/>
        </p:nvSpPr>
        <p:spPr>
          <a:xfrm>
            <a:off x="2329064" y="320998"/>
            <a:ext cx="7505700" cy="44370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4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带权并查集</a:t>
            </a:r>
          </a:p>
        </p:txBody>
      </p:sp>
      <p:sp>
        <p:nvSpPr>
          <p:cNvPr id="2" name="矩形 1"/>
          <p:cNvSpPr/>
          <p:nvPr>
            <p:custDataLst>
              <p:tags r:id="rId1"/>
            </p:custDataLst>
          </p:nvPr>
        </p:nvSpPr>
        <p:spPr>
          <a:xfrm>
            <a:off x="3503930" y="2438400"/>
            <a:ext cx="807720" cy="829310"/>
          </a:xfrm>
          <a:prstGeom prst="rect">
            <a:avLst/>
          </a:prstGeom>
          <a:noFill/>
          <a:ln>
            <a:solidFill>
              <a:schemeClr val="bg2">
                <a:lumMod val="25000"/>
              </a:schemeClr>
            </a:solidFill>
          </a:ln>
        </p:spPr>
        <p:txBody>
          <a:bodyPr wrap="square" anchor="ctr" anchorCtr="0">
            <a:noAutofit/>
          </a:bodyPr>
          <a:lstStyle/>
          <a:p>
            <a:pPr algn="ctr"/>
            <a:r>
              <a:rPr lang="en-US" sz="2400" dirty="0"/>
              <a:t>“</a:t>
            </a:r>
            <a:r>
              <a:rPr lang="zh-CN" altLang="en-US" sz="2400" dirty="0"/>
              <a:t>查</a:t>
            </a:r>
            <a:r>
              <a:rPr lang="en-US" sz="2400" dirty="0"/>
              <a:t>”</a:t>
            </a:r>
          </a:p>
        </p:txBody>
      </p:sp>
      <p:sp>
        <p:nvSpPr>
          <p:cNvPr id="3" name="矩形 2"/>
          <p:cNvSpPr/>
          <p:nvPr>
            <p:custDataLst>
              <p:tags r:id="rId2"/>
            </p:custDataLst>
          </p:nvPr>
        </p:nvSpPr>
        <p:spPr>
          <a:xfrm>
            <a:off x="3503931" y="1700531"/>
            <a:ext cx="5323205" cy="460375"/>
          </a:xfrm>
          <a:prstGeom prst="rect">
            <a:avLst/>
          </a:prstGeom>
          <a:noFill/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2400" dirty="0"/>
              <a:t>5</a:t>
            </a:r>
            <a:r>
              <a:rPr lang="zh-CN" altLang="en-US" sz="2400" dirty="0"/>
              <a:t>个属性依次编号</a:t>
            </a:r>
            <a:r>
              <a:rPr lang="en-US" altLang="zh-CN" sz="2400" dirty="0"/>
              <a:t>0</a:t>
            </a:r>
            <a:r>
              <a:rPr lang="zh-CN" altLang="en-US" sz="2400" dirty="0"/>
              <a:t>，</a:t>
            </a:r>
            <a:r>
              <a:rPr lang="en-US" altLang="zh-CN" sz="2400" dirty="0"/>
              <a:t>1</a:t>
            </a:r>
            <a:r>
              <a:rPr lang="zh-CN" altLang="en-US" sz="2400" dirty="0"/>
              <a:t>，</a:t>
            </a:r>
            <a:r>
              <a:rPr lang="en-US" altLang="zh-CN" sz="2400" dirty="0"/>
              <a:t>2</a:t>
            </a:r>
            <a:r>
              <a:rPr lang="zh-CN" altLang="en-US" sz="2400" dirty="0"/>
              <a:t>，</a:t>
            </a:r>
            <a:r>
              <a:rPr lang="en-US" altLang="zh-CN" sz="2400" dirty="0"/>
              <a:t>3</a:t>
            </a:r>
            <a:r>
              <a:rPr lang="zh-CN" altLang="en-US" sz="2400" dirty="0"/>
              <a:t>，</a:t>
            </a:r>
            <a:r>
              <a:rPr lang="en-US" altLang="zh-CN" sz="2400" dirty="0"/>
              <a:t>4</a:t>
            </a:r>
          </a:p>
        </p:txBody>
      </p:sp>
      <p:sp>
        <p:nvSpPr>
          <p:cNvPr id="4" name="矩形 3"/>
          <p:cNvSpPr/>
          <p:nvPr>
            <p:custDataLst>
              <p:tags r:id="rId3"/>
            </p:custDataLst>
          </p:nvPr>
        </p:nvSpPr>
        <p:spPr>
          <a:xfrm>
            <a:off x="3503931" y="1124586"/>
            <a:ext cx="5323205" cy="460375"/>
          </a:xfrm>
          <a:prstGeom prst="rect">
            <a:avLst/>
          </a:prstGeom>
          <a:noFill/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2400" dirty="0"/>
              <a:t>权值</a:t>
            </a:r>
          </a:p>
        </p:txBody>
      </p:sp>
      <p:sp>
        <p:nvSpPr>
          <p:cNvPr id="6" name="矩形 5"/>
          <p:cNvSpPr/>
          <p:nvPr>
            <p:custDataLst>
              <p:tags r:id="rId4"/>
            </p:custDataLst>
          </p:nvPr>
        </p:nvSpPr>
        <p:spPr>
          <a:xfrm>
            <a:off x="4457065" y="2420621"/>
            <a:ext cx="4370070" cy="829945"/>
          </a:xfrm>
          <a:prstGeom prst="rect">
            <a:avLst/>
          </a:prstGeom>
          <a:noFill/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2400" dirty="0"/>
              <a:t>新一条判断中两个物品是否已有关系</a:t>
            </a:r>
            <a:r>
              <a:rPr lang="en-US" altLang="zh-CN" sz="2400" dirty="0"/>
              <a:t>=</a:t>
            </a:r>
            <a:r>
              <a:rPr lang="zh-CN" altLang="en-US" sz="2400" dirty="0"/>
              <a:t>是否共享一个根</a:t>
            </a:r>
          </a:p>
        </p:txBody>
      </p:sp>
      <p:sp>
        <p:nvSpPr>
          <p:cNvPr id="7" name="矩形 6"/>
          <p:cNvSpPr/>
          <p:nvPr>
            <p:custDataLst>
              <p:tags r:id="rId5"/>
            </p:custDataLst>
          </p:nvPr>
        </p:nvSpPr>
        <p:spPr>
          <a:xfrm>
            <a:off x="3486150" y="4944745"/>
            <a:ext cx="807720" cy="829310"/>
          </a:xfrm>
          <a:prstGeom prst="rect">
            <a:avLst/>
          </a:prstGeom>
          <a:noFill/>
          <a:ln>
            <a:solidFill>
              <a:schemeClr val="bg2">
                <a:lumMod val="25000"/>
              </a:schemeClr>
            </a:solidFill>
          </a:ln>
        </p:spPr>
        <p:txBody>
          <a:bodyPr wrap="square" anchor="ctr" anchorCtr="0">
            <a:noAutofit/>
          </a:bodyPr>
          <a:lstStyle/>
          <a:p>
            <a:pPr algn="ctr"/>
            <a:r>
              <a:rPr lang="en-US" sz="2400" dirty="0"/>
              <a:t>“</a:t>
            </a:r>
            <a:r>
              <a:rPr lang="zh-CN" altLang="en-US" sz="2400" dirty="0"/>
              <a:t>并</a:t>
            </a:r>
            <a:r>
              <a:rPr lang="en-US" sz="2400" dirty="0"/>
              <a:t>”</a:t>
            </a:r>
          </a:p>
        </p:txBody>
      </p:sp>
      <p:sp>
        <p:nvSpPr>
          <p:cNvPr id="9" name="矩形 8"/>
          <p:cNvSpPr/>
          <p:nvPr>
            <p:custDataLst>
              <p:tags r:id="rId6"/>
            </p:custDataLst>
          </p:nvPr>
        </p:nvSpPr>
        <p:spPr>
          <a:xfrm>
            <a:off x="3503931" y="3424556"/>
            <a:ext cx="5323205" cy="829945"/>
          </a:xfrm>
          <a:prstGeom prst="rect">
            <a:avLst/>
          </a:prstGeom>
          <a:noFill/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2400" dirty="0"/>
              <a:t>已有关系：和新判断是否矛盾：权值是否符合要求</a:t>
            </a:r>
          </a:p>
        </p:txBody>
      </p:sp>
      <p:sp>
        <p:nvSpPr>
          <p:cNvPr id="10" name="矩形 9"/>
          <p:cNvSpPr/>
          <p:nvPr>
            <p:custDataLst>
              <p:tags r:id="rId7"/>
            </p:custDataLst>
          </p:nvPr>
        </p:nvSpPr>
        <p:spPr>
          <a:xfrm>
            <a:off x="3486151" y="4364356"/>
            <a:ext cx="5323205" cy="460375"/>
          </a:xfrm>
          <a:prstGeom prst="rect">
            <a:avLst/>
          </a:prstGeom>
          <a:noFill/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2400" dirty="0"/>
              <a:t>没有关系：建立关系并更新权值</a:t>
            </a:r>
          </a:p>
        </p:txBody>
      </p:sp>
      <p:sp>
        <p:nvSpPr>
          <p:cNvPr id="11" name="矩形 10"/>
          <p:cNvSpPr/>
          <p:nvPr>
            <p:custDataLst>
              <p:tags r:id="rId8"/>
            </p:custDataLst>
          </p:nvPr>
        </p:nvSpPr>
        <p:spPr>
          <a:xfrm>
            <a:off x="4439285" y="4940301"/>
            <a:ext cx="4370070" cy="829945"/>
          </a:xfrm>
          <a:prstGeom prst="rect">
            <a:avLst/>
          </a:prstGeom>
          <a:noFill/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2400" dirty="0"/>
              <a:t>建立新判断中的两个物品的根之间的联系并更新权值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BE91B4A-1965-4FDA-BBB8-2C588536D3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42</a:t>
            </a:fld>
            <a:endParaRPr lang="zh-CN" alt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1"/>
          <p:cNvSpPr txBox="1"/>
          <p:nvPr/>
        </p:nvSpPr>
        <p:spPr>
          <a:xfrm>
            <a:off x="2329064" y="320998"/>
            <a:ext cx="7505700" cy="44370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4000">
                <a:solidFill>
                  <a:schemeClr val="tx1"/>
                </a:solidFill>
                <a:latin typeface="Consolas" panose="020B0609020204030204" pitchFamily="49" charset="0"/>
              </a:rPr>
              <a:t>矛盾判断逻辑</a:t>
            </a:r>
            <a:endParaRPr lang="zh-CN" altLang="en-US" sz="4000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BE91B4A-1965-4FDA-BBB8-2C588536D3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43</a:t>
            </a:fld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72FC35E-905C-4C35-9437-05F2555B9026}"/>
              </a:ext>
            </a:extLst>
          </p:cNvPr>
          <p:cNvSpPr txBox="1"/>
          <p:nvPr/>
        </p:nvSpPr>
        <p:spPr>
          <a:xfrm>
            <a:off x="2135560" y="948643"/>
            <a:ext cx="8387284" cy="114403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/>
              <a:t>a到b的权值 </a:t>
            </a:r>
            <a:r>
              <a:rPr lang="zh-CN" altLang="en-US" sz="2400" spc="300"/>
              <a:t>= (w[a] - w[b]) % 5</a:t>
            </a:r>
          </a:p>
          <a:p>
            <a:pPr>
              <a:lnSpc>
                <a:spcPct val="150000"/>
              </a:lnSpc>
            </a:pPr>
            <a:r>
              <a:rPr lang="zh-CN" altLang="en-US" sz="2400"/>
              <a:t>b到a的权值 </a:t>
            </a:r>
            <a:r>
              <a:rPr lang="zh-CN" altLang="en-US" sz="2400" spc="300"/>
              <a:t>= (w[b] - w[a]) % 5 = -(w[a] - w[b]) % 5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84B2378-D977-46EB-8B42-CF3A0A8CBF4B}"/>
              </a:ext>
            </a:extLst>
          </p:cNvPr>
          <p:cNvSpPr txBox="1"/>
          <p:nvPr/>
        </p:nvSpPr>
        <p:spPr>
          <a:xfrm>
            <a:off x="2135560" y="2343580"/>
            <a:ext cx="8387284" cy="306763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2400"/>
              <a:t>输入的关系</a:t>
            </a:r>
            <a:r>
              <a:rPr lang="zh-CN" altLang="en-US" sz="2800" b="1">
                <a:solidFill>
                  <a:srgbClr val="FF0000"/>
                </a:solidFill>
              </a:rPr>
              <a:t>d</a:t>
            </a:r>
            <a:r>
              <a:rPr lang="zh-CN" altLang="en-US" sz="2400"/>
              <a:t>表示</a:t>
            </a:r>
            <a:r>
              <a:rPr lang="zh-CN" altLang="en-US" sz="2400">
                <a:solidFill>
                  <a:srgbClr val="00B050"/>
                </a:solidFill>
              </a:rPr>
              <a:t>b到a</a:t>
            </a:r>
            <a:r>
              <a:rPr lang="zh-CN" altLang="en-US" sz="2400"/>
              <a:t>的权值</a:t>
            </a:r>
          </a:p>
          <a:p>
            <a:pPr>
              <a:lnSpc>
                <a:spcPct val="200000"/>
              </a:lnSpc>
            </a:pPr>
            <a:r>
              <a:rPr lang="zh-CN" altLang="en-US" sz="2400"/>
              <a:t>所以应该满足：</a:t>
            </a:r>
            <a:r>
              <a:rPr lang="zh-CN" altLang="en-US" sz="2400" spc="300"/>
              <a:t>-(w[a] - w[b]) % 5 == d % 5</a:t>
            </a:r>
          </a:p>
          <a:p>
            <a:pPr>
              <a:lnSpc>
                <a:spcPct val="200000"/>
              </a:lnSpc>
            </a:pPr>
            <a:r>
              <a:rPr lang="zh-CN" altLang="en-US" sz="2400"/>
              <a:t>等价于：</a:t>
            </a:r>
            <a:r>
              <a:rPr lang="zh-CN" altLang="en-US" sz="2400" spc="300"/>
              <a:t>(w[a] - w[b]) % 5 == -d % 5</a:t>
            </a:r>
          </a:p>
          <a:p>
            <a:pPr>
              <a:lnSpc>
                <a:spcPct val="200000"/>
              </a:lnSpc>
            </a:pPr>
            <a:r>
              <a:rPr lang="zh-CN" altLang="en-US" sz="2400"/>
              <a:t>化简为：</a:t>
            </a:r>
            <a:r>
              <a:rPr lang="zh-CN" altLang="en-US" sz="2400" spc="300"/>
              <a:t>(w[a] + d) % 5 == w[b]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FBCCE56D-5E47-439A-8174-0F6AD30CE615}"/>
              </a:ext>
            </a:extLst>
          </p:cNvPr>
          <p:cNvSpPr txBox="1"/>
          <p:nvPr/>
        </p:nvSpPr>
        <p:spPr>
          <a:xfrm>
            <a:off x="2135560" y="5634895"/>
            <a:ext cx="8387284" cy="52322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200000"/>
              </a:lnSpc>
              <a:defRPr sz="2400"/>
            </a:lvl1pPr>
          </a:lstStyle>
          <a:p>
            <a:pPr algn="ctr">
              <a:lnSpc>
                <a:spcPct val="100000"/>
              </a:lnSpc>
            </a:pPr>
            <a:r>
              <a:rPr lang="zh-CN" altLang="en-US" sz="2800" b="1"/>
              <a:t>所以矛盾条件为：</a:t>
            </a:r>
            <a:r>
              <a:rPr lang="zh-CN" altLang="en-US" sz="2800" b="1" spc="300"/>
              <a:t>(w[a] + d) % 5 != w[b]</a:t>
            </a:r>
          </a:p>
        </p:txBody>
      </p:sp>
    </p:spTree>
    <p:extLst>
      <p:ext uri="{BB962C8B-B14F-4D97-AF65-F5344CB8AC3E}">
        <p14:creationId xmlns:p14="http://schemas.microsoft.com/office/powerpoint/2010/main" val="25310968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5" grpId="0" animBg="1"/>
      <p:bldP spid="17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639695" y="764540"/>
            <a:ext cx="5692140" cy="3638550"/>
          </a:xfrm>
          <a:prstGeom prst="rect">
            <a:avLst/>
          </a:prstGeom>
        </p:spPr>
      </p:pic>
      <p:sp>
        <p:nvSpPr>
          <p:cNvPr id="3" name="矩形 2"/>
          <p:cNvSpPr/>
          <p:nvPr>
            <p:custDataLst>
              <p:tags r:id="rId2"/>
            </p:custDataLst>
          </p:nvPr>
        </p:nvSpPr>
        <p:spPr>
          <a:xfrm>
            <a:off x="9912424" y="24130"/>
            <a:ext cx="2015740" cy="664936"/>
          </a:xfrm>
          <a:prstGeom prst="rect">
            <a:avLst/>
          </a:prstGeom>
          <a:noFill/>
          <a:ln>
            <a:solidFill>
              <a:schemeClr val="bg2">
                <a:lumMod val="25000"/>
              </a:schemeClr>
            </a:solidFill>
          </a:ln>
        </p:spPr>
        <p:txBody>
          <a:bodyPr wrap="square" anchor="ctr" anchorCtr="0">
            <a:noAutofit/>
          </a:bodyPr>
          <a:lstStyle/>
          <a:p>
            <a:pPr algn="ctr"/>
            <a:r>
              <a:rPr lang="en-US" sz="2800" dirty="0"/>
              <a:t>root(x)“</a:t>
            </a:r>
            <a:r>
              <a:rPr lang="zh-CN" altLang="en-US" sz="2800" dirty="0"/>
              <a:t>查</a:t>
            </a:r>
            <a:r>
              <a:rPr lang="en-US" sz="2800" dirty="0"/>
              <a:t>”</a:t>
            </a:r>
          </a:p>
        </p:txBody>
      </p:sp>
      <p:sp>
        <p:nvSpPr>
          <p:cNvPr id="8" name="矩形 7"/>
          <p:cNvSpPr/>
          <p:nvPr/>
        </p:nvSpPr>
        <p:spPr>
          <a:xfrm>
            <a:off x="2567304" y="4581526"/>
            <a:ext cx="5832951" cy="461665"/>
          </a:xfrm>
          <a:prstGeom prst="rect">
            <a:avLst/>
          </a:prstGeom>
          <a:noFill/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2400" dirty="0"/>
              <a:t>注意：先更新根节点，返程再更新权值</a:t>
            </a:r>
            <a:r>
              <a:rPr lang="en-US" altLang="zh-CN" sz="2400" dirty="0"/>
              <a:t>id[x]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187A00CC-6D7E-425A-847A-48C7113CE5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44</a:t>
            </a:fld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5468BE7-A2CD-480F-B0CE-9CDF97A0DE49}"/>
              </a:ext>
            </a:extLst>
          </p:cNvPr>
          <p:cNvSpPr/>
          <p:nvPr/>
        </p:nvSpPr>
        <p:spPr>
          <a:xfrm>
            <a:off x="4259976" y="1965643"/>
            <a:ext cx="2677400" cy="36512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3530585-66F9-4D8F-95DC-088FA1AC8105}"/>
              </a:ext>
            </a:extLst>
          </p:cNvPr>
          <p:cNvSpPr/>
          <p:nvPr/>
        </p:nvSpPr>
        <p:spPr>
          <a:xfrm>
            <a:off x="4259974" y="2362996"/>
            <a:ext cx="3708233" cy="36512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TextBox 6">
            <a:extLst>
              <a:ext uri="{FF2B5EF4-FFF2-40B4-BE49-F238E27FC236}">
                <a16:creationId xmlns:a16="http://schemas.microsoft.com/office/drawing/2014/main" id="{0335F982-8DE7-498D-AB7F-A53DC7F506D4}"/>
              </a:ext>
            </a:extLst>
          </p:cNvPr>
          <p:cNvSpPr txBox="1"/>
          <p:nvPr/>
        </p:nvSpPr>
        <p:spPr>
          <a:xfrm>
            <a:off x="6806931" y="1537871"/>
            <a:ext cx="2025373" cy="33855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400"/>
            </a:lvl1pPr>
          </a:lstStyle>
          <a:p>
            <a:r>
              <a:rPr lang="zh-CN" altLang="en-US" sz="1600">
                <a:solidFill>
                  <a:srgbClr val="0070C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记录</a:t>
            </a:r>
            <a:r>
              <a:rPr lang="en-US" altLang="zh-CN" sz="1600">
                <a:solidFill>
                  <a:srgbClr val="0070C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x</a:t>
            </a:r>
            <a:r>
              <a:rPr lang="zh-CN" altLang="en-US" sz="1600">
                <a:solidFill>
                  <a:srgbClr val="0070C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的当前父节点</a:t>
            </a:r>
            <a:endParaRPr lang="zh-CN" altLang="en-US" sz="1600" dirty="0">
              <a:solidFill>
                <a:srgbClr val="0070C0"/>
              </a:solidFill>
              <a:latin typeface="Consolas" pitchFamily="49" charset="0"/>
              <a:ea typeface="宋体" pitchFamily="2" charset="-122"/>
              <a:cs typeface="Consolas" pitchFamily="49" charset="0"/>
            </a:endParaRPr>
          </a:p>
        </p:txBody>
      </p:sp>
      <p:sp>
        <p:nvSpPr>
          <p:cNvPr id="12" name="TextBox 6">
            <a:extLst>
              <a:ext uri="{FF2B5EF4-FFF2-40B4-BE49-F238E27FC236}">
                <a16:creationId xmlns:a16="http://schemas.microsoft.com/office/drawing/2014/main" id="{34D53CDA-7E29-4651-ABEA-FF5F59E5EE46}"/>
              </a:ext>
            </a:extLst>
          </p:cNvPr>
          <p:cNvSpPr txBox="1"/>
          <p:nvPr/>
        </p:nvSpPr>
        <p:spPr>
          <a:xfrm>
            <a:off x="7220860" y="1947892"/>
            <a:ext cx="3843692" cy="33855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400"/>
            </a:lvl1pPr>
          </a:lstStyle>
          <a:p>
            <a:r>
              <a:rPr lang="zh-CN" altLang="en-US" sz="1600">
                <a:solidFill>
                  <a:srgbClr val="0070C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递归找到所在集合的根节点（</a:t>
            </a:r>
            <a:r>
              <a:rPr lang="zh-CN" altLang="en-US" sz="1600" b="1">
                <a:solidFill>
                  <a:srgbClr val="FF000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路径压缩</a:t>
            </a:r>
            <a:r>
              <a:rPr lang="zh-CN" altLang="en-US" sz="1600">
                <a:solidFill>
                  <a:srgbClr val="0070C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）</a:t>
            </a:r>
            <a:endParaRPr lang="zh-CN" altLang="en-US" sz="1600" dirty="0">
              <a:solidFill>
                <a:srgbClr val="0070C0"/>
              </a:solidFill>
              <a:latin typeface="Consolas" pitchFamily="49" charset="0"/>
              <a:ea typeface="宋体" pitchFamily="2" charset="-122"/>
              <a:cs typeface="Consolas" pitchFamily="49" charset="0"/>
            </a:endParaRPr>
          </a:p>
        </p:txBody>
      </p:sp>
      <p:sp>
        <p:nvSpPr>
          <p:cNvPr id="13" name="TextBox 6">
            <a:extLst>
              <a:ext uri="{FF2B5EF4-FFF2-40B4-BE49-F238E27FC236}">
                <a16:creationId xmlns:a16="http://schemas.microsoft.com/office/drawing/2014/main" id="{F2991C78-CDE8-49BB-AA83-697CC349BBE5}"/>
              </a:ext>
            </a:extLst>
          </p:cNvPr>
          <p:cNvSpPr txBox="1"/>
          <p:nvPr/>
        </p:nvSpPr>
        <p:spPr>
          <a:xfrm>
            <a:off x="8081744" y="2376801"/>
            <a:ext cx="3342848" cy="33855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400"/>
            </a:lvl1pPr>
          </a:lstStyle>
          <a:p>
            <a:r>
              <a:rPr lang="zh-CN" altLang="en-US" sz="1600">
                <a:solidFill>
                  <a:srgbClr val="0070C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更新权值：及</a:t>
            </a:r>
            <a:r>
              <a:rPr lang="en-US" altLang="zh-CN" sz="1600">
                <a:solidFill>
                  <a:srgbClr val="0070C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x</a:t>
            </a:r>
            <a:r>
              <a:rPr lang="zh-CN" altLang="en-US" sz="1600">
                <a:solidFill>
                  <a:srgbClr val="0070C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到所在根节点的权值</a:t>
            </a:r>
            <a:endParaRPr lang="zh-CN" altLang="en-US" sz="1600" dirty="0">
              <a:solidFill>
                <a:srgbClr val="0070C0"/>
              </a:solidFill>
              <a:latin typeface="Consolas" pitchFamily="49" charset="0"/>
              <a:ea typeface="宋体" pitchFamily="2" charset="-122"/>
              <a:cs typeface="Consolas" pitchFamily="49" charset="0"/>
            </a:endParaRPr>
          </a:p>
        </p:txBody>
      </p:sp>
      <p:sp>
        <p:nvSpPr>
          <p:cNvPr id="14" name="TextBox 6">
            <a:extLst>
              <a:ext uri="{FF2B5EF4-FFF2-40B4-BE49-F238E27FC236}">
                <a16:creationId xmlns:a16="http://schemas.microsoft.com/office/drawing/2014/main" id="{E41C3476-E3CB-4820-B010-5A456F4F8ED1}"/>
              </a:ext>
            </a:extLst>
          </p:cNvPr>
          <p:cNvSpPr txBox="1"/>
          <p:nvPr/>
        </p:nvSpPr>
        <p:spPr>
          <a:xfrm>
            <a:off x="6031068" y="2798921"/>
            <a:ext cx="5397388" cy="36933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400"/>
            </a:lvl1pPr>
          </a:lstStyle>
          <a:p>
            <a:r>
              <a:rPr lang="en-US" altLang="zh-CN" sz="1800" b="1">
                <a:solidFill>
                  <a:srgbClr val="00B05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(x</a:t>
            </a:r>
            <a:r>
              <a:rPr lang="zh-CN" altLang="en-US" sz="1800" b="1">
                <a:solidFill>
                  <a:srgbClr val="00B05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到原父节点的权值 </a:t>
            </a:r>
            <a:r>
              <a:rPr lang="en-US" altLang="zh-CN" sz="1800" b="1">
                <a:solidFill>
                  <a:srgbClr val="00B05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+ </a:t>
            </a:r>
            <a:r>
              <a:rPr lang="zh-CN" altLang="en-US" sz="1800" b="1">
                <a:solidFill>
                  <a:srgbClr val="00B05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原父节点到根的权值</a:t>
            </a:r>
            <a:r>
              <a:rPr lang="en-US" altLang="zh-CN" sz="1800" b="1">
                <a:solidFill>
                  <a:srgbClr val="00B05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) % 5</a:t>
            </a:r>
            <a:endParaRPr lang="zh-CN" altLang="en-US" sz="1800" b="1" dirty="0">
              <a:solidFill>
                <a:srgbClr val="00B050"/>
              </a:solidFill>
              <a:latin typeface="Consolas" pitchFamily="49" charset="0"/>
              <a:ea typeface="宋体" pitchFamily="2" charset="-122"/>
              <a:cs typeface="Consolas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ldLvl="0" animBg="1"/>
      <p:bldP spid="7" grpId="0" bldLvl="0" animBg="1"/>
      <p:bldP spid="7" grpId="1" bldLvl="0" animBg="1"/>
      <p:bldP spid="9" grpId="0" bldLvl="0" animBg="1"/>
      <p:bldP spid="9" grpId="1" bldLvl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1391539" y="3347720"/>
            <a:ext cx="7198741" cy="1586294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1545590" y="620688"/>
            <a:ext cx="4226560" cy="589280"/>
          </a:xfrm>
          <a:prstGeom prst="rect">
            <a:avLst/>
          </a:prstGeom>
        </p:spPr>
      </p:pic>
      <p:sp>
        <p:nvSpPr>
          <p:cNvPr id="17" name="矩形 16"/>
          <p:cNvSpPr/>
          <p:nvPr>
            <p:custDataLst>
              <p:tags r:id="rId3"/>
            </p:custDataLst>
          </p:nvPr>
        </p:nvSpPr>
        <p:spPr>
          <a:xfrm>
            <a:off x="5220074" y="579116"/>
            <a:ext cx="6740413" cy="461665"/>
          </a:xfrm>
          <a:prstGeom prst="rect">
            <a:avLst/>
          </a:prstGeom>
          <a:noFill/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2400" dirty="0"/>
              <a:t>p[</a:t>
            </a:r>
            <a:r>
              <a:rPr lang="en-US" altLang="zh-CN" sz="2400"/>
              <a:t>i]</a:t>
            </a:r>
            <a:r>
              <a:rPr lang="zh-CN" altLang="en-US" sz="2400"/>
              <a:t>：并查集父节点数组，</a:t>
            </a:r>
            <a:r>
              <a:rPr lang="en-US" altLang="zh-CN" sz="2400"/>
              <a:t>i</a:t>
            </a:r>
            <a:r>
              <a:rPr lang="zh-CN" altLang="en-US" sz="2400"/>
              <a:t>所在集合的根节点点</a:t>
            </a:r>
            <a:endParaRPr lang="zh-CN" altLang="en-US" sz="2400" dirty="0"/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4"/>
            </p:custDataLst>
          </p:nvPr>
        </p:nvPicPr>
        <p:blipFill rotWithShape="1">
          <a:blip r:embed="rId12"/>
          <a:srcRect l="34876" b="-4182"/>
          <a:stretch/>
        </p:blipFill>
        <p:spPr>
          <a:xfrm>
            <a:off x="1473200" y="1835444"/>
            <a:ext cx="5378450" cy="521970"/>
          </a:xfrm>
          <a:prstGeom prst="rect">
            <a:avLst/>
          </a:prstGeom>
        </p:spPr>
      </p:pic>
      <p:sp>
        <p:nvSpPr>
          <p:cNvPr id="6" name="矩形 5"/>
          <p:cNvSpPr/>
          <p:nvPr>
            <p:custDataLst>
              <p:tags r:id="rId5"/>
            </p:custDataLst>
          </p:nvPr>
        </p:nvSpPr>
        <p:spPr>
          <a:xfrm>
            <a:off x="1545590" y="2473308"/>
            <a:ext cx="5306060" cy="461665"/>
          </a:xfrm>
          <a:prstGeom prst="rect">
            <a:avLst/>
          </a:prstGeom>
          <a:noFill/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2400" dirty="0"/>
              <a:t>新的相生相克</a:t>
            </a:r>
            <a:r>
              <a:rPr lang="zh-CN" altLang="en-US" sz="2400"/>
              <a:t>关系判断，</a:t>
            </a:r>
            <a:r>
              <a:rPr lang="en-US" altLang="zh-CN" sz="2400"/>
              <a:t>b</a:t>
            </a:r>
            <a:r>
              <a:rPr lang="zh-CN" altLang="en-US" sz="2400"/>
              <a:t>到</a:t>
            </a:r>
            <a:r>
              <a:rPr lang="en-US" altLang="zh-CN" sz="2400"/>
              <a:t>a</a:t>
            </a:r>
            <a:r>
              <a:rPr lang="zh-CN" altLang="en-US" sz="2400"/>
              <a:t>的权值</a:t>
            </a:r>
            <a:endParaRPr lang="zh-CN" altLang="en-US" sz="2400" dirty="0"/>
          </a:p>
        </p:txBody>
      </p:sp>
      <p:sp>
        <p:nvSpPr>
          <p:cNvPr id="9" name="矩形 8"/>
          <p:cNvSpPr/>
          <p:nvPr>
            <p:custDataLst>
              <p:tags r:id="rId6"/>
            </p:custDataLst>
          </p:nvPr>
        </p:nvSpPr>
        <p:spPr>
          <a:xfrm>
            <a:off x="1473201" y="5147603"/>
            <a:ext cx="4380865" cy="461665"/>
          </a:xfrm>
          <a:prstGeom prst="rect">
            <a:avLst/>
          </a:prstGeom>
          <a:noFill/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2400" dirty="0"/>
              <a:t>判断与已有关系是否矛盾</a:t>
            </a:r>
          </a:p>
        </p:txBody>
      </p:sp>
      <p:sp>
        <p:nvSpPr>
          <p:cNvPr id="3" name="矩形 2"/>
          <p:cNvSpPr/>
          <p:nvPr>
            <p:custDataLst>
              <p:tags r:id="rId7"/>
            </p:custDataLst>
          </p:nvPr>
        </p:nvSpPr>
        <p:spPr>
          <a:xfrm>
            <a:off x="4209416" y="3872553"/>
            <a:ext cx="5054936" cy="461665"/>
          </a:xfrm>
          <a:prstGeom prst="rect">
            <a:avLst/>
          </a:prstGeom>
          <a:noFill/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2400"/>
              <a:t>如果</a:t>
            </a:r>
            <a:r>
              <a:rPr lang="en-US" altLang="zh-CN" sz="2400"/>
              <a:t>a</a:t>
            </a:r>
            <a:r>
              <a:rPr lang="zh-CN" altLang="en-US" sz="2400"/>
              <a:t>和</a:t>
            </a:r>
            <a:r>
              <a:rPr lang="en-US" altLang="zh-CN" sz="2400" dirty="0"/>
              <a:t>b</a:t>
            </a:r>
            <a:r>
              <a:rPr lang="zh-CN" altLang="en-US" sz="2400"/>
              <a:t>已经有关系</a:t>
            </a:r>
            <a:r>
              <a:rPr lang="en-US" altLang="zh-CN" sz="2400"/>
              <a:t>(</a:t>
            </a:r>
            <a:r>
              <a:rPr lang="zh-CN" altLang="en-US" sz="2400"/>
              <a:t>在一个集合中）</a:t>
            </a:r>
            <a:endParaRPr lang="zh-CN" altLang="en-US" sz="2400" dirty="0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95E956BA-8225-48CF-88F2-6749F6E0CE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45</a:t>
            </a:fld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6E59A35-B6AC-4B10-935A-DB43B0261116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5220074" y="1124744"/>
            <a:ext cx="5847010" cy="461665"/>
          </a:xfrm>
          <a:prstGeom prst="rect">
            <a:avLst/>
          </a:prstGeom>
          <a:noFill/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2400"/>
              <a:t>w[i]</a:t>
            </a:r>
            <a:r>
              <a:rPr lang="zh-CN" altLang="en-US" sz="2400"/>
              <a:t>：</a:t>
            </a:r>
            <a:r>
              <a:rPr lang="en-US" altLang="zh-CN" sz="2400"/>
              <a:t>i</a:t>
            </a:r>
            <a:r>
              <a:rPr lang="zh-CN" altLang="en-US" sz="2400"/>
              <a:t>到其集合根节点的权值</a:t>
            </a:r>
            <a:endParaRPr lang="zh-CN" alt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6" grpId="0" animBg="1"/>
      <p:bldP spid="9" grpId="0" animBg="1"/>
      <p:bldP spid="3" grpId="0" animBg="1"/>
      <p:bldP spid="11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377528" y="376771"/>
            <a:ext cx="6025401" cy="1744923"/>
          </a:xfrm>
          <a:prstGeom prst="rect">
            <a:avLst/>
          </a:prstGeom>
        </p:spPr>
      </p:pic>
      <p:sp>
        <p:nvSpPr>
          <p:cNvPr id="4" name="矩形 3"/>
          <p:cNvSpPr/>
          <p:nvPr>
            <p:custDataLst>
              <p:tags r:id="rId2"/>
            </p:custDataLst>
          </p:nvPr>
        </p:nvSpPr>
        <p:spPr>
          <a:xfrm>
            <a:off x="439009" y="2206796"/>
            <a:ext cx="4680639" cy="1672383"/>
          </a:xfrm>
          <a:prstGeom prst="rect">
            <a:avLst/>
          </a:prstGeom>
          <a:noFill/>
          <a:ln>
            <a:solidFill>
              <a:schemeClr val="bg2">
                <a:lumMod val="25000"/>
              </a:schemeClr>
            </a:solidFill>
          </a:ln>
        </p:spPr>
        <p:txBody>
          <a:bodyPr wrap="square" anchor="ctr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en-US" sz="2400" dirty="0"/>
              <a:t>“</a:t>
            </a:r>
            <a:r>
              <a:rPr lang="zh-CN" altLang="en-US" sz="2400" dirty="0"/>
              <a:t>并</a:t>
            </a:r>
            <a:r>
              <a:rPr lang="en-US" sz="2400" dirty="0"/>
              <a:t>”=</a:t>
            </a:r>
            <a:r>
              <a:rPr lang="zh-CN" altLang="en-US" sz="2400" dirty="0"/>
              <a:t>建立根节点之间的</a:t>
            </a:r>
            <a:r>
              <a:rPr lang="zh-CN" altLang="en-US" sz="2400"/>
              <a:t>联系，</a:t>
            </a:r>
            <a:endParaRPr lang="en-US" altLang="zh-CN" sz="2400"/>
          </a:p>
          <a:p>
            <a:pPr>
              <a:lnSpc>
                <a:spcPct val="150000"/>
              </a:lnSpc>
            </a:pPr>
            <a:r>
              <a:rPr lang="zh-CN" altLang="en-US" sz="2400"/>
              <a:t>合并后，</a:t>
            </a:r>
            <a:r>
              <a:rPr lang="en-US" altLang="zh-CN" sz="2400"/>
              <a:t>ra</a:t>
            </a:r>
            <a:r>
              <a:rPr lang="zh-CN" altLang="en-US" sz="2400"/>
              <a:t>所在集合的根节点是</a:t>
            </a:r>
            <a:r>
              <a:rPr lang="en-US" altLang="zh-CN" sz="2400"/>
              <a:t>rb.</a:t>
            </a:r>
          </a:p>
          <a:p>
            <a:pPr>
              <a:lnSpc>
                <a:spcPct val="150000"/>
              </a:lnSpc>
            </a:pPr>
            <a:r>
              <a:rPr lang="zh-CN" altLang="en-US" sz="2400">
                <a:solidFill>
                  <a:srgbClr val="00B050"/>
                </a:solidFill>
              </a:rPr>
              <a:t>需要更新</a:t>
            </a:r>
            <a:r>
              <a:rPr lang="en-US" altLang="zh-CN" sz="2400">
                <a:solidFill>
                  <a:srgbClr val="00B050"/>
                </a:solidFill>
              </a:rPr>
              <a:t>rb</a:t>
            </a:r>
            <a:r>
              <a:rPr lang="zh-CN" altLang="en-US" sz="2400">
                <a:solidFill>
                  <a:srgbClr val="00B050"/>
                </a:solidFill>
              </a:rPr>
              <a:t>的权</a:t>
            </a:r>
            <a:r>
              <a:rPr lang="zh-CN" altLang="en-US" sz="2400" dirty="0">
                <a:solidFill>
                  <a:srgbClr val="00B050"/>
                </a:solidFill>
              </a:rPr>
              <a:t>值</a:t>
            </a:r>
          </a:p>
        </p:txBody>
      </p:sp>
      <p:sp>
        <p:nvSpPr>
          <p:cNvPr id="9" name="椭圆 8"/>
          <p:cNvSpPr/>
          <p:nvPr>
            <p:custDataLst>
              <p:tags r:id="rId3"/>
            </p:custDataLst>
          </p:nvPr>
        </p:nvSpPr>
        <p:spPr>
          <a:xfrm>
            <a:off x="1610643" y="4069893"/>
            <a:ext cx="636270" cy="686435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/>
              <a:t>ra</a:t>
            </a:r>
          </a:p>
        </p:txBody>
      </p:sp>
      <p:sp>
        <p:nvSpPr>
          <p:cNvPr id="10" name="椭圆 9"/>
          <p:cNvSpPr/>
          <p:nvPr>
            <p:custDataLst>
              <p:tags r:id="rId4"/>
            </p:custDataLst>
          </p:nvPr>
        </p:nvSpPr>
        <p:spPr>
          <a:xfrm>
            <a:off x="3759483" y="4890313"/>
            <a:ext cx="636270" cy="686435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/>
              <a:t>rb</a:t>
            </a:r>
          </a:p>
        </p:txBody>
      </p:sp>
      <p:sp>
        <p:nvSpPr>
          <p:cNvPr id="11" name="椭圆 10"/>
          <p:cNvSpPr/>
          <p:nvPr>
            <p:custDataLst>
              <p:tags r:id="rId5"/>
            </p:custDataLst>
          </p:nvPr>
        </p:nvSpPr>
        <p:spPr>
          <a:xfrm>
            <a:off x="375568" y="5250358"/>
            <a:ext cx="636270" cy="686435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/>
              <a:t>a</a:t>
            </a:r>
          </a:p>
        </p:txBody>
      </p:sp>
      <p:sp>
        <p:nvSpPr>
          <p:cNvPr id="12" name="椭圆 11"/>
          <p:cNvSpPr/>
          <p:nvPr>
            <p:custDataLst>
              <p:tags r:id="rId6"/>
            </p:custDataLst>
          </p:nvPr>
        </p:nvSpPr>
        <p:spPr>
          <a:xfrm>
            <a:off x="2895883" y="6186348"/>
            <a:ext cx="636270" cy="686435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/>
              <a:t>b</a:t>
            </a:r>
          </a:p>
        </p:txBody>
      </p:sp>
      <p:cxnSp>
        <p:nvCxnSpPr>
          <p:cNvPr id="13" name="直接箭头连接符 12"/>
          <p:cNvCxnSpPr>
            <a:stCxn id="11" idx="7"/>
            <a:endCxn id="9" idx="3"/>
          </p:cNvCxnSpPr>
          <p:nvPr/>
        </p:nvCxnSpPr>
        <p:spPr>
          <a:xfrm flipV="1">
            <a:off x="918494" y="4655997"/>
            <a:ext cx="785495" cy="69469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" name="直接箭头连接符 13"/>
          <p:cNvCxnSpPr>
            <a:stCxn id="12" idx="7"/>
            <a:endCxn id="10" idx="3"/>
          </p:cNvCxnSpPr>
          <p:nvPr/>
        </p:nvCxnSpPr>
        <p:spPr>
          <a:xfrm flipV="1">
            <a:off x="3438808" y="5476417"/>
            <a:ext cx="414020" cy="81026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" name="直接箭头连接符 15"/>
          <p:cNvCxnSpPr>
            <a:stCxn id="10" idx="1"/>
            <a:endCxn id="9" idx="6"/>
          </p:cNvCxnSpPr>
          <p:nvPr/>
        </p:nvCxnSpPr>
        <p:spPr>
          <a:xfrm flipH="1" flipV="1">
            <a:off x="2246914" y="4413428"/>
            <a:ext cx="1605915" cy="577215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7" name="矩形 16"/>
          <p:cNvSpPr/>
          <p:nvPr>
            <p:custDataLst>
              <p:tags r:id="rId7"/>
            </p:custDataLst>
          </p:nvPr>
        </p:nvSpPr>
        <p:spPr>
          <a:xfrm>
            <a:off x="4511824" y="4890313"/>
            <a:ext cx="6025401" cy="1144031"/>
          </a:xfrm>
          <a:prstGeom prst="rect">
            <a:avLst/>
          </a:prstGeom>
          <a:noFill/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>
                <a:solidFill>
                  <a:srgbClr val="FF0000"/>
                </a:solidFill>
              </a:rPr>
              <a:t>另一种解释</a:t>
            </a:r>
            <a:r>
              <a:rPr lang="zh-CN" altLang="en-US" sz="2400"/>
              <a:t>：建立</a:t>
            </a:r>
            <a:r>
              <a:rPr lang="en-US" altLang="zh-CN" sz="2400" dirty="0"/>
              <a:t>rb</a:t>
            </a:r>
            <a:r>
              <a:rPr lang="zh-CN" altLang="en-US" sz="2400" dirty="0"/>
              <a:t>指向</a:t>
            </a:r>
            <a:r>
              <a:rPr lang="en-US" altLang="zh-CN" sz="2400" dirty="0"/>
              <a:t>ra</a:t>
            </a:r>
            <a:r>
              <a:rPr lang="zh-CN" altLang="en-US" sz="2400" dirty="0"/>
              <a:t>的关系</a:t>
            </a:r>
            <a:r>
              <a:rPr lang="zh-CN" altLang="en-US" sz="2400"/>
              <a:t>之后，</a:t>
            </a:r>
            <a:endParaRPr lang="en-US" altLang="zh-CN" sz="2400"/>
          </a:p>
          <a:p>
            <a:pPr>
              <a:lnSpc>
                <a:spcPct val="150000"/>
              </a:lnSpc>
            </a:pPr>
            <a:r>
              <a:rPr lang="en-US" altLang="zh-CN" sz="2400"/>
              <a:t>b</a:t>
            </a:r>
            <a:r>
              <a:rPr lang="zh-CN" altLang="en-US" sz="2400" dirty="0"/>
              <a:t>到</a:t>
            </a:r>
            <a:r>
              <a:rPr lang="en-US" altLang="zh-CN" sz="2400" dirty="0"/>
              <a:t>ra</a:t>
            </a:r>
            <a:r>
              <a:rPr lang="zh-CN" altLang="en-US" sz="2400" dirty="0"/>
              <a:t>的两条路径应该长度相等</a:t>
            </a:r>
          </a:p>
        </p:txBody>
      </p:sp>
      <p:sp>
        <p:nvSpPr>
          <p:cNvPr id="3" name="矩形 2"/>
          <p:cNvSpPr/>
          <p:nvPr/>
        </p:nvSpPr>
        <p:spPr>
          <a:xfrm>
            <a:off x="1096091" y="1175890"/>
            <a:ext cx="5114094" cy="40195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C678B477-F3BD-4E3D-AA4F-08A34A7C5D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46</a:t>
            </a:fld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27CD9421-40CA-4742-9119-E05FBD605723}"/>
              </a:ext>
            </a:extLst>
          </p:cNvPr>
          <p:cNvSpPr txBox="1"/>
          <p:nvPr/>
        </p:nvSpPr>
        <p:spPr>
          <a:xfrm>
            <a:off x="6270000" y="153891"/>
            <a:ext cx="5904656" cy="43088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zh-CN" altLang="en-US" sz="2200"/>
              <a:t>合并后，需要满足：</a:t>
            </a:r>
            <a:r>
              <a:rPr lang="en-US" altLang="zh-CN" sz="2200"/>
              <a:t>a</a:t>
            </a:r>
            <a:r>
              <a:rPr lang="zh-CN" altLang="en-US" sz="2200"/>
              <a:t>到</a:t>
            </a:r>
            <a:r>
              <a:rPr lang="en-US" altLang="zh-CN" sz="2200"/>
              <a:t>b</a:t>
            </a:r>
            <a:r>
              <a:rPr lang="zh-CN" altLang="en-US" sz="2200"/>
              <a:t>的权值 </a:t>
            </a:r>
            <a:r>
              <a:rPr lang="en-US" altLang="zh-CN" sz="2200"/>
              <a:t>= -d</a:t>
            </a:r>
            <a:endParaRPr lang="zh-CN" altLang="en-US" sz="2200" spc="30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9D11D5A8-8A34-44A9-8562-8EDF5D3D8BD6}"/>
              </a:ext>
            </a:extLst>
          </p:cNvPr>
          <p:cNvSpPr txBox="1"/>
          <p:nvPr/>
        </p:nvSpPr>
        <p:spPr>
          <a:xfrm>
            <a:off x="6303208" y="1237300"/>
            <a:ext cx="5871448" cy="120032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pl-PL" altLang="zh-CN" sz="2400">
                <a:solidFill>
                  <a:srgbClr val="00B050"/>
                </a:solidFill>
              </a:rPr>
              <a:t>a</a:t>
            </a:r>
            <a:r>
              <a:rPr lang="zh-CN" altLang="en-US" sz="2400">
                <a:solidFill>
                  <a:srgbClr val="00B050"/>
                </a:solidFill>
              </a:rPr>
              <a:t>到</a:t>
            </a:r>
            <a:r>
              <a:rPr lang="pl-PL" altLang="zh-CN" sz="2400">
                <a:solidFill>
                  <a:srgbClr val="00B050"/>
                </a:solidFill>
              </a:rPr>
              <a:t>ra</a:t>
            </a:r>
            <a:r>
              <a:rPr lang="zh-CN" altLang="pl-PL" sz="2400"/>
              <a:t>：</a:t>
            </a:r>
            <a:r>
              <a:rPr lang="pl-PL" altLang="zh-CN" sz="2400" b="1">
                <a:solidFill>
                  <a:srgbClr val="FF0000"/>
                </a:solidFill>
              </a:rPr>
              <a:t>w[a]</a:t>
            </a:r>
          </a:p>
          <a:p>
            <a:r>
              <a:rPr lang="pl-PL" altLang="zh-CN" sz="2400">
                <a:solidFill>
                  <a:srgbClr val="00B050"/>
                </a:solidFill>
              </a:rPr>
              <a:t>ra</a:t>
            </a:r>
            <a:r>
              <a:rPr lang="zh-CN" altLang="en-US" sz="2400">
                <a:solidFill>
                  <a:srgbClr val="00B050"/>
                </a:solidFill>
              </a:rPr>
              <a:t>到</a:t>
            </a:r>
            <a:r>
              <a:rPr lang="pl-PL" altLang="zh-CN" sz="2400">
                <a:solidFill>
                  <a:srgbClr val="00B050"/>
                </a:solidFill>
              </a:rPr>
              <a:t>rb</a:t>
            </a:r>
            <a:r>
              <a:rPr lang="zh-CN" altLang="pl-PL" sz="2400"/>
              <a:t>：</a:t>
            </a:r>
            <a:r>
              <a:rPr lang="pl-PL" altLang="zh-CN" sz="2400" b="1">
                <a:solidFill>
                  <a:srgbClr val="FF0000"/>
                </a:solidFill>
              </a:rPr>
              <a:t>-w[rb]</a:t>
            </a:r>
            <a:r>
              <a:rPr lang="zh-CN" altLang="pl-PL" sz="2000"/>
              <a:t>（</a:t>
            </a:r>
            <a:r>
              <a:rPr lang="pl-PL" altLang="zh-CN" sz="2000"/>
              <a:t>w[rb]</a:t>
            </a:r>
            <a:r>
              <a:rPr lang="zh-CN" altLang="en-US" sz="2000"/>
              <a:t>是</a:t>
            </a:r>
            <a:r>
              <a:rPr lang="pl-PL" altLang="zh-CN" sz="2000"/>
              <a:t>rb</a:t>
            </a:r>
            <a:r>
              <a:rPr lang="zh-CN" altLang="en-US" sz="2000"/>
              <a:t>到</a:t>
            </a:r>
            <a:r>
              <a:rPr lang="pl-PL" altLang="zh-CN" sz="2000"/>
              <a:t>ra</a:t>
            </a:r>
            <a:r>
              <a:rPr lang="zh-CN" altLang="en-US" sz="2000"/>
              <a:t>的权值）</a:t>
            </a:r>
          </a:p>
          <a:p>
            <a:r>
              <a:rPr lang="pl-PL" altLang="zh-CN" sz="2400">
                <a:solidFill>
                  <a:srgbClr val="00B050"/>
                </a:solidFill>
              </a:rPr>
              <a:t>rb</a:t>
            </a:r>
            <a:r>
              <a:rPr lang="zh-CN" altLang="en-US" sz="2400">
                <a:solidFill>
                  <a:srgbClr val="00B050"/>
                </a:solidFill>
              </a:rPr>
              <a:t>到</a:t>
            </a:r>
            <a:r>
              <a:rPr lang="pl-PL" altLang="zh-CN" sz="2400">
                <a:solidFill>
                  <a:srgbClr val="00B050"/>
                </a:solidFill>
              </a:rPr>
              <a:t>b</a:t>
            </a:r>
            <a:r>
              <a:rPr lang="zh-CN" altLang="pl-PL" sz="2400"/>
              <a:t>：</a:t>
            </a:r>
            <a:r>
              <a:rPr lang="pl-PL" altLang="zh-CN" sz="2400" b="1">
                <a:solidFill>
                  <a:srgbClr val="FF0000"/>
                </a:solidFill>
              </a:rPr>
              <a:t>-w[b]</a:t>
            </a:r>
            <a:r>
              <a:rPr lang="zh-CN" altLang="pl-PL" sz="2400"/>
              <a:t>（</a:t>
            </a:r>
            <a:r>
              <a:rPr lang="pl-PL" altLang="zh-CN" sz="2000"/>
              <a:t>w[b]</a:t>
            </a:r>
            <a:r>
              <a:rPr lang="zh-CN" altLang="en-US" sz="2000"/>
              <a:t>是</a:t>
            </a:r>
            <a:r>
              <a:rPr lang="pl-PL" altLang="zh-CN" sz="2000"/>
              <a:t>b</a:t>
            </a:r>
            <a:r>
              <a:rPr lang="zh-CN" altLang="en-US" sz="2000"/>
              <a:t>到</a:t>
            </a:r>
            <a:r>
              <a:rPr lang="pl-PL" altLang="zh-CN" sz="2000"/>
              <a:t>rb</a:t>
            </a:r>
            <a:r>
              <a:rPr lang="zh-CN" altLang="en-US" sz="2000"/>
              <a:t>的权值）</a:t>
            </a:r>
            <a:endParaRPr lang="zh-CN" altLang="en-US" sz="2000" spc="30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92F6B70E-FD72-4BFC-9BEC-70EC4D7FC43F}"/>
              </a:ext>
            </a:extLst>
          </p:cNvPr>
          <p:cNvSpPr txBox="1"/>
          <p:nvPr/>
        </p:nvSpPr>
        <p:spPr>
          <a:xfrm>
            <a:off x="6303208" y="2669767"/>
            <a:ext cx="5871448" cy="461665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r>
              <a:rPr lang="zh-CN" altLang="en-US" sz="2400"/>
              <a:t>所以：</a:t>
            </a:r>
            <a:r>
              <a:rPr lang="pl-PL" altLang="zh-CN" sz="2400"/>
              <a:t>w[a] - w[rb] - w[b] = -d (mod 5)</a:t>
            </a:r>
            <a:endParaRPr lang="zh-CN" altLang="en-US" sz="2400" spc="30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2D7E25D8-9B83-45E0-B69E-CFBADF7C9AF8}"/>
              </a:ext>
            </a:extLst>
          </p:cNvPr>
          <p:cNvSpPr txBox="1"/>
          <p:nvPr/>
        </p:nvSpPr>
        <p:spPr>
          <a:xfrm>
            <a:off x="6270000" y="4069893"/>
            <a:ext cx="5891584" cy="52322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r>
              <a:rPr lang="pl-PL" altLang="zh-CN" sz="2800" b="1">
                <a:solidFill>
                  <a:srgbClr val="00B050"/>
                </a:solidFill>
              </a:rPr>
              <a:t>w[rb] = (w[a] + d - w[b] + 5) % 5</a:t>
            </a:r>
            <a:endParaRPr lang="zh-CN" altLang="en-US" sz="2800" b="1" spc="300">
              <a:solidFill>
                <a:srgbClr val="00B050"/>
              </a:solidFill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3E74282A-ED80-4974-922C-50859A077407}"/>
              </a:ext>
            </a:extLst>
          </p:cNvPr>
          <p:cNvSpPr txBox="1"/>
          <p:nvPr/>
        </p:nvSpPr>
        <p:spPr>
          <a:xfrm>
            <a:off x="3481907" y="3399407"/>
            <a:ext cx="1451942" cy="46166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zh-CN" altLang="en-US" sz="2400">
                <a:solidFill>
                  <a:srgbClr val="FF0000"/>
                </a:solidFill>
              </a:rPr>
              <a:t>如何更新</a:t>
            </a:r>
            <a:endParaRPr lang="zh-CN" altLang="en-US" sz="2400" spc="300">
              <a:solidFill>
                <a:srgbClr val="FF0000"/>
              </a:solidFill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38455065-5568-4A06-9475-547A444CE69F}"/>
              </a:ext>
            </a:extLst>
          </p:cNvPr>
          <p:cNvSpPr txBox="1"/>
          <p:nvPr/>
        </p:nvSpPr>
        <p:spPr>
          <a:xfrm>
            <a:off x="6270000" y="722611"/>
            <a:ext cx="5904656" cy="43088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zh-CN" altLang="en-US" sz="2200"/>
              <a:t>而</a:t>
            </a:r>
            <a:r>
              <a:rPr lang="en-US" altLang="zh-CN" sz="2200"/>
              <a:t>a</a:t>
            </a:r>
            <a:r>
              <a:rPr lang="zh-CN" altLang="en-US" sz="2200"/>
              <a:t>到</a:t>
            </a:r>
            <a:r>
              <a:rPr lang="en-US" altLang="zh-CN" sz="2200"/>
              <a:t>b</a:t>
            </a:r>
            <a:r>
              <a:rPr lang="zh-CN" altLang="en-US" sz="2200"/>
              <a:t>的权值可以通过路径</a:t>
            </a:r>
            <a:r>
              <a:rPr lang="en-US" altLang="zh-CN" sz="2200"/>
              <a:t>a-&gt;ra-&gt;rb-&gt;b</a:t>
            </a:r>
            <a:r>
              <a:rPr lang="zh-CN" altLang="en-US" sz="2200"/>
              <a:t>计算</a:t>
            </a:r>
            <a:endParaRPr lang="zh-CN" altLang="en-US" sz="2200" spc="300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7B6314AF-97A2-48A3-98A3-D5C9DD3E77D4}"/>
              </a:ext>
            </a:extLst>
          </p:cNvPr>
          <p:cNvSpPr txBox="1"/>
          <p:nvPr/>
        </p:nvSpPr>
        <p:spPr>
          <a:xfrm>
            <a:off x="6290136" y="3352250"/>
            <a:ext cx="5871448" cy="461665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2400"/>
              <a:t>—&gt;</a:t>
            </a:r>
            <a:r>
              <a:rPr lang="zh-CN" altLang="en-US" sz="2400"/>
              <a:t>：</a:t>
            </a:r>
            <a:r>
              <a:rPr lang="pl-PL" altLang="zh-CN" sz="2400"/>
              <a:t>w[rb] = w[a] - w[b] + d (mod 5)</a:t>
            </a:r>
            <a:endParaRPr lang="zh-CN" altLang="en-US" sz="2400"/>
          </a:p>
        </p:txBody>
      </p: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C048240D-3224-496D-B038-E92E23109A05}"/>
              </a:ext>
            </a:extLst>
          </p:cNvPr>
          <p:cNvCxnSpPr>
            <a:cxnSpLocks/>
            <a:endCxn id="11" idx="5"/>
          </p:cNvCxnSpPr>
          <p:nvPr/>
        </p:nvCxnSpPr>
        <p:spPr>
          <a:xfrm flipH="1" flipV="1">
            <a:off x="918658" y="5836267"/>
            <a:ext cx="1977226" cy="65610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8" name="文本框 27">
            <a:extLst>
              <a:ext uri="{FF2B5EF4-FFF2-40B4-BE49-F238E27FC236}">
                <a16:creationId xmlns:a16="http://schemas.microsoft.com/office/drawing/2014/main" id="{B5856966-7656-42B7-ADD2-738670CFAE76}"/>
              </a:ext>
            </a:extLst>
          </p:cNvPr>
          <p:cNvSpPr txBox="1"/>
          <p:nvPr/>
        </p:nvSpPr>
        <p:spPr>
          <a:xfrm>
            <a:off x="4511824" y="6219619"/>
            <a:ext cx="5891584" cy="52322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2800" b="1">
                <a:solidFill>
                  <a:srgbClr val="00B050"/>
                </a:solidFill>
              </a:rPr>
              <a:t>d+w[a] = w[b]+w[rb]</a:t>
            </a:r>
            <a:endParaRPr lang="zh-CN" altLang="en-US" sz="2800" b="1" spc="300">
              <a:solidFill>
                <a:srgbClr val="00B05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7" grpId="0" animBg="1"/>
      <p:bldP spid="3" grpId="0" bldLvl="0" animBg="1"/>
      <p:bldP spid="3" grpId="1" bldLvl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8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F1E976-E7D6-8426-B05A-DB40C48F6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3">
            <a:extLst>
              <a:ext uri="{FF2B5EF4-FFF2-40B4-BE49-F238E27FC236}">
                <a16:creationId xmlns:a16="http://schemas.microsoft.com/office/drawing/2014/main" id="{58AF0DB1-FA76-B53F-770F-A54555503574}"/>
              </a:ext>
            </a:extLst>
          </p:cNvPr>
          <p:cNvSpPr txBox="1"/>
          <p:nvPr/>
        </p:nvSpPr>
        <p:spPr>
          <a:xfrm>
            <a:off x="-210616" y="2636912"/>
            <a:ext cx="12613232" cy="1015659"/>
          </a:xfrm>
          <a:prstGeom prst="rect">
            <a:avLst/>
          </a:prstGeom>
          <a:solidFill>
            <a:srgbClr val="F2F2F2"/>
          </a:solidFill>
          <a:ln w="12700">
            <a:solidFill>
              <a:srgbClr val="4A452A"/>
            </a:solidFill>
          </a:ln>
        </p:spPr>
        <p:txBody>
          <a:bodyPr wrap="square" lIns="45718" tIns="45718" rIns="45718" bIns="45718">
            <a:spAutoFit/>
          </a:bodyPr>
          <a:lstStyle>
            <a:defPPr>
              <a:defRPr lang="zh-CN"/>
            </a:defPPr>
            <a:lvl1pPr algn="ctr" defTabSz="914367">
              <a:defRPr sz="3937">
                <a:latin typeface="Calibri"/>
                <a:ea typeface="Calibri"/>
                <a:cs typeface="Calibri"/>
              </a:defRPr>
            </a:lvl1pPr>
          </a:lstStyle>
          <a:p>
            <a:pPr>
              <a:defRPr sz="5600">
                <a:latin typeface="Calibri"/>
                <a:ea typeface="Calibri"/>
                <a:cs typeface="Calibri"/>
                <a:sym typeface="Calibri"/>
              </a:defRPr>
            </a:pPr>
            <a:r>
              <a:rPr lang="en-US" altLang="zh-CN" sz="6000"/>
              <a:t>T5 </a:t>
            </a:r>
            <a:r>
              <a:rPr lang="zh-CN" altLang="en-US" sz="6000"/>
              <a:t>股神七</a:t>
            </a:r>
            <a:endParaRPr lang="zh-CN" altLang="en-US" sz="60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9D79162-2E5E-2A96-CC9E-D0A2FD574880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altLang="zh-CN" smtClean="0"/>
              <a:t>47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56184930"/>
      </p:ext>
    </p:extLst>
  </p:cSld>
  <p:clrMapOvr>
    <a:masterClrMapping/>
  </p:clrMapOvr>
  <p:transition spd="slow"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29757" y="0"/>
            <a:ext cx="8938243" cy="1143000"/>
          </a:xfrm>
        </p:spPr>
        <p:txBody>
          <a:bodyPr/>
          <a:lstStyle/>
          <a:p>
            <a:r>
              <a:rPr lang="zh-CN" altLang="en-US" dirty="0"/>
              <a:t>股神七</a:t>
            </a:r>
            <a:endParaRPr lang="zh-CN" altLang="zh-CN" dirty="0"/>
          </a:p>
        </p:txBody>
      </p:sp>
      <p:sp>
        <p:nvSpPr>
          <p:cNvPr id="5" name="矩形 4"/>
          <p:cNvSpPr/>
          <p:nvPr/>
        </p:nvSpPr>
        <p:spPr>
          <a:xfrm>
            <a:off x="1703512" y="1151343"/>
            <a:ext cx="8859414" cy="1569660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2400" dirty="0"/>
              <a:t>你是股神，你的神力是能看到未来</a:t>
            </a:r>
            <a:r>
              <a:rPr lang="en-US" altLang="zh-CN" sz="2400" dirty="0"/>
              <a:t>n</a:t>
            </a:r>
            <a:r>
              <a:rPr lang="zh-CN" altLang="en-US" sz="2400" dirty="0"/>
              <a:t>天里每天股票的盈利或者亏损，第</a:t>
            </a:r>
            <a:r>
              <a:rPr lang="en-US" altLang="zh-CN" sz="2400" dirty="0"/>
              <a:t>i</a:t>
            </a:r>
            <a:r>
              <a:rPr lang="zh-CN" altLang="en-US" sz="2400" dirty="0"/>
              <a:t>天盈利</a:t>
            </a:r>
            <a:r>
              <a:rPr lang="en-US" altLang="zh-CN" sz="2400" dirty="0"/>
              <a:t>x[i]</a:t>
            </a:r>
            <a:r>
              <a:rPr lang="zh-CN" altLang="en-US" sz="2400" dirty="0"/>
              <a:t>元，当然如果</a:t>
            </a:r>
            <a:r>
              <a:rPr lang="en-US" altLang="zh-CN" sz="2400" dirty="0"/>
              <a:t>x[i]</a:t>
            </a:r>
            <a:r>
              <a:rPr lang="zh-CN" altLang="en-US" sz="2400" dirty="0"/>
              <a:t>是负数，代表亏损。你可以在一段连续的日期进行投资，为了</a:t>
            </a:r>
            <a:r>
              <a:rPr lang="zh-CN" altLang="en-US" sz="2400" dirty="0">
                <a:solidFill>
                  <a:srgbClr val="FF0000"/>
                </a:solidFill>
              </a:rPr>
              <a:t>盈利不少于</a:t>
            </a:r>
            <a:r>
              <a:rPr lang="en-US" altLang="zh-CN" sz="2400" dirty="0">
                <a:solidFill>
                  <a:srgbClr val="FF0000"/>
                </a:solidFill>
              </a:rPr>
              <a:t>m</a:t>
            </a:r>
            <a:r>
              <a:rPr lang="zh-CN" altLang="en-US" sz="2400" dirty="0">
                <a:solidFill>
                  <a:srgbClr val="FF0000"/>
                </a:solidFill>
              </a:rPr>
              <a:t>元，至少需要投资连续的几天</a:t>
            </a:r>
            <a:r>
              <a:rPr lang="zh-CN" altLang="en-US" sz="2400" dirty="0"/>
              <a:t>？若无法盈利</a:t>
            </a:r>
            <a:r>
              <a:rPr lang="en-US" altLang="zh-CN" sz="2400" dirty="0"/>
              <a:t>m</a:t>
            </a:r>
            <a:r>
              <a:rPr lang="zh-CN" altLang="en-US" sz="2400" dirty="0"/>
              <a:t>元，输出</a:t>
            </a:r>
            <a:r>
              <a:rPr lang="en-US" altLang="zh-CN" sz="2400" dirty="0"/>
              <a:t>0</a:t>
            </a:r>
            <a:endParaRPr lang="zh-CN" altLang="zh-CN" sz="2400" dirty="0"/>
          </a:p>
        </p:txBody>
      </p:sp>
      <p:sp>
        <p:nvSpPr>
          <p:cNvPr id="10" name="矩形 9"/>
          <p:cNvSpPr/>
          <p:nvPr/>
        </p:nvSpPr>
        <p:spPr>
          <a:xfrm>
            <a:off x="1703512" y="3064273"/>
            <a:ext cx="1568896" cy="120032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2400" dirty="0"/>
              <a:t>输入样例</a:t>
            </a:r>
            <a:endParaRPr lang="en-US" altLang="zh-CN" sz="2400" dirty="0"/>
          </a:p>
          <a:p>
            <a:r>
              <a:rPr lang="en-US" altLang="zh-CN" sz="2400" dirty="0"/>
              <a:t>5 10000</a:t>
            </a:r>
          </a:p>
          <a:p>
            <a:r>
              <a:rPr lang="en-US" altLang="zh-CN" sz="2400" dirty="0"/>
              <a:t>1 1 1 1 1</a:t>
            </a:r>
            <a:endParaRPr lang="zh-CN" altLang="zh-CN" sz="2400" dirty="0"/>
          </a:p>
        </p:txBody>
      </p:sp>
      <p:sp>
        <p:nvSpPr>
          <p:cNvPr id="13" name="矩形 12"/>
          <p:cNvSpPr/>
          <p:nvPr/>
        </p:nvSpPr>
        <p:spPr>
          <a:xfrm>
            <a:off x="3272408" y="3064273"/>
            <a:ext cx="1512168" cy="830997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2400" dirty="0"/>
              <a:t>输出样例</a:t>
            </a:r>
            <a:endParaRPr lang="en-US" altLang="zh-CN" sz="2400" dirty="0"/>
          </a:p>
          <a:p>
            <a:r>
              <a:rPr lang="en-US" altLang="zh-CN" sz="2400" dirty="0"/>
              <a:t>0</a:t>
            </a:r>
          </a:p>
        </p:txBody>
      </p:sp>
      <p:sp>
        <p:nvSpPr>
          <p:cNvPr id="14" name="矩形 13"/>
          <p:cNvSpPr/>
          <p:nvPr/>
        </p:nvSpPr>
        <p:spPr>
          <a:xfrm>
            <a:off x="5694436" y="3068961"/>
            <a:ext cx="2160240" cy="120032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2400" dirty="0"/>
              <a:t>输入样例</a:t>
            </a:r>
            <a:endParaRPr lang="en-US" altLang="zh-CN" sz="2400" dirty="0"/>
          </a:p>
          <a:p>
            <a:r>
              <a:rPr lang="en-US" altLang="zh-CN" sz="2400" dirty="0"/>
              <a:t>3 1</a:t>
            </a:r>
          </a:p>
          <a:p>
            <a:r>
              <a:rPr lang="en-US" altLang="zh-CN" sz="2400" dirty="0"/>
              <a:t>-100 2 99</a:t>
            </a:r>
            <a:endParaRPr lang="zh-CN" altLang="zh-CN" sz="2400" dirty="0"/>
          </a:p>
        </p:txBody>
      </p:sp>
      <p:sp>
        <p:nvSpPr>
          <p:cNvPr id="15" name="矩形 14"/>
          <p:cNvSpPr/>
          <p:nvPr/>
        </p:nvSpPr>
        <p:spPr>
          <a:xfrm>
            <a:off x="7854676" y="3068961"/>
            <a:ext cx="1512168" cy="830997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2400" dirty="0"/>
              <a:t>输出样例</a:t>
            </a:r>
            <a:endParaRPr lang="en-US" altLang="zh-CN" sz="2400" dirty="0"/>
          </a:p>
          <a:p>
            <a:r>
              <a:rPr lang="en-US" altLang="zh-CN" sz="2400" dirty="0"/>
              <a:t>1</a:t>
            </a:r>
          </a:p>
        </p:txBody>
      </p:sp>
      <p:sp>
        <p:nvSpPr>
          <p:cNvPr id="8" name="矩形 7"/>
          <p:cNvSpPr/>
          <p:nvPr/>
        </p:nvSpPr>
        <p:spPr>
          <a:xfrm>
            <a:off x="8109385" y="5910372"/>
            <a:ext cx="2448272" cy="830997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2400" b="1" dirty="0">
                <a:solidFill>
                  <a:schemeClr val="bg1"/>
                </a:solidFill>
              </a:rPr>
              <a:t>自编哪几套测试数据才够全面？</a:t>
            </a:r>
            <a:endParaRPr lang="zh-CN" altLang="zh-CN" sz="2400" b="1" dirty="0">
              <a:solidFill>
                <a:schemeClr val="bg1"/>
              </a:solidFill>
            </a:endParaRPr>
          </a:p>
        </p:txBody>
      </p:sp>
      <p:sp>
        <p:nvSpPr>
          <p:cNvPr id="9" name="矩形 8"/>
          <p:cNvSpPr/>
          <p:nvPr/>
        </p:nvSpPr>
        <p:spPr>
          <a:xfrm>
            <a:off x="8114654" y="5381552"/>
            <a:ext cx="2448272" cy="461665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2400" b="1" dirty="0">
                <a:solidFill>
                  <a:schemeClr val="bg1"/>
                </a:solidFill>
              </a:rPr>
              <a:t>暴力该怎么做？</a:t>
            </a:r>
            <a:endParaRPr lang="zh-CN" altLang="zh-CN" sz="2400" b="1" dirty="0">
              <a:solidFill>
                <a:schemeClr val="bg1"/>
              </a:solidFill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703512" y="4661332"/>
            <a:ext cx="1568896" cy="120032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2400" dirty="0"/>
              <a:t>输入样例</a:t>
            </a:r>
            <a:endParaRPr lang="en-US" altLang="zh-CN" sz="2400" dirty="0"/>
          </a:p>
          <a:p>
            <a:r>
              <a:rPr lang="en-US" altLang="zh-CN" sz="2400" dirty="0"/>
              <a:t>5 6</a:t>
            </a:r>
          </a:p>
          <a:p>
            <a:r>
              <a:rPr lang="en-US" altLang="zh-CN" sz="2400" dirty="0"/>
              <a:t>2 2 2 3 3</a:t>
            </a:r>
            <a:endParaRPr lang="zh-CN" altLang="zh-CN" sz="2400" dirty="0"/>
          </a:p>
        </p:txBody>
      </p:sp>
      <p:sp>
        <p:nvSpPr>
          <p:cNvPr id="12" name="矩形 11"/>
          <p:cNvSpPr/>
          <p:nvPr/>
        </p:nvSpPr>
        <p:spPr>
          <a:xfrm>
            <a:off x="3272408" y="4661332"/>
            <a:ext cx="1512168" cy="830997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2400" dirty="0"/>
              <a:t>输出样例</a:t>
            </a:r>
            <a:endParaRPr lang="en-US" altLang="zh-CN" sz="2400" dirty="0"/>
          </a:p>
          <a:p>
            <a:r>
              <a:rPr lang="en-US" altLang="zh-CN" sz="2400" dirty="0"/>
              <a:t>2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9A8BAE17-8887-A9C7-BA5C-5E4B910749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48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54240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5" grpId="0" animBg="1"/>
      <p:bldP spid="12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4000" dirty="0"/>
              <a:t>TE</a:t>
            </a:r>
            <a:r>
              <a:rPr lang="zh-CN" altLang="en-US" sz="4000" dirty="0"/>
              <a:t>算法</a:t>
            </a:r>
            <a:r>
              <a:rPr lang="en-US" altLang="zh-CN" sz="4000" dirty="0"/>
              <a:t>1</a:t>
            </a:r>
            <a:r>
              <a:rPr lang="zh-CN" altLang="en-US" sz="4000" dirty="0"/>
              <a:t>：枚举左右端点</a:t>
            </a:r>
            <a:r>
              <a:rPr lang="en-US" altLang="zh-CN" sz="4000" dirty="0"/>
              <a:t>+</a:t>
            </a:r>
            <a:r>
              <a:rPr lang="zh-CN" altLang="en-US" sz="4000" dirty="0"/>
              <a:t>前缀和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5636" y="1793428"/>
            <a:ext cx="8710845" cy="37238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3AD26C6C-D687-9984-1A96-21F868DFB4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49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55391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4000" dirty="0"/>
              <a:t>TE</a:t>
            </a:r>
            <a:r>
              <a:rPr lang="zh-CN" altLang="en-US" sz="4000" dirty="0"/>
              <a:t>算法</a:t>
            </a:r>
            <a:r>
              <a:rPr lang="en-US" altLang="zh-CN" sz="4000" dirty="0"/>
              <a:t>1</a:t>
            </a:r>
            <a:r>
              <a:rPr lang="zh-CN" altLang="en-US" sz="4000" dirty="0"/>
              <a:t>：枚举左右端点</a:t>
            </a:r>
            <a:r>
              <a:rPr lang="en-US" altLang="zh-CN" sz="4000" dirty="0"/>
              <a:t>+</a:t>
            </a:r>
            <a:r>
              <a:rPr lang="zh-CN" altLang="en-US" sz="4000" dirty="0"/>
              <a:t>前缀和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5636" y="1793428"/>
            <a:ext cx="8710845" cy="37238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矩形 6"/>
          <p:cNvSpPr/>
          <p:nvPr/>
        </p:nvSpPr>
        <p:spPr>
          <a:xfrm>
            <a:off x="3359696" y="2288828"/>
            <a:ext cx="5040560" cy="461665"/>
          </a:xfrm>
          <a:prstGeom prst="rect">
            <a:avLst/>
          </a:prstGeom>
          <a:solidFill>
            <a:schemeClr val="accent3">
              <a:lumMod val="75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2400" b="1" dirty="0">
                <a:solidFill>
                  <a:schemeClr val="bg1"/>
                </a:solidFill>
              </a:rPr>
              <a:t>枚举左端点位置</a:t>
            </a:r>
            <a:r>
              <a:rPr lang="en-US" altLang="zh-CN" sz="2400" b="1" dirty="0">
                <a:solidFill>
                  <a:schemeClr val="bg1"/>
                </a:solidFill>
              </a:rPr>
              <a:t>i</a:t>
            </a:r>
            <a:endParaRPr lang="zh-CN" altLang="zh-CN" sz="2400" b="1" dirty="0">
              <a:solidFill>
                <a:schemeClr val="bg1"/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4173712" y="2750493"/>
            <a:ext cx="5040560" cy="461665"/>
          </a:xfrm>
          <a:prstGeom prst="rect">
            <a:avLst/>
          </a:prstGeom>
          <a:solidFill>
            <a:schemeClr val="accent3">
              <a:lumMod val="75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2400" b="1" dirty="0">
                <a:solidFill>
                  <a:schemeClr val="bg1"/>
                </a:solidFill>
              </a:rPr>
              <a:t>枚举右端点位置</a:t>
            </a:r>
            <a:r>
              <a:rPr lang="en-US" altLang="zh-CN" sz="2400" b="1" dirty="0">
                <a:solidFill>
                  <a:schemeClr val="bg1"/>
                </a:solidFill>
              </a:rPr>
              <a:t>j</a:t>
            </a:r>
            <a:endParaRPr lang="zh-CN" altLang="zh-CN" sz="2400" b="1" dirty="0">
              <a:solidFill>
                <a:schemeClr val="bg1"/>
              </a:solidFill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C96305F5-04F1-FB78-5ABA-BF6328431E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50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32208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4000" dirty="0"/>
              <a:t>TE</a:t>
            </a:r>
            <a:r>
              <a:rPr lang="zh-CN" altLang="en-US" sz="4000" dirty="0"/>
              <a:t>算法</a:t>
            </a:r>
            <a:r>
              <a:rPr lang="en-US" altLang="zh-CN" sz="4000" dirty="0"/>
              <a:t>2</a:t>
            </a:r>
            <a:r>
              <a:rPr lang="zh-CN" altLang="en-US" sz="4000" dirty="0"/>
              <a:t>：枚举答案</a:t>
            </a:r>
            <a:r>
              <a:rPr lang="en-US" altLang="zh-CN" sz="4000" dirty="0"/>
              <a:t>+</a:t>
            </a:r>
            <a:r>
              <a:rPr lang="zh-CN" altLang="en-US" sz="4000" dirty="0"/>
              <a:t>右端点</a:t>
            </a:r>
            <a:r>
              <a:rPr lang="en-US" altLang="zh-CN" sz="4000" dirty="0"/>
              <a:t>+</a:t>
            </a:r>
            <a:r>
              <a:rPr lang="zh-CN" altLang="en-US" sz="4000" dirty="0"/>
              <a:t>前缀和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3512" y="1790700"/>
            <a:ext cx="8743236" cy="36545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780BABCD-CE33-0207-7A0A-5E12572F39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51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433692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4000"/>
              <a:t>AC</a:t>
            </a:r>
            <a:r>
              <a:rPr lang="zh-CN" altLang="en-US" sz="4000"/>
              <a:t>算法</a:t>
            </a:r>
            <a:r>
              <a:rPr lang="en-US" altLang="zh-CN" sz="4000"/>
              <a:t>3</a:t>
            </a:r>
            <a:r>
              <a:rPr lang="zh-CN" altLang="en-US" sz="4000"/>
              <a:t>：</a:t>
            </a:r>
            <a:r>
              <a:rPr lang="zh-CN" altLang="en-US" sz="4000" dirty="0"/>
              <a:t>二分枚举答案</a:t>
            </a:r>
            <a:r>
              <a:rPr lang="en-US" altLang="zh-CN" sz="4000" dirty="0"/>
              <a:t>O(</a:t>
            </a:r>
            <a:r>
              <a:rPr lang="en-US" altLang="zh-CN" sz="4000" dirty="0" err="1"/>
              <a:t>NlogN</a:t>
            </a:r>
            <a:r>
              <a:rPr lang="en-US" altLang="zh-CN" sz="4000" dirty="0"/>
              <a:t>)</a:t>
            </a:r>
            <a:endParaRPr lang="zh-CN" altLang="en-US" sz="4000" dirty="0"/>
          </a:p>
        </p:txBody>
      </p:sp>
      <p:sp>
        <p:nvSpPr>
          <p:cNvPr id="5" name="矩形 4"/>
          <p:cNvSpPr/>
          <p:nvPr/>
        </p:nvSpPr>
        <p:spPr>
          <a:xfrm>
            <a:off x="3513460" y="1839168"/>
            <a:ext cx="5255468" cy="52322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2800" dirty="0"/>
              <a:t>二分枚举投资天数</a:t>
            </a:r>
            <a:r>
              <a:rPr lang="en-US" altLang="zh-CN" sz="2800" dirty="0"/>
              <a:t>k</a:t>
            </a:r>
            <a:endParaRPr lang="zh-CN" altLang="zh-CN" sz="2800" dirty="0"/>
          </a:p>
        </p:txBody>
      </p:sp>
      <p:sp>
        <p:nvSpPr>
          <p:cNvPr id="6" name="矩形 5"/>
          <p:cNvSpPr/>
          <p:nvPr/>
        </p:nvSpPr>
        <p:spPr>
          <a:xfrm>
            <a:off x="5663952" y="4124514"/>
            <a:ext cx="3109912" cy="1384995"/>
          </a:xfrm>
          <a:prstGeom prst="rect">
            <a:avLst/>
          </a:prstGeom>
          <a:solidFill>
            <a:schemeClr val="accent3">
              <a:lumMod val="50000"/>
            </a:schemeClr>
          </a:solidFill>
          <a:ln w="12700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2800" b="1">
                <a:solidFill>
                  <a:srgbClr val="00B0F0"/>
                </a:solidFill>
              </a:rPr>
              <a:t>子问题</a:t>
            </a:r>
            <a:endParaRPr lang="en-US" altLang="zh-CN" sz="2800" b="1" dirty="0">
              <a:solidFill>
                <a:srgbClr val="00B0F0"/>
              </a:solidFill>
            </a:endParaRPr>
          </a:p>
          <a:p>
            <a:pPr algn="ctr"/>
            <a:r>
              <a:rPr lang="zh-CN" altLang="en-US" sz="2800" dirty="0">
                <a:solidFill>
                  <a:schemeClr val="bg1"/>
                </a:solidFill>
              </a:rPr>
              <a:t>最多</a:t>
            </a:r>
            <a:r>
              <a:rPr lang="en-US" altLang="zh-CN" sz="2800" dirty="0">
                <a:solidFill>
                  <a:schemeClr val="bg1"/>
                </a:solidFill>
              </a:rPr>
              <a:t>k</a:t>
            </a:r>
            <a:r>
              <a:rPr lang="zh-CN" altLang="en-US" sz="2800" dirty="0">
                <a:solidFill>
                  <a:schemeClr val="bg1"/>
                </a:solidFill>
              </a:rPr>
              <a:t>天连续投资</a:t>
            </a:r>
            <a:endParaRPr lang="en-US" altLang="zh-CN" sz="2800" dirty="0">
              <a:solidFill>
                <a:schemeClr val="bg1"/>
              </a:solidFill>
            </a:endParaRPr>
          </a:p>
          <a:p>
            <a:pPr algn="ctr"/>
            <a:r>
              <a:rPr lang="zh-CN" altLang="en-US" sz="2800" dirty="0">
                <a:solidFill>
                  <a:schemeClr val="bg1"/>
                </a:solidFill>
              </a:rPr>
              <a:t>求最大盈利</a:t>
            </a:r>
            <a:endParaRPr lang="zh-CN" altLang="zh-CN" sz="2800" dirty="0">
              <a:solidFill>
                <a:schemeClr val="bg1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3513460" y="2955245"/>
            <a:ext cx="5255468" cy="52322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2800" dirty="0"/>
              <a:t>判断连续</a:t>
            </a:r>
            <a:r>
              <a:rPr lang="en-US" altLang="zh-CN" sz="2800" dirty="0"/>
              <a:t>k</a:t>
            </a:r>
            <a:r>
              <a:rPr lang="zh-CN" altLang="en-US" sz="2800" dirty="0"/>
              <a:t>天内能否赚</a:t>
            </a:r>
            <a:r>
              <a:rPr lang="en-US" altLang="zh-CN" sz="2800" dirty="0"/>
              <a:t>m</a:t>
            </a:r>
            <a:r>
              <a:rPr lang="zh-CN" altLang="en-US" sz="2800" dirty="0"/>
              <a:t>元</a:t>
            </a:r>
            <a:endParaRPr lang="zh-CN" altLang="zh-CN" sz="2800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C86DF64F-9B6A-B1C3-3682-6F2BDB1DF0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52</a:t>
            </a:fld>
            <a:endParaRPr lang="zh-CN" altLang="en-US"/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3B3F17E6-8FB3-E113-F5C3-C3A46628A8B4}"/>
              </a:ext>
            </a:extLst>
          </p:cNvPr>
          <p:cNvSpPr txBox="1">
            <a:spLocks/>
          </p:cNvSpPr>
          <p:nvPr/>
        </p:nvSpPr>
        <p:spPr>
          <a:xfrm>
            <a:off x="1672073" y="5414313"/>
            <a:ext cx="8938243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/>
              <a:t>连续子段最大和：</a:t>
            </a:r>
            <a:r>
              <a:rPr lang="en-US" altLang="zh-CN"/>
              <a:t> </a:t>
            </a:r>
            <a:r>
              <a:rPr lang="zh-CN" altLang="en-US"/>
              <a:t>长度不超过</a:t>
            </a:r>
            <a:r>
              <a:rPr lang="en-US" altLang="zh-CN"/>
              <a:t>k</a:t>
            </a:r>
            <a:endParaRPr lang="zh-CN" altLang="zh-CN" dirty="0"/>
          </a:p>
        </p:txBody>
      </p:sp>
    </p:spTree>
    <p:extLst>
      <p:ext uri="{BB962C8B-B14F-4D97-AF65-F5344CB8AC3E}">
        <p14:creationId xmlns:p14="http://schemas.microsoft.com/office/powerpoint/2010/main" val="352228311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3583428" y="5215612"/>
                <a:ext cx="5680925" cy="52322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800" b="1" i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/>
                        </a:rPr>
                        <m:t>𝒙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800" b="1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1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𝒊</m:t>
                          </m:r>
                        </m:e>
                      </m:d>
                      <m:r>
                        <a:rPr lang="en-US" altLang="zh-CN" sz="2800" b="1" i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/>
                        </a:rPr>
                        <m:t>+</m:t>
                      </m:r>
                      <m:r>
                        <a:rPr lang="en-US" altLang="zh-CN" sz="2800" b="1" i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/>
                        </a:rPr>
                        <m:t>𝒙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800" b="1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1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𝒊</m:t>
                          </m:r>
                          <m:r>
                            <a:rPr lang="en-US" altLang="zh-CN" sz="2800" b="1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−</m:t>
                          </m:r>
                          <m:r>
                            <a:rPr lang="en-US" altLang="zh-CN" sz="2800" b="1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𝟏</m:t>
                          </m:r>
                        </m:e>
                      </m:d>
                      <m:r>
                        <a:rPr lang="en-US" altLang="zh-CN" sz="2800" b="1" i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/>
                        </a:rPr>
                        <m:t>+…+</m:t>
                      </m:r>
                      <m:r>
                        <a:rPr lang="en-US" altLang="zh-CN" sz="2800" b="1" i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/>
                        </a:rPr>
                        <m:t>𝒙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800" b="1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1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𝒊</m:t>
                          </m:r>
                          <m:r>
                            <a:rPr lang="en-US" altLang="zh-CN" sz="2800" b="1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−</m:t>
                          </m:r>
                          <m:r>
                            <a:rPr lang="en-US" altLang="zh-CN" sz="2800" b="1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𝒌</m:t>
                          </m:r>
                          <m:r>
                            <a:rPr lang="en-US" altLang="zh-CN" sz="2800" b="1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+</m:t>
                          </m:r>
                          <m:r>
                            <a:rPr lang="en-US" altLang="zh-CN" sz="2800" b="1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𝟏</m:t>
                          </m:r>
                        </m:e>
                      </m:d>
                    </m:oMath>
                  </m:oMathPara>
                </a14:m>
                <a:endParaRPr lang="en-US" altLang="zh-CN" sz="2800" dirty="0">
                  <a:solidFill>
                    <a:schemeClr val="accent2">
                      <a:lumMod val="75000"/>
                    </a:schemeClr>
                  </a:solidFill>
                  <a:latin typeface="黑体" pitchFamily="49" charset="-122"/>
                  <a:ea typeface="黑体" pitchFamily="49" charset="-122"/>
                </a:endParaRPr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3428" y="5215612"/>
                <a:ext cx="5680925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8907021" y="5041400"/>
                <a:ext cx="221022" cy="76944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CN" sz="4400" b="1" i="1">
                          <a:latin typeface="Cambria Math"/>
                        </a:rPr>
                        <m:t>}</m:t>
                      </m:r>
                    </m:oMath>
                  </m:oMathPara>
                </a14:m>
                <a:endParaRPr lang="en-US" altLang="zh-CN" sz="4400" dirty="0">
                  <a:latin typeface="黑体" pitchFamily="49" charset="-122"/>
                  <a:ea typeface="黑体" pitchFamily="49" charset="-122"/>
                </a:endParaRPr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07021" y="5041400"/>
                <a:ext cx="221022" cy="769441"/>
              </a:xfrm>
              <a:prstGeom prst="rect">
                <a:avLst/>
              </a:prstGeom>
              <a:blipFill>
                <a:blip r:embed="rId3"/>
                <a:stretch>
                  <a:fillRect r="-3055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TextBox 27"/>
          <p:cNvSpPr txBox="1"/>
          <p:nvPr/>
        </p:nvSpPr>
        <p:spPr>
          <a:xfrm>
            <a:off x="9285660" y="5277168"/>
            <a:ext cx="1346844" cy="461665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>
                <a:latin typeface="黑体" pitchFamily="49" charset="-122"/>
                <a:ea typeface="黑体" pitchFamily="49" charset="-122"/>
              </a:rPr>
              <a:t>长度为</a:t>
            </a:r>
            <a:r>
              <a:rPr lang="en-US" altLang="zh-CN" sz="2400" dirty="0">
                <a:latin typeface="黑体" pitchFamily="49" charset="-122"/>
                <a:ea typeface="黑体" pitchFamily="49" charset="-122"/>
              </a:rPr>
              <a:t>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/>
              <p:cNvSpPr txBox="1"/>
              <p:nvPr/>
            </p:nvSpPr>
            <p:spPr>
              <a:xfrm>
                <a:off x="3580128" y="4653136"/>
                <a:ext cx="5680925" cy="52322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800" i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/>
                          <a:ea typeface="黑体" pitchFamily="49" charset="-122"/>
                        </a:rPr>
                        <m:t>…………</m:t>
                      </m:r>
                      <m:r>
                        <a:rPr lang="en-US" altLang="zh-CN" sz="280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/>
                          <a:ea typeface="黑体" pitchFamily="49" charset="-122"/>
                        </a:rPr>
                        <m:t>……</m:t>
                      </m:r>
                    </m:oMath>
                  </m:oMathPara>
                </a14:m>
                <a:endParaRPr lang="en-US" altLang="zh-CN" sz="2800" dirty="0">
                  <a:solidFill>
                    <a:schemeClr val="accent2">
                      <a:lumMod val="75000"/>
                    </a:schemeClr>
                  </a:solidFill>
                  <a:latin typeface="黑体" pitchFamily="49" charset="-122"/>
                  <a:ea typeface="黑体" pitchFamily="49" charset="-122"/>
                </a:endParaRPr>
              </a:p>
            </p:txBody>
          </p:sp>
        </mc:Choice>
        <mc:Fallback xmlns=""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0128" y="4653136"/>
                <a:ext cx="5680925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3431704" y="2895908"/>
                <a:ext cx="418794" cy="76944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CN" sz="4400" b="1" i="1">
                          <a:latin typeface="Cambria Math"/>
                        </a:rPr>
                        <m:t>{</m:t>
                      </m:r>
                    </m:oMath>
                  </m:oMathPara>
                </a14:m>
                <a:endParaRPr lang="en-US" altLang="zh-CN" sz="4400" dirty="0">
                  <a:latin typeface="黑体" pitchFamily="49" charset="-122"/>
                  <a:ea typeface="黑体" pitchFamily="49" charset="-122"/>
                </a:endParaRPr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31704" y="2895908"/>
                <a:ext cx="418794" cy="769441"/>
              </a:xfrm>
              <a:prstGeom prst="rect">
                <a:avLst/>
              </a:prstGeom>
              <a:blipFill>
                <a:blip r:embed="rId5"/>
                <a:stretch>
                  <a:fillRect l="-289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29757" y="0"/>
            <a:ext cx="8938243" cy="1143000"/>
          </a:xfrm>
        </p:spPr>
        <p:txBody>
          <a:bodyPr/>
          <a:lstStyle/>
          <a:p>
            <a:r>
              <a:rPr lang="zh-CN" altLang="en-US" dirty="0"/>
              <a:t>连续子段最大和：</a:t>
            </a:r>
            <a:r>
              <a:rPr lang="en-US" altLang="zh-CN" dirty="0"/>
              <a:t> </a:t>
            </a:r>
            <a:r>
              <a:rPr lang="zh-CN" altLang="en-US" dirty="0"/>
              <a:t>长度不超过</a:t>
            </a:r>
            <a:r>
              <a:rPr lang="en-US" altLang="zh-CN" dirty="0"/>
              <a:t>k</a:t>
            </a:r>
            <a:endParaRPr lang="zh-CN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1644758" y="1331719"/>
                <a:ext cx="8987747" cy="52322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accent5">
                    <a:lumMod val="5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zh-CN" sz="2800" b="1" i="1">
                        <a:latin typeface="Cambria Math"/>
                      </a:rPr>
                      <m:t>𝒇</m:t>
                    </m:r>
                    <m:r>
                      <a:rPr lang="en-US" altLang="zh-CN" sz="2800" b="1" i="1">
                        <a:latin typeface="Cambria Math"/>
                      </a:rPr>
                      <m:t>[</m:t>
                    </m:r>
                    <m:r>
                      <a:rPr lang="en-US" altLang="zh-CN" sz="2800" b="1" i="1">
                        <a:latin typeface="Cambria Math"/>
                      </a:rPr>
                      <m:t>𝒊</m:t>
                    </m:r>
                    <m:r>
                      <a:rPr lang="en-US" altLang="zh-CN" sz="2800" b="1" i="1">
                        <a:latin typeface="Cambria Math"/>
                      </a:rPr>
                      <m:t>]</m:t>
                    </m:r>
                  </m:oMath>
                </a14:m>
                <a:r>
                  <a:rPr lang="zh-CN" altLang="en-US" sz="2800" dirty="0">
                    <a:latin typeface="黑体" pitchFamily="49" charset="-122"/>
                    <a:ea typeface="黑体" pitchFamily="49" charset="-122"/>
                  </a:rPr>
                  <a:t>代表以</a:t>
                </a:r>
                <a:r>
                  <a:rPr lang="en-US" altLang="zh-CN" sz="2800" dirty="0">
                    <a:latin typeface="黑体" pitchFamily="49" charset="-122"/>
                    <a:ea typeface="黑体" pitchFamily="49" charset="-122"/>
                  </a:rPr>
                  <a:t>i</a:t>
                </a:r>
                <a:r>
                  <a:rPr lang="zh-CN" altLang="en-US" sz="2800" dirty="0">
                    <a:latin typeface="黑体" pitchFamily="49" charset="-122"/>
                    <a:ea typeface="黑体" pitchFamily="49" charset="-122"/>
                  </a:rPr>
                  <a:t>号数结尾的</a:t>
                </a:r>
                <a:r>
                  <a:rPr lang="zh-CN" altLang="en-US" sz="2800" dirty="0">
                    <a:solidFill>
                      <a:srgbClr val="FF0000"/>
                    </a:solidFill>
                    <a:latin typeface="黑体" pitchFamily="49" charset="-122"/>
                    <a:ea typeface="黑体" pitchFamily="49" charset="-122"/>
                  </a:rPr>
                  <a:t>长度不超过</a:t>
                </a:r>
                <a:r>
                  <a:rPr lang="en-US" altLang="zh-CN" sz="2800" dirty="0">
                    <a:solidFill>
                      <a:srgbClr val="FF0000"/>
                    </a:solidFill>
                    <a:latin typeface="黑体" pitchFamily="49" charset="-122"/>
                    <a:ea typeface="黑体" pitchFamily="49" charset="-122"/>
                  </a:rPr>
                  <a:t>k</a:t>
                </a:r>
                <a:r>
                  <a:rPr lang="zh-CN" altLang="en-US" sz="2800" dirty="0">
                    <a:solidFill>
                      <a:srgbClr val="FF0000"/>
                    </a:solidFill>
                    <a:latin typeface="黑体" pitchFamily="49" charset="-122"/>
                    <a:ea typeface="黑体" pitchFamily="49" charset="-122"/>
                  </a:rPr>
                  <a:t>的</a:t>
                </a:r>
                <a:r>
                  <a:rPr lang="zh-CN" altLang="en-US" sz="2800" dirty="0">
                    <a:latin typeface="黑体" pitchFamily="49" charset="-122"/>
                    <a:ea typeface="黑体" pitchFamily="49" charset="-122"/>
                  </a:rPr>
                  <a:t>连续和最大值</a:t>
                </a:r>
                <a:endParaRPr lang="en-US" altLang="zh-CN" sz="2800" dirty="0">
                  <a:latin typeface="黑体" pitchFamily="49" charset="-122"/>
                  <a:ea typeface="黑体" pitchFamily="49" charset="-122"/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44758" y="1331719"/>
                <a:ext cx="8987747" cy="523220"/>
              </a:xfrm>
              <a:prstGeom prst="rect">
                <a:avLst/>
              </a:prstGeom>
              <a:blipFill>
                <a:blip r:embed="rId6"/>
                <a:stretch>
                  <a:fillRect t="-12500" b="-27273"/>
                </a:stretch>
              </a:blipFill>
              <a:ln>
                <a:solidFill>
                  <a:schemeClr val="accent5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1487489" y="3068960"/>
                <a:ext cx="1426907" cy="52322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CN" sz="2800" b="1" i="1">
                          <a:latin typeface="Cambria Math"/>
                        </a:rPr>
                        <m:t>𝒇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8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1" i="1">
                              <a:latin typeface="Cambria Math"/>
                            </a:rPr>
                            <m:t>𝒊</m:t>
                          </m:r>
                        </m:e>
                      </m:d>
                      <m:r>
                        <a:rPr lang="en-US" altLang="zh-CN" sz="2800" b="1" i="1">
                          <a:latin typeface="Cambria Math"/>
                        </a:rPr>
                        <m:t>=</m:t>
                      </m:r>
                    </m:oMath>
                  </m:oMathPara>
                </a14:m>
                <a:endParaRPr lang="en-US" altLang="zh-CN" sz="2800" dirty="0">
                  <a:latin typeface="黑体" pitchFamily="49" charset="-122"/>
                  <a:ea typeface="黑体" pitchFamily="49" charset="-122"/>
                </a:endParaRPr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7489" y="3068960"/>
                <a:ext cx="1426907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2770380" y="3049796"/>
                <a:ext cx="589317" cy="52322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CN" sz="2800" b="1" i="1">
                          <a:latin typeface="Cambria Math"/>
                        </a:rPr>
                        <m:t>𝒎𝒂𝒙</m:t>
                      </m:r>
                    </m:oMath>
                  </m:oMathPara>
                </a14:m>
                <a:endParaRPr lang="en-US" altLang="zh-CN" sz="2800" dirty="0">
                  <a:latin typeface="黑体" pitchFamily="49" charset="-122"/>
                  <a:ea typeface="黑体" pitchFamily="49" charset="-122"/>
                </a:endParaRP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0380" y="3049796"/>
                <a:ext cx="589317" cy="523220"/>
              </a:xfrm>
              <a:prstGeom prst="rect">
                <a:avLst/>
              </a:prstGeom>
              <a:blipFill>
                <a:blip r:embed="rId8"/>
                <a:stretch>
                  <a:fillRect l="-2886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3583428" y="3049796"/>
                <a:ext cx="5680925" cy="52322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800" b="1" i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/>
                        </a:rPr>
                        <m:t>𝒙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800" b="1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1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𝒊</m:t>
                          </m:r>
                        </m:e>
                      </m:d>
                      <m:r>
                        <a:rPr lang="en-US" altLang="zh-CN" sz="2800" b="1" i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/>
                        </a:rPr>
                        <m:t>,</m:t>
                      </m:r>
                    </m:oMath>
                  </m:oMathPara>
                </a14:m>
                <a:endParaRPr lang="en-US" altLang="zh-CN" sz="2800" dirty="0">
                  <a:solidFill>
                    <a:schemeClr val="accent2">
                      <a:lumMod val="75000"/>
                    </a:schemeClr>
                  </a:solidFill>
                  <a:latin typeface="黑体" pitchFamily="49" charset="-122"/>
                  <a:ea typeface="黑体" pitchFamily="49" charset="-122"/>
                </a:endParaRPr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3428" y="3049796"/>
                <a:ext cx="5680925" cy="5232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3583428" y="3625860"/>
                <a:ext cx="5680925" cy="52322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800" b="1" i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/>
                        </a:rPr>
                        <m:t>𝒙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800" b="1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1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𝒊</m:t>
                          </m:r>
                        </m:e>
                      </m:d>
                      <m:r>
                        <a:rPr lang="en-US" altLang="zh-CN" sz="2800" b="1" i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/>
                        </a:rPr>
                        <m:t>+</m:t>
                      </m:r>
                      <m:r>
                        <a:rPr lang="en-US" altLang="zh-CN" sz="2800" b="1" i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/>
                        </a:rPr>
                        <m:t>𝒙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800" b="1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1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𝒊</m:t>
                          </m:r>
                          <m:r>
                            <a:rPr lang="en-US" altLang="zh-CN" sz="2800" b="1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−</m:t>
                          </m:r>
                          <m:r>
                            <a:rPr lang="en-US" altLang="zh-CN" sz="2800" b="1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𝟏</m:t>
                          </m:r>
                        </m:e>
                      </m:d>
                      <m:r>
                        <a:rPr lang="en-US" altLang="zh-CN" sz="280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/>
                        </a:rPr>
                        <m:t>,</m:t>
                      </m:r>
                    </m:oMath>
                  </m:oMathPara>
                </a14:m>
                <a:endParaRPr lang="en-US" altLang="zh-CN" sz="2800" dirty="0">
                  <a:solidFill>
                    <a:schemeClr val="accent2">
                      <a:lumMod val="75000"/>
                    </a:schemeClr>
                  </a:solidFill>
                  <a:latin typeface="黑体" pitchFamily="49" charset="-122"/>
                  <a:ea typeface="黑体" pitchFamily="49" charset="-122"/>
                </a:endParaRPr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3428" y="3625860"/>
                <a:ext cx="5680925" cy="52322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3583428" y="4201924"/>
                <a:ext cx="5680925" cy="52322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800" b="1" i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/>
                        </a:rPr>
                        <m:t>𝒙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800" b="1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1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𝒊</m:t>
                          </m:r>
                        </m:e>
                      </m:d>
                      <m:r>
                        <a:rPr lang="en-US" altLang="zh-CN" sz="2800" b="1" i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/>
                        </a:rPr>
                        <m:t>+</m:t>
                      </m:r>
                      <m:r>
                        <a:rPr lang="en-US" altLang="zh-CN" sz="2800" b="1" i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/>
                        </a:rPr>
                        <m:t>𝒙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800" b="1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1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𝒊</m:t>
                          </m:r>
                          <m:r>
                            <a:rPr lang="en-US" altLang="zh-CN" sz="2800" b="1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−</m:t>
                          </m:r>
                          <m:r>
                            <a:rPr lang="en-US" altLang="zh-CN" sz="2800" b="1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𝟏</m:t>
                          </m:r>
                        </m:e>
                      </m:d>
                      <m:r>
                        <a:rPr lang="en-US" altLang="zh-CN" sz="2800" b="1" i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/>
                        </a:rPr>
                        <m:t>+</m:t>
                      </m:r>
                      <m:r>
                        <a:rPr lang="en-US" altLang="zh-CN" sz="2800" b="1" i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/>
                        </a:rPr>
                        <m:t>𝒙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800" b="1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1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𝒊</m:t>
                          </m:r>
                          <m:r>
                            <a:rPr lang="en-US" altLang="zh-CN" sz="2800" b="1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−</m:t>
                          </m:r>
                          <m:r>
                            <a:rPr lang="en-US" altLang="zh-CN" sz="2800" b="1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𝟐</m:t>
                          </m:r>
                        </m:e>
                      </m:d>
                      <m:r>
                        <a:rPr lang="en-US" altLang="zh-CN" sz="2800" b="1" i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/>
                        </a:rPr>
                        <m:t>,</m:t>
                      </m:r>
                    </m:oMath>
                  </m:oMathPara>
                </a14:m>
                <a:endParaRPr lang="en-US" altLang="zh-CN" sz="2800" dirty="0">
                  <a:solidFill>
                    <a:schemeClr val="accent2">
                      <a:lumMod val="75000"/>
                    </a:schemeClr>
                  </a:solidFill>
                  <a:latin typeface="黑体" pitchFamily="49" charset="-122"/>
                  <a:ea typeface="黑体" pitchFamily="49" charset="-122"/>
                </a:endParaRPr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3428" y="4201924"/>
                <a:ext cx="5680925" cy="52322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/>
          <p:cNvSpPr txBox="1"/>
          <p:nvPr/>
        </p:nvSpPr>
        <p:spPr>
          <a:xfrm>
            <a:off x="9285660" y="3130516"/>
            <a:ext cx="1346844" cy="461665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>
                <a:latin typeface="黑体" pitchFamily="49" charset="-122"/>
                <a:ea typeface="黑体" pitchFamily="49" charset="-122"/>
              </a:rPr>
              <a:t>长度为</a:t>
            </a:r>
            <a:r>
              <a:rPr lang="en-US" altLang="zh-CN" sz="2400" dirty="0">
                <a:latin typeface="黑体" pitchFamily="49" charset="-122"/>
                <a:ea typeface="黑体" pitchFamily="49" charset="-122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2104" y="2268022"/>
            <a:ext cx="3640400" cy="461665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>
                <a:latin typeface="黑体" pitchFamily="49" charset="-122"/>
                <a:ea typeface="黑体" pitchFamily="49" charset="-122"/>
              </a:rPr>
              <a:t>计算</a:t>
            </a:r>
            <a:r>
              <a:rPr lang="en-US" altLang="zh-CN" sz="2400" dirty="0">
                <a:latin typeface="黑体" pitchFamily="49" charset="-122"/>
                <a:ea typeface="黑体" pitchFamily="49" charset="-122"/>
              </a:rPr>
              <a:t>f[i]</a:t>
            </a:r>
            <a:r>
              <a:rPr lang="zh-CN" altLang="en-US" sz="2400" dirty="0">
                <a:latin typeface="黑体" pitchFamily="49" charset="-122"/>
                <a:ea typeface="黑体" pitchFamily="49" charset="-122"/>
              </a:rPr>
              <a:t>时考虑</a:t>
            </a:r>
            <a:r>
              <a:rPr lang="en-US" altLang="zh-CN" sz="2400" dirty="0">
                <a:latin typeface="黑体" pitchFamily="49" charset="-122"/>
                <a:ea typeface="黑体" pitchFamily="49" charset="-122"/>
              </a:rPr>
              <a:t>k</a:t>
            </a:r>
            <a:r>
              <a:rPr lang="zh-CN" altLang="en-US" sz="2400" dirty="0">
                <a:latin typeface="黑体" pitchFamily="49" charset="-122"/>
                <a:ea typeface="黑体" pitchFamily="49" charset="-122"/>
              </a:rPr>
              <a:t>种可能</a:t>
            </a:r>
            <a:endParaRPr lang="en-US" altLang="zh-CN" sz="2400" dirty="0"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9285660" y="3706580"/>
            <a:ext cx="1346844" cy="461665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>
                <a:latin typeface="黑体" pitchFamily="49" charset="-122"/>
                <a:ea typeface="黑体" pitchFamily="49" charset="-122"/>
              </a:rPr>
              <a:t>长度为</a:t>
            </a:r>
            <a:r>
              <a:rPr lang="en-US" altLang="zh-CN" sz="2400" dirty="0">
                <a:latin typeface="黑体" pitchFamily="49" charset="-122"/>
                <a:ea typeface="黑体" pitchFamily="49" charset="-122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85660" y="4263480"/>
            <a:ext cx="1346844" cy="461665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>
                <a:latin typeface="黑体" pitchFamily="49" charset="-122"/>
                <a:ea typeface="黑体" pitchFamily="49" charset="-122"/>
              </a:rPr>
              <a:t>长度为</a:t>
            </a:r>
            <a:r>
              <a:rPr lang="en-US" altLang="zh-CN" sz="2400" dirty="0">
                <a:latin typeface="黑体" pitchFamily="49" charset="-122"/>
                <a:ea typeface="黑体" pitchFamily="49" charset="-122"/>
              </a:rPr>
              <a:t>3</a:t>
            </a:r>
          </a:p>
        </p:txBody>
      </p:sp>
      <p:cxnSp>
        <p:nvCxnSpPr>
          <p:cNvPr id="30" name="直接箭头连接符 29"/>
          <p:cNvCxnSpPr/>
          <p:nvPr/>
        </p:nvCxnSpPr>
        <p:spPr>
          <a:xfrm flipH="1" flipV="1">
            <a:off x="8112224" y="5725653"/>
            <a:ext cx="276106" cy="682450"/>
          </a:xfrm>
          <a:prstGeom prst="straightConnector1">
            <a:avLst/>
          </a:prstGeom>
          <a:ln w="28575">
            <a:solidFill>
              <a:schemeClr val="accent6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矩形 30"/>
          <p:cNvSpPr/>
          <p:nvPr/>
        </p:nvSpPr>
        <p:spPr>
          <a:xfrm>
            <a:off x="8388330" y="6074207"/>
            <a:ext cx="2244174" cy="40011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/>
              <a:t>注意越界</a:t>
            </a:r>
            <a:endParaRPr lang="en-US" altLang="zh-CN" sz="2000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02F4F5DE-2D8D-684D-0A08-0A380C6767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53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42845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8" grpId="0" animBg="1"/>
      <p:bldP spid="29" grpId="0" animBg="1"/>
      <p:bldP spid="25" grpId="0" animBg="1"/>
      <p:bldP spid="14" grpId="0" animBg="1"/>
      <p:bldP spid="15" grpId="0" animBg="1"/>
      <p:bldP spid="19" grpId="0" animBg="1"/>
      <p:bldP spid="20" grpId="0" animBg="1"/>
      <p:bldP spid="21" grpId="0" animBg="1"/>
      <p:bldP spid="9" grpId="0" animBg="1"/>
      <p:bldP spid="26" grpId="0" animBg="1"/>
      <p:bldP spid="27" grpId="0" animBg="1"/>
      <p:bldP spid="31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3583428" y="5215612"/>
                <a:ext cx="5680925" cy="52322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800" b="1" i="1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/>
                        </a:rPr>
                        <m:t>𝒔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800" b="1" i="1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1" i="1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𝒊</m:t>
                          </m:r>
                        </m:e>
                      </m:d>
                      <m:r>
                        <a:rPr lang="en-US" altLang="zh-CN" sz="2800" b="1" i="1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/>
                        </a:rPr>
                        <m:t>−</m:t>
                      </m:r>
                      <m:r>
                        <a:rPr lang="en-US" altLang="zh-CN" sz="2800" b="1" i="1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/>
                        </a:rPr>
                        <m:t>𝒔</m:t>
                      </m:r>
                      <m:r>
                        <a:rPr lang="en-US" altLang="zh-CN" sz="2800" b="1" i="1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/>
                        </a:rPr>
                        <m:t>[</m:t>
                      </m:r>
                      <m:r>
                        <a:rPr lang="en-US" altLang="zh-CN" sz="2800" b="1" i="1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/>
                        </a:rPr>
                        <m:t>𝒊</m:t>
                      </m:r>
                      <m:r>
                        <a:rPr lang="en-US" altLang="zh-CN" sz="2800" b="1" i="1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/>
                        </a:rPr>
                        <m:t>−</m:t>
                      </m:r>
                      <m:r>
                        <a:rPr lang="en-US" altLang="zh-CN" sz="2800" b="1" i="1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/>
                        </a:rPr>
                        <m:t>𝒌</m:t>
                      </m:r>
                      <m:r>
                        <a:rPr lang="en-US" altLang="zh-CN" sz="2800" b="1" i="1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/>
                        </a:rPr>
                        <m:t>]</m:t>
                      </m:r>
                    </m:oMath>
                  </m:oMathPara>
                </a14:m>
                <a:endParaRPr lang="en-US" altLang="zh-CN" sz="2800" dirty="0">
                  <a:solidFill>
                    <a:schemeClr val="accent4">
                      <a:lumMod val="75000"/>
                    </a:schemeClr>
                  </a:solidFill>
                  <a:latin typeface="黑体" pitchFamily="49" charset="-122"/>
                  <a:ea typeface="黑体" pitchFamily="49" charset="-122"/>
                </a:endParaRPr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3428" y="5215612"/>
                <a:ext cx="5680925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5951984" y="5085185"/>
                <a:ext cx="221022" cy="76944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CN" sz="4400" b="1" i="1">
                          <a:latin typeface="Cambria Math"/>
                        </a:rPr>
                        <m:t>}</m:t>
                      </m:r>
                    </m:oMath>
                  </m:oMathPara>
                </a14:m>
                <a:endParaRPr lang="en-US" altLang="zh-CN" sz="4400" dirty="0">
                  <a:latin typeface="黑体" pitchFamily="49" charset="-122"/>
                  <a:ea typeface="黑体" pitchFamily="49" charset="-122"/>
                </a:endParaRPr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1984" y="5085185"/>
                <a:ext cx="221022" cy="769441"/>
              </a:xfrm>
              <a:prstGeom prst="rect">
                <a:avLst/>
              </a:prstGeom>
              <a:blipFill>
                <a:blip r:embed="rId3"/>
                <a:stretch>
                  <a:fillRect r="-2702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TextBox 27"/>
          <p:cNvSpPr txBox="1"/>
          <p:nvPr/>
        </p:nvSpPr>
        <p:spPr>
          <a:xfrm>
            <a:off x="9285660" y="5277168"/>
            <a:ext cx="1346844" cy="461665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>
                <a:latin typeface="黑体" pitchFamily="49" charset="-122"/>
                <a:ea typeface="黑体" pitchFamily="49" charset="-122"/>
              </a:rPr>
              <a:t>长度为</a:t>
            </a:r>
            <a:r>
              <a:rPr lang="en-US" altLang="zh-CN" sz="2400" dirty="0">
                <a:latin typeface="黑体" pitchFamily="49" charset="-122"/>
                <a:ea typeface="黑体" pitchFamily="49" charset="-122"/>
              </a:rPr>
              <a:t>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/>
              <p:cNvSpPr txBox="1"/>
              <p:nvPr/>
            </p:nvSpPr>
            <p:spPr>
              <a:xfrm>
                <a:off x="3580128" y="4653136"/>
                <a:ext cx="5680925" cy="52322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800" i="1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/>
                          <a:ea typeface="黑体" pitchFamily="49" charset="-122"/>
                        </a:rPr>
                        <m:t>…………</m:t>
                      </m:r>
                      <m:r>
                        <a:rPr lang="en-US" altLang="zh-CN" sz="280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/>
                          <a:ea typeface="黑体" pitchFamily="49" charset="-122"/>
                        </a:rPr>
                        <m:t>……</m:t>
                      </m:r>
                    </m:oMath>
                  </m:oMathPara>
                </a14:m>
                <a:endParaRPr lang="en-US" altLang="zh-CN" sz="2800" dirty="0">
                  <a:solidFill>
                    <a:schemeClr val="accent4">
                      <a:lumMod val="75000"/>
                    </a:schemeClr>
                  </a:solidFill>
                  <a:latin typeface="黑体" pitchFamily="49" charset="-122"/>
                  <a:ea typeface="黑体" pitchFamily="49" charset="-122"/>
                </a:endParaRPr>
              </a:p>
            </p:txBody>
          </p:sp>
        </mc:Choice>
        <mc:Fallback xmlns=""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0128" y="4653136"/>
                <a:ext cx="5680925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3431704" y="2895908"/>
                <a:ext cx="418794" cy="76944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CN" sz="4400" b="1" i="1">
                          <a:latin typeface="Cambria Math"/>
                        </a:rPr>
                        <m:t>{</m:t>
                      </m:r>
                    </m:oMath>
                  </m:oMathPara>
                </a14:m>
                <a:endParaRPr lang="en-US" altLang="zh-CN" sz="4400" dirty="0">
                  <a:latin typeface="黑体" pitchFamily="49" charset="-122"/>
                  <a:ea typeface="黑体" pitchFamily="49" charset="-122"/>
                </a:endParaRPr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31704" y="2895908"/>
                <a:ext cx="418794" cy="769441"/>
              </a:xfrm>
              <a:prstGeom prst="rect">
                <a:avLst/>
              </a:prstGeom>
              <a:blipFill>
                <a:blip r:embed="rId5"/>
                <a:stretch>
                  <a:fillRect l="-289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29757" y="0"/>
            <a:ext cx="8938243" cy="1143000"/>
          </a:xfrm>
        </p:spPr>
        <p:txBody>
          <a:bodyPr/>
          <a:lstStyle/>
          <a:p>
            <a:r>
              <a:rPr lang="zh-CN" altLang="en-US" dirty="0"/>
              <a:t>连续子段最大和：</a:t>
            </a:r>
            <a:r>
              <a:rPr lang="en-US" altLang="zh-CN" dirty="0"/>
              <a:t> </a:t>
            </a:r>
            <a:r>
              <a:rPr lang="zh-CN" altLang="en-US" dirty="0"/>
              <a:t>长度不超过</a:t>
            </a:r>
            <a:r>
              <a:rPr lang="en-US" altLang="zh-CN" dirty="0"/>
              <a:t>k</a:t>
            </a:r>
            <a:endParaRPr lang="zh-CN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1644758" y="1331719"/>
                <a:ext cx="8976783" cy="52322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accent5">
                    <a:lumMod val="5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zh-CN" sz="2800" b="1" i="1">
                        <a:latin typeface="Cambria Math"/>
                      </a:rPr>
                      <m:t>𝒇</m:t>
                    </m:r>
                    <m:r>
                      <a:rPr lang="en-US" altLang="zh-CN" sz="2800" b="1" i="1">
                        <a:latin typeface="Cambria Math"/>
                      </a:rPr>
                      <m:t>[</m:t>
                    </m:r>
                    <m:r>
                      <a:rPr lang="en-US" altLang="zh-CN" sz="2800" b="1" i="1">
                        <a:latin typeface="Cambria Math"/>
                      </a:rPr>
                      <m:t>𝒊</m:t>
                    </m:r>
                    <m:r>
                      <a:rPr lang="en-US" altLang="zh-CN" sz="2800" b="1" i="1">
                        <a:latin typeface="Cambria Math"/>
                      </a:rPr>
                      <m:t>]</m:t>
                    </m:r>
                  </m:oMath>
                </a14:m>
                <a:r>
                  <a:rPr lang="zh-CN" altLang="en-US" sz="2800" dirty="0">
                    <a:latin typeface="黑体" pitchFamily="49" charset="-122"/>
                    <a:ea typeface="黑体" pitchFamily="49" charset="-122"/>
                  </a:rPr>
                  <a:t>代表以</a:t>
                </a:r>
                <a:r>
                  <a:rPr lang="en-US" altLang="zh-CN" sz="2800" dirty="0">
                    <a:latin typeface="黑体" pitchFamily="49" charset="-122"/>
                    <a:ea typeface="黑体" pitchFamily="49" charset="-122"/>
                  </a:rPr>
                  <a:t>i</a:t>
                </a:r>
                <a:r>
                  <a:rPr lang="zh-CN" altLang="en-US" sz="2800" dirty="0">
                    <a:latin typeface="黑体" pitchFamily="49" charset="-122"/>
                    <a:ea typeface="黑体" pitchFamily="49" charset="-122"/>
                  </a:rPr>
                  <a:t>号数结尾的</a:t>
                </a:r>
                <a:r>
                  <a:rPr lang="zh-CN" altLang="en-US" sz="2800" dirty="0">
                    <a:solidFill>
                      <a:srgbClr val="FF0000"/>
                    </a:solidFill>
                    <a:latin typeface="黑体" pitchFamily="49" charset="-122"/>
                    <a:ea typeface="黑体" pitchFamily="49" charset="-122"/>
                  </a:rPr>
                  <a:t>长度不超过</a:t>
                </a:r>
                <a:r>
                  <a:rPr lang="en-US" altLang="zh-CN" sz="2800" dirty="0">
                    <a:solidFill>
                      <a:srgbClr val="FF0000"/>
                    </a:solidFill>
                    <a:latin typeface="黑体" pitchFamily="49" charset="-122"/>
                    <a:ea typeface="黑体" pitchFamily="49" charset="-122"/>
                  </a:rPr>
                  <a:t>k</a:t>
                </a:r>
                <a:r>
                  <a:rPr lang="zh-CN" altLang="en-US" sz="2800" dirty="0">
                    <a:solidFill>
                      <a:srgbClr val="FF0000"/>
                    </a:solidFill>
                    <a:latin typeface="黑体" pitchFamily="49" charset="-122"/>
                    <a:ea typeface="黑体" pitchFamily="49" charset="-122"/>
                  </a:rPr>
                  <a:t>的</a:t>
                </a:r>
                <a:r>
                  <a:rPr lang="zh-CN" altLang="en-US" sz="2800" dirty="0">
                    <a:latin typeface="黑体" pitchFamily="49" charset="-122"/>
                    <a:ea typeface="黑体" pitchFamily="49" charset="-122"/>
                  </a:rPr>
                  <a:t>连续和最大值</a:t>
                </a:r>
                <a:endParaRPr lang="en-US" altLang="zh-CN" sz="2800" dirty="0">
                  <a:latin typeface="黑体" pitchFamily="49" charset="-122"/>
                  <a:ea typeface="黑体" pitchFamily="49" charset="-122"/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44758" y="1331719"/>
                <a:ext cx="8976783" cy="523220"/>
              </a:xfrm>
              <a:prstGeom prst="rect">
                <a:avLst/>
              </a:prstGeom>
              <a:blipFill>
                <a:blip r:embed="rId6"/>
                <a:stretch>
                  <a:fillRect t="-12500" b="-27273"/>
                </a:stretch>
              </a:blipFill>
              <a:ln>
                <a:solidFill>
                  <a:schemeClr val="accent5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1487489" y="3068960"/>
                <a:ext cx="1426907" cy="52322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CN" sz="2800" b="1" i="1">
                          <a:latin typeface="Cambria Math"/>
                        </a:rPr>
                        <m:t>𝒇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8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1" i="1">
                              <a:latin typeface="Cambria Math"/>
                            </a:rPr>
                            <m:t>𝒊</m:t>
                          </m:r>
                        </m:e>
                      </m:d>
                      <m:r>
                        <a:rPr lang="en-US" altLang="zh-CN" sz="2800" b="1" i="1">
                          <a:latin typeface="Cambria Math"/>
                        </a:rPr>
                        <m:t>=</m:t>
                      </m:r>
                    </m:oMath>
                  </m:oMathPara>
                </a14:m>
                <a:endParaRPr lang="en-US" altLang="zh-CN" sz="2800" dirty="0">
                  <a:latin typeface="黑体" pitchFamily="49" charset="-122"/>
                  <a:ea typeface="黑体" pitchFamily="49" charset="-122"/>
                </a:endParaRPr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7489" y="3068960"/>
                <a:ext cx="1426907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2770380" y="3049796"/>
                <a:ext cx="589317" cy="52322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CN" sz="2800" b="1" i="1">
                          <a:latin typeface="Cambria Math"/>
                        </a:rPr>
                        <m:t>𝒎𝒂𝒙</m:t>
                      </m:r>
                    </m:oMath>
                  </m:oMathPara>
                </a14:m>
                <a:endParaRPr lang="en-US" altLang="zh-CN" sz="2800" dirty="0">
                  <a:latin typeface="黑体" pitchFamily="49" charset="-122"/>
                  <a:ea typeface="黑体" pitchFamily="49" charset="-122"/>
                </a:endParaRP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0380" y="3049796"/>
                <a:ext cx="589317" cy="523220"/>
              </a:xfrm>
              <a:prstGeom prst="rect">
                <a:avLst/>
              </a:prstGeom>
              <a:blipFill>
                <a:blip r:embed="rId8"/>
                <a:stretch>
                  <a:fillRect l="-2886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3583428" y="3049796"/>
                <a:ext cx="5680925" cy="52322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800" b="1" i="1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/>
                        </a:rPr>
                        <m:t>𝒔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800" b="1" i="1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1" i="1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𝒊</m:t>
                          </m:r>
                        </m:e>
                      </m:d>
                      <m:r>
                        <a:rPr lang="en-US" altLang="zh-CN" sz="2800" b="1" i="1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/>
                        </a:rPr>
                        <m:t>−</m:t>
                      </m:r>
                      <m:r>
                        <a:rPr lang="en-US" altLang="zh-CN" sz="2800" b="1" i="1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/>
                        </a:rPr>
                        <m:t>𝒔</m:t>
                      </m:r>
                      <m:r>
                        <a:rPr lang="en-US" altLang="zh-CN" sz="2800" b="1" i="1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/>
                        </a:rPr>
                        <m:t>[</m:t>
                      </m:r>
                      <m:r>
                        <a:rPr lang="en-US" altLang="zh-CN" sz="2800" b="1" i="1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/>
                        </a:rPr>
                        <m:t>𝒊</m:t>
                      </m:r>
                      <m:r>
                        <a:rPr lang="en-US" altLang="zh-CN" sz="2800" b="1" i="1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/>
                        </a:rPr>
                        <m:t>−</m:t>
                      </m:r>
                      <m:r>
                        <a:rPr lang="en-US" altLang="zh-CN" sz="2800" b="1" i="1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/>
                        </a:rPr>
                        <m:t>𝟏</m:t>
                      </m:r>
                      <m:r>
                        <a:rPr lang="en-US" altLang="zh-CN" sz="2800" b="1" i="1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/>
                        </a:rPr>
                        <m:t>],</m:t>
                      </m:r>
                    </m:oMath>
                  </m:oMathPara>
                </a14:m>
                <a:endParaRPr lang="en-US" altLang="zh-CN" sz="2800" dirty="0">
                  <a:solidFill>
                    <a:schemeClr val="accent4">
                      <a:lumMod val="75000"/>
                    </a:schemeClr>
                  </a:solidFill>
                  <a:latin typeface="黑体" pitchFamily="49" charset="-122"/>
                  <a:ea typeface="黑体" pitchFamily="49" charset="-122"/>
                </a:endParaRPr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3428" y="3049796"/>
                <a:ext cx="5680925" cy="5232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3583428" y="3625860"/>
                <a:ext cx="5680925" cy="52322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800" b="1" i="1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/>
                        </a:rPr>
                        <m:t>𝒔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800" b="1" i="1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1" i="1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𝒊</m:t>
                          </m:r>
                        </m:e>
                      </m:d>
                      <m:r>
                        <a:rPr lang="en-US" altLang="zh-CN" sz="2800" b="1" i="1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/>
                        </a:rPr>
                        <m:t>−</m:t>
                      </m:r>
                      <m:r>
                        <a:rPr lang="en-US" altLang="zh-CN" sz="2800" b="1" i="1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/>
                        </a:rPr>
                        <m:t>𝒔</m:t>
                      </m:r>
                      <m:r>
                        <a:rPr lang="en-US" altLang="zh-CN" sz="2800" b="1" i="1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/>
                        </a:rPr>
                        <m:t>[</m:t>
                      </m:r>
                      <m:r>
                        <a:rPr lang="en-US" altLang="zh-CN" sz="2800" b="1" i="1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/>
                        </a:rPr>
                        <m:t>𝒊</m:t>
                      </m:r>
                      <m:r>
                        <a:rPr lang="en-US" altLang="zh-CN" sz="2800" b="1" i="1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/>
                        </a:rPr>
                        <m:t>−</m:t>
                      </m:r>
                      <m:r>
                        <a:rPr lang="en-US" altLang="zh-CN" sz="2800" b="1" i="1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/>
                        </a:rPr>
                        <m:t>𝟐</m:t>
                      </m:r>
                      <m:r>
                        <a:rPr lang="en-US" altLang="zh-CN" sz="2800" b="1" i="1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/>
                        </a:rPr>
                        <m:t>],</m:t>
                      </m:r>
                    </m:oMath>
                  </m:oMathPara>
                </a14:m>
                <a:endParaRPr lang="en-US" altLang="zh-CN" sz="2800" dirty="0">
                  <a:solidFill>
                    <a:schemeClr val="accent4">
                      <a:lumMod val="75000"/>
                    </a:schemeClr>
                  </a:solidFill>
                  <a:latin typeface="黑体" pitchFamily="49" charset="-122"/>
                  <a:ea typeface="黑体" pitchFamily="49" charset="-122"/>
                </a:endParaRPr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3428" y="3625860"/>
                <a:ext cx="5680925" cy="52322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3583428" y="4201924"/>
                <a:ext cx="5680925" cy="52322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800" b="1" i="1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/>
                        </a:rPr>
                        <m:t>𝒔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800" b="1" i="1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1" i="1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𝒊</m:t>
                          </m:r>
                        </m:e>
                      </m:d>
                      <m:r>
                        <a:rPr lang="en-US" altLang="zh-CN" sz="2800" b="1" i="1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/>
                        </a:rPr>
                        <m:t>−</m:t>
                      </m:r>
                      <m:r>
                        <a:rPr lang="en-US" altLang="zh-CN" sz="2800" b="1" i="1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/>
                        </a:rPr>
                        <m:t>𝒔</m:t>
                      </m:r>
                      <m:r>
                        <a:rPr lang="en-US" altLang="zh-CN" sz="2800" b="1" i="1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/>
                        </a:rPr>
                        <m:t>[</m:t>
                      </m:r>
                      <m:r>
                        <a:rPr lang="en-US" altLang="zh-CN" sz="2800" b="1" i="1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/>
                        </a:rPr>
                        <m:t>𝒊</m:t>
                      </m:r>
                      <m:r>
                        <a:rPr lang="en-US" altLang="zh-CN" sz="2800" b="1" i="1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/>
                        </a:rPr>
                        <m:t>−</m:t>
                      </m:r>
                      <m:r>
                        <a:rPr lang="en-US" altLang="zh-CN" sz="2800" b="1" i="1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/>
                        </a:rPr>
                        <m:t>𝟑</m:t>
                      </m:r>
                      <m:r>
                        <a:rPr lang="en-US" altLang="zh-CN" sz="2800" b="1" i="1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/>
                        </a:rPr>
                        <m:t>],</m:t>
                      </m:r>
                    </m:oMath>
                  </m:oMathPara>
                </a14:m>
                <a:endParaRPr lang="en-US" altLang="zh-CN" sz="2800" dirty="0">
                  <a:solidFill>
                    <a:schemeClr val="accent4">
                      <a:lumMod val="75000"/>
                    </a:schemeClr>
                  </a:solidFill>
                  <a:latin typeface="黑体" pitchFamily="49" charset="-122"/>
                  <a:ea typeface="黑体" pitchFamily="49" charset="-122"/>
                </a:endParaRPr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3428" y="4201924"/>
                <a:ext cx="5680925" cy="52322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/>
          <p:cNvSpPr txBox="1"/>
          <p:nvPr/>
        </p:nvSpPr>
        <p:spPr>
          <a:xfrm>
            <a:off x="9285660" y="3130516"/>
            <a:ext cx="1346844" cy="461665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>
                <a:latin typeface="黑体" pitchFamily="49" charset="-122"/>
                <a:ea typeface="黑体" pitchFamily="49" charset="-122"/>
              </a:rPr>
              <a:t>长度为</a:t>
            </a:r>
            <a:r>
              <a:rPr lang="en-US" altLang="zh-CN" sz="2400" dirty="0">
                <a:latin typeface="黑体" pitchFamily="49" charset="-122"/>
                <a:ea typeface="黑体" pitchFamily="49" charset="-122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2104" y="2268022"/>
            <a:ext cx="3610708" cy="461665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>
                <a:latin typeface="黑体" pitchFamily="49" charset="-122"/>
                <a:ea typeface="黑体" pitchFamily="49" charset="-122"/>
              </a:rPr>
              <a:t>计算</a:t>
            </a:r>
            <a:r>
              <a:rPr lang="en-US" altLang="zh-CN" sz="2400" dirty="0">
                <a:latin typeface="黑体" pitchFamily="49" charset="-122"/>
                <a:ea typeface="黑体" pitchFamily="49" charset="-122"/>
              </a:rPr>
              <a:t>f[i]</a:t>
            </a:r>
            <a:r>
              <a:rPr lang="zh-CN" altLang="en-US" sz="2400" dirty="0">
                <a:latin typeface="黑体" pitchFamily="49" charset="-122"/>
                <a:ea typeface="黑体" pitchFamily="49" charset="-122"/>
              </a:rPr>
              <a:t>时考虑</a:t>
            </a:r>
            <a:r>
              <a:rPr lang="en-US" altLang="zh-CN" sz="2400" dirty="0">
                <a:latin typeface="黑体" pitchFamily="49" charset="-122"/>
                <a:ea typeface="黑体" pitchFamily="49" charset="-122"/>
              </a:rPr>
              <a:t>k</a:t>
            </a:r>
            <a:r>
              <a:rPr lang="zh-CN" altLang="en-US" sz="2400" dirty="0">
                <a:latin typeface="黑体" pitchFamily="49" charset="-122"/>
                <a:ea typeface="黑体" pitchFamily="49" charset="-122"/>
              </a:rPr>
              <a:t>种可能</a:t>
            </a:r>
            <a:endParaRPr lang="en-US" altLang="zh-CN" sz="2400" dirty="0"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9285660" y="3706580"/>
            <a:ext cx="1346844" cy="461665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>
                <a:latin typeface="黑体" pitchFamily="49" charset="-122"/>
                <a:ea typeface="黑体" pitchFamily="49" charset="-122"/>
              </a:rPr>
              <a:t>长度为</a:t>
            </a:r>
            <a:r>
              <a:rPr lang="en-US" altLang="zh-CN" sz="2400" dirty="0">
                <a:latin typeface="黑体" pitchFamily="49" charset="-122"/>
                <a:ea typeface="黑体" pitchFamily="49" charset="-122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85660" y="4263480"/>
            <a:ext cx="1346844" cy="461665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>
                <a:latin typeface="黑体" pitchFamily="49" charset="-122"/>
                <a:ea typeface="黑体" pitchFamily="49" charset="-122"/>
              </a:rPr>
              <a:t>长度为</a:t>
            </a:r>
            <a:r>
              <a:rPr lang="en-US" altLang="zh-CN" sz="2400" dirty="0">
                <a:latin typeface="黑体" pitchFamily="49" charset="-122"/>
                <a:ea typeface="黑体" pitchFamily="49" charset="-122"/>
              </a:rPr>
              <a:t>3</a:t>
            </a:r>
          </a:p>
        </p:txBody>
      </p:sp>
      <p:cxnSp>
        <p:nvCxnSpPr>
          <p:cNvPr id="30" name="直接箭头连接符 29"/>
          <p:cNvCxnSpPr/>
          <p:nvPr/>
        </p:nvCxnSpPr>
        <p:spPr>
          <a:xfrm flipH="1" flipV="1">
            <a:off x="5387846" y="5710728"/>
            <a:ext cx="276106" cy="682450"/>
          </a:xfrm>
          <a:prstGeom prst="straightConnector1">
            <a:avLst/>
          </a:prstGeom>
          <a:ln w="28575">
            <a:solidFill>
              <a:schemeClr val="accent6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矩形 30"/>
          <p:cNvSpPr/>
          <p:nvPr/>
        </p:nvSpPr>
        <p:spPr>
          <a:xfrm>
            <a:off x="5663952" y="6059282"/>
            <a:ext cx="2244174" cy="40011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/>
              <a:t>注意越界</a:t>
            </a:r>
            <a:endParaRPr lang="en-US" altLang="zh-CN" sz="2000" dirty="0"/>
          </a:p>
        </p:txBody>
      </p:sp>
      <p:sp>
        <p:nvSpPr>
          <p:cNvPr id="32" name="TextBox 31"/>
          <p:cNvSpPr txBox="1"/>
          <p:nvPr/>
        </p:nvSpPr>
        <p:spPr>
          <a:xfrm>
            <a:off x="6584404" y="3356993"/>
            <a:ext cx="1944216" cy="1200329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连续和</a:t>
            </a:r>
            <a:endParaRPr lang="en-US" altLang="zh-CN" sz="2400" dirty="0">
              <a:solidFill>
                <a:schemeClr val="bg1"/>
              </a:solidFill>
              <a:latin typeface="黑体" pitchFamily="49" charset="-122"/>
              <a:ea typeface="黑体" pitchFamily="49" charset="-122"/>
            </a:endParaRPr>
          </a:p>
          <a:p>
            <a:pPr algn="ctr"/>
            <a:r>
              <a:rPr lang="zh-CN" altLang="en-US" sz="2400" dirty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转换为</a:t>
            </a:r>
            <a:endParaRPr lang="en-US" altLang="zh-CN" sz="2400" dirty="0">
              <a:solidFill>
                <a:schemeClr val="bg1"/>
              </a:solidFill>
              <a:latin typeface="黑体" pitchFamily="49" charset="-122"/>
              <a:ea typeface="黑体" pitchFamily="49" charset="-122"/>
            </a:endParaRPr>
          </a:p>
          <a:p>
            <a:pPr algn="ctr"/>
            <a:r>
              <a:rPr lang="zh-CN" altLang="en-US" sz="2400" dirty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前缀和</a:t>
            </a:r>
            <a:endParaRPr lang="en-US" altLang="zh-CN" sz="2400" dirty="0">
              <a:solidFill>
                <a:schemeClr val="bg1"/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4BD2811E-1EA8-0210-746B-C5CFD8091C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54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06132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4807564" y="5215612"/>
                <a:ext cx="1978476" cy="52322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800" b="1" i="1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/>
                        </a:rPr>
                        <m:t>𝒔</m:t>
                      </m:r>
                      <m:r>
                        <a:rPr lang="en-US" altLang="zh-CN" sz="2800" b="1" i="1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/>
                        </a:rPr>
                        <m:t>[</m:t>
                      </m:r>
                      <m:r>
                        <a:rPr lang="en-US" altLang="zh-CN" sz="2800" b="1" i="1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/>
                        </a:rPr>
                        <m:t>𝒊</m:t>
                      </m:r>
                      <m:r>
                        <a:rPr lang="en-US" altLang="zh-CN" sz="2800" b="1" i="1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/>
                        </a:rPr>
                        <m:t>−</m:t>
                      </m:r>
                      <m:r>
                        <a:rPr lang="en-US" altLang="zh-CN" sz="2800" b="1" i="1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/>
                        </a:rPr>
                        <m:t>𝒌</m:t>
                      </m:r>
                      <m:r>
                        <a:rPr lang="en-US" altLang="zh-CN" sz="2800" b="1" i="1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/>
                        </a:rPr>
                        <m:t>]</m:t>
                      </m:r>
                    </m:oMath>
                  </m:oMathPara>
                </a14:m>
                <a:endParaRPr lang="en-US" altLang="zh-CN" sz="2800" dirty="0">
                  <a:solidFill>
                    <a:schemeClr val="accent4">
                      <a:lumMod val="75000"/>
                    </a:schemeClr>
                  </a:solidFill>
                  <a:latin typeface="黑体" pitchFamily="49" charset="-122"/>
                  <a:ea typeface="黑体" pitchFamily="49" charset="-122"/>
                </a:endParaRPr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7564" y="5215612"/>
                <a:ext cx="1978476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6456040" y="5085185"/>
                <a:ext cx="221022" cy="76944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CN" sz="4400" b="1" i="1">
                          <a:latin typeface="Cambria Math"/>
                        </a:rPr>
                        <m:t>}</m:t>
                      </m:r>
                    </m:oMath>
                  </m:oMathPara>
                </a14:m>
                <a:endParaRPr lang="en-US" altLang="zh-CN" sz="4400" dirty="0">
                  <a:latin typeface="黑体" pitchFamily="49" charset="-122"/>
                  <a:ea typeface="黑体" pitchFamily="49" charset="-122"/>
                </a:endParaRPr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6040" y="5085185"/>
                <a:ext cx="221022" cy="769441"/>
              </a:xfrm>
              <a:prstGeom prst="rect">
                <a:avLst/>
              </a:prstGeom>
              <a:blipFill>
                <a:blip r:embed="rId3"/>
                <a:stretch>
                  <a:fillRect r="-3055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/>
              <p:cNvSpPr txBox="1"/>
              <p:nvPr/>
            </p:nvSpPr>
            <p:spPr>
              <a:xfrm>
                <a:off x="4804264" y="4653136"/>
                <a:ext cx="1978476" cy="52322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800" i="1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/>
                          <a:ea typeface="黑体" pitchFamily="49" charset="-122"/>
                        </a:rPr>
                        <m:t>………</m:t>
                      </m:r>
                      <m:r>
                        <a:rPr lang="en-US" altLang="zh-CN" sz="280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/>
                          <a:ea typeface="黑体" pitchFamily="49" charset="-122"/>
                        </a:rPr>
                        <m:t>…</m:t>
                      </m:r>
                    </m:oMath>
                  </m:oMathPara>
                </a14:m>
                <a:endParaRPr lang="en-US" altLang="zh-CN" sz="2800" dirty="0">
                  <a:solidFill>
                    <a:schemeClr val="accent4">
                      <a:lumMod val="75000"/>
                    </a:schemeClr>
                  </a:solidFill>
                  <a:latin typeface="黑体" pitchFamily="49" charset="-122"/>
                  <a:ea typeface="黑体" pitchFamily="49" charset="-122"/>
                </a:endParaRPr>
              </a:p>
            </p:txBody>
          </p:sp>
        </mc:Choice>
        <mc:Fallback xmlns=""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4264" y="4653136"/>
                <a:ext cx="1978476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4597086" y="2895908"/>
                <a:ext cx="418794" cy="76944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CN" sz="4400" b="1" i="1">
                          <a:latin typeface="Cambria Math"/>
                        </a:rPr>
                        <m:t>{</m:t>
                      </m:r>
                    </m:oMath>
                  </m:oMathPara>
                </a14:m>
                <a:endParaRPr lang="en-US" altLang="zh-CN" sz="4400" dirty="0">
                  <a:latin typeface="黑体" pitchFamily="49" charset="-122"/>
                  <a:ea typeface="黑体" pitchFamily="49" charset="-122"/>
                </a:endParaRPr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7086" y="2895908"/>
                <a:ext cx="418794" cy="769441"/>
              </a:xfrm>
              <a:prstGeom prst="rect">
                <a:avLst/>
              </a:prstGeom>
              <a:blipFill>
                <a:blip r:embed="rId5"/>
                <a:stretch>
                  <a:fillRect l="-289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29757" y="0"/>
            <a:ext cx="8938243" cy="1143000"/>
          </a:xfrm>
        </p:spPr>
        <p:txBody>
          <a:bodyPr/>
          <a:lstStyle/>
          <a:p>
            <a:r>
              <a:rPr lang="zh-CN" altLang="en-US" dirty="0"/>
              <a:t>连续子段最大和：</a:t>
            </a:r>
            <a:r>
              <a:rPr lang="en-US" altLang="zh-CN" dirty="0"/>
              <a:t> </a:t>
            </a:r>
            <a:r>
              <a:rPr lang="zh-CN" altLang="en-US" dirty="0"/>
              <a:t>长度不超过</a:t>
            </a:r>
            <a:r>
              <a:rPr lang="en-US" altLang="zh-CN" dirty="0"/>
              <a:t>k</a:t>
            </a:r>
            <a:endParaRPr lang="zh-CN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1644758" y="1331719"/>
                <a:ext cx="8976783" cy="52322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accent5">
                    <a:lumMod val="5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zh-CN" sz="2800" b="1" i="1">
                        <a:latin typeface="Cambria Math"/>
                      </a:rPr>
                      <m:t>𝒇</m:t>
                    </m:r>
                    <m:r>
                      <a:rPr lang="en-US" altLang="zh-CN" sz="2800" b="1" i="1">
                        <a:latin typeface="Cambria Math"/>
                      </a:rPr>
                      <m:t>[</m:t>
                    </m:r>
                    <m:r>
                      <a:rPr lang="en-US" altLang="zh-CN" sz="2800" b="1" i="1">
                        <a:latin typeface="Cambria Math"/>
                      </a:rPr>
                      <m:t>𝒊</m:t>
                    </m:r>
                    <m:r>
                      <a:rPr lang="en-US" altLang="zh-CN" sz="2800" b="1" i="1">
                        <a:latin typeface="Cambria Math"/>
                      </a:rPr>
                      <m:t>]</m:t>
                    </m:r>
                  </m:oMath>
                </a14:m>
                <a:r>
                  <a:rPr lang="zh-CN" altLang="en-US" sz="2800" dirty="0">
                    <a:latin typeface="黑体" pitchFamily="49" charset="-122"/>
                    <a:ea typeface="黑体" pitchFamily="49" charset="-122"/>
                  </a:rPr>
                  <a:t>代表以</a:t>
                </a:r>
                <a:r>
                  <a:rPr lang="en-US" altLang="zh-CN" sz="2800" dirty="0">
                    <a:latin typeface="黑体" pitchFamily="49" charset="-122"/>
                    <a:ea typeface="黑体" pitchFamily="49" charset="-122"/>
                  </a:rPr>
                  <a:t>i</a:t>
                </a:r>
                <a:r>
                  <a:rPr lang="zh-CN" altLang="en-US" sz="2800" dirty="0">
                    <a:latin typeface="黑体" pitchFamily="49" charset="-122"/>
                    <a:ea typeface="黑体" pitchFamily="49" charset="-122"/>
                  </a:rPr>
                  <a:t>号数结尾的</a:t>
                </a:r>
                <a:r>
                  <a:rPr lang="zh-CN" altLang="en-US" sz="2800" dirty="0">
                    <a:solidFill>
                      <a:srgbClr val="FF0000"/>
                    </a:solidFill>
                    <a:latin typeface="黑体" pitchFamily="49" charset="-122"/>
                    <a:ea typeface="黑体" pitchFamily="49" charset="-122"/>
                  </a:rPr>
                  <a:t>长度不超过</a:t>
                </a:r>
                <a:r>
                  <a:rPr lang="en-US" altLang="zh-CN" sz="2800" dirty="0">
                    <a:solidFill>
                      <a:srgbClr val="FF0000"/>
                    </a:solidFill>
                    <a:latin typeface="黑体" pitchFamily="49" charset="-122"/>
                    <a:ea typeface="黑体" pitchFamily="49" charset="-122"/>
                  </a:rPr>
                  <a:t>k</a:t>
                </a:r>
                <a:r>
                  <a:rPr lang="zh-CN" altLang="en-US" sz="2800" dirty="0">
                    <a:solidFill>
                      <a:srgbClr val="FF0000"/>
                    </a:solidFill>
                    <a:latin typeface="黑体" pitchFamily="49" charset="-122"/>
                    <a:ea typeface="黑体" pitchFamily="49" charset="-122"/>
                  </a:rPr>
                  <a:t>的</a:t>
                </a:r>
                <a:r>
                  <a:rPr lang="zh-CN" altLang="en-US" sz="2800" dirty="0">
                    <a:latin typeface="黑体" pitchFamily="49" charset="-122"/>
                    <a:ea typeface="黑体" pitchFamily="49" charset="-122"/>
                  </a:rPr>
                  <a:t>连续和最大值</a:t>
                </a:r>
                <a:endParaRPr lang="en-US" altLang="zh-CN" sz="2800" dirty="0">
                  <a:latin typeface="黑体" pitchFamily="49" charset="-122"/>
                  <a:ea typeface="黑体" pitchFamily="49" charset="-122"/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44758" y="1331719"/>
                <a:ext cx="8976783" cy="523220"/>
              </a:xfrm>
              <a:prstGeom prst="rect">
                <a:avLst/>
              </a:prstGeom>
              <a:blipFill>
                <a:blip r:embed="rId6"/>
                <a:stretch>
                  <a:fillRect t="-12500" b="-27273"/>
                </a:stretch>
              </a:blipFill>
              <a:ln>
                <a:solidFill>
                  <a:schemeClr val="accent5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1487489" y="3068960"/>
                <a:ext cx="1426907" cy="52322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CN" sz="2800" b="1" i="1">
                          <a:latin typeface="Cambria Math"/>
                        </a:rPr>
                        <m:t>𝒇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8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1" i="1">
                              <a:latin typeface="Cambria Math"/>
                            </a:rPr>
                            <m:t>𝒊</m:t>
                          </m:r>
                        </m:e>
                      </m:d>
                      <m:r>
                        <a:rPr lang="en-US" altLang="zh-CN" sz="2800" b="1" i="1">
                          <a:latin typeface="Cambria Math"/>
                        </a:rPr>
                        <m:t>=</m:t>
                      </m:r>
                    </m:oMath>
                  </m:oMathPara>
                </a14:m>
                <a:endParaRPr lang="en-US" altLang="zh-CN" sz="2800" dirty="0">
                  <a:latin typeface="黑体" pitchFamily="49" charset="-122"/>
                  <a:ea typeface="黑体" pitchFamily="49" charset="-122"/>
                </a:endParaRPr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7489" y="3068960"/>
                <a:ext cx="1426907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2567609" y="3049796"/>
                <a:ext cx="2020631" cy="52322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CN" sz="2800" b="1" i="1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/>
                        </a:rPr>
                        <m:t>𝒔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800" b="1" i="1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1" i="1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𝒊</m:t>
                          </m:r>
                        </m:e>
                      </m:d>
                      <m:r>
                        <a:rPr lang="en-US" altLang="zh-CN" sz="2800" b="1" i="1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/>
                        </a:rPr>
                        <m:t>−</m:t>
                      </m:r>
                      <m:r>
                        <a:rPr lang="en-US" altLang="zh-CN" sz="2800" b="1" i="1">
                          <a:latin typeface="Cambria Math"/>
                        </a:rPr>
                        <m:t>𝒎𝒊𝒏</m:t>
                      </m:r>
                    </m:oMath>
                  </m:oMathPara>
                </a14:m>
                <a:endParaRPr lang="en-US" altLang="zh-CN" sz="2800" dirty="0">
                  <a:latin typeface="黑体" pitchFamily="49" charset="-122"/>
                  <a:ea typeface="黑体" pitchFamily="49" charset="-122"/>
                </a:endParaRP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7609" y="3049796"/>
                <a:ext cx="2020631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4807564" y="3049796"/>
                <a:ext cx="1978476" cy="52322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800" b="1" i="1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/>
                        </a:rPr>
                        <m:t>𝒔</m:t>
                      </m:r>
                      <m:r>
                        <a:rPr lang="en-US" altLang="zh-CN" sz="2800" b="1" i="1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/>
                        </a:rPr>
                        <m:t>[</m:t>
                      </m:r>
                      <m:r>
                        <a:rPr lang="en-US" altLang="zh-CN" sz="2800" b="1" i="1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/>
                        </a:rPr>
                        <m:t>𝒊</m:t>
                      </m:r>
                      <m:r>
                        <a:rPr lang="en-US" altLang="zh-CN" sz="2800" b="1" i="1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/>
                        </a:rPr>
                        <m:t>−</m:t>
                      </m:r>
                      <m:r>
                        <a:rPr lang="en-US" altLang="zh-CN" sz="2800" b="1" i="1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/>
                        </a:rPr>
                        <m:t>𝟏</m:t>
                      </m:r>
                      <m:r>
                        <a:rPr lang="en-US" altLang="zh-CN" sz="2800" b="1" i="1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/>
                        </a:rPr>
                        <m:t>],</m:t>
                      </m:r>
                    </m:oMath>
                  </m:oMathPara>
                </a14:m>
                <a:endParaRPr lang="en-US" altLang="zh-CN" sz="2800" dirty="0">
                  <a:solidFill>
                    <a:schemeClr val="accent4">
                      <a:lumMod val="75000"/>
                    </a:schemeClr>
                  </a:solidFill>
                  <a:latin typeface="黑体" pitchFamily="49" charset="-122"/>
                  <a:ea typeface="黑体" pitchFamily="49" charset="-122"/>
                </a:endParaRPr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7564" y="3049796"/>
                <a:ext cx="1978476" cy="5232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4807564" y="3625860"/>
                <a:ext cx="1978476" cy="52322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800" b="1" i="1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/>
                        </a:rPr>
                        <m:t>𝒔</m:t>
                      </m:r>
                      <m:r>
                        <a:rPr lang="en-US" altLang="zh-CN" sz="2800" b="1" i="1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/>
                        </a:rPr>
                        <m:t>[</m:t>
                      </m:r>
                      <m:r>
                        <a:rPr lang="en-US" altLang="zh-CN" sz="2800" b="1" i="1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/>
                        </a:rPr>
                        <m:t>𝒊</m:t>
                      </m:r>
                      <m:r>
                        <a:rPr lang="en-US" altLang="zh-CN" sz="2800" b="1" i="1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/>
                        </a:rPr>
                        <m:t>−</m:t>
                      </m:r>
                      <m:r>
                        <a:rPr lang="en-US" altLang="zh-CN" sz="2800" b="1" i="1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/>
                        </a:rPr>
                        <m:t>𝟐</m:t>
                      </m:r>
                      <m:r>
                        <a:rPr lang="en-US" altLang="zh-CN" sz="2800" b="1" i="1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/>
                        </a:rPr>
                        <m:t>],</m:t>
                      </m:r>
                    </m:oMath>
                  </m:oMathPara>
                </a14:m>
                <a:endParaRPr lang="en-US" altLang="zh-CN" sz="2800" dirty="0">
                  <a:solidFill>
                    <a:schemeClr val="accent4">
                      <a:lumMod val="75000"/>
                    </a:schemeClr>
                  </a:solidFill>
                  <a:latin typeface="黑体" pitchFamily="49" charset="-122"/>
                  <a:ea typeface="黑体" pitchFamily="49" charset="-122"/>
                </a:endParaRPr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7564" y="3625860"/>
                <a:ext cx="1978476" cy="52322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4807564" y="4201924"/>
                <a:ext cx="1978476" cy="52322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800" b="1" i="1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/>
                        </a:rPr>
                        <m:t>𝒔</m:t>
                      </m:r>
                      <m:r>
                        <a:rPr lang="en-US" altLang="zh-CN" sz="2800" b="1" i="1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/>
                        </a:rPr>
                        <m:t>[</m:t>
                      </m:r>
                      <m:r>
                        <a:rPr lang="en-US" altLang="zh-CN" sz="2800" b="1" i="1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/>
                        </a:rPr>
                        <m:t>𝒊</m:t>
                      </m:r>
                      <m:r>
                        <a:rPr lang="en-US" altLang="zh-CN" sz="2800" b="1" i="1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/>
                        </a:rPr>
                        <m:t>−</m:t>
                      </m:r>
                      <m:r>
                        <a:rPr lang="en-US" altLang="zh-CN" sz="2800" b="1" i="1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/>
                        </a:rPr>
                        <m:t>𝟑</m:t>
                      </m:r>
                      <m:r>
                        <a:rPr lang="en-US" altLang="zh-CN" sz="2800" b="1" i="1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/>
                        </a:rPr>
                        <m:t>],</m:t>
                      </m:r>
                    </m:oMath>
                  </m:oMathPara>
                </a14:m>
                <a:endParaRPr lang="en-US" altLang="zh-CN" sz="2800" dirty="0">
                  <a:solidFill>
                    <a:schemeClr val="accent4">
                      <a:lumMod val="75000"/>
                    </a:schemeClr>
                  </a:solidFill>
                  <a:latin typeface="黑体" pitchFamily="49" charset="-122"/>
                  <a:ea typeface="黑体" pitchFamily="49" charset="-122"/>
                </a:endParaRPr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7564" y="4201924"/>
                <a:ext cx="1978476" cy="52322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23"/>
          <p:cNvSpPr txBox="1"/>
          <p:nvPr/>
        </p:nvSpPr>
        <p:spPr>
          <a:xfrm>
            <a:off x="6992104" y="2268022"/>
            <a:ext cx="3610708" cy="461665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>
                <a:latin typeface="黑体" pitchFamily="49" charset="-122"/>
                <a:ea typeface="黑体" pitchFamily="49" charset="-122"/>
              </a:rPr>
              <a:t>计算</a:t>
            </a:r>
            <a:r>
              <a:rPr lang="en-US" altLang="zh-CN" sz="2400" dirty="0">
                <a:latin typeface="黑体" pitchFamily="49" charset="-122"/>
                <a:ea typeface="黑体" pitchFamily="49" charset="-122"/>
              </a:rPr>
              <a:t>f[i]</a:t>
            </a:r>
            <a:r>
              <a:rPr lang="zh-CN" altLang="en-US" sz="2400" dirty="0">
                <a:latin typeface="黑体" pitchFamily="49" charset="-122"/>
                <a:ea typeface="黑体" pitchFamily="49" charset="-122"/>
              </a:rPr>
              <a:t>时考虑</a:t>
            </a:r>
            <a:r>
              <a:rPr lang="en-US" altLang="zh-CN" sz="2400" dirty="0">
                <a:latin typeface="黑体" pitchFamily="49" charset="-122"/>
                <a:ea typeface="黑体" pitchFamily="49" charset="-122"/>
              </a:rPr>
              <a:t>k</a:t>
            </a:r>
            <a:r>
              <a:rPr lang="zh-CN" altLang="en-US" sz="2400" dirty="0">
                <a:latin typeface="黑体" pitchFamily="49" charset="-122"/>
                <a:ea typeface="黑体" pitchFamily="49" charset="-122"/>
              </a:rPr>
              <a:t>种可能</a:t>
            </a:r>
            <a:endParaRPr lang="en-US" altLang="zh-CN" sz="2400" dirty="0"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7808540" y="3356993"/>
            <a:ext cx="2103884" cy="1200329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固定</a:t>
            </a:r>
            <a:r>
              <a:rPr lang="en-US" altLang="zh-CN" sz="2400" dirty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i</a:t>
            </a:r>
            <a:r>
              <a:rPr lang="zh-CN" altLang="en-US" sz="2400" dirty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时</a:t>
            </a:r>
            <a:endParaRPr lang="en-US" altLang="zh-CN" sz="2400" dirty="0">
              <a:solidFill>
                <a:schemeClr val="bg1"/>
              </a:solidFill>
              <a:latin typeface="黑体" pitchFamily="49" charset="-122"/>
              <a:ea typeface="黑体" pitchFamily="49" charset="-122"/>
            </a:endParaRPr>
          </a:p>
          <a:p>
            <a:pPr algn="ctr"/>
            <a:r>
              <a:rPr lang="zh-CN" altLang="en-US" sz="2400" dirty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前缀和数组</a:t>
            </a:r>
            <a:endParaRPr lang="en-US" altLang="zh-CN" sz="2400" dirty="0">
              <a:solidFill>
                <a:schemeClr val="bg1"/>
              </a:solidFill>
              <a:latin typeface="黑体" pitchFamily="49" charset="-122"/>
              <a:ea typeface="黑体" pitchFamily="49" charset="-122"/>
            </a:endParaRPr>
          </a:p>
          <a:p>
            <a:pPr algn="ctr"/>
            <a:r>
              <a:rPr lang="zh-CN" altLang="en-US" sz="2400" dirty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窗口最小值</a:t>
            </a:r>
            <a:endParaRPr lang="en-US" altLang="zh-CN" sz="2400" dirty="0">
              <a:solidFill>
                <a:schemeClr val="bg1"/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808540" y="4869740"/>
            <a:ext cx="2103884" cy="46166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单调队列</a:t>
            </a:r>
            <a:endParaRPr lang="en-US" altLang="zh-CN" sz="2400" dirty="0">
              <a:solidFill>
                <a:schemeClr val="bg1"/>
              </a:solidFill>
              <a:latin typeface="黑体" pitchFamily="49" charset="-122"/>
              <a:ea typeface="黑体" pitchFamily="49" charset="-122"/>
            </a:endParaRPr>
          </a:p>
        </p:txBody>
      </p:sp>
      <p:cxnSp>
        <p:nvCxnSpPr>
          <p:cNvPr id="17" name="直接箭头连接符 16"/>
          <p:cNvCxnSpPr/>
          <p:nvPr/>
        </p:nvCxnSpPr>
        <p:spPr>
          <a:xfrm flipH="1" flipV="1">
            <a:off x="5387846" y="5710728"/>
            <a:ext cx="276106" cy="682450"/>
          </a:xfrm>
          <a:prstGeom prst="straightConnector1">
            <a:avLst/>
          </a:prstGeom>
          <a:ln w="28575">
            <a:solidFill>
              <a:schemeClr val="accent6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矩形 25"/>
          <p:cNvSpPr/>
          <p:nvPr/>
        </p:nvSpPr>
        <p:spPr>
          <a:xfrm>
            <a:off x="5663952" y="6059282"/>
            <a:ext cx="2244174" cy="40011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/>
              <a:t>注意越界</a:t>
            </a:r>
            <a:endParaRPr lang="en-US" altLang="zh-CN" sz="2000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0A37DB76-EE54-94F1-B588-9EFAA591A7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55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463520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/>
        </p:nvSpPr>
        <p:spPr>
          <a:xfrm>
            <a:off x="2398488" y="260649"/>
            <a:ext cx="7441928" cy="584775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3200" dirty="0"/>
              <a:t>s[i]</a:t>
            </a:r>
            <a:r>
              <a:rPr lang="zh-CN" altLang="en-US" sz="3200" dirty="0"/>
              <a:t>表示</a:t>
            </a:r>
            <a:r>
              <a:rPr lang="en-US" altLang="zh-CN" sz="3200" dirty="0"/>
              <a:t>x</a:t>
            </a:r>
            <a:r>
              <a:rPr lang="zh-CN" altLang="en-US" sz="3200" dirty="0"/>
              <a:t>数组</a:t>
            </a:r>
            <a:r>
              <a:rPr lang="en-US" altLang="zh-CN" sz="3200" dirty="0"/>
              <a:t>1</a:t>
            </a:r>
            <a:r>
              <a:rPr lang="zh-CN" altLang="en-US" sz="3200" dirty="0"/>
              <a:t>号到</a:t>
            </a:r>
            <a:r>
              <a:rPr lang="en-US" altLang="zh-CN" sz="3200" dirty="0"/>
              <a:t>i</a:t>
            </a:r>
            <a:r>
              <a:rPr lang="zh-CN" altLang="en-US" sz="3200" dirty="0"/>
              <a:t>号的总和</a:t>
            </a:r>
            <a:endParaRPr lang="en-US" altLang="zh-CN" sz="3200" dirty="0"/>
          </a:p>
        </p:txBody>
      </p:sp>
      <p:sp>
        <p:nvSpPr>
          <p:cNvPr id="19" name="矩形 18"/>
          <p:cNvSpPr/>
          <p:nvPr/>
        </p:nvSpPr>
        <p:spPr>
          <a:xfrm>
            <a:off x="2398488" y="836714"/>
            <a:ext cx="7441928" cy="954107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2800" dirty="0"/>
              <a:t>MIN[i]</a:t>
            </a:r>
            <a:r>
              <a:rPr lang="zh-CN" altLang="en-US" sz="2800" dirty="0"/>
              <a:t>表示以</a:t>
            </a:r>
            <a:r>
              <a:rPr lang="en-US" altLang="zh-CN" sz="2800" dirty="0"/>
              <a:t>s[i]</a:t>
            </a:r>
            <a:r>
              <a:rPr lang="zh-CN" altLang="en-US" sz="2800" dirty="0"/>
              <a:t>为结尾</a:t>
            </a:r>
            <a:endParaRPr lang="en-US" altLang="zh-CN" sz="2800" dirty="0"/>
          </a:p>
          <a:p>
            <a:pPr algn="ctr"/>
            <a:r>
              <a:rPr lang="zh-CN" altLang="en-US" sz="2800" dirty="0"/>
              <a:t>长度不超过</a:t>
            </a:r>
            <a:r>
              <a:rPr lang="en-US" altLang="zh-CN" sz="2800" dirty="0"/>
              <a:t>k</a:t>
            </a:r>
            <a:r>
              <a:rPr lang="zh-CN" altLang="en-US" sz="2800" dirty="0"/>
              <a:t>的窗口最小值</a:t>
            </a:r>
            <a:endParaRPr lang="en-US" altLang="zh-CN" sz="2800" dirty="0"/>
          </a:p>
        </p:txBody>
      </p:sp>
      <p:sp>
        <p:nvSpPr>
          <p:cNvPr id="17" name="矩形 16"/>
          <p:cNvSpPr/>
          <p:nvPr/>
        </p:nvSpPr>
        <p:spPr>
          <a:xfrm>
            <a:off x="2398488" y="1790821"/>
            <a:ext cx="7441928" cy="584775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3200" dirty="0"/>
              <a:t>f[i]=s[i]-MIN[i-1]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4807564" y="5215612"/>
                <a:ext cx="1978476" cy="52322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800" b="1" i="1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/>
                        </a:rPr>
                        <m:t>𝒔</m:t>
                      </m:r>
                      <m:r>
                        <a:rPr lang="en-US" altLang="zh-CN" sz="2800" b="1" i="1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/>
                        </a:rPr>
                        <m:t>[</m:t>
                      </m:r>
                      <m:r>
                        <a:rPr lang="en-US" altLang="zh-CN" sz="2800" b="1" i="1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/>
                        </a:rPr>
                        <m:t>𝒊</m:t>
                      </m:r>
                      <m:r>
                        <a:rPr lang="en-US" altLang="zh-CN" sz="2800" b="1" i="1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/>
                        </a:rPr>
                        <m:t>−</m:t>
                      </m:r>
                      <m:r>
                        <a:rPr lang="en-US" altLang="zh-CN" sz="2800" b="1" i="1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/>
                        </a:rPr>
                        <m:t>𝒌</m:t>
                      </m:r>
                      <m:r>
                        <a:rPr lang="en-US" altLang="zh-CN" sz="2800" b="1" i="1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/>
                        </a:rPr>
                        <m:t>]</m:t>
                      </m:r>
                    </m:oMath>
                  </m:oMathPara>
                </a14:m>
                <a:endParaRPr lang="en-US" altLang="zh-CN" sz="2800" dirty="0">
                  <a:solidFill>
                    <a:schemeClr val="accent4">
                      <a:lumMod val="75000"/>
                    </a:schemeClr>
                  </a:solidFill>
                  <a:latin typeface="黑体" pitchFamily="49" charset="-122"/>
                  <a:ea typeface="黑体" pitchFamily="49" charset="-122"/>
                </a:endParaRP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7564" y="5215612"/>
                <a:ext cx="1978476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6456040" y="5085185"/>
                <a:ext cx="221022" cy="76944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CN" sz="4400" b="1" i="1">
                          <a:latin typeface="Cambria Math"/>
                        </a:rPr>
                        <m:t>}</m:t>
                      </m:r>
                    </m:oMath>
                  </m:oMathPara>
                </a14:m>
                <a:endParaRPr lang="en-US" altLang="zh-CN" sz="4400" dirty="0">
                  <a:latin typeface="黑体" pitchFamily="49" charset="-122"/>
                  <a:ea typeface="黑体" pitchFamily="49" charset="-122"/>
                </a:endParaRP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6040" y="5085185"/>
                <a:ext cx="221022" cy="769441"/>
              </a:xfrm>
              <a:prstGeom prst="rect">
                <a:avLst/>
              </a:prstGeom>
              <a:blipFill>
                <a:blip r:embed="rId3"/>
                <a:stretch>
                  <a:fillRect r="-3055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4804264" y="4653136"/>
                <a:ext cx="1978476" cy="52322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800" i="1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/>
                          <a:ea typeface="黑体" pitchFamily="49" charset="-122"/>
                        </a:rPr>
                        <m:t>………</m:t>
                      </m:r>
                      <m:r>
                        <a:rPr lang="en-US" altLang="zh-CN" sz="280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/>
                          <a:ea typeface="黑体" pitchFamily="49" charset="-122"/>
                        </a:rPr>
                        <m:t>…</m:t>
                      </m:r>
                    </m:oMath>
                  </m:oMathPara>
                </a14:m>
                <a:endParaRPr lang="en-US" altLang="zh-CN" sz="2800" dirty="0">
                  <a:solidFill>
                    <a:schemeClr val="accent4">
                      <a:lumMod val="75000"/>
                    </a:schemeClr>
                  </a:solidFill>
                  <a:latin typeface="黑体" pitchFamily="49" charset="-122"/>
                  <a:ea typeface="黑体" pitchFamily="49" charset="-122"/>
                </a:endParaRP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4264" y="4653136"/>
                <a:ext cx="1978476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4597086" y="2895908"/>
                <a:ext cx="418794" cy="76944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CN" sz="4400" b="1" i="1">
                          <a:latin typeface="Cambria Math"/>
                        </a:rPr>
                        <m:t>{</m:t>
                      </m:r>
                    </m:oMath>
                  </m:oMathPara>
                </a14:m>
                <a:endParaRPr lang="en-US" altLang="zh-CN" sz="4400" dirty="0">
                  <a:latin typeface="黑体" pitchFamily="49" charset="-122"/>
                  <a:ea typeface="黑体" pitchFamily="49" charset="-122"/>
                </a:endParaRPr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7086" y="2895908"/>
                <a:ext cx="418794" cy="769441"/>
              </a:xfrm>
              <a:prstGeom prst="rect">
                <a:avLst/>
              </a:prstGeom>
              <a:blipFill>
                <a:blip r:embed="rId5"/>
                <a:stretch>
                  <a:fillRect l="-289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1487489" y="3068960"/>
                <a:ext cx="1426907" cy="52322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CN" sz="2800" b="1" i="1">
                          <a:latin typeface="Cambria Math"/>
                        </a:rPr>
                        <m:t>𝒇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8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1" i="1">
                              <a:latin typeface="Cambria Math"/>
                            </a:rPr>
                            <m:t>𝒊</m:t>
                          </m:r>
                        </m:e>
                      </m:d>
                      <m:r>
                        <a:rPr lang="en-US" altLang="zh-CN" sz="2800" b="1" i="1">
                          <a:latin typeface="Cambria Math"/>
                        </a:rPr>
                        <m:t>=</m:t>
                      </m:r>
                    </m:oMath>
                  </m:oMathPara>
                </a14:m>
                <a:endParaRPr lang="en-US" altLang="zh-CN" sz="2800" dirty="0">
                  <a:latin typeface="黑体" pitchFamily="49" charset="-122"/>
                  <a:ea typeface="黑体" pitchFamily="49" charset="-122"/>
                </a:endParaRPr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7489" y="3068960"/>
                <a:ext cx="1426907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2567609" y="3049796"/>
                <a:ext cx="2020631" cy="52322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CN" sz="2800" b="1" i="1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/>
                        </a:rPr>
                        <m:t>𝒔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800" b="1" i="1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1" i="1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𝒊</m:t>
                          </m:r>
                        </m:e>
                      </m:d>
                      <m:r>
                        <a:rPr lang="en-US" altLang="zh-CN" sz="2800" b="1" i="1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/>
                        </a:rPr>
                        <m:t>−</m:t>
                      </m:r>
                      <m:r>
                        <a:rPr lang="en-US" altLang="zh-CN" sz="2800" b="1" i="1">
                          <a:latin typeface="Cambria Math"/>
                        </a:rPr>
                        <m:t>𝒎𝒊𝒏</m:t>
                      </m:r>
                    </m:oMath>
                  </m:oMathPara>
                </a14:m>
                <a:endParaRPr lang="en-US" altLang="zh-CN" sz="2800" dirty="0">
                  <a:latin typeface="黑体" pitchFamily="49" charset="-122"/>
                  <a:ea typeface="黑体" pitchFamily="49" charset="-122"/>
                </a:endParaRPr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7609" y="3049796"/>
                <a:ext cx="2020631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4807564" y="3049796"/>
                <a:ext cx="1978476" cy="52322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800" b="1" i="1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/>
                        </a:rPr>
                        <m:t>𝒔</m:t>
                      </m:r>
                      <m:r>
                        <a:rPr lang="en-US" altLang="zh-CN" sz="2800" b="1" i="1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/>
                        </a:rPr>
                        <m:t>[</m:t>
                      </m:r>
                      <m:r>
                        <a:rPr lang="en-US" altLang="zh-CN" sz="2800" b="1" i="1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/>
                        </a:rPr>
                        <m:t>𝒊</m:t>
                      </m:r>
                      <m:r>
                        <a:rPr lang="en-US" altLang="zh-CN" sz="2800" b="1" i="1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/>
                        </a:rPr>
                        <m:t>−</m:t>
                      </m:r>
                      <m:r>
                        <a:rPr lang="en-US" altLang="zh-CN" sz="2800" b="1" i="1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/>
                        </a:rPr>
                        <m:t>𝟏</m:t>
                      </m:r>
                      <m:r>
                        <a:rPr lang="en-US" altLang="zh-CN" sz="2800" b="1" i="1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/>
                        </a:rPr>
                        <m:t>],</m:t>
                      </m:r>
                    </m:oMath>
                  </m:oMathPara>
                </a14:m>
                <a:endParaRPr lang="en-US" altLang="zh-CN" sz="2800" dirty="0">
                  <a:solidFill>
                    <a:schemeClr val="accent4">
                      <a:lumMod val="75000"/>
                    </a:schemeClr>
                  </a:solidFill>
                  <a:latin typeface="黑体" pitchFamily="49" charset="-122"/>
                  <a:ea typeface="黑体" pitchFamily="49" charset="-122"/>
                </a:endParaRPr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7564" y="3049796"/>
                <a:ext cx="1978476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4807564" y="3625860"/>
                <a:ext cx="1978476" cy="52322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800" b="1" i="1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/>
                        </a:rPr>
                        <m:t>𝒔</m:t>
                      </m:r>
                      <m:r>
                        <a:rPr lang="en-US" altLang="zh-CN" sz="2800" b="1" i="1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/>
                        </a:rPr>
                        <m:t>[</m:t>
                      </m:r>
                      <m:r>
                        <a:rPr lang="en-US" altLang="zh-CN" sz="2800" b="1" i="1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/>
                        </a:rPr>
                        <m:t>𝒊</m:t>
                      </m:r>
                      <m:r>
                        <a:rPr lang="en-US" altLang="zh-CN" sz="2800" b="1" i="1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/>
                        </a:rPr>
                        <m:t>−</m:t>
                      </m:r>
                      <m:r>
                        <a:rPr lang="en-US" altLang="zh-CN" sz="2800" b="1" i="1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/>
                        </a:rPr>
                        <m:t>𝟐</m:t>
                      </m:r>
                      <m:r>
                        <a:rPr lang="en-US" altLang="zh-CN" sz="2800" b="1" i="1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/>
                        </a:rPr>
                        <m:t>],</m:t>
                      </m:r>
                    </m:oMath>
                  </m:oMathPara>
                </a14:m>
                <a:endParaRPr lang="en-US" altLang="zh-CN" sz="2800" dirty="0">
                  <a:solidFill>
                    <a:schemeClr val="accent4">
                      <a:lumMod val="75000"/>
                    </a:schemeClr>
                  </a:solidFill>
                  <a:latin typeface="黑体" pitchFamily="49" charset="-122"/>
                  <a:ea typeface="黑体" pitchFamily="49" charset="-122"/>
                </a:endParaRPr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7564" y="3625860"/>
                <a:ext cx="1978476" cy="5232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4807564" y="4201924"/>
                <a:ext cx="1978476" cy="52322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800" b="1" i="1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/>
                        </a:rPr>
                        <m:t>𝒔</m:t>
                      </m:r>
                      <m:r>
                        <a:rPr lang="en-US" altLang="zh-CN" sz="2800" b="1" i="1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/>
                        </a:rPr>
                        <m:t>[</m:t>
                      </m:r>
                      <m:r>
                        <a:rPr lang="en-US" altLang="zh-CN" sz="2800" b="1" i="1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/>
                        </a:rPr>
                        <m:t>𝒊</m:t>
                      </m:r>
                      <m:r>
                        <a:rPr lang="en-US" altLang="zh-CN" sz="2800" b="1" i="1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/>
                        </a:rPr>
                        <m:t>−</m:t>
                      </m:r>
                      <m:r>
                        <a:rPr lang="en-US" altLang="zh-CN" sz="2800" b="1" i="1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/>
                        </a:rPr>
                        <m:t>𝟑</m:t>
                      </m:r>
                      <m:r>
                        <a:rPr lang="en-US" altLang="zh-CN" sz="2800" b="1" i="1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/>
                        </a:rPr>
                        <m:t>],</m:t>
                      </m:r>
                    </m:oMath>
                  </m:oMathPara>
                </a14:m>
                <a:endParaRPr lang="en-US" altLang="zh-CN" sz="2800" dirty="0">
                  <a:solidFill>
                    <a:schemeClr val="accent4">
                      <a:lumMod val="75000"/>
                    </a:schemeClr>
                  </a:solidFill>
                  <a:latin typeface="黑体" pitchFamily="49" charset="-122"/>
                  <a:ea typeface="黑体" pitchFamily="49" charset="-122"/>
                </a:endParaRPr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7564" y="4201924"/>
                <a:ext cx="1978476" cy="52322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" name="直接箭头连接符 25"/>
          <p:cNvCxnSpPr/>
          <p:nvPr/>
        </p:nvCxnSpPr>
        <p:spPr>
          <a:xfrm flipH="1" flipV="1">
            <a:off x="5387846" y="5710728"/>
            <a:ext cx="276106" cy="682450"/>
          </a:xfrm>
          <a:prstGeom prst="straightConnector1">
            <a:avLst/>
          </a:prstGeom>
          <a:ln w="28575">
            <a:solidFill>
              <a:schemeClr val="accent6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矩形 26"/>
          <p:cNvSpPr/>
          <p:nvPr/>
        </p:nvSpPr>
        <p:spPr>
          <a:xfrm>
            <a:off x="5663952" y="6059282"/>
            <a:ext cx="2244174" cy="40011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/>
              <a:t>注意越界</a:t>
            </a:r>
            <a:endParaRPr lang="en-US" altLang="zh-CN" sz="2000" dirty="0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028549DF-46C0-92D4-62AA-519C7579F1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56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18175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17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4186147"/>
            <a:ext cx="6935688" cy="2412769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153367"/>
            <a:ext cx="7272314" cy="3779689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3" name="直接箭头连接符 2"/>
          <p:cNvCxnSpPr/>
          <p:nvPr/>
        </p:nvCxnSpPr>
        <p:spPr>
          <a:xfrm flipH="1">
            <a:off x="6744072" y="980728"/>
            <a:ext cx="1944216" cy="0"/>
          </a:xfrm>
          <a:prstGeom prst="straightConnector1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8688288" y="764705"/>
            <a:ext cx="1584176" cy="461665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2400" dirty="0"/>
              <a:t>为什么错</a:t>
            </a:r>
            <a:endParaRPr lang="en-US" altLang="zh-CN" sz="2400" dirty="0"/>
          </a:p>
        </p:txBody>
      </p:sp>
      <p:sp>
        <p:nvSpPr>
          <p:cNvPr id="8" name="矩形 7"/>
          <p:cNvSpPr/>
          <p:nvPr/>
        </p:nvSpPr>
        <p:spPr>
          <a:xfrm>
            <a:off x="8688288" y="303040"/>
            <a:ext cx="1584176" cy="461665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2400" dirty="0"/>
              <a:t>i=0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6707508A-B221-5372-2FE3-92A814B68B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57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927026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4079776" y="2247256"/>
            <a:ext cx="4164582" cy="461665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2400" dirty="0"/>
              <a:t>讨论：能否做到</a:t>
            </a:r>
            <a:r>
              <a:rPr lang="en-US" altLang="zh-CN" sz="2400" dirty="0"/>
              <a:t>O(n)</a:t>
            </a:r>
            <a:r>
              <a:rPr lang="zh-CN" altLang="en-US" sz="2400" dirty="0"/>
              <a:t>复杂度</a:t>
            </a:r>
            <a:r>
              <a:rPr lang="en-US" altLang="zh-CN" sz="2400" dirty="0"/>
              <a:t>?</a:t>
            </a:r>
            <a:endParaRPr lang="zh-CN" altLang="zh-CN" sz="2400" dirty="0"/>
          </a:p>
        </p:txBody>
      </p:sp>
      <p:sp>
        <p:nvSpPr>
          <p:cNvPr id="16" name="矩形 15"/>
          <p:cNvSpPr/>
          <p:nvPr/>
        </p:nvSpPr>
        <p:spPr>
          <a:xfrm>
            <a:off x="4101976" y="3255368"/>
            <a:ext cx="4164582" cy="461665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2400"/>
              <a:t>拓展</a:t>
            </a:r>
            <a:r>
              <a:rPr lang="zh-CN" altLang="en-US" sz="2400" dirty="0"/>
              <a:t>思考。</a:t>
            </a:r>
            <a:endParaRPr lang="zh-CN" altLang="zh-CN" sz="2400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CC6D6C8E-0452-4BD3-64F2-F846B30D5C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58</a:t>
            </a:fld>
            <a:endParaRPr lang="zh-CN" altLang="en-US"/>
          </a:p>
        </p:txBody>
      </p:sp>
      <p:sp>
        <p:nvSpPr>
          <p:cNvPr id="6" name="标题 5">
            <a:extLst>
              <a:ext uri="{FF2B5EF4-FFF2-40B4-BE49-F238E27FC236}">
                <a16:creationId xmlns:a16="http://schemas.microsoft.com/office/drawing/2014/main" id="{4EAE0A1B-6F1E-4194-881E-4684311247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9648303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CF337C-89E2-BB33-7EC1-A18697C1C0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9CD21827-D5F6-2D5F-5DCF-88072AB13F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6878" y="332656"/>
            <a:ext cx="8938243" cy="1143000"/>
          </a:xfrm>
        </p:spPr>
        <p:txBody>
          <a:bodyPr/>
          <a:lstStyle/>
          <a:p>
            <a:r>
              <a:rPr lang="en-US" altLang="zh-CN">
                <a:latin typeface="等线" panose="02010600030101010101" pitchFamily="2" charset="-122"/>
                <a:ea typeface="等线" panose="02010600030101010101" pitchFamily="2" charset="-122"/>
              </a:rPr>
              <a:t>SH-B260102 </a:t>
            </a:r>
            <a:r>
              <a:rPr lang="zh-CN" altLang="en-US">
                <a:latin typeface="等线" panose="02010600030101010101" pitchFamily="2" charset="-122"/>
                <a:ea typeface="等线" panose="02010600030101010101" pitchFamily="2" charset="-122"/>
              </a:rPr>
              <a:t>订正题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号</a:t>
            </a:r>
            <a:endParaRPr lang="en-US" altLang="zh-CN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485F4312-E6EF-E718-6BCE-D59EA72B59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59</a:t>
            </a:fld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4850D1E-82D7-4586-B64F-3FF3D3F653AD}"/>
              </a:ext>
            </a:extLst>
          </p:cNvPr>
          <p:cNvSpPr txBox="1"/>
          <p:nvPr/>
        </p:nvSpPr>
        <p:spPr>
          <a:xfrm>
            <a:off x="3647728" y="1806167"/>
            <a:ext cx="6094070" cy="3710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3200">
                <a:latin typeface="等线" panose="02010600030101010101" pitchFamily="2" charset="-122"/>
              </a:rPr>
              <a:t>T1	3186	躲猫猫</a:t>
            </a:r>
          </a:p>
          <a:p>
            <a:pPr>
              <a:lnSpc>
                <a:spcPct val="150000"/>
              </a:lnSpc>
            </a:pPr>
            <a:r>
              <a:rPr lang="zh-CN" altLang="en-US" sz="3200">
                <a:latin typeface="等线" panose="02010600030101010101" pitchFamily="2" charset="-122"/>
              </a:rPr>
              <a:t>T2	2808	消磨假期</a:t>
            </a:r>
          </a:p>
          <a:p>
            <a:pPr>
              <a:lnSpc>
                <a:spcPct val="150000"/>
              </a:lnSpc>
            </a:pPr>
            <a:r>
              <a:rPr lang="zh-CN" altLang="en-US" sz="3200">
                <a:latin typeface="等线" panose="02010600030101010101" pitchFamily="2" charset="-122"/>
              </a:rPr>
              <a:t>T3	2720	单词构造</a:t>
            </a:r>
          </a:p>
          <a:p>
            <a:pPr>
              <a:lnSpc>
                <a:spcPct val="150000"/>
              </a:lnSpc>
            </a:pPr>
            <a:r>
              <a:rPr lang="zh-CN" altLang="en-US" sz="3200">
                <a:latin typeface="等线" panose="02010600030101010101" pitchFamily="2" charset="-122"/>
              </a:rPr>
              <a:t>T4	3484	风水大师</a:t>
            </a:r>
          </a:p>
          <a:p>
            <a:pPr>
              <a:lnSpc>
                <a:spcPct val="150000"/>
              </a:lnSpc>
            </a:pPr>
            <a:r>
              <a:rPr lang="zh-CN" altLang="en-US" sz="3200">
                <a:latin typeface="等线" panose="02010600030101010101" pitchFamily="2" charset="-122"/>
              </a:rPr>
              <a:t>T5	652	股神七</a:t>
            </a:r>
          </a:p>
        </p:txBody>
      </p:sp>
    </p:spTree>
    <p:extLst>
      <p:ext uri="{BB962C8B-B14F-4D97-AF65-F5344CB8AC3E}">
        <p14:creationId xmlns:p14="http://schemas.microsoft.com/office/powerpoint/2010/main" val="9291748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26809</TotalTime>
  <Words>2859</Words>
  <Application>Microsoft Office PowerPoint</Application>
  <PresentationFormat>宽屏</PresentationFormat>
  <Paragraphs>669</Paragraphs>
  <Slides>59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59</vt:i4>
      </vt:variant>
    </vt:vector>
  </HeadingPairs>
  <TitlesOfParts>
    <vt:vector size="69" baseType="lpstr">
      <vt:lpstr>Adobe 黑体 Std R</vt:lpstr>
      <vt:lpstr>等线</vt:lpstr>
      <vt:lpstr>等线 Light</vt:lpstr>
      <vt:lpstr>黑体</vt:lpstr>
      <vt:lpstr>宋体</vt:lpstr>
      <vt:lpstr>Arial</vt:lpstr>
      <vt:lpstr>Calibri</vt:lpstr>
      <vt:lpstr>Cambria Math</vt:lpstr>
      <vt:lpstr>Consolas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股神七</vt:lpstr>
      <vt:lpstr>TE算法1：枚举左右端点+前缀和</vt:lpstr>
      <vt:lpstr>TE算法1：枚举左右端点+前缀和</vt:lpstr>
      <vt:lpstr>TE算法2：枚举答案+右端点+前缀和</vt:lpstr>
      <vt:lpstr>AC算法3：二分枚举答案O(NlogN)</vt:lpstr>
      <vt:lpstr>连续子段最大和： 长度不超过k</vt:lpstr>
      <vt:lpstr>连续子段最大和： 长度不超过k</vt:lpstr>
      <vt:lpstr>连续子段最大和： 长度不超过k</vt:lpstr>
      <vt:lpstr>PowerPoint 演示文稿</vt:lpstr>
      <vt:lpstr>PowerPoint 演示文稿</vt:lpstr>
      <vt:lpstr>PowerPoint 演示文稿</vt:lpstr>
      <vt:lpstr>SH-B260102 订正题号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lenovon</dc:creator>
  <cp:lastModifiedBy>Jacky</cp:lastModifiedBy>
  <cp:revision>2357</cp:revision>
  <dcterms:created xsi:type="dcterms:W3CDTF">2019-05-16T12:24:14Z</dcterms:created>
  <dcterms:modified xsi:type="dcterms:W3CDTF">2026-01-25T14:49:35Z</dcterms:modified>
</cp:coreProperties>
</file>