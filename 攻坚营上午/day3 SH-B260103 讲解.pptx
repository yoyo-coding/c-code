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9"/>
  </p:notesMasterIdLst>
  <p:sldIdLst>
    <p:sldId id="652" r:id="rId2"/>
    <p:sldId id="1536" r:id="rId3"/>
    <p:sldId id="1270" r:id="rId4"/>
    <p:sldId id="1271" r:id="rId5"/>
    <p:sldId id="1274" r:id="rId6"/>
    <p:sldId id="1272" r:id="rId7"/>
    <p:sldId id="1291" r:id="rId8"/>
    <p:sldId id="1292" r:id="rId9"/>
    <p:sldId id="1293" r:id="rId10"/>
    <p:sldId id="1296" r:id="rId11"/>
    <p:sldId id="1294" r:id="rId12"/>
    <p:sldId id="1297" r:id="rId13"/>
    <p:sldId id="1295" r:id="rId14"/>
    <p:sldId id="1298" r:id="rId15"/>
    <p:sldId id="1275" r:id="rId16"/>
    <p:sldId id="1290" r:id="rId17"/>
    <p:sldId id="1300" r:id="rId18"/>
    <p:sldId id="1301" r:id="rId19"/>
    <p:sldId id="1550" r:id="rId20"/>
    <p:sldId id="1289" r:id="rId21"/>
    <p:sldId id="1304" r:id="rId22"/>
    <p:sldId id="1307" r:id="rId23"/>
    <p:sldId id="1308" r:id="rId24"/>
    <p:sldId id="1309" r:id="rId25"/>
    <p:sldId id="1543" r:id="rId26"/>
    <p:sldId id="1403" r:id="rId27"/>
    <p:sldId id="1551" r:id="rId28"/>
    <p:sldId id="1404" r:id="rId29"/>
    <p:sldId id="1405" r:id="rId30"/>
    <p:sldId id="1406" r:id="rId31"/>
    <p:sldId id="1402" r:id="rId32"/>
    <p:sldId id="1544" r:id="rId33"/>
    <p:sldId id="1547" r:id="rId34"/>
    <p:sldId id="1548" r:id="rId35"/>
    <p:sldId id="1269" r:id="rId36"/>
    <p:sldId id="1282" r:id="rId37"/>
    <p:sldId id="1549" r:id="rId38"/>
    <p:sldId id="1288" r:id="rId39"/>
    <p:sldId id="433" r:id="rId40"/>
    <p:sldId id="1283" r:id="rId41"/>
    <p:sldId id="1284" r:id="rId42"/>
    <p:sldId id="1286" r:id="rId43"/>
    <p:sldId id="1545" r:id="rId44"/>
    <p:sldId id="622" r:id="rId45"/>
    <p:sldId id="367" r:id="rId46"/>
    <p:sldId id="375" r:id="rId47"/>
    <p:sldId id="382" r:id="rId48"/>
    <p:sldId id="383" r:id="rId49"/>
    <p:sldId id="384" r:id="rId50"/>
    <p:sldId id="385" r:id="rId51"/>
    <p:sldId id="386" r:id="rId52"/>
    <p:sldId id="387" r:id="rId53"/>
    <p:sldId id="388" r:id="rId54"/>
    <p:sldId id="389" r:id="rId55"/>
    <p:sldId id="276" r:id="rId56"/>
    <p:sldId id="1546" r:id="rId57"/>
    <p:sldId id="257" r:id="rId58"/>
    <p:sldId id="931" r:id="rId59"/>
    <p:sldId id="1181" r:id="rId60"/>
    <p:sldId id="1188" r:id="rId61"/>
    <p:sldId id="1190" r:id="rId62"/>
    <p:sldId id="1189" r:id="rId63"/>
    <p:sldId id="1193" r:id="rId64"/>
    <p:sldId id="1191" r:id="rId65"/>
    <p:sldId id="1192" r:id="rId66"/>
    <p:sldId id="1194" r:id="rId67"/>
    <p:sldId id="1535" r:id="rId6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AFF8F"/>
    <a:srgbClr val="CCFFFF"/>
    <a:srgbClr val="FFFFCC"/>
    <a:srgbClr val="7F7F7F"/>
    <a:srgbClr val="CCC1DA"/>
    <a:srgbClr val="FDEADA"/>
    <a:srgbClr val="F2F2F2"/>
    <a:srgbClr val="FFCC00"/>
    <a:srgbClr val="FFFF99"/>
    <a:srgbClr val="FF66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7630" autoAdjust="0"/>
  </p:normalViewPr>
  <p:slideViewPr>
    <p:cSldViewPr>
      <p:cViewPr>
        <p:scale>
          <a:sx n="75" d="100"/>
          <a:sy n="75" d="100"/>
        </p:scale>
        <p:origin x="264" y="499"/>
      </p:cViewPr>
      <p:guideLst>
        <p:guide orient="horz" pos="2160"/>
        <p:guide pos="3840"/>
      </p:guideLst>
    </p:cSldViewPr>
  </p:slideViewPr>
  <p:notesTextViewPr>
    <p:cViewPr>
      <p:scale>
        <a:sx n="100" d="100"/>
        <a:sy n="100" d="100"/>
      </p:scale>
      <p:origin x="0" y="0"/>
    </p:cViewPr>
  </p:notesTextViewPr>
  <p:sorterViewPr>
    <p:cViewPr>
      <p:scale>
        <a:sx n="100" d="100"/>
        <a:sy n="100" d="100"/>
      </p:scale>
      <p:origin x="0" y="1212"/>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35A777B-5971-487C-8674-87B93550FBC5}" type="datetimeFigureOut">
              <a:rPr lang="zh-CN" altLang="en-US" smtClean="0"/>
              <a:t>2026/1/22</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086F8E0-F49C-4E93-9A21-7BC557BE61F6}" type="slidenum">
              <a:rPr lang="zh-CN" altLang="en-US" smtClean="0"/>
              <a:t>‹#›</a:t>
            </a:fld>
            <a:endParaRPr lang="zh-CN" altLang="en-US"/>
          </a:p>
        </p:txBody>
      </p:sp>
    </p:spTree>
    <p:extLst>
      <p:ext uri="{BB962C8B-B14F-4D97-AF65-F5344CB8AC3E}">
        <p14:creationId xmlns:p14="http://schemas.microsoft.com/office/powerpoint/2010/main" val="28691789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086F8E0-F49C-4E93-9A21-7BC557BE61F6}" type="slidenum">
              <a:rPr lang="zh-CN" altLang="en-US" smtClean="0"/>
              <a:t>1</a:t>
            </a:fld>
            <a:endParaRPr lang="zh-CN" altLang="en-US"/>
          </a:p>
        </p:txBody>
      </p:sp>
    </p:spTree>
    <p:extLst>
      <p:ext uri="{BB962C8B-B14F-4D97-AF65-F5344CB8AC3E}">
        <p14:creationId xmlns:p14="http://schemas.microsoft.com/office/powerpoint/2010/main" val="26948038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086F8E0-F49C-4E93-9A21-7BC557BE61F6}" type="slidenum">
              <a:rPr lang="zh-CN" altLang="en-US" smtClean="0"/>
              <a:t>2</a:t>
            </a:fld>
            <a:endParaRPr lang="zh-CN" altLang="en-US"/>
          </a:p>
        </p:txBody>
      </p:sp>
    </p:spTree>
    <p:extLst>
      <p:ext uri="{BB962C8B-B14F-4D97-AF65-F5344CB8AC3E}">
        <p14:creationId xmlns:p14="http://schemas.microsoft.com/office/powerpoint/2010/main" val="28600216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086F8E0-F49C-4E93-9A21-7BC557BE61F6}" type="slidenum">
              <a:rPr lang="zh-CN" altLang="en-US" smtClean="0"/>
              <a:t>25</a:t>
            </a:fld>
            <a:endParaRPr lang="zh-CN" altLang="en-US"/>
          </a:p>
        </p:txBody>
      </p:sp>
    </p:spTree>
    <p:extLst>
      <p:ext uri="{BB962C8B-B14F-4D97-AF65-F5344CB8AC3E}">
        <p14:creationId xmlns:p14="http://schemas.microsoft.com/office/powerpoint/2010/main" val="35403538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086F8E0-F49C-4E93-9A21-7BC557BE61F6}" type="slidenum">
              <a:rPr lang="zh-CN" altLang="en-US" smtClean="0"/>
              <a:t>32</a:t>
            </a:fld>
            <a:endParaRPr lang="zh-CN" altLang="en-US"/>
          </a:p>
        </p:txBody>
      </p:sp>
    </p:spTree>
    <p:extLst>
      <p:ext uri="{BB962C8B-B14F-4D97-AF65-F5344CB8AC3E}">
        <p14:creationId xmlns:p14="http://schemas.microsoft.com/office/powerpoint/2010/main" val="8043250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086F8E0-F49C-4E93-9A21-7BC557BE61F6}" type="slidenum">
              <a:rPr lang="zh-CN" altLang="en-US" smtClean="0"/>
              <a:t>43</a:t>
            </a:fld>
            <a:endParaRPr lang="zh-CN" altLang="en-US"/>
          </a:p>
        </p:txBody>
      </p:sp>
    </p:spTree>
    <p:extLst>
      <p:ext uri="{BB962C8B-B14F-4D97-AF65-F5344CB8AC3E}">
        <p14:creationId xmlns:p14="http://schemas.microsoft.com/office/powerpoint/2010/main" val="33143027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086F8E0-F49C-4E93-9A21-7BC557BE61F6}" type="slidenum">
              <a:rPr lang="zh-CN" altLang="en-US" smtClean="0"/>
              <a:t>44</a:t>
            </a:fld>
            <a:endParaRPr lang="zh-CN" altLang="en-US"/>
          </a:p>
        </p:txBody>
      </p:sp>
    </p:spTree>
    <p:extLst>
      <p:ext uri="{BB962C8B-B14F-4D97-AF65-F5344CB8AC3E}">
        <p14:creationId xmlns:p14="http://schemas.microsoft.com/office/powerpoint/2010/main" val="14803075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第</a:t>
            </a:r>
            <a:r>
              <a:rPr lang="en-US" altLang="zh-CN" dirty="0"/>
              <a:t>20</a:t>
            </a:r>
            <a:r>
              <a:rPr lang="zh-CN" altLang="en-US" dirty="0"/>
              <a:t>行意味着相遇了、碰头了！</a:t>
            </a:r>
            <a:endParaRPr lang="en-US" altLang="zh-CN" dirty="0"/>
          </a:p>
          <a:p>
            <a:r>
              <a:rPr lang="zh-CN" altLang="en-US" dirty="0"/>
              <a:t>第</a:t>
            </a:r>
            <a:r>
              <a:rPr lang="en-US" altLang="zh-CN" dirty="0"/>
              <a:t>15</a:t>
            </a:r>
            <a:r>
              <a:rPr lang="zh-CN" altLang="en-US" dirty="0"/>
              <a:t>行：为什么要哪个队列小</a:t>
            </a:r>
            <a:r>
              <a:rPr lang="en-US" altLang="zh-CN" dirty="0"/>
              <a:t>push</a:t>
            </a:r>
            <a:r>
              <a:rPr lang="zh-CN" altLang="en-US" dirty="0"/>
              <a:t>哪个呢？每次扩展搜索树小的队列？</a:t>
            </a:r>
            <a:endParaRPr lang="en-US" altLang="zh-CN" dirty="0"/>
          </a:p>
          <a:p>
            <a:r>
              <a:rPr lang="zh-CN" altLang="en-US" dirty="0"/>
              <a:t>我们同时从上面和下面开始延伸这两棵树子的话，一旦两头撞在一起就可以说明搜索到了，因为两颗搜索树的搜索规则是相反的，两棵树相遇的时候从一边的节点一定可以顺着另外一边的搜索枝到达终点</a:t>
            </a:r>
            <a:endParaRPr lang="en-US" altLang="zh-CN" dirty="0"/>
          </a:p>
          <a:p>
            <a:r>
              <a:rPr lang="zh-CN" altLang="en-US" dirty="0"/>
              <a:t>上小下大的</a:t>
            </a:r>
            <a:r>
              <a:rPr lang="en-US" altLang="zh-CN" dirty="0"/>
              <a:t>BFS</a:t>
            </a:r>
            <a:r>
              <a:rPr lang="zh-CN" altLang="en-US" dirty="0"/>
              <a:t>搜索树</a:t>
            </a:r>
            <a:endParaRPr lang="en-US" altLang="zh-CN" dirty="0"/>
          </a:p>
          <a:p>
            <a:r>
              <a:rPr lang="zh-CN" altLang="en-US" dirty="0"/>
              <a:t>上大下小的</a:t>
            </a:r>
            <a:r>
              <a:rPr lang="en-US" altLang="zh-CN" dirty="0"/>
              <a:t>BFS</a:t>
            </a:r>
            <a:r>
              <a:rPr lang="zh-CN" altLang="en-US" dirty="0"/>
              <a:t>搜索树</a:t>
            </a:r>
            <a:endParaRPr lang="en-US" altLang="zh-CN" dirty="0"/>
          </a:p>
          <a:p>
            <a:r>
              <a:rPr lang="zh-CN" altLang="en-US" b="1" dirty="0"/>
              <a:t>水波扩散可以作为说明</a:t>
            </a:r>
          </a:p>
        </p:txBody>
      </p:sp>
      <p:sp>
        <p:nvSpPr>
          <p:cNvPr id="4" name="灯片编号占位符 3"/>
          <p:cNvSpPr>
            <a:spLocks noGrp="1"/>
          </p:cNvSpPr>
          <p:nvPr>
            <p:ph type="sldNum" sz="quarter" idx="5"/>
          </p:nvPr>
        </p:nvSpPr>
        <p:spPr/>
        <p:txBody>
          <a:bodyPr/>
          <a:lstStyle/>
          <a:p>
            <a:fld id="{B23C3A7A-21B7-46D6-A597-D269475571ED}" type="slidenum">
              <a:rPr lang="zh-CN" altLang="en-US" smtClean="0"/>
              <a:t>55</a:t>
            </a:fld>
            <a:endParaRPr lang="zh-CN" altLang="en-US"/>
          </a:p>
        </p:txBody>
      </p:sp>
    </p:spTree>
    <p:extLst>
      <p:ext uri="{BB962C8B-B14F-4D97-AF65-F5344CB8AC3E}">
        <p14:creationId xmlns:p14="http://schemas.microsoft.com/office/powerpoint/2010/main" val="21917826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086F8E0-F49C-4E93-9A21-7BC557BE61F6}" type="slidenum">
              <a:rPr lang="zh-CN" altLang="en-US" smtClean="0"/>
              <a:t>56</a:t>
            </a:fld>
            <a:endParaRPr lang="zh-CN" altLang="en-US"/>
          </a:p>
        </p:txBody>
      </p:sp>
    </p:spTree>
    <p:extLst>
      <p:ext uri="{BB962C8B-B14F-4D97-AF65-F5344CB8AC3E}">
        <p14:creationId xmlns:p14="http://schemas.microsoft.com/office/powerpoint/2010/main" val="1262577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086F8E0-F49C-4E93-9A21-7BC557BE61F6}" type="slidenum">
              <a:rPr lang="zh-CN" altLang="en-US" smtClean="0"/>
              <a:t>67</a:t>
            </a:fld>
            <a:endParaRPr lang="zh-CN" altLang="en-US"/>
          </a:p>
        </p:txBody>
      </p:sp>
    </p:spTree>
    <p:extLst>
      <p:ext uri="{BB962C8B-B14F-4D97-AF65-F5344CB8AC3E}">
        <p14:creationId xmlns:p14="http://schemas.microsoft.com/office/powerpoint/2010/main" val="36330917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2"/>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2"/>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2"/>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4"/>
            <a:ext cx="5386917"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70" y="1535114"/>
            <a:ext cx="5389033"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70"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3" y="273050"/>
            <a:ext cx="4011084" cy="1162051"/>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3"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1"/>
            <a:ext cx="7315200" cy="566739"/>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9"/>
            <a:ext cx="73152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40"/>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40"/>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Shape 56"/>
          <p:cNvSpPr>
            <a:spLocks noGrp="1"/>
          </p:cNvSpPr>
          <p:nvPr>
            <p:ph type="title" hasCustomPrompt="1"/>
          </p:nvPr>
        </p:nvSpPr>
        <p:spPr>
          <a:prstGeom prst="rect">
            <a:avLst/>
          </a:prstGeom>
        </p:spPr>
        <p:txBody>
          <a:bodyPr/>
          <a:lstStyle/>
          <a:p>
            <a:r>
              <a:t>Title Text</a:t>
            </a:r>
          </a:p>
        </p:txBody>
      </p:sp>
      <p:sp>
        <p:nvSpPr>
          <p:cNvPr id="57" name="Shape 57"/>
          <p:cNvSpPr>
            <a:spLocks noGrp="1"/>
          </p:cNvSpPr>
          <p:nvPr>
            <p:ph type="body" idx="1" hasCustomPrompt="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58" name="Shape 58"/>
          <p:cNvSpPr>
            <a:spLocks noGrp="1"/>
          </p:cNvSpPr>
          <p:nvPr>
            <p:ph type="sldNum" sz="quarter" idx="2"/>
          </p:nvPr>
        </p:nvSpPr>
        <p:spPr>
          <a:prstGeom prst="rect">
            <a:avLst/>
          </a:prstGeom>
        </p:spPr>
        <p:txBody>
          <a:bodyPr/>
          <a:lstStyle/>
          <a:p>
            <a:fld id="{86CB4B4D-7CA3-9044-876B-883B54F8677D}" type="slidenum">
              <a:rPr/>
              <a:t>‹#›</a:t>
            </a:fld>
            <a:endParaRPr dirty="0"/>
          </a:p>
        </p:txBody>
      </p:sp>
    </p:spTree>
    <p:extLst>
      <p:ext uri="{BB962C8B-B14F-4D97-AF65-F5344CB8AC3E}">
        <p14:creationId xmlns:p14="http://schemas.microsoft.com/office/powerpoint/2010/main" val="3583311944"/>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10">
          <a:fgClr>
            <a:schemeClr val="accent6">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2"/>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2"/>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页脚占位符 4"/>
          <p:cNvSpPr>
            <a:spLocks noGrp="1"/>
          </p:cNvSpPr>
          <p:nvPr>
            <p:ph type="ftr" sz="quarter" idx="3"/>
          </p:nvPr>
        </p:nvSpPr>
        <p:spPr>
          <a:xfrm>
            <a:off x="4165600" y="6356352"/>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963848" y="6356352"/>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dirty="0"/>
          </a:p>
        </p:txBody>
      </p:sp>
      <p:sp>
        <p:nvSpPr>
          <p:cNvPr id="7" name="灯片编号占位符 5">
            <a:extLst>
              <a:ext uri="{FF2B5EF4-FFF2-40B4-BE49-F238E27FC236}">
                <a16:creationId xmlns:a16="http://schemas.microsoft.com/office/drawing/2014/main" id="{8705028F-7131-FB0E-F166-1DA6025452E4}"/>
              </a:ext>
            </a:extLst>
          </p:cNvPr>
          <p:cNvSpPr txBox="1">
            <a:spLocks/>
          </p:cNvSpPr>
          <p:nvPr userDrawn="1"/>
        </p:nvSpPr>
        <p:spPr>
          <a:xfrm>
            <a:off x="9192344" y="6356351"/>
            <a:ext cx="28448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a:t>/67</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7" Type="http://schemas.microsoft.com/office/2007/relationships/hdphoto" Target="../media/hdphoto2.wdp"/><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650ED-5D37-DCE0-9FF3-51118D055476}"/>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50C0CDAC-A0F6-2473-E145-30FC649823C9}"/>
              </a:ext>
            </a:extLst>
          </p:cNvPr>
          <p:cNvPicPr>
            <a:picLocks noChangeAspect="1" noChangeArrowheads="1"/>
          </p:cNvPicPr>
          <p:nvPr/>
        </p:nvPicPr>
        <p:blipFill rotWithShape="1">
          <a:blip r:embed="rId3">
            <a:alphaModFix amt="20000"/>
            <a:extLst>
              <a:ext uri="{BEBA8EAE-BF5A-486C-A8C5-ECC9F3942E4B}">
                <a14:imgProps xmlns:a14="http://schemas.microsoft.com/office/drawing/2010/main">
                  <a14:imgLayer r:embed="rId4">
                    <a14:imgEffect>
                      <a14:artisticGlowEdges trans="20000"/>
                    </a14:imgEffect>
                  </a14:imgLayer>
                </a14:imgProps>
              </a:ext>
              <a:ext uri="{28A0092B-C50C-407E-A947-70E740481C1C}">
                <a14:useLocalDpi xmlns:a14="http://schemas.microsoft.com/office/drawing/2010/main" val="0"/>
              </a:ext>
            </a:extLst>
          </a:blip>
          <a:srcRect b="5003"/>
          <a:stretch/>
        </p:blipFill>
        <p:spPr bwMode="auto">
          <a:xfrm>
            <a:off x="-41149" y="-891480"/>
            <a:ext cx="12230363" cy="7749480"/>
          </a:xfrm>
          <a:prstGeom prst="rect">
            <a:avLst/>
          </a:prstGeom>
          <a:extLst>
            <a:ext uri="{909E8E84-426E-40DD-AFC4-6F175D3DCCD1}">
              <a14:hiddenFill xmlns:a14="http://schemas.microsoft.com/office/drawing/2010/main">
                <a:solidFill>
                  <a:srgbClr val="FFFFFF"/>
                </a:solidFill>
              </a14:hiddenFill>
            </a:ext>
          </a:extLst>
        </p:spPr>
      </p:pic>
      <p:sp>
        <p:nvSpPr>
          <p:cNvPr id="9" name="文本框 5">
            <a:extLst>
              <a:ext uri="{FF2B5EF4-FFF2-40B4-BE49-F238E27FC236}">
                <a16:creationId xmlns:a16="http://schemas.microsoft.com/office/drawing/2014/main" id="{6C8C61F7-EAC1-0068-A016-4A66881184B4}"/>
              </a:ext>
            </a:extLst>
          </p:cNvPr>
          <p:cNvSpPr txBox="1"/>
          <p:nvPr/>
        </p:nvSpPr>
        <p:spPr>
          <a:xfrm>
            <a:off x="0" y="4653136"/>
            <a:ext cx="12192000" cy="1107996"/>
          </a:xfrm>
          <a:prstGeom prst="rect">
            <a:avLst/>
          </a:prstGeom>
          <a:solidFill>
            <a:schemeClr val="tx2">
              <a:lumMod val="40000"/>
              <a:lumOff val="60000"/>
            </a:schemeClr>
          </a:solidFill>
        </p:spPr>
        <p:txBody>
          <a:bodyPr wrap="square" rtlCol="0">
            <a:spAutoFit/>
          </a:bodyPr>
          <a:lstStyle/>
          <a:p>
            <a:pPr algn="ctr"/>
            <a:r>
              <a:rPr lang="en-US" altLang="zh-CN" sz="66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mj-ea"/>
                <a:cs typeface="+mn-ea"/>
              </a:rPr>
              <a:t>day3 SH-B260103 </a:t>
            </a:r>
            <a:r>
              <a:rPr lang="zh-CN" altLang="en-US" sz="660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mj-ea"/>
                <a:cs typeface="+mn-ea"/>
              </a:rPr>
              <a:t>集训</a:t>
            </a:r>
            <a:r>
              <a:rPr lang="en-US" altLang="zh-CN" sz="66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mj-ea"/>
                <a:cs typeface="+mn-ea"/>
              </a:rPr>
              <a:t>-</a:t>
            </a:r>
            <a:r>
              <a:rPr lang="zh-CN" altLang="en-US" sz="66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mj-ea"/>
                <a:cs typeface="+mn-ea"/>
              </a:rPr>
              <a:t>讲解</a:t>
            </a:r>
            <a:endParaRPr lang="zh-CN" altLang="en-US" sz="66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mj-ea"/>
              <a:ea typeface="+mj-ea"/>
              <a:cs typeface="+mn-ea"/>
              <a:sym typeface="+mn-lt"/>
            </a:endParaRPr>
          </a:p>
        </p:txBody>
      </p:sp>
      <p:sp>
        <p:nvSpPr>
          <p:cNvPr id="2" name="矩形 1">
            <a:extLst>
              <a:ext uri="{FF2B5EF4-FFF2-40B4-BE49-F238E27FC236}">
                <a16:creationId xmlns:a16="http://schemas.microsoft.com/office/drawing/2014/main" id="{7C99DA6F-3538-408A-46E5-D64CF01522FE}"/>
              </a:ext>
            </a:extLst>
          </p:cNvPr>
          <p:cNvSpPr/>
          <p:nvPr/>
        </p:nvSpPr>
        <p:spPr>
          <a:xfrm>
            <a:off x="657096" y="428715"/>
            <a:ext cx="5400600" cy="2554545"/>
          </a:xfrm>
          <a:prstGeom prst="rect">
            <a:avLst/>
          </a:prstGeom>
          <a:noFill/>
          <a:scene3d>
            <a:camera prst="orthographicFront"/>
            <a:lightRig rig="threePt" dir="t"/>
          </a:scene3d>
          <a:sp3d>
            <a:bevelT w="152400" h="50800" prst="softRound"/>
          </a:sp3d>
        </p:spPr>
        <p:txBody>
          <a:bodyPr wrap="square" lIns="91440" tIns="45720" rIns="91440" bIns="45720">
            <a:spAutoFit/>
          </a:bodyPr>
          <a:lstStyle/>
          <a:p>
            <a:pPr algn="just"/>
            <a:r>
              <a:rPr lang="en-US" altLang="zh-CN" sz="16000" dirty="0">
                <a:ln w="0"/>
                <a:gradFill>
                  <a:gsLst>
                    <a:gs pos="0">
                      <a:schemeClr val="accent5">
                        <a:lumMod val="50000"/>
                      </a:schemeClr>
                    </a:gs>
                    <a:gs pos="50000">
                      <a:schemeClr val="accent5"/>
                    </a:gs>
                    <a:gs pos="100000">
                      <a:schemeClr val="accent5">
                        <a:lumMod val="60000"/>
                        <a:lumOff val="40000"/>
                      </a:schemeClr>
                    </a:gs>
                  </a:gsLst>
                  <a:lin ang="5400000"/>
                </a:gradFill>
                <a:effectLst>
                  <a:outerShdw blurRad="38100" dist="38100" dir="2700000" algn="tl">
                    <a:srgbClr val="000000">
                      <a:alpha val="43137"/>
                    </a:srgbClr>
                  </a:outerShdw>
                  <a:reflection blurRad="6350" stA="53000" endA="300" endPos="35500" dir="5400000" sy="-90000" algn="bl" rotWithShape="0"/>
                </a:effectLst>
                <a:latin typeface="Adobe 黑体 Std R" panose="020B0400000000000000" pitchFamily="34" charset="-122"/>
                <a:ea typeface="Adobe 黑体 Std R" panose="020B0400000000000000" pitchFamily="34" charset="-122"/>
              </a:rPr>
              <a:t>C++</a:t>
            </a:r>
            <a:endParaRPr lang="zh-CN" altLang="en-US" sz="16000" dirty="0">
              <a:ln w="0"/>
              <a:gradFill>
                <a:gsLst>
                  <a:gs pos="0">
                    <a:schemeClr val="accent5">
                      <a:lumMod val="50000"/>
                    </a:schemeClr>
                  </a:gs>
                  <a:gs pos="50000">
                    <a:schemeClr val="accent5"/>
                  </a:gs>
                  <a:gs pos="100000">
                    <a:schemeClr val="accent5">
                      <a:lumMod val="60000"/>
                      <a:lumOff val="40000"/>
                    </a:schemeClr>
                  </a:gs>
                </a:gsLst>
                <a:lin ang="5400000"/>
              </a:gradFill>
              <a:effectLst>
                <a:outerShdw blurRad="38100" dist="38100" dir="2700000" algn="tl">
                  <a:srgbClr val="000000">
                    <a:alpha val="43137"/>
                  </a:srgbClr>
                </a:outerShdw>
                <a:reflection blurRad="6350" stA="53000" endA="300" endPos="35500" dir="5400000" sy="-90000" algn="bl" rotWithShape="0"/>
              </a:effectLst>
              <a:latin typeface="Adobe 黑体 Std R" panose="020B0400000000000000" pitchFamily="34" charset="-122"/>
              <a:ea typeface="Adobe 黑体 Std R" panose="020B0400000000000000" pitchFamily="34" charset="-122"/>
            </a:endParaRPr>
          </a:p>
        </p:txBody>
      </p:sp>
      <p:sp>
        <p:nvSpPr>
          <p:cNvPr id="3" name="灯片编号占位符 2">
            <a:extLst>
              <a:ext uri="{FF2B5EF4-FFF2-40B4-BE49-F238E27FC236}">
                <a16:creationId xmlns:a16="http://schemas.microsoft.com/office/drawing/2014/main" id="{395887D4-41B9-7CE2-B449-1030F66316F5}"/>
              </a:ext>
            </a:extLst>
          </p:cNvPr>
          <p:cNvSpPr>
            <a:spLocks noGrp="1"/>
          </p:cNvSpPr>
          <p:nvPr>
            <p:ph type="sldNum" sz="quarter" idx="12"/>
          </p:nvPr>
        </p:nvSpPr>
        <p:spPr/>
        <p:txBody>
          <a:bodyPr/>
          <a:lstStyle/>
          <a:p>
            <a:fld id="{0C913308-F349-4B6D-A68A-DD1791B4A57B}" type="slidenum">
              <a:rPr lang="zh-CN" altLang="en-US" smtClean="0"/>
              <a:t>1</a:t>
            </a:fld>
            <a:endParaRPr lang="zh-CN" altLang="en-US"/>
          </a:p>
        </p:txBody>
      </p:sp>
    </p:spTree>
    <p:extLst>
      <p:ext uri="{BB962C8B-B14F-4D97-AF65-F5344CB8AC3E}">
        <p14:creationId xmlns:p14="http://schemas.microsoft.com/office/powerpoint/2010/main" val="11957229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1E976-E7D6-8426-B05A-DB40C48F6393}"/>
            </a:ext>
          </a:extLst>
        </p:cNvPr>
        <p:cNvGrpSpPr/>
        <p:nvPr/>
      </p:nvGrpSpPr>
      <p:grpSpPr>
        <a:xfrm>
          <a:off x="0" y="0"/>
          <a:ext cx="0" cy="0"/>
          <a:chOff x="0" y="0"/>
          <a:chExt cx="0" cy="0"/>
        </a:xfrm>
      </p:grpSpPr>
      <p:sp>
        <p:nvSpPr>
          <p:cNvPr id="2" name="TextBox 3">
            <a:extLst>
              <a:ext uri="{FF2B5EF4-FFF2-40B4-BE49-F238E27FC236}">
                <a16:creationId xmlns:a16="http://schemas.microsoft.com/office/drawing/2014/main" id="{58AF0DB1-FA76-B53F-770F-A54555503574}"/>
              </a:ext>
            </a:extLst>
          </p:cNvPr>
          <p:cNvSpPr txBox="1"/>
          <p:nvPr/>
        </p:nvSpPr>
        <p:spPr>
          <a:xfrm>
            <a:off x="-210616" y="2636912"/>
            <a:ext cx="12613232" cy="1015659"/>
          </a:xfrm>
          <a:prstGeom prst="rect">
            <a:avLst/>
          </a:prstGeom>
          <a:solidFill>
            <a:srgbClr val="F2F2F2"/>
          </a:solidFill>
          <a:ln w="12700">
            <a:solidFill>
              <a:srgbClr val="4A452A"/>
            </a:solidFill>
          </a:ln>
        </p:spPr>
        <p:txBody>
          <a:bodyPr wrap="square" lIns="45718" tIns="45718" rIns="45718" bIns="45718">
            <a:spAutoFit/>
          </a:bodyPr>
          <a:lstStyle>
            <a:defPPr>
              <a:defRPr lang="zh-CN"/>
            </a:defPPr>
            <a:lvl1pPr algn="ctr" defTabSz="914367">
              <a:defRPr sz="3937">
                <a:latin typeface="Calibri"/>
                <a:ea typeface="Calibri"/>
                <a:cs typeface="Calibri"/>
              </a:defRPr>
            </a:lvl1pPr>
          </a:lstStyle>
          <a:p>
            <a:pPr>
              <a:defRPr sz="5600">
                <a:latin typeface="Calibri"/>
                <a:ea typeface="Calibri"/>
                <a:cs typeface="Calibri"/>
                <a:sym typeface="Calibri"/>
              </a:defRPr>
            </a:pPr>
            <a:r>
              <a:rPr lang="en-US" altLang="zh-CN" sz="6000" dirty="0"/>
              <a:t>T1 </a:t>
            </a:r>
            <a:r>
              <a:rPr lang="zh-CN" altLang="en-US" sz="6000"/>
              <a:t>投资方案</a:t>
            </a:r>
            <a:endParaRPr lang="zh-CN" altLang="en-US" sz="6000" dirty="0"/>
          </a:p>
        </p:txBody>
      </p:sp>
      <p:sp>
        <p:nvSpPr>
          <p:cNvPr id="4" name="灯片编号占位符 3">
            <a:extLst>
              <a:ext uri="{FF2B5EF4-FFF2-40B4-BE49-F238E27FC236}">
                <a16:creationId xmlns:a16="http://schemas.microsoft.com/office/drawing/2014/main" id="{59D79162-2E5E-2A96-CC9E-D0A2FD574880}"/>
              </a:ext>
            </a:extLst>
          </p:cNvPr>
          <p:cNvSpPr>
            <a:spLocks noGrp="1"/>
          </p:cNvSpPr>
          <p:nvPr>
            <p:ph type="sldNum" sz="quarter" idx="2"/>
          </p:nvPr>
        </p:nvSpPr>
        <p:spPr/>
        <p:txBody>
          <a:bodyPr/>
          <a:lstStyle/>
          <a:p>
            <a:fld id="{86CB4B4D-7CA3-9044-876B-883B54F8677D}" type="slidenum">
              <a:rPr lang="en-US" altLang="zh-CN" smtClean="0"/>
              <a:t>2</a:t>
            </a:fld>
            <a:endParaRPr lang="en-US" altLang="zh-CN" dirty="0"/>
          </a:p>
        </p:txBody>
      </p:sp>
    </p:spTree>
    <p:extLst>
      <p:ext uri="{BB962C8B-B14F-4D97-AF65-F5344CB8AC3E}">
        <p14:creationId xmlns:p14="http://schemas.microsoft.com/office/powerpoint/2010/main" val="273280051"/>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19037A0C-02DA-974C-7EA0-20B2B115A5B4}"/>
              </a:ext>
            </a:extLst>
          </p:cNvPr>
          <p:cNvSpPr/>
          <p:nvPr/>
        </p:nvSpPr>
        <p:spPr>
          <a:xfrm>
            <a:off x="3503712" y="980729"/>
            <a:ext cx="5330452" cy="1200329"/>
          </a:xfrm>
          <a:prstGeom prst="rect">
            <a:avLst/>
          </a:prstGeom>
          <a:noFill/>
          <a:ln>
            <a:solidFill>
              <a:schemeClr val="bg2">
                <a:lumMod val="25000"/>
              </a:schemeClr>
            </a:solidFill>
          </a:ln>
        </p:spPr>
        <p:txBody>
          <a:bodyPr wrap="square">
            <a:spAutoFit/>
          </a:bodyPr>
          <a:lstStyle/>
          <a:p>
            <a:pPr algn="ctr"/>
            <a:r>
              <a:rPr lang="zh-CN" altLang="en-US" sz="3600" dirty="0">
                <a:latin typeface="Consolas" pitchFamily="49" charset="0"/>
                <a:cs typeface="Consolas" pitchFamily="49" charset="0"/>
              </a:rPr>
              <a:t>请同学写出题目大意</a:t>
            </a:r>
            <a:endParaRPr lang="en-US" altLang="zh-CN" sz="3600" dirty="0">
              <a:latin typeface="Consolas" pitchFamily="49" charset="0"/>
              <a:cs typeface="Consolas" pitchFamily="49" charset="0"/>
            </a:endParaRPr>
          </a:p>
          <a:p>
            <a:pPr algn="ctr"/>
            <a:r>
              <a:rPr lang="zh-CN" altLang="en-US" sz="3600" dirty="0">
                <a:latin typeface="Consolas" pitchFamily="49" charset="0"/>
                <a:cs typeface="Consolas" pitchFamily="49" charset="0"/>
              </a:rPr>
              <a:t>已知什么求什么</a:t>
            </a:r>
          </a:p>
        </p:txBody>
      </p:sp>
      <p:sp>
        <p:nvSpPr>
          <p:cNvPr id="7" name="矩形 6">
            <a:extLst>
              <a:ext uri="{FF2B5EF4-FFF2-40B4-BE49-F238E27FC236}">
                <a16:creationId xmlns:a16="http://schemas.microsoft.com/office/drawing/2014/main" id="{6BE282AC-317D-5183-EE87-7B639BEC9DF4}"/>
              </a:ext>
            </a:extLst>
          </p:cNvPr>
          <p:cNvSpPr/>
          <p:nvPr/>
        </p:nvSpPr>
        <p:spPr>
          <a:xfrm>
            <a:off x="2854710" y="2708920"/>
            <a:ext cx="6482580" cy="461665"/>
          </a:xfrm>
          <a:prstGeom prst="rect">
            <a:avLst/>
          </a:prstGeom>
          <a:noFill/>
          <a:ln>
            <a:solidFill>
              <a:schemeClr val="bg2">
                <a:lumMod val="25000"/>
              </a:schemeClr>
            </a:solidFill>
          </a:ln>
        </p:spPr>
        <p:txBody>
          <a:bodyPr wrap="square">
            <a:spAutoFit/>
          </a:bodyPr>
          <a:lstStyle/>
          <a:p>
            <a:pPr algn="just"/>
            <a:r>
              <a:rPr lang="zh-CN" altLang="en-US" sz="2400" dirty="0">
                <a:latin typeface="Consolas" pitchFamily="49" charset="0"/>
                <a:cs typeface="Consolas" pitchFamily="49" charset="0"/>
              </a:rPr>
              <a:t>已知</a:t>
            </a:r>
            <a:r>
              <a:rPr lang="en-US" altLang="zh-CN" sz="2400" dirty="0">
                <a:latin typeface="Consolas" pitchFamily="49" charset="0"/>
                <a:cs typeface="Consolas" pitchFamily="49" charset="0"/>
              </a:rPr>
              <a:t>n</a:t>
            </a:r>
            <a:r>
              <a:rPr lang="zh-CN" altLang="en-US" sz="2400" dirty="0">
                <a:latin typeface="Consolas" pitchFamily="49" charset="0"/>
                <a:cs typeface="Consolas" pitchFamily="49" charset="0"/>
              </a:rPr>
              <a:t>个整数的序列，求最大子段和的方案计数。</a:t>
            </a:r>
            <a:endParaRPr lang="zh-CN" altLang="zh-CN" sz="2400" dirty="0">
              <a:latin typeface="Consolas" pitchFamily="49" charset="0"/>
              <a:cs typeface="Consolas" pitchFamily="49" charset="0"/>
            </a:endParaRPr>
          </a:p>
        </p:txBody>
      </p:sp>
      <p:sp>
        <p:nvSpPr>
          <p:cNvPr id="2" name="灯片编号占位符 1">
            <a:extLst>
              <a:ext uri="{FF2B5EF4-FFF2-40B4-BE49-F238E27FC236}">
                <a16:creationId xmlns:a16="http://schemas.microsoft.com/office/drawing/2014/main" id="{8DCEF0D2-C791-46FD-B2B0-30C6B065656F}"/>
              </a:ext>
            </a:extLst>
          </p:cNvPr>
          <p:cNvSpPr>
            <a:spLocks noGrp="1"/>
          </p:cNvSpPr>
          <p:nvPr>
            <p:ph type="sldNum" sz="quarter" idx="12"/>
          </p:nvPr>
        </p:nvSpPr>
        <p:spPr/>
        <p:txBody>
          <a:bodyPr/>
          <a:lstStyle/>
          <a:p>
            <a:fld id="{0C913308-F349-4B6D-A68A-DD1791B4A57B}" type="slidenum">
              <a:rPr lang="zh-CN" altLang="en-US" smtClean="0"/>
              <a:t>3</a:t>
            </a:fld>
            <a:endParaRPr lang="zh-CN" altLang="en-US"/>
          </a:p>
        </p:txBody>
      </p:sp>
    </p:spTree>
    <p:extLst>
      <p:ext uri="{BB962C8B-B14F-4D97-AF65-F5344CB8AC3E}">
        <p14:creationId xmlns:p14="http://schemas.microsoft.com/office/powerpoint/2010/main" val="206485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1"/>
          <p:cNvSpPr txBox="1">
            <a:spLocks/>
          </p:cNvSpPr>
          <p:nvPr/>
        </p:nvSpPr>
        <p:spPr>
          <a:xfrm>
            <a:off x="2329064" y="320998"/>
            <a:ext cx="7505700" cy="443707"/>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4000" dirty="0">
                <a:solidFill>
                  <a:schemeClr val="tx1"/>
                </a:solidFill>
                <a:latin typeface="Consolas" pitchFamily="49" charset="0"/>
                <a:cs typeface="Consolas" pitchFamily="49" charset="0"/>
              </a:rPr>
              <a:t>部分分策略讨论</a:t>
            </a:r>
          </a:p>
        </p:txBody>
      </p:sp>
      <p:sp>
        <p:nvSpPr>
          <p:cNvPr id="2" name="矩形 1">
            <a:extLst>
              <a:ext uri="{FF2B5EF4-FFF2-40B4-BE49-F238E27FC236}">
                <a16:creationId xmlns:a16="http://schemas.microsoft.com/office/drawing/2014/main" id="{9719A113-B5AE-8BA4-C36E-98BBC1AE78E8}"/>
              </a:ext>
            </a:extLst>
          </p:cNvPr>
          <p:cNvSpPr/>
          <p:nvPr/>
        </p:nvSpPr>
        <p:spPr>
          <a:xfrm>
            <a:off x="1919536" y="2060849"/>
            <a:ext cx="1656184" cy="307777"/>
          </a:xfrm>
          <a:prstGeom prst="rect">
            <a:avLst/>
          </a:prstGeom>
          <a:solidFill>
            <a:schemeClr val="bg1">
              <a:lumMod val="95000"/>
            </a:schemeClr>
          </a:solidFill>
          <a:ln>
            <a:solidFill>
              <a:schemeClr val="bg2">
                <a:lumMod val="25000"/>
              </a:schemeClr>
            </a:solidFill>
          </a:ln>
        </p:spPr>
        <p:txBody>
          <a:bodyPr wrap="square">
            <a:spAutoFit/>
          </a:bodyPr>
          <a:lstStyle/>
          <a:p>
            <a:pPr algn="ctr"/>
            <a:r>
              <a:rPr lang="zh-CN" altLang="en-US" sz="1400" dirty="0">
                <a:latin typeface="Consolas" panose="020B0609020204030204" pitchFamily="49" charset="0"/>
              </a:rPr>
              <a:t>特殊情况</a:t>
            </a:r>
            <a:endParaRPr lang="zh-CN" altLang="zh-CN" sz="1400" dirty="0">
              <a:latin typeface="Consolas" panose="020B0609020204030204" pitchFamily="49" charset="0"/>
            </a:endParaRPr>
          </a:p>
        </p:txBody>
      </p:sp>
      <p:sp>
        <p:nvSpPr>
          <p:cNvPr id="4" name="矩形 3">
            <a:extLst>
              <a:ext uri="{FF2B5EF4-FFF2-40B4-BE49-F238E27FC236}">
                <a16:creationId xmlns:a16="http://schemas.microsoft.com/office/drawing/2014/main" id="{B0E23672-4ED0-D924-3A4D-03AD5F890F25}"/>
              </a:ext>
            </a:extLst>
          </p:cNvPr>
          <p:cNvSpPr/>
          <p:nvPr/>
        </p:nvSpPr>
        <p:spPr>
          <a:xfrm>
            <a:off x="1919536" y="2485925"/>
            <a:ext cx="1656184" cy="307777"/>
          </a:xfrm>
          <a:prstGeom prst="rect">
            <a:avLst/>
          </a:prstGeom>
          <a:solidFill>
            <a:schemeClr val="bg1">
              <a:lumMod val="95000"/>
            </a:schemeClr>
          </a:solidFill>
          <a:ln>
            <a:solidFill>
              <a:schemeClr val="bg2">
                <a:lumMod val="25000"/>
              </a:schemeClr>
            </a:solidFill>
          </a:ln>
        </p:spPr>
        <p:txBody>
          <a:bodyPr wrap="square">
            <a:spAutoFit/>
          </a:bodyPr>
          <a:lstStyle/>
          <a:p>
            <a:pPr algn="ctr"/>
            <a:r>
              <a:rPr lang="zh-CN" altLang="en-US" sz="1400" dirty="0">
                <a:latin typeface="Consolas" panose="020B0609020204030204" pitchFamily="49" charset="0"/>
              </a:rPr>
              <a:t>特殊情况</a:t>
            </a:r>
            <a:endParaRPr lang="zh-CN" altLang="zh-CN" sz="1400" dirty="0">
              <a:latin typeface="Consolas" panose="020B0609020204030204" pitchFamily="49" charset="0"/>
            </a:endParaRPr>
          </a:p>
        </p:txBody>
      </p:sp>
      <p:sp>
        <p:nvSpPr>
          <p:cNvPr id="5" name="矩形 4">
            <a:extLst>
              <a:ext uri="{FF2B5EF4-FFF2-40B4-BE49-F238E27FC236}">
                <a16:creationId xmlns:a16="http://schemas.microsoft.com/office/drawing/2014/main" id="{030BB685-568B-6399-FDCE-1245DF190332}"/>
              </a:ext>
            </a:extLst>
          </p:cNvPr>
          <p:cNvSpPr/>
          <p:nvPr/>
        </p:nvSpPr>
        <p:spPr>
          <a:xfrm>
            <a:off x="1919536" y="2937718"/>
            <a:ext cx="1656184" cy="307777"/>
          </a:xfrm>
          <a:prstGeom prst="rect">
            <a:avLst/>
          </a:prstGeom>
          <a:solidFill>
            <a:schemeClr val="bg1">
              <a:lumMod val="95000"/>
            </a:schemeClr>
          </a:solidFill>
          <a:ln>
            <a:solidFill>
              <a:schemeClr val="bg2">
                <a:lumMod val="25000"/>
              </a:schemeClr>
            </a:solidFill>
          </a:ln>
        </p:spPr>
        <p:txBody>
          <a:bodyPr wrap="square">
            <a:spAutoFit/>
          </a:bodyPr>
          <a:lstStyle/>
          <a:p>
            <a:pPr algn="ctr"/>
            <a:r>
              <a:rPr lang="zh-CN" altLang="en-US" sz="1400" dirty="0">
                <a:latin typeface="Consolas" panose="020B0609020204030204" pitchFamily="49" charset="0"/>
              </a:rPr>
              <a:t>特殊情况</a:t>
            </a:r>
            <a:endParaRPr lang="zh-CN" altLang="zh-CN" sz="1400" dirty="0">
              <a:latin typeface="Consolas" panose="020B0609020204030204" pitchFamily="49" charset="0"/>
            </a:endParaRPr>
          </a:p>
        </p:txBody>
      </p:sp>
      <p:sp>
        <p:nvSpPr>
          <p:cNvPr id="6" name="矩形 5">
            <a:extLst>
              <a:ext uri="{FF2B5EF4-FFF2-40B4-BE49-F238E27FC236}">
                <a16:creationId xmlns:a16="http://schemas.microsoft.com/office/drawing/2014/main" id="{ED83B7B6-7C3F-E54A-B7D6-46886DF8911C}"/>
              </a:ext>
            </a:extLst>
          </p:cNvPr>
          <p:cNvSpPr/>
          <p:nvPr/>
        </p:nvSpPr>
        <p:spPr>
          <a:xfrm>
            <a:off x="1919536" y="3389511"/>
            <a:ext cx="1656184" cy="307777"/>
          </a:xfrm>
          <a:prstGeom prst="rect">
            <a:avLst/>
          </a:prstGeom>
          <a:solidFill>
            <a:schemeClr val="bg1">
              <a:lumMod val="95000"/>
            </a:schemeClr>
          </a:solidFill>
          <a:ln>
            <a:solidFill>
              <a:schemeClr val="bg2">
                <a:lumMod val="25000"/>
              </a:schemeClr>
            </a:solidFill>
          </a:ln>
        </p:spPr>
        <p:txBody>
          <a:bodyPr wrap="square">
            <a:spAutoFit/>
          </a:bodyPr>
          <a:lstStyle/>
          <a:p>
            <a:pPr algn="ctr"/>
            <a:r>
              <a:rPr lang="en-US" altLang="zh-CN" sz="1400" dirty="0">
                <a:latin typeface="Consolas" panose="020B0609020204030204" pitchFamily="49" charset="0"/>
              </a:rPr>
              <a:t>O(n</a:t>
            </a:r>
            <a:r>
              <a:rPr lang="en-US" altLang="zh-CN" sz="1400" baseline="30000" dirty="0">
                <a:latin typeface="Consolas" panose="020B0609020204030204" pitchFamily="49" charset="0"/>
              </a:rPr>
              <a:t>2</a:t>
            </a:r>
            <a:r>
              <a:rPr lang="en-US" altLang="zh-CN" sz="1400" dirty="0">
                <a:latin typeface="Consolas" panose="020B0609020204030204" pitchFamily="49" charset="0"/>
              </a:rPr>
              <a:t>)</a:t>
            </a:r>
            <a:r>
              <a:rPr lang="zh-CN" altLang="en-US" sz="1400" dirty="0">
                <a:latin typeface="Consolas" panose="020B0609020204030204" pitchFamily="49" charset="0"/>
              </a:rPr>
              <a:t>暴力</a:t>
            </a:r>
            <a:endParaRPr lang="zh-CN" altLang="zh-CN" sz="1400" dirty="0">
              <a:latin typeface="Consolas" panose="020B0609020204030204" pitchFamily="49" charset="0"/>
            </a:endParaRPr>
          </a:p>
        </p:txBody>
      </p:sp>
      <p:sp>
        <p:nvSpPr>
          <p:cNvPr id="7" name="矩形 6">
            <a:extLst>
              <a:ext uri="{FF2B5EF4-FFF2-40B4-BE49-F238E27FC236}">
                <a16:creationId xmlns:a16="http://schemas.microsoft.com/office/drawing/2014/main" id="{34F05FD9-03AD-E8E2-CBDA-28DC0A6FCB4D}"/>
              </a:ext>
            </a:extLst>
          </p:cNvPr>
          <p:cNvSpPr/>
          <p:nvPr/>
        </p:nvSpPr>
        <p:spPr>
          <a:xfrm>
            <a:off x="1919536" y="3841304"/>
            <a:ext cx="1656184" cy="307777"/>
          </a:xfrm>
          <a:prstGeom prst="rect">
            <a:avLst/>
          </a:prstGeom>
          <a:solidFill>
            <a:schemeClr val="bg1">
              <a:lumMod val="95000"/>
            </a:schemeClr>
          </a:solidFill>
          <a:ln>
            <a:solidFill>
              <a:schemeClr val="bg2">
                <a:lumMod val="25000"/>
              </a:schemeClr>
            </a:solidFill>
          </a:ln>
        </p:spPr>
        <p:txBody>
          <a:bodyPr wrap="square">
            <a:spAutoFit/>
          </a:bodyPr>
          <a:lstStyle/>
          <a:p>
            <a:pPr algn="ctr"/>
            <a:r>
              <a:rPr lang="zh-CN" altLang="en-US" sz="1400" dirty="0">
                <a:latin typeface="Consolas" panose="020B0609020204030204" pitchFamily="49" charset="0"/>
              </a:rPr>
              <a:t>正解</a:t>
            </a:r>
            <a:endParaRPr lang="zh-CN" altLang="zh-CN" sz="1400" dirty="0">
              <a:latin typeface="Consolas" panose="020B0609020204030204" pitchFamily="49" charset="0"/>
            </a:endParaRPr>
          </a:p>
        </p:txBody>
      </p:sp>
      <p:graphicFrame>
        <p:nvGraphicFramePr>
          <p:cNvPr id="10" name="表格 9">
            <a:extLst>
              <a:ext uri="{FF2B5EF4-FFF2-40B4-BE49-F238E27FC236}">
                <a16:creationId xmlns:a16="http://schemas.microsoft.com/office/drawing/2014/main" id="{911FBA86-6F8F-43CD-BD73-20E5F1B4E8DA}"/>
              </a:ext>
            </a:extLst>
          </p:cNvPr>
          <p:cNvGraphicFramePr>
            <a:graphicFrameLocks noGrp="1"/>
          </p:cNvGraphicFramePr>
          <p:nvPr>
            <p:extLst>
              <p:ext uri="{D42A27DB-BD31-4B8C-83A1-F6EECF244321}">
                <p14:modId xmlns:p14="http://schemas.microsoft.com/office/powerpoint/2010/main" val="2412481135"/>
              </p:ext>
            </p:extLst>
          </p:nvPr>
        </p:nvGraphicFramePr>
        <p:xfrm>
          <a:off x="3704350" y="1653718"/>
          <a:ext cx="6568114" cy="2568000"/>
        </p:xfrm>
        <a:graphic>
          <a:graphicData uri="http://schemas.openxmlformats.org/drawingml/2006/table">
            <a:tbl>
              <a:tblPr firstRow="1" firstCol="1" bandRow="1">
                <a:tableStyleId>{2D5ABB26-0587-4C30-8999-92F81FD0307C}</a:tableStyleId>
              </a:tblPr>
              <a:tblGrid>
                <a:gridCol w="1783932">
                  <a:extLst>
                    <a:ext uri="{9D8B030D-6E8A-4147-A177-3AD203B41FA5}">
                      <a16:colId xmlns:a16="http://schemas.microsoft.com/office/drawing/2014/main" val="3310575802"/>
                    </a:ext>
                  </a:extLst>
                </a:gridCol>
                <a:gridCol w="4784182">
                  <a:extLst>
                    <a:ext uri="{9D8B030D-6E8A-4147-A177-3AD203B41FA5}">
                      <a16:colId xmlns:a16="http://schemas.microsoft.com/office/drawing/2014/main" val="3092051734"/>
                    </a:ext>
                  </a:extLst>
                </a:gridCol>
              </a:tblGrid>
              <a:tr h="428000">
                <a:tc>
                  <a:txBody>
                    <a:bodyPr/>
                    <a:lstStyle/>
                    <a:p>
                      <a:pPr algn="ctr"/>
                      <a:r>
                        <a:rPr lang="zh-CN" sz="2000" kern="100">
                          <a:effectLst/>
                        </a:rPr>
                        <a:t>测试点编号</a:t>
                      </a:r>
                      <a:endParaRPr lang="zh-CN" sz="2000" kern="100">
                        <a:effectLst/>
                        <a:latin typeface="等线" panose="02010600030101010101" pitchFamily="2" charset="-122"/>
                        <a:ea typeface="等线" panose="02010600030101010101" pitchFamily="2" charset="-122"/>
                        <a:cs typeface="Times New Roman" panose="02020603050405020304" pitchFamily="18" charset="0"/>
                      </a:endParaRPr>
                    </a:p>
                  </a:txBody>
                  <a:tcPr marL="75438" marR="75438" marT="0" marB="0">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zh-CN" sz="2000" kern="100">
                          <a:effectLst/>
                        </a:rPr>
                        <a:t>特殊性质</a:t>
                      </a:r>
                      <a:endParaRPr lang="zh-CN" sz="2000" kern="100">
                        <a:effectLst/>
                        <a:latin typeface="等线" panose="02010600030101010101" pitchFamily="2" charset="-122"/>
                        <a:ea typeface="等线" panose="02010600030101010101" pitchFamily="2" charset="-122"/>
                        <a:cs typeface="Times New Roman" panose="02020603050405020304" pitchFamily="18" charset="0"/>
                      </a:endParaRPr>
                    </a:p>
                  </a:txBody>
                  <a:tcPr marL="75438" marR="75438" marT="0" marB="0">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1851998"/>
                  </a:ext>
                </a:extLst>
              </a:tr>
              <a:tr h="428000">
                <a:tc>
                  <a:txBody>
                    <a:bodyPr/>
                    <a:lstStyle/>
                    <a:p>
                      <a:pPr algn="ctr"/>
                      <a:r>
                        <a:rPr lang="en-US" sz="2000" kern="100" dirty="0">
                          <a:effectLst/>
                        </a:rPr>
                        <a:t>1</a:t>
                      </a:r>
                      <a:endParaRPr lang="zh-CN" sz="2000" kern="100">
                        <a:effectLst/>
                        <a:latin typeface="等线" panose="02010600030101010101" pitchFamily="2" charset="-122"/>
                        <a:ea typeface="等线" panose="02010600030101010101" pitchFamily="2" charset="-122"/>
                        <a:cs typeface="Times New Roman" panose="02020603050405020304" pitchFamily="18" charset="0"/>
                      </a:endParaRPr>
                    </a:p>
                  </a:txBody>
                  <a:tcPr marL="75438" marR="75438" marT="0" marB="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sz="2000" kern="100">
                          <a:effectLst/>
                        </a:rPr>
                        <a:t>所有</a:t>
                      </a:r>
                      <a:r>
                        <a:rPr lang="en-US" sz="2000" kern="100" dirty="0">
                          <a:effectLst/>
                        </a:rPr>
                        <a:t>x[i]</a:t>
                      </a:r>
                      <a:r>
                        <a:rPr lang="zh-CN" sz="2000" kern="100">
                          <a:effectLst/>
                        </a:rPr>
                        <a:t>均为正数</a:t>
                      </a:r>
                      <a:endParaRPr lang="zh-CN" sz="2000" kern="100">
                        <a:effectLst/>
                        <a:latin typeface="等线" panose="02010600030101010101" pitchFamily="2" charset="-122"/>
                        <a:ea typeface="等线" panose="02010600030101010101" pitchFamily="2" charset="-122"/>
                        <a:cs typeface="Times New Roman" panose="02020603050405020304" pitchFamily="18" charset="0"/>
                      </a:endParaRPr>
                    </a:p>
                  </a:txBody>
                  <a:tcPr marL="75438" marR="75438" marT="0" marB="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72831008"/>
                  </a:ext>
                </a:extLst>
              </a:tr>
              <a:tr h="428000">
                <a:tc>
                  <a:txBody>
                    <a:bodyPr/>
                    <a:lstStyle/>
                    <a:p>
                      <a:pPr algn="ctr"/>
                      <a:r>
                        <a:rPr lang="en-US" sz="2000" kern="100" dirty="0">
                          <a:effectLst/>
                        </a:rPr>
                        <a:t>2</a:t>
                      </a:r>
                      <a:endParaRPr lang="zh-CN" sz="2000" kern="100">
                        <a:effectLst/>
                        <a:latin typeface="等线" panose="02010600030101010101" pitchFamily="2" charset="-122"/>
                        <a:ea typeface="等线" panose="02010600030101010101" pitchFamily="2" charset="-122"/>
                        <a:cs typeface="Times New Roman" panose="02020603050405020304" pitchFamily="18" charset="0"/>
                      </a:endParaRPr>
                    </a:p>
                  </a:txBody>
                  <a:tcPr marL="75438" marR="75438" marT="0" marB="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sz="2000" kern="100">
                          <a:effectLst/>
                        </a:rPr>
                        <a:t>所有</a:t>
                      </a:r>
                      <a:r>
                        <a:rPr lang="en-US" sz="2000" kern="100" dirty="0">
                          <a:effectLst/>
                        </a:rPr>
                        <a:t>x[i]</a:t>
                      </a:r>
                      <a:r>
                        <a:rPr lang="zh-CN" sz="2000" kern="100">
                          <a:effectLst/>
                        </a:rPr>
                        <a:t>均为负数</a:t>
                      </a:r>
                      <a:endParaRPr lang="zh-CN" sz="2000" kern="100">
                        <a:effectLst/>
                        <a:latin typeface="等线" panose="02010600030101010101" pitchFamily="2" charset="-122"/>
                        <a:ea typeface="等线" panose="02010600030101010101" pitchFamily="2" charset="-122"/>
                        <a:cs typeface="Times New Roman" panose="02020603050405020304" pitchFamily="18" charset="0"/>
                      </a:endParaRPr>
                    </a:p>
                  </a:txBody>
                  <a:tcPr marL="75438" marR="75438" marT="0" marB="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80832900"/>
                  </a:ext>
                </a:extLst>
              </a:tr>
              <a:tr h="428000">
                <a:tc>
                  <a:txBody>
                    <a:bodyPr/>
                    <a:lstStyle/>
                    <a:p>
                      <a:pPr algn="ctr"/>
                      <a:r>
                        <a:rPr lang="en-US" sz="2000" kern="100" dirty="0">
                          <a:effectLst/>
                        </a:rPr>
                        <a:t>3</a:t>
                      </a:r>
                      <a:endParaRPr lang="zh-CN" sz="2000" kern="100">
                        <a:effectLst/>
                        <a:latin typeface="等线" panose="02010600030101010101" pitchFamily="2" charset="-122"/>
                        <a:ea typeface="等线" panose="02010600030101010101" pitchFamily="2" charset="-122"/>
                        <a:cs typeface="Times New Roman" panose="02020603050405020304" pitchFamily="18" charset="0"/>
                      </a:endParaRPr>
                    </a:p>
                  </a:txBody>
                  <a:tcPr marL="75438" marR="75438" marT="0" marB="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sz="2000" kern="100">
                          <a:effectLst/>
                        </a:rPr>
                        <a:t>所有</a:t>
                      </a:r>
                      <a:r>
                        <a:rPr lang="en-US" sz="2000" kern="100" dirty="0">
                          <a:effectLst/>
                        </a:rPr>
                        <a:t>x[i]</a:t>
                      </a:r>
                      <a:r>
                        <a:rPr lang="zh-CN" sz="2000" kern="100">
                          <a:effectLst/>
                        </a:rPr>
                        <a:t>均相同</a:t>
                      </a:r>
                      <a:endParaRPr lang="zh-CN" sz="2000" kern="100">
                        <a:effectLst/>
                        <a:latin typeface="等线" panose="02010600030101010101" pitchFamily="2" charset="-122"/>
                        <a:ea typeface="等线" panose="02010600030101010101" pitchFamily="2" charset="-122"/>
                        <a:cs typeface="Times New Roman" panose="02020603050405020304" pitchFamily="18" charset="0"/>
                      </a:endParaRPr>
                    </a:p>
                  </a:txBody>
                  <a:tcPr marL="75438" marR="75438" marT="0" marB="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32725184"/>
                  </a:ext>
                </a:extLst>
              </a:tr>
              <a:tr h="428000">
                <a:tc>
                  <a:txBody>
                    <a:bodyPr/>
                    <a:lstStyle/>
                    <a:p>
                      <a:pPr algn="ctr"/>
                      <a:r>
                        <a:rPr lang="en-US" sz="2000" kern="100" dirty="0">
                          <a:effectLst/>
                        </a:rPr>
                        <a:t>4~6</a:t>
                      </a:r>
                      <a:endParaRPr lang="zh-CN" sz="2000" kern="100">
                        <a:effectLst/>
                        <a:latin typeface="等线" panose="02010600030101010101" pitchFamily="2" charset="-122"/>
                        <a:ea typeface="等线" panose="02010600030101010101" pitchFamily="2" charset="-122"/>
                        <a:cs typeface="Times New Roman" panose="02020603050405020304" pitchFamily="18" charset="0"/>
                      </a:endParaRPr>
                    </a:p>
                  </a:txBody>
                  <a:tcPr marL="75438" marR="75438" marT="0" marB="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kern="100" dirty="0">
                          <a:effectLst/>
                        </a:rPr>
                        <a:t>n</a:t>
                      </a:r>
                      <a:r>
                        <a:rPr lang="zh-CN" sz="2000" kern="100">
                          <a:effectLst/>
                        </a:rPr>
                        <a:t>≤</a:t>
                      </a:r>
                      <a:r>
                        <a:rPr lang="en-US" sz="2000" kern="100" dirty="0">
                          <a:effectLst/>
                        </a:rPr>
                        <a:t>5000</a:t>
                      </a:r>
                      <a:r>
                        <a:rPr lang="zh-CN" sz="2000" kern="100">
                          <a:effectLst/>
                        </a:rPr>
                        <a:t>，</a:t>
                      </a:r>
                      <a:r>
                        <a:rPr lang="en-US" sz="2000" kern="100" dirty="0">
                          <a:effectLst/>
                        </a:rPr>
                        <a:t>x[i]</a:t>
                      </a:r>
                      <a:r>
                        <a:rPr lang="zh-CN" sz="2000" kern="100">
                          <a:effectLst/>
                        </a:rPr>
                        <a:t>的绝对值均不超过</a:t>
                      </a:r>
                      <a:r>
                        <a:rPr lang="en-US" sz="2000" kern="100" dirty="0">
                          <a:effectLst/>
                        </a:rPr>
                        <a:t>100</a:t>
                      </a:r>
                      <a:endParaRPr lang="zh-CN" sz="2000" kern="100">
                        <a:effectLst/>
                        <a:latin typeface="等线" panose="02010600030101010101" pitchFamily="2" charset="-122"/>
                        <a:ea typeface="等线" panose="02010600030101010101" pitchFamily="2" charset="-122"/>
                        <a:cs typeface="Times New Roman" panose="02020603050405020304" pitchFamily="18" charset="0"/>
                      </a:endParaRPr>
                    </a:p>
                  </a:txBody>
                  <a:tcPr marL="75438" marR="75438" marT="0" marB="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72883500"/>
                  </a:ext>
                </a:extLst>
              </a:tr>
              <a:tr h="428000">
                <a:tc>
                  <a:txBody>
                    <a:bodyPr/>
                    <a:lstStyle/>
                    <a:p>
                      <a:pPr algn="ctr"/>
                      <a:r>
                        <a:rPr lang="en-US" sz="2000" kern="100" dirty="0">
                          <a:effectLst/>
                        </a:rPr>
                        <a:t>7~10</a:t>
                      </a:r>
                      <a:endParaRPr lang="zh-CN" sz="2000" kern="100">
                        <a:effectLst/>
                        <a:latin typeface="等线" panose="02010600030101010101" pitchFamily="2" charset="-122"/>
                        <a:ea typeface="等线" panose="02010600030101010101" pitchFamily="2" charset="-122"/>
                        <a:cs typeface="Times New Roman" panose="02020603050405020304" pitchFamily="18" charset="0"/>
                      </a:endParaRPr>
                    </a:p>
                  </a:txBody>
                  <a:tcPr marL="75438" marR="75438" marT="0" marB="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zh-CN" sz="2000" kern="100" dirty="0">
                          <a:effectLst/>
                        </a:rPr>
                        <a:t>无</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75438" marR="75438" marT="0" marB="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746790756"/>
                  </a:ext>
                </a:extLst>
              </a:tr>
            </a:tbl>
          </a:graphicData>
        </a:graphic>
      </p:graphicFrame>
      <p:sp>
        <p:nvSpPr>
          <p:cNvPr id="3" name="灯片编号占位符 2">
            <a:extLst>
              <a:ext uri="{FF2B5EF4-FFF2-40B4-BE49-F238E27FC236}">
                <a16:creationId xmlns:a16="http://schemas.microsoft.com/office/drawing/2014/main" id="{98A02353-566E-4A10-89AE-F4BA2D20D02A}"/>
              </a:ext>
            </a:extLst>
          </p:cNvPr>
          <p:cNvSpPr>
            <a:spLocks noGrp="1"/>
          </p:cNvSpPr>
          <p:nvPr>
            <p:ph type="sldNum" sz="quarter" idx="12"/>
          </p:nvPr>
        </p:nvSpPr>
        <p:spPr/>
        <p:txBody>
          <a:bodyPr/>
          <a:lstStyle/>
          <a:p>
            <a:fld id="{0C913308-F349-4B6D-A68A-DD1791B4A57B}" type="slidenum">
              <a:rPr lang="zh-CN" altLang="en-US" smtClean="0"/>
              <a:t>4</a:t>
            </a:fld>
            <a:endParaRPr lang="zh-CN" altLang="en-US"/>
          </a:p>
        </p:txBody>
      </p:sp>
    </p:spTree>
    <p:extLst>
      <p:ext uri="{BB962C8B-B14F-4D97-AF65-F5344CB8AC3E}">
        <p14:creationId xmlns:p14="http://schemas.microsoft.com/office/powerpoint/2010/main" val="380727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P spid="6" grpId="0" animBg="1"/>
      <p:bldP spid="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1200A7F4-9AE5-E4C2-9548-98B01BB9C299}"/>
              </a:ext>
            </a:extLst>
          </p:cNvPr>
          <p:cNvPicPr>
            <a:picLocks noChangeAspect="1"/>
          </p:cNvPicPr>
          <p:nvPr/>
        </p:nvPicPr>
        <p:blipFill>
          <a:blip r:embed="rId2"/>
          <a:stretch>
            <a:fillRect/>
          </a:stretch>
        </p:blipFill>
        <p:spPr>
          <a:xfrm>
            <a:off x="2063552" y="1150940"/>
            <a:ext cx="6313656" cy="5302397"/>
          </a:xfrm>
          <a:prstGeom prst="rect">
            <a:avLst/>
          </a:prstGeom>
        </p:spPr>
      </p:pic>
      <p:sp>
        <p:nvSpPr>
          <p:cNvPr id="6" name="矩形 5">
            <a:extLst>
              <a:ext uri="{FF2B5EF4-FFF2-40B4-BE49-F238E27FC236}">
                <a16:creationId xmlns:a16="http://schemas.microsoft.com/office/drawing/2014/main" id="{19037A0C-02DA-974C-7EA0-20B2B115A5B4}"/>
              </a:ext>
            </a:extLst>
          </p:cNvPr>
          <p:cNvSpPr/>
          <p:nvPr/>
        </p:nvSpPr>
        <p:spPr>
          <a:xfrm>
            <a:off x="1342542" y="188641"/>
            <a:ext cx="9506916" cy="523220"/>
          </a:xfrm>
          <a:prstGeom prst="rect">
            <a:avLst/>
          </a:prstGeom>
          <a:solidFill>
            <a:schemeClr val="accent3">
              <a:lumMod val="20000"/>
              <a:lumOff val="80000"/>
            </a:schemeClr>
          </a:solidFill>
          <a:ln>
            <a:solidFill>
              <a:schemeClr val="bg2">
                <a:lumMod val="25000"/>
              </a:schemeClr>
            </a:solidFill>
          </a:ln>
        </p:spPr>
        <p:txBody>
          <a:bodyPr wrap="square">
            <a:spAutoFit/>
          </a:bodyPr>
          <a:lstStyle/>
          <a:p>
            <a:pPr algn="ctr"/>
            <a:r>
              <a:rPr lang="zh-CN" altLang="en-US" sz="2800" dirty="0">
                <a:latin typeface="Consolas" pitchFamily="49" charset="0"/>
                <a:cs typeface="Consolas" pitchFamily="49" charset="0"/>
              </a:rPr>
              <a:t>数据分流</a:t>
            </a:r>
          </a:p>
        </p:txBody>
      </p:sp>
      <p:sp>
        <p:nvSpPr>
          <p:cNvPr id="2" name="灯片编号占位符 1">
            <a:extLst>
              <a:ext uri="{FF2B5EF4-FFF2-40B4-BE49-F238E27FC236}">
                <a16:creationId xmlns:a16="http://schemas.microsoft.com/office/drawing/2014/main" id="{9FDFE554-AC01-4548-A466-1A1E3E126CDA}"/>
              </a:ext>
            </a:extLst>
          </p:cNvPr>
          <p:cNvSpPr>
            <a:spLocks noGrp="1"/>
          </p:cNvSpPr>
          <p:nvPr>
            <p:ph type="sldNum" sz="quarter" idx="12"/>
          </p:nvPr>
        </p:nvSpPr>
        <p:spPr/>
        <p:txBody>
          <a:bodyPr/>
          <a:lstStyle/>
          <a:p>
            <a:fld id="{0C913308-F349-4B6D-A68A-DD1791B4A57B}" type="slidenum">
              <a:rPr lang="zh-CN" altLang="en-US" smtClean="0"/>
              <a:t>5</a:t>
            </a:fld>
            <a:endParaRPr lang="zh-CN" altLang="en-US"/>
          </a:p>
        </p:txBody>
      </p:sp>
    </p:spTree>
    <p:extLst>
      <p:ext uri="{BB962C8B-B14F-4D97-AF65-F5344CB8AC3E}">
        <p14:creationId xmlns:p14="http://schemas.microsoft.com/office/powerpoint/2010/main" val="42596532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49E2DDA2-C0FC-8A26-C9EA-C261971A1EEA}"/>
              </a:ext>
            </a:extLst>
          </p:cNvPr>
          <p:cNvPicPr>
            <a:picLocks noChangeAspect="1"/>
          </p:cNvPicPr>
          <p:nvPr/>
        </p:nvPicPr>
        <p:blipFill>
          <a:blip r:embed="rId2"/>
          <a:stretch>
            <a:fillRect/>
          </a:stretch>
        </p:blipFill>
        <p:spPr>
          <a:xfrm>
            <a:off x="1703512" y="1268760"/>
            <a:ext cx="7094378" cy="3528392"/>
          </a:xfrm>
          <a:prstGeom prst="rect">
            <a:avLst/>
          </a:prstGeom>
        </p:spPr>
      </p:pic>
      <p:sp>
        <p:nvSpPr>
          <p:cNvPr id="2" name="灯片编号占位符 1">
            <a:extLst>
              <a:ext uri="{FF2B5EF4-FFF2-40B4-BE49-F238E27FC236}">
                <a16:creationId xmlns:a16="http://schemas.microsoft.com/office/drawing/2014/main" id="{2E64C38C-C05F-4AFC-83FE-D87329BA77B2}"/>
              </a:ext>
            </a:extLst>
          </p:cNvPr>
          <p:cNvSpPr>
            <a:spLocks noGrp="1"/>
          </p:cNvSpPr>
          <p:nvPr>
            <p:ph type="sldNum" sz="quarter" idx="12"/>
          </p:nvPr>
        </p:nvSpPr>
        <p:spPr/>
        <p:txBody>
          <a:bodyPr/>
          <a:lstStyle/>
          <a:p>
            <a:fld id="{0C913308-F349-4B6D-A68A-DD1791B4A57B}" type="slidenum">
              <a:rPr lang="zh-CN" altLang="en-US" smtClean="0"/>
              <a:t>6</a:t>
            </a:fld>
            <a:endParaRPr lang="zh-CN" altLang="en-US"/>
          </a:p>
        </p:txBody>
      </p:sp>
    </p:spTree>
    <p:extLst>
      <p:ext uri="{BB962C8B-B14F-4D97-AF65-F5344CB8AC3E}">
        <p14:creationId xmlns:p14="http://schemas.microsoft.com/office/powerpoint/2010/main" val="1209123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19037A0C-02DA-974C-7EA0-20B2B115A5B4}"/>
              </a:ext>
            </a:extLst>
          </p:cNvPr>
          <p:cNvSpPr/>
          <p:nvPr/>
        </p:nvSpPr>
        <p:spPr>
          <a:xfrm>
            <a:off x="1415480" y="2348881"/>
            <a:ext cx="9506916" cy="584775"/>
          </a:xfrm>
          <a:prstGeom prst="rect">
            <a:avLst/>
          </a:prstGeom>
          <a:solidFill>
            <a:schemeClr val="bg1">
              <a:lumMod val="95000"/>
            </a:schemeClr>
          </a:solidFill>
          <a:ln>
            <a:solidFill>
              <a:schemeClr val="bg2">
                <a:lumMod val="25000"/>
              </a:schemeClr>
            </a:solidFill>
          </a:ln>
        </p:spPr>
        <p:txBody>
          <a:bodyPr wrap="square">
            <a:spAutoFit/>
          </a:bodyPr>
          <a:lstStyle/>
          <a:p>
            <a:pPr algn="ctr"/>
            <a:r>
              <a:rPr lang="zh-CN" altLang="en-US" sz="3200" dirty="0">
                <a:latin typeface="Consolas" pitchFamily="49" charset="0"/>
                <a:cs typeface="Consolas" pitchFamily="49" charset="0"/>
              </a:rPr>
              <a:t>暴力：枚举左右端点</a:t>
            </a:r>
          </a:p>
        </p:txBody>
      </p:sp>
      <p:sp>
        <p:nvSpPr>
          <p:cNvPr id="2" name="灯片编号占位符 1">
            <a:extLst>
              <a:ext uri="{FF2B5EF4-FFF2-40B4-BE49-F238E27FC236}">
                <a16:creationId xmlns:a16="http://schemas.microsoft.com/office/drawing/2014/main" id="{3740A864-25F7-4950-B964-89CE755102BB}"/>
              </a:ext>
            </a:extLst>
          </p:cNvPr>
          <p:cNvSpPr>
            <a:spLocks noGrp="1"/>
          </p:cNvSpPr>
          <p:nvPr>
            <p:ph type="sldNum" sz="quarter" idx="12"/>
          </p:nvPr>
        </p:nvSpPr>
        <p:spPr/>
        <p:txBody>
          <a:bodyPr/>
          <a:lstStyle/>
          <a:p>
            <a:fld id="{0C913308-F349-4B6D-A68A-DD1791B4A57B}" type="slidenum">
              <a:rPr lang="zh-CN" altLang="en-US" smtClean="0"/>
              <a:t>7</a:t>
            </a:fld>
            <a:endParaRPr lang="zh-CN" altLang="en-US"/>
          </a:p>
        </p:txBody>
      </p:sp>
    </p:spTree>
    <p:extLst>
      <p:ext uri="{BB962C8B-B14F-4D97-AF65-F5344CB8AC3E}">
        <p14:creationId xmlns:p14="http://schemas.microsoft.com/office/powerpoint/2010/main" val="27247200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C6AAAA68-C970-13D0-B4CD-6A536D41BE87}"/>
              </a:ext>
            </a:extLst>
          </p:cNvPr>
          <p:cNvPicPr>
            <a:picLocks noChangeAspect="1"/>
          </p:cNvPicPr>
          <p:nvPr/>
        </p:nvPicPr>
        <p:blipFill>
          <a:blip r:embed="rId2"/>
          <a:stretch>
            <a:fillRect/>
          </a:stretch>
        </p:blipFill>
        <p:spPr>
          <a:xfrm>
            <a:off x="1570700" y="260649"/>
            <a:ext cx="6253493" cy="6039959"/>
          </a:xfrm>
          <a:prstGeom prst="rect">
            <a:avLst/>
          </a:prstGeom>
        </p:spPr>
      </p:pic>
      <p:sp>
        <p:nvSpPr>
          <p:cNvPr id="5" name="矩形 4">
            <a:extLst>
              <a:ext uri="{FF2B5EF4-FFF2-40B4-BE49-F238E27FC236}">
                <a16:creationId xmlns:a16="http://schemas.microsoft.com/office/drawing/2014/main" id="{1ACE8056-4A61-35F7-8333-97F839C4872B}"/>
              </a:ext>
            </a:extLst>
          </p:cNvPr>
          <p:cNvSpPr/>
          <p:nvPr/>
        </p:nvSpPr>
        <p:spPr>
          <a:xfrm>
            <a:off x="4295800" y="3330476"/>
            <a:ext cx="3600399" cy="369332"/>
          </a:xfrm>
          <a:prstGeom prst="rect">
            <a:avLst/>
          </a:prstGeom>
          <a:solidFill>
            <a:schemeClr val="bg1"/>
          </a:solidFill>
          <a:ln>
            <a:solidFill>
              <a:schemeClr val="bg2">
                <a:lumMod val="25000"/>
              </a:schemeClr>
            </a:solidFill>
          </a:ln>
        </p:spPr>
        <p:txBody>
          <a:bodyPr wrap="square">
            <a:spAutoFit/>
          </a:bodyPr>
          <a:lstStyle/>
          <a:p>
            <a:pPr algn="ctr"/>
            <a:endParaRPr lang="zh-CN" altLang="zh-CN" dirty="0">
              <a:latin typeface="Consolas" panose="020B0609020204030204" pitchFamily="49" charset="0"/>
            </a:endParaRPr>
          </a:p>
        </p:txBody>
      </p:sp>
      <p:sp>
        <p:nvSpPr>
          <p:cNvPr id="6" name="矩形 5">
            <a:extLst>
              <a:ext uri="{FF2B5EF4-FFF2-40B4-BE49-F238E27FC236}">
                <a16:creationId xmlns:a16="http://schemas.microsoft.com/office/drawing/2014/main" id="{FFA5DD7A-7519-2C33-3DBC-252636E7DE35}"/>
              </a:ext>
            </a:extLst>
          </p:cNvPr>
          <p:cNvSpPr/>
          <p:nvPr/>
        </p:nvSpPr>
        <p:spPr>
          <a:xfrm>
            <a:off x="4295800" y="3690516"/>
            <a:ext cx="3600399" cy="369332"/>
          </a:xfrm>
          <a:prstGeom prst="rect">
            <a:avLst/>
          </a:prstGeom>
          <a:solidFill>
            <a:schemeClr val="bg1"/>
          </a:solidFill>
          <a:ln>
            <a:solidFill>
              <a:schemeClr val="bg2">
                <a:lumMod val="25000"/>
              </a:schemeClr>
            </a:solidFill>
          </a:ln>
        </p:spPr>
        <p:txBody>
          <a:bodyPr wrap="square">
            <a:spAutoFit/>
          </a:bodyPr>
          <a:lstStyle/>
          <a:p>
            <a:pPr algn="ctr"/>
            <a:endParaRPr lang="zh-CN" altLang="zh-CN" dirty="0">
              <a:latin typeface="Consolas" panose="020B0609020204030204" pitchFamily="49" charset="0"/>
            </a:endParaRPr>
          </a:p>
        </p:txBody>
      </p:sp>
      <p:sp>
        <p:nvSpPr>
          <p:cNvPr id="9" name="矩形 8">
            <a:extLst>
              <a:ext uri="{FF2B5EF4-FFF2-40B4-BE49-F238E27FC236}">
                <a16:creationId xmlns:a16="http://schemas.microsoft.com/office/drawing/2014/main" id="{CE898569-D4A1-099D-AAE1-D9DD8804CEA7}"/>
              </a:ext>
            </a:extLst>
          </p:cNvPr>
          <p:cNvSpPr/>
          <p:nvPr/>
        </p:nvSpPr>
        <p:spPr>
          <a:xfrm>
            <a:off x="4295799" y="4053420"/>
            <a:ext cx="3600399" cy="369332"/>
          </a:xfrm>
          <a:prstGeom prst="rect">
            <a:avLst/>
          </a:prstGeom>
          <a:solidFill>
            <a:schemeClr val="bg1"/>
          </a:solidFill>
          <a:ln>
            <a:solidFill>
              <a:schemeClr val="bg2">
                <a:lumMod val="25000"/>
              </a:schemeClr>
            </a:solidFill>
          </a:ln>
        </p:spPr>
        <p:txBody>
          <a:bodyPr wrap="square">
            <a:spAutoFit/>
          </a:bodyPr>
          <a:lstStyle/>
          <a:p>
            <a:pPr algn="ctr"/>
            <a:endParaRPr lang="zh-CN" altLang="zh-CN" dirty="0">
              <a:latin typeface="Consolas" panose="020B0609020204030204" pitchFamily="49" charset="0"/>
            </a:endParaRPr>
          </a:p>
        </p:txBody>
      </p:sp>
      <p:sp>
        <p:nvSpPr>
          <p:cNvPr id="2" name="灯片编号占位符 1">
            <a:extLst>
              <a:ext uri="{FF2B5EF4-FFF2-40B4-BE49-F238E27FC236}">
                <a16:creationId xmlns:a16="http://schemas.microsoft.com/office/drawing/2014/main" id="{FA8A86ED-338F-4185-B45B-E3DD33587F46}"/>
              </a:ext>
            </a:extLst>
          </p:cNvPr>
          <p:cNvSpPr>
            <a:spLocks noGrp="1"/>
          </p:cNvSpPr>
          <p:nvPr>
            <p:ph type="sldNum" sz="quarter" idx="12"/>
          </p:nvPr>
        </p:nvSpPr>
        <p:spPr/>
        <p:txBody>
          <a:bodyPr/>
          <a:lstStyle/>
          <a:p>
            <a:fld id="{0C913308-F349-4B6D-A68A-DD1791B4A57B}" type="slidenum">
              <a:rPr lang="zh-CN" altLang="en-US" smtClean="0"/>
              <a:t>8</a:t>
            </a:fld>
            <a:endParaRPr lang="zh-CN" altLang="en-US"/>
          </a:p>
        </p:txBody>
      </p:sp>
    </p:spTree>
    <p:extLst>
      <p:ext uri="{BB962C8B-B14F-4D97-AF65-F5344CB8AC3E}">
        <p14:creationId xmlns:p14="http://schemas.microsoft.com/office/powerpoint/2010/main" val="2485363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19037A0C-02DA-974C-7EA0-20B2B115A5B4}"/>
              </a:ext>
            </a:extLst>
          </p:cNvPr>
          <p:cNvSpPr/>
          <p:nvPr/>
        </p:nvSpPr>
        <p:spPr>
          <a:xfrm>
            <a:off x="1415480" y="2348881"/>
            <a:ext cx="9506916" cy="584775"/>
          </a:xfrm>
          <a:prstGeom prst="rect">
            <a:avLst/>
          </a:prstGeom>
          <a:solidFill>
            <a:schemeClr val="bg1">
              <a:lumMod val="95000"/>
            </a:schemeClr>
          </a:solidFill>
          <a:ln>
            <a:solidFill>
              <a:schemeClr val="bg2">
                <a:lumMod val="25000"/>
              </a:schemeClr>
            </a:solidFill>
          </a:ln>
        </p:spPr>
        <p:txBody>
          <a:bodyPr wrap="square">
            <a:spAutoFit/>
          </a:bodyPr>
          <a:lstStyle/>
          <a:p>
            <a:pPr algn="ctr"/>
            <a:r>
              <a:rPr lang="zh-CN" altLang="en-US" sz="3200" dirty="0">
                <a:latin typeface="Consolas" pitchFamily="49" charset="0"/>
                <a:cs typeface="Consolas" pitchFamily="49" charset="0"/>
              </a:rPr>
              <a:t>特判：全正数</a:t>
            </a:r>
          </a:p>
        </p:txBody>
      </p:sp>
      <p:sp>
        <p:nvSpPr>
          <p:cNvPr id="2" name="灯片编号占位符 1">
            <a:extLst>
              <a:ext uri="{FF2B5EF4-FFF2-40B4-BE49-F238E27FC236}">
                <a16:creationId xmlns:a16="http://schemas.microsoft.com/office/drawing/2014/main" id="{F1807D88-6926-4986-AD5C-BF7D9041C445}"/>
              </a:ext>
            </a:extLst>
          </p:cNvPr>
          <p:cNvSpPr>
            <a:spLocks noGrp="1"/>
          </p:cNvSpPr>
          <p:nvPr>
            <p:ph type="sldNum" sz="quarter" idx="12"/>
          </p:nvPr>
        </p:nvSpPr>
        <p:spPr/>
        <p:txBody>
          <a:bodyPr/>
          <a:lstStyle/>
          <a:p>
            <a:fld id="{0C913308-F349-4B6D-A68A-DD1791B4A57B}" type="slidenum">
              <a:rPr lang="zh-CN" altLang="en-US" smtClean="0"/>
              <a:t>9</a:t>
            </a:fld>
            <a:endParaRPr lang="zh-CN" altLang="en-US"/>
          </a:p>
        </p:txBody>
      </p:sp>
    </p:spTree>
    <p:extLst>
      <p:ext uri="{BB962C8B-B14F-4D97-AF65-F5344CB8AC3E}">
        <p14:creationId xmlns:p14="http://schemas.microsoft.com/office/powerpoint/2010/main" val="22614037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460345B0-7AA4-6676-44E4-B4660B96B3B3}"/>
              </a:ext>
            </a:extLst>
          </p:cNvPr>
          <p:cNvPicPr>
            <a:picLocks noChangeAspect="1"/>
          </p:cNvPicPr>
          <p:nvPr/>
        </p:nvPicPr>
        <p:blipFill>
          <a:blip r:embed="rId2"/>
          <a:stretch>
            <a:fillRect/>
          </a:stretch>
        </p:blipFill>
        <p:spPr>
          <a:xfrm>
            <a:off x="1703512" y="1196753"/>
            <a:ext cx="7213922" cy="3932441"/>
          </a:xfrm>
          <a:prstGeom prst="rect">
            <a:avLst/>
          </a:prstGeom>
        </p:spPr>
      </p:pic>
      <p:sp>
        <p:nvSpPr>
          <p:cNvPr id="2" name="灯片编号占位符 1">
            <a:extLst>
              <a:ext uri="{FF2B5EF4-FFF2-40B4-BE49-F238E27FC236}">
                <a16:creationId xmlns:a16="http://schemas.microsoft.com/office/drawing/2014/main" id="{40208628-0BBD-4EBD-8F53-C4098281D4EE}"/>
              </a:ext>
            </a:extLst>
          </p:cNvPr>
          <p:cNvSpPr>
            <a:spLocks noGrp="1"/>
          </p:cNvSpPr>
          <p:nvPr>
            <p:ph type="sldNum" sz="quarter" idx="12"/>
          </p:nvPr>
        </p:nvSpPr>
        <p:spPr/>
        <p:txBody>
          <a:bodyPr/>
          <a:lstStyle/>
          <a:p>
            <a:fld id="{0C913308-F349-4B6D-A68A-DD1791B4A57B}" type="slidenum">
              <a:rPr lang="zh-CN" altLang="en-US" smtClean="0"/>
              <a:t>10</a:t>
            </a:fld>
            <a:endParaRPr lang="zh-CN" altLang="en-US"/>
          </a:p>
        </p:txBody>
      </p:sp>
    </p:spTree>
    <p:extLst>
      <p:ext uri="{BB962C8B-B14F-4D97-AF65-F5344CB8AC3E}">
        <p14:creationId xmlns:p14="http://schemas.microsoft.com/office/powerpoint/2010/main" val="24758058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19037A0C-02DA-974C-7EA0-20B2B115A5B4}"/>
              </a:ext>
            </a:extLst>
          </p:cNvPr>
          <p:cNvSpPr/>
          <p:nvPr/>
        </p:nvSpPr>
        <p:spPr>
          <a:xfrm>
            <a:off x="1415480" y="2348881"/>
            <a:ext cx="9506916" cy="584775"/>
          </a:xfrm>
          <a:prstGeom prst="rect">
            <a:avLst/>
          </a:prstGeom>
          <a:solidFill>
            <a:schemeClr val="bg1">
              <a:lumMod val="95000"/>
            </a:schemeClr>
          </a:solidFill>
          <a:ln>
            <a:solidFill>
              <a:schemeClr val="bg2">
                <a:lumMod val="25000"/>
              </a:schemeClr>
            </a:solidFill>
          </a:ln>
        </p:spPr>
        <p:txBody>
          <a:bodyPr wrap="square">
            <a:spAutoFit/>
          </a:bodyPr>
          <a:lstStyle/>
          <a:p>
            <a:pPr algn="ctr"/>
            <a:r>
              <a:rPr lang="zh-CN" altLang="en-US" sz="3200" dirty="0">
                <a:latin typeface="Consolas" pitchFamily="49" charset="0"/>
                <a:cs typeface="Consolas" pitchFamily="49" charset="0"/>
              </a:rPr>
              <a:t>特判：全负数</a:t>
            </a:r>
          </a:p>
        </p:txBody>
      </p:sp>
      <p:sp>
        <p:nvSpPr>
          <p:cNvPr id="2" name="灯片编号占位符 1">
            <a:extLst>
              <a:ext uri="{FF2B5EF4-FFF2-40B4-BE49-F238E27FC236}">
                <a16:creationId xmlns:a16="http://schemas.microsoft.com/office/drawing/2014/main" id="{2C52AD06-BF4F-441F-B55C-CDA11EAE3837}"/>
              </a:ext>
            </a:extLst>
          </p:cNvPr>
          <p:cNvSpPr>
            <a:spLocks noGrp="1"/>
          </p:cNvSpPr>
          <p:nvPr>
            <p:ph type="sldNum" sz="quarter" idx="12"/>
          </p:nvPr>
        </p:nvSpPr>
        <p:spPr/>
        <p:txBody>
          <a:bodyPr/>
          <a:lstStyle/>
          <a:p>
            <a:fld id="{0C913308-F349-4B6D-A68A-DD1791B4A57B}" type="slidenum">
              <a:rPr lang="zh-CN" altLang="en-US" smtClean="0"/>
              <a:t>11</a:t>
            </a:fld>
            <a:endParaRPr lang="zh-CN" altLang="en-US"/>
          </a:p>
        </p:txBody>
      </p:sp>
    </p:spTree>
    <p:extLst>
      <p:ext uri="{BB962C8B-B14F-4D97-AF65-F5344CB8AC3E}">
        <p14:creationId xmlns:p14="http://schemas.microsoft.com/office/powerpoint/2010/main" val="38322400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EF024A03-1DA8-31EA-B2A2-1F8D52AB4B37}"/>
              </a:ext>
            </a:extLst>
          </p:cNvPr>
          <p:cNvPicPr>
            <a:picLocks noChangeAspect="1"/>
          </p:cNvPicPr>
          <p:nvPr/>
        </p:nvPicPr>
        <p:blipFill>
          <a:blip r:embed="rId2"/>
          <a:stretch>
            <a:fillRect/>
          </a:stretch>
        </p:blipFill>
        <p:spPr>
          <a:xfrm>
            <a:off x="1524000" y="692698"/>
            <a:ext cx="7164288" cy="4765435"/>
          </a:xfrm>
          <a:prstGeom prst="rect">
            <a:avLst/>
          </a:prstGeom>
        </p:spPr>
      </p:pic>
      <p:sp>
        <p:nvSpPr>
          <p:cNvPr id="5" name="矩形 4">
            <a:extLst>
              <a:ext uri="{FF2B5EF4-FFF2-40B4-BE49-F238E27FC236}">
                <a16:creationId xmlns:a16="http://schemas.microsoft.com/office/drawing/2014/main" id="{F360A42E-495D-D3DB-ACC2-D0BF5431F138}"/>
              </a:ext>
            </a:extLst>
          </p:cNvPr>
          <p:cNvSpPr/>
          <p:nvPr/>
        </p:nvSpPr>
        <p:spPr>
          <a:xfrm>
            <a:off x="2999656" y="3099363"/>
            <a:ext cx="5976664" cy="369332"/>
          </a:xfrm>
          <a:prstGeom prst="rect">
            <a:avLst/>
          </a:prstGeom>
          <a:solidFill>
            <a:schemeClr val="bg1"/>
          </a:solidFill>
          <a:ln>
            <a:solidFill>
              <a:schemeClr val="bg2">
                <a:lumMod val="25000"/>
              </a:schemeClr>
            </a:solidFill>
          </a:ln>
        </p:spPr>
        <p:txBody>
          <a:bodyPr wrap="square">
            <a:spAutoFit/>
          </a:bodyPr>
          <a:lstStyle/>
          <a:p>
            <a:pPr algn="ctr"/>
            <a:endParaRPr lang="zh-CN" altLang="zh-CN" dirty="0">
              <a:latin typeface="Consolas" panose="020B0609020204030204" pitchFamily="49" charset="0"/>
            </a:endParaRPr>
          </a:p>
        </p:txBody>
      </p:sp>
      <p:sp>
        <p:nvSpPr>
          <p:cNvPr id="6" name="矩形 5">
            <a:extLst>
              <a:ext uri="{FF2B5EF4-FFF2-40B4-BE49-F238E27FC236}">
                <a16:creationId xmlns:a16="http://schemas.microsoft.com/office/drawing/2014/main" id="{97F4841C-065B-49FD-2028-9251E80D45AD}"/>
              </a:ext>
            </a:extLst>
          </p:cNvPr>
          <p:cNvSpPr/>
          <p:nvPr/>
        </p:nvSpPr>
        <p:spPr>
          <a:xfrm>
            <a:off x="2998118" y="3480477"/>
            <a:ext cx="5976664" cy="369332"/>
          </a:xfrm>
          <a:prstGeom prst="rect">
            <a:avLst/>
          </a:prstGeom>
          <a:solidFill>
            <a:schemeClr val="bg1"/>
          </a:solidFill>
          <a:ln>
            <a:solidFill>
              <a:schemeClr val="bg2">
                <a:lumMod val="25000"/>
              </a:schemeClr>
            </a:solidFill>
          </a:ln>
        </p:spPr>
        <p:txBody>
          <a:bodyPr wrap="square">
            <a:spAutoFit/>
          </a:bodyPr>
          <a:lstStyle/>
          <a:p>
            <a:pPr algn="ctr"/>
            <a:endParaRPr lang="zh-CN" altLang="zh-CN" dirty="0">
              <a:latin typeface="Consolas" panose="020B0609020204030204" pitchFamily="49" charset="0"/>
            </a:endParaRPr>
          </a:p>
        </p:txBody>
      </p:sp>
      <p:sp>
        <p:nvSpPr>
          <p:cNvPr id="7" name="矩形 6">
            <a:extLst>
              <a:ext uri="{FF2B5EF4-FFF2-40B4-BE49-F238E27FC236}">
                <a16:creationId xmlns:a16="http://schemas.microsoft.com/office/drawing/2014/main" id="{2593D5F8-9299-247A-4DB9-D49F799A5FAD}"/>
              </a:ext>
            </a:extLst>
          </p:cNvPr>
          <p:cNvSpPr/>
          <p:nvPr/>
        </p:nvSpPr>
        <p:spPr>
          <a:xfrm>
            <a:off x="2996580" y="3861591"/>
            <a:ext cx="5976664" cy="369332"/>
          </a:xfrm>
          <a:prstGeom prst="rect">
            <a:avLst/>
          </a:prstGeom>
          <a:solidFill>
            <a:schemeClr val="bg1"/>
          </a:solidFill>
          <a:ln>
            <a:solidFill>
              <a:schemeClr val="bg2">
                <a:lumMod val="25000"/>
              </a:schemeClr>
            </a:solidFill>
          </a:ln>
        </p:spPr>
        <p:txBody>
          <a:bodyPr wrap="square">
            <a:spAutoFit/>
          </a:bodyPr>
          <a:lstStyle/>
          <a:p>
            <a:pPr algn="ctr"/>
            <a:endParaRPr lang="zh-CN" altLang="zh-CN" dirty="0">
              <a:latin typeface="Consolas" panose="020B0609020204030204" pitchFamily="49" charset="0"/>
            </a:endParaRPr>
          </a:p>
        </p:txBody>
      </p:sp>
      <p:sp>
        <p:nvSpPr>
          <p:cNvPr id="9" name="矩形 8">
            <a:extLst>
              <a:ext uri="{FF2B5EF4-FFF2-40B4-BE49-F238E27FC236}">
                <a16:creationId xmlns:a16="http://schemas.microsoft.com/office/drawing/2014/main" id="{9C36CF85-7EB2-966E-1A16-DE9CDD7E2CCD}"/>
              </a:ext>
            </a:extLst>
          </p:cNvPr>
          <p:cNvSpPr/>
          <p:nvPr/>
        </p:nvSpPr>
        <p:spPr>
          <a:xfrm>
            <a:off x="2995042" y="4242705"/>
            <a:ext cx="5976664" cy="369332"/>
          </a:xfrm>
          <a:prstGeom prst="rect">
            <a:avLst/>
          </a:prstGeom>
          <a:solidFill>
            <a:schemeClr val="bg1"/>
          </a:solidFill>
          <a:ln>
            <a:solidFill>
              <a:schemeClr val="bg2">
                <a:lumMod val="25000"/>
              </a:schemeClr>
            </a:solidFill>
          </a:ln>
        </p:spPr>
        <p:txBody>
          <a:bodyPr wrap="square">
            <a:spAutoFit/>
          </a:bodyPr>
          <a:lstStyle/>
          <a:p>
            <a:pPr algn="ctr"/>
            <a:endParaRPr lang="zh-CN" altLang="zh-CN" dirty="0">
              <a:latin typeface="Consolas" panose="020B0609020204030204" pitchFamily="49" charset="0"/>
            </a:endParaRPr>
          </a:p>
        </p:txBody>
      </p:sp>
      <p:sp>
        <p:nvSpPr>
          <p:cNvPr id="10" name="矩形 9">
            <a:extLst>
              <a:ext uri="{FF2B5EF4-FFF2-40B4-BE49-F238E27FC236}">
                <a16:creationId xmlns:a16="http://schemas.microsoft.com/office/drawing/2014/main" id="{81EEA6C5-3807-9E9F-15D8-9B979DC1DC0F}"/>
              </a:ext>
            </a:extLst>
          </p:cNvPr>
          <p:cNvSpPr/>
          <p:nvPr/>
        </p:nvSpPr>
        <p:spPr>
          <a:xfrm>
            <a:off x="2993504" y="4623819"/>
            <a:ext cx="5976664" cy="369332"/>
          </a:xfrm>
          <a:prstGeom prst="rect">
            <a:avLst/>
          </a:prstGeom>
          <a:solidFill>
            <a:schemeClr val="bg1"/>
          </a:solidFill>
          <a:ln>
            <a:solidFill>
              <a:schemeClr val="bg2">
                <a:lumMod val="25000"/>
              </a:schemeClr>
            </a:solidFill>
          </a:ln>
        </p:spPr>
        <p:txBody>
          <a:bodyPr wrap="square">
            <a:spAutoFit/>
          </a:bodyPr>
          <a:lstStyle/>
          <a:p>
            <a:pPr algn="ctr"/>
            <a:endParaRPr lang="zh-CN" altLang="zh-CN" dirty="0">
              <a:latin typeface="Consolas" panose="020B0609020204030204" pitchFamily="49" charset="0"/>
            </a:endParaRPr>
          </a:p>
        </p:txBody>
      </p:sp>
      <p:sp>
        <p:nvSpPr>
          <p:cNvPr id="2" name="灯片编号占位符 1">
            <a:extLst>
              <a:ext uri="{FF2B5EF4-FFF2-40B4-BE49-F238E27FC236}">
                <a16:creationId xmlns:a16="http://schemas.microsoft.com/office/drawing/2014/main" id="{67A682D1-761A-409F-96D9-94977FE46E48}"/>
              </a:ext>
            </a:extLst>
          </p:cNvPr>
          <p:cNvSpPr>
            <a:spLocks noGrp="1"/>
          </p:cNvSpPr>
          <p:nvPr>
            <p:ph type="sldNum" sz="quarter" idx="12"/>
          </p:nvPr>
        </p:nvSpPr>
        <p:spPr/>
        <p:txBody>
          <a:bodyPr/>
          <a:lstStyle/>
          <a:p>
            <a:fld id="{0C913308-F349-4B6D-A68A-DD1791B4A57B}" type="slidenum">
              <a:rPr lang="zh-CN" altLang="en-US" smtClean="0"/>
              <a:t>12</a:t>
            </a:fld>
            <a:endParaRPr lang="zh-CN" altLang="en-US"/>
          </a:p>
        </p:txBody>
      </p:sp>
    </p:spTree>
    <p:extLst>
      <p:ext uri="{BB962C8B-B14F-4D97-AF65-F5344CB8AC3E}">
        <p14:creationId xmlns:p14="http://schemas.microsoft.com/office/powerpoint/2010/main" val="1784560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19037A0C-02DA-974C-7EA0-20B2B115A5B4}"/>
              </a:ext>
            </a:extLst>
          </p:cNvPr>
          <p:cNvSpPr/>
          <p:nvPr/>
        </p:nvSpPr>
        <p:spPr>
          <a:xfrm>
            <a:off x="1415480" y="2348881"/>
            <a:ext cx="9506916" cy="584775"/>
          </a:xfrm>
          <a:prstGeom prst="rect">
            <a:avLst/>
          </a:prstGeom>
          <a:solidFill>
            <a:schemeClr val="bg1">
              <a:lumMod val="95000"/>
            </a:schemeClr>
          </a:solidFill>
          <a:ln>
            <a:solidFill>
              <a:schemeClr val="bg2">
                <a:lumMod val="25000"/>
              </a:schemeClr>
            </a:solidFill>
          </a:ln>
        </p:spPr>
        <p:txBody>
          <a:bodyPr wrap="square">
            <a:spAutoFit/>
          </a:bodyPr>
          <a:lstStyle/>
          <a:p>
            <a:pPr algn="ctr"/>
            <a:r>
              <a:rPr lang="zh-CN" altLang="en-US" sz="3200" dirty="0">
                <a:latin typeface="Consolas" pitchFamily="49" charset="0"/>
                <a:cs typeface="Consolas" pitchFamily="49" charset="0"/>
              </a:rPr>
              <a:t>特判：全相同</a:t>
            </a:r>
          </a:p>
        </p:txBody>
      </p:sp>
      <p:sp>
        <p:nvSpPr>
          <p:cNvPr id="2" name="灯片编号占位符 1">
            <a:extLst>
              <a:ext uri="{FF2B5EF4-FFF2-40B4-BE49-F238E27FC236}">
                <a16:creationId xmlns:a16="http://schemas.microsoft.com/office/drawing/2014/main" id="{C77BDBA9-4DE7-4AC8-BF20-CA9E70DFB224}"/>
              </a:ext>
            </a:extLst>
          </p:cNvPr>
          <p:cNvSpPr>
            <a:spLocks noGrp="1"/>
          </p:cNvSpPr>
          <p:nvPr>
            <p:ph type="sldNum" sz="quarter" idx="12"/>
          </p:nvPr>
        </p:nvSpPr>
        <p:spPr/>
        <p:txBody>
          <a:bodyPr/>
          <a:lstStyle/>
          <a:p>
            <a:fld id="{0C913308-F349-4B6D-A68A-DD1791B4A57B}" type="slidenum">
              <a:rPr lang="zh-CN" altLang="en-US" smtClean="0"/>
              <a:t>13</a:t>
            </a:fld>
            <a:endParaRPr lang="zh-CN" altLang="en-US"/>
          </a:p>
        </p:txBody>
      </p:sp>
    </p:spTree>
    <p:extLst>
      <p:ext uri="{BB962C8B-B14F-4D97-AF65-F5344CB8AC3E}">
        <p14:creationId xmlns:p14="http://schemas.microsoft.com/office/powerpoint/2010/main" val="25745548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6E8FA4F0-B46D-C0C9-53C4-51F5A28C6331}"/>
              </a:ext>
            </a:extLst>
          </p:cNvPr>
          <p:cNvPicPr>
            <a:picLocks noChangeAspect="1"/>
          </p:cNvPicPr>
          <p:nvPr/>
        </p:nvPicPr>
        <p:blipFill>
          <a:blip r:embed="rId2"/>
          <a:stretch>
            <a:fillRect/>
          </a:stretch>
        </p:blipFill>
        <p:spPr>
          <a:xfrm>
            <a:off x="1559497" y="1302873"/>
            <a:ext cx="8177551" cy="3592981"/>
          </a:xfrm>
          <a:prstGeom prst="rect">
            <a:avLst/>
          </a:prstGeom>
        </p:spPr>
      </p:pic>
      <p:sp>
        <p:nvSpPr>
          <p:cNvPr id="9" name="矩形 8">
            <a:extLst>
              <a:ext uri="{FF2B5EF4-FFF2-40B4-BE49-F238E27FC236}">
                <a16:creationId xmlns:a16="http://schemas.microsoft.com/office/drawing/2014/main" id="{9C36CF85-7EB2-966E-1A16-DE9CDD7E2CCD}"/>
              </a:ext>
            </a:extLst>
          </p:cNvPr>
          <p:cNvSpPr/>
          <p:nvPr/>
        </p:nvSpPr>
        <p:spPr>
          <a:xfrm>
            <a:off x="2999656" y="4077072"/>
            <a:ext cx="6696744" cy="369332"/>
          </a:xfrm>
          <a:prstGeom prst="rect">
            <a:avLst/>
          </a:prstGeom>
          <a:solidFill>
            <a:schemeClr val="bg1"/>
          </a:solidFill>
          <a:ln>
            <a:solidFill>
              <a:schemeClr val="bg2">
                <a:lumMod val="25000"/>
              </a:schemeClr>
            </a:solidFill>
          </a:ln>
        </p:spPr>
        <p:txBody>
          <a:bodyPr wrap="square">
            <a:spAutoFit/>
          </a:bodyPr>
          <a:lstStyle/>
          <a:p>
            <a:pPr algn="ctr"/>
            <a:endParaRPr lang="zh-CN" altLang="zh-CN" dirty="0">
              <a:latin typeface="Consolas" panose="020B0609020204030204" pitchFamily="49" charset="0"/>
            </a:endParaRPr>
          </a:p>
        </p:txBody>
      </p:sp>
      <p:sp>
        <p:nvSpPr>
          <p:cNvPr id="11" name="矩形 10">
            <a:extLst>
              <a:ext uri="{FF2B5EF4-FFF2-40B4-BE49-F238E27FC236}">
                <a16:creationId xmlns:a16="http://schemas.microsoft.com/office/drawing/2014/main" id="{826DB126-9A0C-75E3-5AF7-BA01CF9E14E2}"/>
              </a:ext>
            </a:extLst>
          </p:cNvPr>
          <p:cNvSpPr/>
          <p:nvPr/>
        </p:nvSpPr>
        <p:spPr>
          <a:xfrm>
            <a:off x="3431704" y="5555129"/>
            <a:ext cx="3456384" cy="830997"/>
          </a:xfrm>
          <a:prstGeom prst="rect">
            <a:avLst/>
          </a:prstGeom>
          <a:solidFill>
            <a:schemeClr val="bg1"/>
          </a:solidFill>
          <a:ln>
            <a:solidFill>
              <a:schemeClr val="bg2">
                <a:lumMod val="25000"/>
              </a:schemeClr>
            </a:solidFill>
          </a:ln>
        </p:spPr>
        <p:txBody>
          <a:bodyPr wrap="square">
            <a:spAutoFit/>
          </a:bodyPr>
          <a:lstStyle/>
          <a:p>
            <a:pPr algn="ctr"/>
            <a:r>
              <a:rPr lang="zh-CN" altLang="en-US" sz="2400" dirty="0"/>
              <a:t>排除全正和全负</a:t>
            </a:r>
            <a:endParaRPr lang="en-US" altLang="zh-CN" sz="2400" dirty="0"/>
          </a:p>
          <a:p>
            <a:pPr algn="ctr"/>
            <a:r>
              <a:rPr lang="zh-CN" altLang="en-US" sz="2400" dirty="0"/>
              <a:t>只可能全</a:t>
            </a:r>
            <a:r>
              <a:rPr lang="en-US" altLang="zh-CN" sz="2400" dirty="0"/>
              <a:t>0 </a:t>
            </a:r>
            <a:endParaRPr lang="zh-CN" altLang="zh-CN" sz="2400" dirty="0"/>
          </a:p>
        </p:txBody>
      </p:sp>
      <p:sp>
        <p:nvSpPr>
          <p:cNvPr id="2" name="灯片编号占位符 1">
            <a:extLst>
              <a:ext uri="{FF2B5EF4-FFF2-40B4-BE49-F238E27FC236}">
                <a16:creationId xmlns:a16="http://schemas.microsoft.com/office/drawing/2014/main" id="{F588468F-5790-4767-B517-8A17941DBBE6}"/>
              </a:ext>
            </a:extLst>
          </p:cNvPr>
          <p:cNvSpPr>
            <a:spLocks noGrp="1"/>
          </p:cNvSpPr>
          <p:nvPr>
            <p:ph type="sldNum" sz="quarter" idx="12"/>
          </p:nvPr>
        </p:nvSpPr>
        <p:spPr/>
        <p:txBody>
          <a:bodyPr/>
          <a:lstStyle/>
          <a:p>
            <a:fld id="{0C913308-F349-4B6D-A68A-DD1791B4A57B}" type="slidenum">
              <a:rPr lang="zh-CN" altLang="en-US" smtClean="0"/>
              <a:t>14</a:t>
            </a:fld>
            <a:endParaRPr lang="zh-CN" altLang="en-US"/>
          </a:p>
        </p:txBody>
      </p:sp>
    </p:spTree>
    <p:extLst>
      <p:ext uri="{BB962C8B-B14F-4D97-AF65-F5344CB8AC3E}">
        <p14:creationId xmlns:p14="http://schemas.microsoft.com/office/powerpoint/2010/main" val="2736142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19037A0C-02DA-974C-7EA0-20B2B115A5B4}"/>
              </a:ext>
            </a:extLst>
          </p:cNvPr>
          <p:cNvSpPr/>
          <p:nvPr/>
        </p:nvSpPr>
        <p:spPr>
          <a:xfrm>
            <a:off x="1415480" y="2348881"/>
            <a:ext cx="9650932" cy="584775"/>
          </a:xfrm>
          <a:prstGeom prst="rect">
            <a:avLst/>
          </a:prstGeom>
          <a:solidFill>
            <a:schemeClr val="accent3">
              <a:lumMod val="20000"/>
              <a:lumOff val="80000"/>
            </a:schemeClr>
          </a:solidFill>
          <a:ln>
            <a:solidFill>
              <a:schemeClr val="bg2">
                <a:lumMod val="25000"/>
              </a:schemeClr>
            </a:solidFill>
          </a:ln>
        </p:spPr>
        <p:txBody>
          <a:bodyPr wrap="square">
            <a:spAutoFit/>
          </a:bodyPr>
          <a:lstStyle/>
          <a:p>
            <a:pPr algn="ctr"/>
            <a:r>
              <a:rPr lang="zh-CN" altLang="en-US" sz="3200" dirty="0">
                <a:latin typeface="Consolas" pitchFamily="49" charset="0"/>
                <a:cs typeface="Consolas" pitchFamily="49" charset="0"/>
              </a:rPr>
              <a:t>正解</a:t>
            </a:r>
          </a:p>
        </p:txBody>
      </p:sp>
      <p:sp>
        <p:nvSpPr>
          <p:cNvPr id="2" name="灯片编号占位符 1">
            <a:extLst>
              <a:ext uri="{FF2B5EF4-FFF2-40B4-BE49-F238E27FC236}">
                <a16:creationId xmlns:a16="http://schemas.microsoft.com/office/drawing/2014/main" id="{0E68DF92-E074-4D36-92BB-E7DE23EDA63B}"/>
              </a:ext>
            </a:extLst>
          </p:cNvPr>
          <p:cNvSpPr>
            <a:spLocks noGrp="1"/>
          </p:cNvSpPr>
          <p:nvPr>
            <p:ph type="sldNum" sz="quarter" idx="12"/>
          </p:nvPr>
        </p:nvSpPr>
        <p:spPr/>
        <p:txBody>
          <a:bodyPr/>
          <a:lstStyle/>
          <a:p>
            <a:fld id="{0C913308-F349-4B6D-A68A-DD1791B4A57B}" type="slidenum">
              <a:rPr lang="zh-CN" altLang="en-US" smtClean="0"/>
              <a:t>15</a:t>
            </a:fld>
            <a:endParaRPr lang="zh-CN" altLang="en-US"/>
          </a:p>
        </p:txBody>
      </p:sp>
    </p:spTree>
    <p:extLst>
      <p:ext uri="{BB962C8B-B14F-4D97-AF65-F5344CB8AC3E}">
        <p14:creationId xmlns:p14="http://schemas.microsoft.com/office/powerpoint/2010/main" val="9775179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BE54C04C-0830-59F7-A75F-95F79B512264}"/>
              </a:ext>
            </a:extLst>
          </p:cNvPr>
          <p:cNvSpPr/>
          <p:nvPr/>
        </p:nvSpPr>
        <p:spPr>
          <a:xfrm>
            <a:off x="3575720" y="2276873"/>
            <a:ext cx="5330452" cy="461665"/>
          </a:xfrm>
          <a:prstGeom prst="rect">
            <a:avLst/>
          </a:prstGeom>
          <a:solidFill>
            <a:srgbClr val="FFFF99"/>
          </a:solidFill>
          <a:ln>
            <a:solidFill>
              <a:schemeClr val="bg2">
                <a:lumMod val="25000"/>
              </a:schemeClr>
            </a:solidFill>
          </a:ln>
        </p:spPr>
        <p:txBody>
          <a:bodyPr wrap="square">
            <a:spAutoFit/>
          </a:bodyPr>
          <a:lstStyle/>
          <a:p>
            <a:pPr algn="ctr"/>
            <a:r>
              <a:rPr lang="zh-CN" altLang="en-US" sz="2400" dirty="0">
                <a:latin typeface="Consolas" pitchFamily="49" charset="0"/>
                <a:cs typeface="Consolas" pitchFamily="49" charset="0"/>
              </a:rPr>
              <a:t>枚举两个端点，超时了怎么办</a:t>
            </a:r>
            <a:r>
              <a:rPr lang="en-US" altLang="zh-CN" sz="2400" dirty="0">
                <a:latin typeface="Consolas" pitchFamily="49" charset="0"/>
                <a:cs typeface="Consolas" pitchFamily="49" charset="0"/>
              </a:rPr>
              <a:t>?</a:t>
            </a:r>
            <a:endParaRPr lang="zh-CN" altLang="en-US" sz="2400" dirty="0">
              <a:latin typeface="Consolas" pitchFamily="49" charset="0"/>
              <a:cs typeface="Consolas" pitchFamily="49" charset="0"/>
            </a:endParaRPr>
          </a:p>
        </p:txBody>
      </p:sp>
      <p:sp>
        <p:nvSpPr>
          <p:cNvPr id="7" name="矩形 6">
            <a:extLst>
              <a:ext uri="{FF2B5EF4-FFF2-40B4-BE49-F238E27FC236}">
                <a16:creationId xmlns:a16="http://schemas.microsoft.com/office/drawing/2014/main" id="{592C368F-E082-157D-7CDD-81B337B75525}"/>
              </a:ext>
            </a:extLst>
          </p:cNvPr>
          <p:cNvSpPr/>
          <p:nvPr/>
        </p:nvSpPr>
        <p:spPr>
          <a:xfrm>
            <a:off x="3575720" y="2738538"/>
            <a:ext cx="5330452" cy="461665"/>
          </a:xfrm>
          <a:prstGeom prst="rect">
            <a:avLst/>
          </a:prstGeom>
          <a:noFill/>
          <a:ln>
            <a:solidFill>
              <a:schemeClr val="bg2">
                <a:lumMod val="25000"/>
              </a:schemeClr>
            </a:solidFill>
          </a:ln>
        </p:spPr>
        <p:txBody>
          <a:bodyPr wrap="square">
            <a:spAutoFit/>
          </a:bodyPr>
          <a:lstStyle/>
          <a:p>
            <a:pPr algn="ctr"/>
            <a:r>
              <a:rPr lang="zh-CN" altLang="en-US" sz="2400" dirty="0">
                <a:latin typeface="Consolas" pitchFamily="49" charset="0"/>
                <a:cs typeface="Consolas" pitchFamily="49" charset="0"/>
              </a:rPr>
              <a:t>考虑：减少枚举对象</a:t>
            </a:r>
          </a:p>
        </p:txBody>
      </p:sp>
      <p:sp>
        <p:nvSpPr>
          <p:cNvPr id="11" name="矩形 10">
            <a:extLst>
              <a:ext uri="{FF2B5EF4-FFF2-40B4-BE49-F238E27FC236}">
                <a16:creationId xmlns:a16="http://schemas.microsoft.com/office/drawing/2014/main" id="{1AE79243-8B93-8491-5885-E195FC1A56C9}"/>
              </a:ext>
            </a:extLst>
          </p:cNvPr>
          <p:cNvSpPr/>
          <p:nvPr/>
        </p:nvSpPr>
        <p:spPr>
          <a:xfrm>
            <a:off x="3575720" y="3661868"/>
            <a:ext cx="5330452" cy="461665"/>
          </a:xfrm>
          <a:prstGeom prst="rect">
            <a:avLst/>
          </a:prstGeom>
          <a:noFill/>
          <a:ln>
            <a:solidFill>
              <a:schemeClr val="bg2">
                <a:lumMod val="25000"/>
              </a:schemeClr>
            </a:solidFill>
          </a:ln>
        </p:spPr>
        <p:txBody>
          <a:bodyPr wrap="square">
            <a:spAutoFit/>
          </a:bodyPr>
          <a:lstStyle/>
          <a:p>
            <a:pPr algn="ctr"/>
            <a:r>
              <a:rPr lang="zh-CN" altLang="en-US" sz="2400" dirty="0">
                <a:latin typeface="Consolas" pitchFamily="49" charset="0"/>
                <a:cs typeface="Consolas" pitchFamily="49" charset="0"/>
              </a:rPr>
              <a:t>只枚举右端点</a:t>
            </a:r>
          </a:p>
        </p:txBody>
      </p:sp>
      <p:sp>
        <p:nvSpPr>
          <p:cNvPr id="12" name="矩形 11">
            <a:extLst>
              <a:ext uri="{FF2B5EF4-FFF2-40B4-BE49-F238E27FC236}">
                <a16:creationId xmlns:a16="http://schemas.microsoft.com/office/drawing/2014/main" id="{0CEA8051-C5DB-061A-2922-3C5927064DD3}"/>
              </a:ext>
            </a:extLst>
          </p:cNvPr>
          <p:cNvSpPr/>
          <p:nvPr/>
        </p:nvSpPr>
        <p:spPr>
          <a:xfrm>
            <a:off x="3575720" y="4128147"/>
            <a:ext cx="5330452" cy="461665"/>
          </a:xfrm>
          <a:prstGeom prst="rect">
            <a:avLst/>
          </a:prstGeom>
          <a:noFill/>
          <a:ln>
            <a:solidFill>
              <a:schemeClr val="bg2">
                <a:lumMod val="25000"/>
              </a:schemeClr>
            </a:solidFill>
          </a:ln>
        </p:spPr>
        <p:txBody>
          <a:bodyPr wrap="square">
            <a:spAutoFit/>
          </a:bodyPr>
          <a:lstStyle/>
          <a:p>
            <a:pPr algn="ctr"/>
            <a:r>
              <a:rPr lang="zh-CN" altLang="en-US" sz="2400" dirty="0">
                <a:latin typeface="Consolas" pitchFamily="49" charset="0"/>
                <a:cs typeface="Consolas" pitchFamily="49" charset="0"/>
              </a:rPr>
              <a:t>快速计算合法的左端点</a:t>
            </a:r>
          </a:p>
        </p:txBody>
      </p:sp>
      <p:sp>
        <p:nvSpPr>
          <p:cNvPr id="2" name="灯片编号占位符 1">
            <a:extLst>
              <a:ext uri="{FF2B5EF4-FFF2-40B4-BE49-F238E27FC236}">
                <a16:creationId xmlns:a16="http://schemas.microsoft.com/office/drawing/2014/main" id="{C16C27A6-A38A-44B7-A76D-D10CA2AFDAD4}"/>
              </a:ext>
            </a:extLst>
          </p:cNvPr>
          <p:cNvSpPr>
            <a:spLocks noGrp="1"/>
          </p:cNvSpPr>
          <p:nvPr>
            <p:ph type="sldNum" sz="quarter" idx="12"/>
          </p:nvPr>
        </p:nvSpPr>
        <p:spPr/>
        <p:txBody>
          <a:bodyPr/>
          <a:lstStyle/>
          <a:p>
            <a:fld id="{0C913308-F349-4B6D-A68A-DD1791B4A57B}" type="slidenum">
              <a:rPr lang="zh-CN" altLang="en-US" smtClean="0"/>
              <a:t>16</a:t>
            </a:fld>
            <a:endParaRPr lang="zh-CN" altLang="en-US"/>
          </a:p>
        </p:txBody>
      </p:sp>
    </p:spTree>
    <p:extLst>
      <p:ext uri="{BB962C8B-B14F-4D97-AF65-F5344CB8AC3E}">
        <p14:creationId xmlns:p14="http://schemas.microsoft.com/office/powerpoint/2010/main" val="3166848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1" grpId="0" animBg="1"/>
      <p:bldP spid="1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480CF8A8-780C-44E2-F08D-251F6B74DF38}"/>
              </a:ext>
            </a:extLst>
          </p:cNvPr>
          <p:cNvSpPr txBox="1"/>
          <p:nvPr/>
        </p:nvSpPr>
        <p:spPr>
          <a:xfrm>
            <a:off x="1775520" y="2132856"/>
            <a:ext cx="1584176" cy="1477328"/>
          </a:xfrm>
          <a:prstGeom prst="rect">
            <a:avLst/>
          </a:prstGeom>
          <a:noFill/>
          <a:ln>
            <a:solidFill>
              <a:schemeClr val="tx1"/>
            </a:solidFill>
          </a:ln>
        </p:spPr>
        <p:txBody>
          <a:bodyPr wrap="square">
            <a:spAutoFit/>
          </a:bodyPr>
          <a:lstStyle/>
          <a:p>
            <a:r>
              <a:rPr lang="zh-CN" altLang="en-US" dirty="0">
                <a:latin typeface="Consolas" panose="020B0609020204030204" pitchFamily="49" charset="0"/>
              </a:rPr>
              <a:t>输入 </a:t>
            </a:r>
          </a:p>
          <a:p>
            <a:r>
              <a:rPr lang="zh-CN" altLang="en-US" dirty="0">
                <a:latin typeface="Consolas" panose="020B0609020204030204" pitchFamily="49" charset="0"/>
              </a:rPr>
              <a:t>4</a:t>
            </a:r>
          </a:p>
          <a:p>
            <a:r>
              <a:rPr lang="zh-CN" altLang="en-US" dirty="0">
                <a:latin typeface="Consolas" panose="020B0609020204030204" pitchFamily="49" charset="0"/>
              </a:rPr>
              <a:t>1 -1 2 3</a:t>
            </a:r>
          </a:p>
          <a:p>
            <a:r>
              <a:rPr lang="zh-CN" altLang="en-US" dirty="0">
                <a:latin typeface="Consolas" panose="020B0609020204030204" pitchFamily="49" charset="0"/>
              </a:rPr>
              <a:t>输出</a:t>
            </a:r>
          </a:p>
          <a:p>
            <a:r>
              <a:rPr lang="zh-CN" altLang="en-US" dirty="0">
                <a:latin typeface="Consolas" panose="020B0609020204030204" pitchFamily="49" charset="0"/>
              </a:rPr>
              <a:t>5 2 </a:t>
            </a:r>
          </a:p>
        </p:txBody>
      </p:sp>
      <p:sp>
        <p:nvSpPr>
          <p:cNvPr id="2" name="矩形 1">
            <a:extLst>
              <a:ext uri="{FF2B5EF4-FFF2-40B4-BE49-F238E27FC236}">
                <a16:creationId xmlns:a16="http://schemas.microsoft.com/office/drawing/2014/main" id="{DA9C51DC-77F7-C13A-5593-7F56814B6483}"/>
              </a:ext>
            </a:extLst>
          </p:cNvPr>
          <p:cNvSpPr/>
          <p:nvPr/>
        </p:nvSpPr>
        <p:spPr>
          <a:xfrm>
            <a:off x="3575720" y="519064"/>
            <a:ext cx="5330452" cy="461665"/>
          </a:xfrm>
          <a:prstGeom prst="rect">
            <a:avLst/>
          </a:prstGeom>
          <a:noFill/>
          <a:ln>
            <a:solidFill>
              <a:schemeClr val="bg2">
                <a:lumMod val="25000"/>
              </a:schemeClr>
            </a:solidFill>
          </a:ln>
        </p:spPr>
        <p:txBody>
          <a:bodyPr wrap="square">
            <a:spAutoFit/>
          </a:bodyPr>
          <a:lstStyle/>
          <a:p>
            <a:pPr algn="ctr"/>
            <a:r>
              <a:rPr lang="en-US" altLang="zh-CN" sz="2400" dirty="0">
                <a:latin typeface="Consolas" pitchFamily="49" charset="0"/>
                <a:cs typeface="Consolas" pitchFamily="49" charset="0"/>
              </a:rPr>
              <a:t>s[i]</a:t>
            </a:r>
            <a:r>
              <a:rPr lang="zh-CN" altLang="en-US" sz="2400" dirty="0">
                <a:latin typeface="Consolas" pitchFamily="49" charset="0"/>
                <a:cs typeface="Consolas" pitchFamily="49" charset="0"/>
              </a:rPr>
              <a:t>表示</a:t>
            </a:r>
            <a:r>
              <a:rPr lang="en-US" altLang="zh-CN" sz="2400" dirty="0">
                <a:latin typeface="Consolas" pitchFamily="49" charset="0"/>
                <a:cs typeface="Consolas" pitchFamily="49" charset="0"/>
              </a:rPr>
              <a:t>x</a:t>
            </a:r>
            <a:r>
              <a:rPr lang="zh-CN" altLang="en-US" sz="2400" dirty="0">
                <a:latin typeface="Consolas" pitchFamily="49" charset="0"/>
                <a:cs typeface="Consolas" pitchFamily="49" charset="0"/>
              </a:rPr>
              <a:t>数值前</a:t>
            </a:r>
            <a:r>
              <a:rPr lang="en-US" altLang="zh-CN" sz="2400" dirty="0">
                <a:latin typeface="Consolas" pitchFamily="49" charset="0"/>
                <a:cs typeface="Consolas" pitchFamily="49" charset="0"/>
              </a:rPr>
              <a:t>i</a:t>
            </a:r>
            <a:r>
              <a:rPr lang="zh-CN" altLang="en-US" sz="2400" dirty="0">
                <a:latin typeface="Consolas" pitchFamily="49" charset="0"/>
                <a:cs typeface="Consolas" pitchFamily="49" charset="0"/>
              </a:rPr>
              <a:t>个元素的总和</a:t>
            </a:r>
          </a:p>
        </p:txBody>
      </p:sp>
      <p:sp>
        <p:nvSpPr>
          <p:cNvPr id="3" name="矩形 2">
            <a:extLst>
              <a:ext uri="{FF2B5EF4-FFF2-40B4-BE49-F238E27FC236}">
                <a16:creationId xmlns:a16="http://schemas.microsoft.com/office/drawing/2014/main" id="{F2EEE13B-4E51-0692-8695-DB1BE88BFA52}"/>
              </a:ext>
            </a:extLst>
          </p:cNvPr>
          <p:cNvSpPr/>
          <p:nvPr/>
        </p:nvSpPr>
        <p:spPr>
          <a:xfrm>
            <a:off x="3575720" y="980729"/>
            <a:ext cx="5330452" cy="461665"/>
          </a:xfrm>
          <a:prstGeom prst="rect">
            <a:avLst/>
          </a:prstGeom>
          <a:noFill/>
          <a:ln>
            <a:solidFill>
              <a:schemeClr val="bg2">
                <a:lumMod val="25000"/>
              </a:schemeClr>
            </a:solidFill>
          </a:ln>
        </p:spPr>
        <p:txBody>
          <a:bodyPr wrap="square">
            <a:spAutoFit/>
          </a:bodyPr>
          <a:lstStyle/>
          <a:p>
            <a:pPr algn="ctr"/>
            <a:r>
              <a:rPr lang="en-US" altLang="zh-CN" sz="2400" dirty="0">
                <a:latin typeface="Consolas" pitchFamily="49" charset="0"/>
                <a:cs typeface="Consolas" pitchFamily="49" charset="0"/>
              </a:rPr>
              <a:t>f[i]</a:t>
            </a:r>
            <a:r>
              <a:rPr lang="zh-CN" altLang="en-US" sz="2400" dirty="0">
                <a:latin typeface="Consolas" pitchFamily="49" charset="0"/>
                <a:cs typeface="Consolas" pitchFamily="49" charset="0"/>
              </a:rPr>
              <a:t>表示以</a:t>
            </a:r>
            <a:r>
              <a:rPr lang="en-US" altLang="zh-CN" sz="2400" dirty="0">
                <a:latin typeface="Consolas" pitchFamily="49" charset="0"/>
                <a:cs typeface="Consolas" pitchFamily="49" charset="0"/>
              </a:rPr>
              <a:t>i</a:t>
            </a:r>
            <a:r>
              <a:rPr lang="zh-CN" altLang="en-US" sz="2400" dirty="0">
                <a:latin typeface="Consolas" pitchFamily="49" charset="0"/>
                <a:cs typeface="Consolas" pitchFamily="49" charset="0"/>
              </a:rPr>
              <a:t>号结尾的最大子段和 </a:t>
            </a:r>
          </a:p>
        </p:txBody>
      </p:sp>
      <p:sp>
        <p:nvSpPr>
          <p:cNvPr id="6" name="文本框 5">
            <a:extLst>
              <a:ext uri="{FF2B5EF4-FFF2-40B4-BE49-F238E27FC236}">
                <a16:creationId xmlns:a16="http://schemas.microsoft.com/office/drawing/2014/main" id="{D68E6B3D-FD42-0564-37C3-31054BD4A179}"/>
              </a:ext>
            </a:extLst>
          </p:cNvPr>
          <p:cNvSpPr txBox="1"/>
          <p:nvPr/>
        </p:nvSpPr>
        <p:spPr>
          <a:xfrm>
            <a:off x="4151784" y="2064138"/>
            <a:ext cx="4638674" cy="1569660"/>
          </a:xfrm>
          <a:prstGeom prst="rect">
            <a:avLst/>
          </a:prstGeom>
          <a:noFill/>
        </p:spPr>
        <p:txBody>
          <a:bodyPr wrap="square">
            <a:spAutoFit/>
          </a:bodyPr>
          <a:lstStyle/>
          <a:p>
            <a:r>
              <a:rPr lang="zh-CN" altLang="en-US" sz="2400" dirty="0">
                <a:latin typeface="Consolas" panose="020B0609020204030204" pitchFamily="49" charset="0"/>
              </a:rPr>
              <a:t>    i = 0  1  2  3  4  </a:t>
            </a:r>
          </a:p>
          <a:p>
            <a:r>
              <a:rPr lang="zh-CN" altLang="en-US" sz="2400" dirty="0">
                <a:latin typeface="Consolas" panose="020B0609020204030204" pitchFamily="49" charset="0"/>
              </a:rPr>
              <a:t> x[i] =    1 -1  2  3</a:t>
            </a:r>
            <a:endParaRPr lang="en-US" altLang="zh-CN" sz="2400" dirty="0">
              <a:latin typeface="Consolas" panose="020B0609020204030204" pitchFamily="49" charset="0"/>
            </a:endParaRPr>
          </a:p>
          <a:p>
            <a:r>
              <a:rPr lang="en-US" altLang="zh-CN" sz="2400" dirty="0">
                <a:latin typeface="Consolas" panose="020B0609020204030204" pitchFamily="49" charset="0"/>
              </a:rPr>
              <a:t> f[i] =    1  0  2  5</a:t>
            </a:r>
            <a:endParaRPr lang="zh-CN" altLang="en-US" sz="2400" dirty="0">
              <a:latin typeface="Consolas" panose="020B0609020204030204" pitchFamily="49" charset="0"/>
            </a:endParaRPr>
          </a:p>
          <a:p>
            <a:r>
              <a:rPr lang="zh-CN" altLang="en-US" sz="2400" dirty="0">
                <a:latin typeface="Consolas" panose="020B0609020204030204" pitchFamily="49" charset="0"/>
              </a:rPr>
              <a:t> s[i] = 0  1  0  2  5</a:t>
            </a:r>
          </a:p>
        </p:txBody>
      </p:sp>
      <p:sp>
        <p:nvSpPr>
          <p:cNvPr id="4" name="灯片编号占位符 3">
            <a:extLst>
              <a:ext uri="{FF2B5EF4-FFF2-40B4-BE49-F238E27FC236}">
                <a16:creationId xmlns:a16="http://schemas.microsoft.com/office/drawing/2014/main" id="{F18F8C1C-5870-4EAF-9735-2317D33E8C2E}"/>
              </a:ext>
            </a:extLst>
          </p:cNvPr>
          <p:cNvSpPr>
            <a:spLocks noGrp="1"/>
          </p:cNvSpPr>
          <p:nvPr>
            <p:ph type="sldNum" sz="quarter" idx="12"/>
          </p:nvPr>
        </p:nvSpPr>
        <p:spPr/>
        <p:txBody>
          <a:bodyPr/>
          <a:lstStyle/>
          <a:p>
            <a:fld id="{0C913308-F349-4B6D-A68A-DD1791B4A57B}" type="slidenum">
              <a:rPr lang="zh-CN" altLang="en-US" smtClean="0"/>
              <a:t>17</a:t>
            </a:fld>
            <a:endParaRPr lang="zh-CN" altLang="en-US"/>
          </a:p>
        </p:txBody>
      </p:sp>
    </p:spTree>
    <p:extLst>
      <p:ext uri="{BB962C8B-B14F-4D97-AF65-F5344CB8AC3E}">
        <p14:creationId xmlns:p14="http://schemas.microsoft.com/office/powerpoint/2010/main" val="773878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480CF8A8-780C-44E2-F08D-251F6B74DF38}"/>
              </a:ext>
            </a:extLst>
          </p:cNvPr>
          <p:cNvSpPr txBox="1"/>
          <p:nvPr/>
        </p:nvSpPr>
        <p:spPr>
          <a:xfrm>
            <a:off x="1703512" y="2132856"/>
            <a:ext cx="1944216" cy="1477328"/>
          </a:xfrm>
          <a:prstGeom prst="rect">
            <a:avLst/>
          </a:prstGeom>
          <a:noFill/>
          <a:ln>
            <a:solidFill>
              <a:schemeClr val="tx1"/>
            </a:solidFill>
          </a:ln>
        </p:spPr>
        <p:txBody>
          <a:bodyPr wrap="square">
            <a:spAutoFit/>
          </a:bodyPr>
          <a:lstStyle/>
          <a:p>
            <a:r>
              <a:rPr lang="zh-CN" altLang="en-US" dirty="0">
                <a:latin typeface="Consolas" panose="020B0609020204030204" pitchFamily="49" charset="0"/>
              </a:rPr>
              <a:t>输入 </a:t>
            </a:r>
          </a:p>
          <a:p>
            <a:r>
              <a:rPr lang="zh-CN" altLang="en-US" dirty="0">
                <a:latin typeface="Consolas" panose="020B0609020204030204" pitchFamily="49" charset="0"/>
              </a:rPr>
              <a:t>6</a:t>
            </a:r>
          </a:p>
          <a:p>
            <a:r>
              <a:rPr lang="zh-CN" altLang="en-US" dirty="0">
                <a:latin typeface="Consolas" panose="020B0609020204030204" pitchFamily="49" charset="0"/>
              </a:rPr>
              <a:t>2 -3 1 -1 2 3</a:t>
            </a:r>
          </a:p>
          <a:p>
            <a:r>
              <a:rPr lang="zh-CN" altLang="en-US" dirty="0">
                <a:latin typeface="Consolas" panose="020B0609020204030204" pitchFamily="49" charset="0"/>
              </a:rPr>
              <a:t>输出</a:t>
            </a:r>
          </a:p>
          <a:p>
            <a:r>
              <a:rPr lang="zh-CN" altLang="en-US" dirty="0">
                <a:latin typeface="Consolas" panose="020B0609020204030204" pitchFamily="49" charset="0"/>
              </a:rPr>
              <a:t>5 2 </a:t>
            </a:r>
          </a:p>
        </p:txBody>
      </p:sp>
      <p:sp>
        <p:nvSpPr>
          <p:cNvPr id="2" name="矩形 1">
            <a:extLst>
              <a:ext uri="{FF2B5EF4-FFF2-40B4-BE49-F238E27FC236}">
                <a16:creationId xmlns:a16="http://schemas.microsoft.com/office/drawing/2014/main" id="{DA9C51DC-77F7-C13A-5593-7F56814B6483}"/>
              </a:ext>
            </a:extLst>
          </p:cNvPr>
          <p:cNvSpPr/>
          <p:nvPr/>
        </p:nvSpPr>
        <p:spPr>
          <a:xfrm>
            <a:off x="3575720" y="519064"/>
            <a:ext cx="5330452" cy="461665"/>
          </a:xfrm>
          <a:prstGeom prst="rect">
            <a:avLst/>
          </a:prstGeom>
          <a:noFill/>
          <a:ln>
            <a:solidFill>
              <a:schemeClr val="bg2">
                <a:lumMod val="25000"/>
              </a:schemeClr>
            </a:solidFill>
          </a:ln>
        </p:spPr>
        <p:txBody>
          <a:bodyPr wrap="square">
            <a:spAutoFit/>
          </a:bodyPr>
          <a:lstStyle/>
          <a:p>
            <a:pPr algn="ctr"/>
            <a:r>
              <a:rPr lang="en-US" altLang="zh-CN" sz="2400" dirty="0">
                <a:latin typeface="Consolas" pitchFamily="49" charset="0"/>
                <a:cs typeface="Consolas" pitchFamily="49" charset="0"/>
              </a:rPr>
              <a:t>s[i]</a:t>
            </a:r>
            <a:r>
              <a:rPr lang="zh-CN" altLang="en-US" sz="2400" dirty="0">
                <a:latin typeface="Consolas" pitchFamily="49" charset="0"/>
                <a:cs typeface="Consolas" pitchFamily="49" charset="0"/>
              </a:rPr>
              <a:t>表示</a:t>
            </a:r>
            <a:r>
              <a:rPr lang="en-US" altLang="zh-CN" sz="2400" dirty="0">
                <a:latin typeface="Consolas" pitchFamily="49" charset="0"/>
                <a:cs typeface="Consolas" pitchFamily="49" charset="0"/>
              </a:rPr>
              <a:t>x</a:t>
            </a:r>
            <a:r>
              <a:rPr lang="zh-CN" altLang="en-US" sz="2400" dirty="0">
                <a:latin typeface="Consolas" pitchFamily="49" charset="0"/>
                <a:cs typeface="Consolas" pitchFamily="49" charset="0"/>
              </a:rPr>
              <a:t>数值前</a:t>
            </a:r>
            <a:r>
              <a:rPr lang="en-US" altLang="zh-CN" sz="2400" dirty="0">
                <a:latin typeface="Consolas" pitchFamily="49" charset="0"/>
                <a:cs typeface="Consolas" pitchFamily="49" charset="0"/>
              </a:rPr>
              <a:t>i</a:t>
            </a:r>
            <a:r>
              <a:rPr lang="zh-CN" altLang="en-US" sz="2400" dirty="0">
                <a:latin typeface="Consolas" pitchFamily="49" charset="0"/>
                <a:cs typeface="Consolas" pitchFamily="49" charset="0"/>
              </a:rPr>
              <a:t>个元素的总和</a:t>
            </a:r>
          </a:p>
        </p:txBody>
      </p:sp>
      <p:sp>
        <p:nvSpPr>
          <p:cNvPr id="3" name="矩形 2">
            <a:extLst>
              <a:ext uri="{FF2B5EF4-FFF2-40B4-BE49-F238E27FC236}">
                <a16:creationId xmlns:a16="http://schemas.microsoft.com/office/drawing/2014/main" id="{F2EEE13B-4E51-0692-8695-DB1BE88BFA52}"/>
              </a:ext>
            </a:extLst>
          </p:cNvPr>
          <p:cNvSpPr/>
          <p:nvPr/>
        </p:nvSpPr>
        <p:spPr>
          <a:xfrm>
            <a:off x="3575720" y="980729"/>
            <a:ext cx="5330452" cy="461665"/>
          </a:xfrm>
          <a:prstGeom prst="rect">
            <a:avLst/>
          </a:prstGeom>
          <a:noFill/>
          <a:ln>
            <a:solidFill>
              <a:schemeClr val="bg2">
                <a:lumMod val="25000"/>
              </a:schemeClr>
            </a:solidFill>
          </a:ln>
        </p:spPr>
        <p:txBody>
          <a:bodyPr wrap="square">
            <a:spAutoFit/>
          </a:bodyPr>
          <a:lstStyle/>
          <a:p>
            <a:pPr algn="ctr"/>
            <a:r>
              <a:rPr lang="en-US" altLang="zh-CN" sz="2400" dirty="0">
                <a:latin typeface="Consolas" pitchFamily="49" charset="0"/>
                <a:cs typeface="Consolas" pitchFamily="49" charset="0"/>
              </a:rPr>
              <a:t>f[i]</a:t>
            </a:r>
            <a:r>
              <a:rPr lang="zh-CN" altLang="en-US" sz="2400" dirty="0">
                <a:latin typeface="Consolas" pitchFamily="49" charset="0"/>
                <a:cs typeface="Consolas" pitchFamily="49" charset="0"/>
              </a:rPr>
              <a:t>表示以</a:t>
            </a:r>
            <a:r>
              <a:rPr lang="en-US" altLang="zh-CN" sz="2400" dirty="0">
                <a:latin typeface="Consolas" pitchFamily="49" charset="0"/>
                <a:cs typeface="Consolas" pitchFamily="49" charset="0"/>
              </a:rPr>
              <a:t>i</a:t>
            </a:r>
            <a:r>
              <a:rPr lang="zh-CN" altLang="en-US" sz="2400" dirty="0">
                <a:latin typeface="Consolas" pitchFamily="49" charset="0"/>
                <a:cs typeface="Consolas" pitchFamily="49" charset="0"/>
              </a:rPr>
              <a:t>号结尾的最大子段和 </a:t>
            </a:r>
          </a:p>
        </p:txBody>
      </p:sp>
      <p:sp>
        <p:nvSpPr>
          <p:cNvPr id="6" name="文本框 5">
            <a:extLst>
              <a:ext uri="{FF2B5EF4-FFF2-40B4-BE49-F238E27FC236}">
                <a16:creationId xmlns:a16="http://schemas.microsoft.com/office/drawing/2014/main" id="{D68E6B3D-FD42-0564-37C3-31054BD4A179}"/>
              </a:ext>
            </a:extLst>
          </p:cNvPr>
          <p:cNvSpPr txBox="1"/>
          <p:nvPr/>
        </p:nvSpPr>
        <p:spPr>
          <a:xfrm>
            <a:off x="4151784" y="2064138"/>
            <a:ext cx="5330452" cy="1569660"/>
          </a:xfrm>
          <a:prstGeom prst="rect">
            <a:avLst/>
          </a:prstGeom>
          <a:noFill/>
        </p:spPr>
        <p:txBody>
          <a:bodyPr wrap="square">
            <a:spAutoFit/>
          </a:bodyPr>
          <a:lstStyle/>
          <a:p>
            <a:r>
              <a:rPr lang="zh-CN" altLang="en-US" sz="2400" dirty="0">
                <a:latin typeface="Consolas" panose="020B0609020204030204" pitchFamily="49" charset="0"/>
              </a:rPr>
              <a:t>    i = 0  1  2  3  4  5  6  </a:t>
            </a:r>
          </a:p>
          <a:p>
            <a:r>
              <a:rPr lang="zh-CN" altLang="en-US" sz="2400" dirty="0">
                <a:latin typeface="Consolas" panose="020B0609020204030204" pitchFamily="49" charset="0"/>
              </a:rPr>
              <a:t> x[i] =    2 -3  1 -1  2  3</a:t>
            </a:r>
            <a:endParaRPr lang="en-US" altLang="zh-CN" sz="2400" dirty="0">
              <a:latin typeface="Consolas" panose="020B0609020204030204" pitchFamily="49" charset="0"/>
            </a:endParaRPr>
          </a:p>
          <a:p>
            <a:r>
              <a:rPr lang="en-US" altLang="zh-CN" sz="2400" dirty="0">
                <a:latin typeface="Consolas" panose="020B0609020204030204" pitchFamily="49" charset="0"/>
              </a:rPr>
              <a:t> f[i] =    2 -1  1  0  2  3</a:t>
            </a:r>
            <a:endParaRPr lang="zh-CN" altLang="en-US" sz="2400" dirty="0">
              <a:latin typeface="Consolas" panose="020B0609020204030204" pitchFamily="49" charset="0"/>
            </a:endParaRPr>
          </a:p>
          <a:p>
            <a:r>
              <a:rPr lang="zh-CN" altLang="en-US" sz="2400" dirty="0">
                <a:latin typeface="Consolas" panose="020B0609020204030204" pitchFamily="49" charset="0"/>
              </a:rPr>
              <a:t> s[i] = 0  2 -1  0 -1  1  4</a:t>
            </a:r>
          </a:p>
        </p:txBody>
      </p:sp>
      <p:sp>
        <p:nvSpPr>
          <p:cNvPr id="4" name="灯片编号占位符 3">
            <a:extLst>
              <a:ext uri="{FF2B5EF4-FFF2-40B4-BE49-F238E27FC236}">
                <a16:creationId xmlns:a16="http://schemas.microsoft.com/office/drawing/2014/main" id="{4468D421-1BEB-4E98-A8F0-99D576FEAC9A}"/>
              </a:ext>
            </a:extLst>
          </p:cNvPr>
          <p:cNvSpPr>
            <a:spLocks noGrp="1"/>
          </p:cNvSpPr>
          <p:nvPr>
            <p:ph type="sldNum" sz="quarter" idx="12"/>
          </p:nvPr>
        </p:nvSpPr>
        <p:spPr/>
        <p:txBody>
          <a:bodyPr/>
          <a:lstStyle/>
          <a:p>
            <a:fld id="{0C913308-F349-4B6D-A68A-DD1791B4A57B}" type="slidenum">
              <a:rPr lang="zh-CN" altLang="en-US" smtClean="0"/>
              <a:t>18</a:t>
            </a:fld>
            <a:endParaRPr lang="zh-CN" altLang="en-US"/>
          </a:p>
        </p:txBody>
      </p:sp>
    </p:spTree>
    <p:extLst>
      <p:ext uri="{BB962C8B-B14F-4D97-AF65-F5344CB8AC3E}">
        <p14:creationId xmlns:p14="http://schemas.microsoft.com/office/powerpoint/2010/main" val="153549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A17AC344-E246-D067-6C49-5F57FBF4AAFA}"/>
              </a:ext>
            </a:extLst>
          </p:cNvPr>
          <p:cNvSpPr/>
          <p:nvPr/>
        </p:nvSpPr>
        <p:spPr>
          <a:xfrm>
            <a:off x="600615" y="280337"/>
            <a:ext cx="6143457" cy="461665"/>
          </a:xfrm>
          <a:prstGeom prst="rect">
            <a:avLst/>
          </a:prstGeom>
          <a:noFill/>
          <a:ln>
            <a:solidFill>
              <a:schemeClr val="bg2">
                <a:lumMod val="25000"/>
              </a:schemeClr>
            </a:solidFill>
          </a:ln>
        </p:spPr>
        <p:txBody>
          <a:bodyPr wrap="square">
            <a:spAutoFit/>
          </a:bodyPr>
          <a:lstStyle/>
          <a:p>
            <a:pPr algn="ctr"/>
            <a:r>
              <a:rPr lang="en-US" altLang="zh-CN" sz="2400" dirty="0">
                <a:latin typeface="Consolas" pitchFamily="49" charset="0"/>
                <a:cs typeface="Consolas" pitchFamily="49" charset="0"/>
              </a:rPr>
              <a:t>x</a:t>
            </a:r>
            <a:r>
              <a:rPr lang="zh-CN" altLang="en-US" sz="2400" dirty="0">
                <a:latin typeface="Consolas" pitchFamily="49" charset="0"/>
                <a:cs typeface="Consolas" pitchFamily="49" charset="0"/>
              </a:rPr>
              <a:t>数组中编号在</a:t>
            </a:r>
            <a:r>
              <a:rPr lang="en-US" altLang="zh-CN" sz="2400" dirty="0">
                <a:latin typeface="Consolas" pitchFamily="49" charset="0"/>
                <a:cs typeface="Consolas" pitchFamily="49" charset="0"/>
              </a:rPr>
              <a:t>[l,r]</a:t>
            </a:r>
            <a:r>
              <a:rPr lang="zh-CN" altLang="en-US" sz="2400" dirty="0">
                <a:latin typeface="Consolas" pitchFamily="49" charset="0"/>
                <a:cs typeface="Consolas" pitchFamily="49" charset="0"/>
              </a:rPr>
              <a:t>范围内的数值连续和</a:t>
            </a:r>
          </a:p>
        </p:txBody>
      </p:sp>
      <p:sp>
        <p:nvSpPr>
          <p:cNvPr id="10" name="矩形 9">
            <a:extLst>
              <a:ext uri="{FF2B5EF4-FFF2-40B4-BE49-F238E27FC236}">
                <a16:creationId xmlns:a16="http://schemas.microsoft.com/office/drawing/2014/main" id="{CC7690B7-A012-9A52-2D22-3C93CC14DFBE}"/>
              </a:ext>
            </a:extLst>
          </p:cNvPr>
          <p:cNvSpPr/>
          <p:nvPr/>
        </p:nvSpPr>
        <p:spPr>
          <a:xfrm>
            <a:off x="6888088" y="280337"/>
            <a:ext cx="2736304" cy="461664"/>
          </a:xfrm>
          <a:prstGeom prst="rect">
            <a:avLst/>
          </a:prstGeom>
          <a:solidFill>
            <a:schemeClr val="accent2">
              <a:lumMod val="20000"/>
              <a:lumOff val="80000"/>
            </a:schemeClr>
          </a:solidFill>
          <a:ln>
            <a:solidFill>
              <a:schemeClr val="bg2">
                <a:lumMod val="25000"/>
              </a:schemeClr>
            </a:solidFill>
          </a:ln>
        </p:spPr>
        <p:txBody>
          <a:bodyPr wrap="square">
            <a:spAutoFit/>
          </a:bodyPr>
          <a:lstStyle/>
          <a:p>
            <a:pPr algn="ctr"/>
            <a:r>
              <a:rPr lang="en-US" altLang="zh-CN" sz="2400" dirty="0">
                <a:latin typeface="Consolas" pitchFamily="49" charset="0"/>
                <a:cs typeface="Consolas" pitchFamily="49" charset="0"/>
              </a:rPr>
              <a:t>s[r] – s[l-1] </a:t>
            </a:r>
            <a:endParaRPr lang="zh-CN" altLang="en-US" sz="2400" dirty="0">
              <a:latin typeface="Consolas" pitchFamily="49" charset="0"/>
              <a:cs typeface="Consolas" pitchFamily="49" charset="0"/>
            </a:endParaRPr>
          </a:p>
        </p:txBody>
      </p:sp>
      <p:sp>
        <p:nvSpPr>
          <p:cNvPr id="2" name="矩形 1">
            <a:extLst>
              <a:ext uri="{FF2B5EF4-FFF2-40B4-BE49-F238E27FC236}">
                <a16:creationId xmlns:a16="http://schemas.microsoft.com/office/drawing/2014/main" id="{43F346B7-93AA-C4B4-D462-0DB6E3781F95}"/>
              </a:ext>
            </a:extLst>
          </p:cNvPr>
          <p:cNvSpPr/>
          <p:nvPr/>
        </p:nvSpPr>
        <p:spPr>
          <a:xfrm>
            <a:off x="600615" y="1103317"/>
            <a:ext cx="5400600" cy="461664"/>
          </a:xfrm>
          <a:prstGeom prst="rect">
            <a:avLst/>
          </a:prstGeom>
          <a:noFill/>
          <a:ln>
            <a:solidFill>
              <a:schemeClr val="bg2">
                <a:lumMod val="25000"/>
              </a:schemeClr>
            </a:solidFill>
          </a:ln>
        </p:spPr>
        <p:txBody>
          <a:bodyPr wrap="square">
            <a:spAutoFit/>
          </a:bodyPr>
          <a:lstStyle/>
          <a:p>
            <a:r>
              <a:rPr lang="zh-CN" altLang="en-US" sz="2400" dirty="0">
                <a:latin typeface="Consolas" pitchFamily="49" charset="0"/>
                <a:cs typeface="Consolas" pitchFamily="49" charset="0"/>
              </a:rPr>
              <a:t>已知最大子段和 </a:t>
            </a:r>
            <a:r>
              <a:rPr lang="en-US" altLang="zh-CN" sz="2400" dirty="0">
                <a:latin typeface="Consolas" pitchFamily="49" charset="0"/>
                <a:cs typeface="Consolas" pitchFamily="49" charset="0"/>
              </a:rPr>
              <a:t>A</a:t>
            </a:r>
            <a:r>
              <a:rPr lang="zh-CN" altLang="en-US" sz="2400" dirty="0">
                <a:latin typeface="Consolas" pitchFamily="49" charset="0"/>
                <a:cs typeface="Consolas" pitchFamily="49" charset="0"/>
              </a:rPr>
              <a:t>，固定子段右端点</a:t>
            </a:r>
            <a:r>
              <a:rPr lang="en-US" altLang="zh-CN" sz="2400" dirty="0">
                <a:latin typeface="Consolas" pitchFamily="49" charset="0"/>
                <a:cs typeface="Consolas" pitchFamily="49" charset="0"/>
              </a:rPr>
              <a:t>r</a:t>
            </a:r>
            <a:endParaRPr lang="zh-CN" altLang="en-US" sz="2400" dirty="0">
              <a:latin typeface="Consolas" pitchFamily="49" charset="0"/>
              <a:cs typeface="Consolas" pitchFamily="49" charset="0"/>
            </a:endParaRPr>
          </a:p>
        </p:txBody>
      </p:sp>
      <p:sp>
        <p:nvSpPr>
          <p:cNvPr id="15" name="文本框 14">
            <a:extLst>
              <a:ext uri="{FF2B5EF4-FFF2-40B4-BE49-F238E27FC236}">
                <a16:creationId xmlns:a16="http://schemas.microsoft.com/office/drawing/2014/main" id="{D87FD032-F320-4194-83F6-FD60A829A1C6}"/>
              </a:ext>
            </a:extLst>
          </p:cNvPr>
          <p:cNvSpPr txBox="1"/>
          <p:nvPr/>
        </p:nvSpPr>
        <p:spPr>
          <a:xfrm>
            <a:off x="6053593" y="1096036"/>
            <a:ext cx="4896544" cy="461665"/>
          </a:xfrm>
          <a:prstGeom prst="rect">
            <a:avLst/>
          </a:prstGeom>
          <a:noFill/>
        </p:spPr>
        <p:txBody>
          <a:bodyPr wrap="square">
            <a:spAutoFit/>
          </a:bodyPr>
          <a:lstStyle/>
          <a:p>
            <a:r>
              <a:rPr lang="zh-CN" altLang="en-US" sz="2400">
                <a:solidFill>
                  <a:srgbClr val="FF0000"/>
                </a:solidFill>
                <a:latin typeface="Consolas" pitchFamily="49" charset="0"/>
                <a:sym typeface="Wingdings" panose="05000000000000000000" pitchFamily="2" charset="2"/>
              </a:rPr>
              <a:t>思考：如何计算得到最大字段和</a:t>
            </a:r>
            <a:r>
              <a:rPr lang="en-US" altLang="zh-CN" sz="2400">
                <a:solidFill>
                  <a:srgbClr val="FF0000"/>
                </a:solidFill>
                <a:latin typeface="Consolas" pitchFamily="49" charset="0"/>
                <a:sym typeface="Wingdings" panose="05000000000000000000" pitchFamily="2" charset="2"/>
              </a:rPr>
              <a:t>?</a:t>
            </a:r>
            <a:endParaRPr lang="zh-CN" altLang="en-US" sz="2400">
              <a:solidFill>
                <a:srgbClr val="FF0000"/>
              </a:solidFill>
              <a:latin typeface="Consolas" pitchFamily="49" charset="0"/>
            </a:endParaRPr>
          </a:p>
        </p:txBody>
      </p:sp>
      <p:sp>
        <p:nvSpPr>
          <p:cNvPr id="16" name="文本框 15">
            <a:extLst>
              <a:ext uri="{FF2B5EF4-FFF2-40B4-BE49-F238E27FC236}">
                <a16:creationId xmlns:a16="http://schemas.microsoft.com/office/drawing/2014/main" id="{0090CB7B-F4A9-4C86-85A7-7288C36E3213}"/>
              </a:ext>
            </a:extLst>
          </p:cNvPr>
          <p:cNvSpPr txBox="1"/>
          <p:nvPr/>
        </p:nvSpPr>
        <p:spPr>
          <a:xfrm>
            <a:off x="600615" y="1704479"/>
            <a:ext cx="2230388" cy="461665"/>
          </a:xfrm>
          <a:prstGeom prst="rect">
            <a:avLst/>
          </a:prstGeom>
          <a:solidFill>
            <a:schemeClr val="accent4"/>
          </a:solidFill>
        </p:spPr>
        <p:txBody>
          <a:bodyPr wrap="square">
            <a:spAutoFit/>
          </a:bodyPr>
          <a:lstStyle/>
          <a:p>
            <a:pPr algn="ctr"/>
            <a:r>
              <a:rPr lang="zh-CN" altLang="en-US" sz="2400" b="1">
                <a:solidFill>
                  <a:srgbClr val="7030A0"/>
                </a:solidFill>
                <a:latin typeface="Consolas" pitchFamily="49" charset="0"/>
              </a:rPr>
              <a:t>跑路算法</a:t>
            </a:r>
          </a:p>
        </p:txBody>
      </p:sp>
      <p:sp>
        <p:nvSpPr>
          <p:cNvPr id="20" name="文本框 19">
            <a:extLst>
              <a:ext uri="{FF2B5EF4-FFF2-40B4-BE49-F238E27FC236}">
                <a16:creationId xmlns:a16="http://schemas.microsoft.com/office/drawing/2014/main" id="{89CC8170-F8E7-4917-BB81-778D49292FF3}"/>
              </a:ext>
            </a:extLst>
          </p:cNvPr>
          <p:cNvSpPr txBox="1"/>
          <p:nvPr/>
        </p:nvSpPr>
        <p:spPr>
          <a:xfrm>
            <a:off x="2950963" y="1704478"/>
            <a:ext cx="4153149" cy="461665"/>
          </a:xfrm>
          <a:prstGeom prst="rect">
            <a:avLst/>
          </a:prstGeom>
          <a:noFill/>
        </p:spPr>
        <p:txBody>
          <a:bodyPr wrap="square">
            <a:spAutoFit/>
          </a:bodyPr>
          <a:lstStyle/>
          <a:p>
            <a:r>
              <a:rPr lang="en-US" altLang="zh-CN" sz="2400">
                <a:solidFill>
                  <a:srgbClr val="00B050"/>
                </a:solidFill>
                <a:latin typeface="Consolas" pitchFamily="49" charset="0"/>
                <a:sym typeface="Wingdings" panose="05000000000000000000" pitchFamily="2" charset="2"/>
              </a:rPr>
              <a:t>f[i]</a:t>
            </a:r>
            <a:r>
              <a:rPr lang="zh-CN" altLang="en-US" sz="2400">
                <a:solidFill>
                  <a:srgbClr val="00B050"/>
                </a:solidFill>
                <a:latin typeface="Consolas" pitchFamily="49" charset="0"/>
                <a:sym typeface="Wingdings" panose="05000000000000000000" pitchFamily="2" charset="2"/>
              </a:rPr>
              <a:t>：以</a:t>
            </a:r>
            <a:r>
              <a:rPr lang="en-US" altLang="zh-CN" sz="2400">
                <a:solidFill>
                  <a:srgbClr val="00B050"/>
                </a:solidFill>
                <a:latin typeface="Consolas" pitchFamily="49" charset="0"/>
                <a:sym typeface="Wingdings" panose="05000000000000000000" pitchFamily="2" charset="2"/>
              </a:rPr>
              <a:t>i</a:t>
            </a:r>
            <a:r>
              <a:rPr lang="zh-CN" altLang="en-US" sz="2400">
                <a:solidFill>
                  <a:srgbClr val="00B050"/>
                </a:solidFill>
                <a:latin typeface="Consolas" pitchFamily="49" charset="0"/>
                <a:sym typeface="Wingdings" panose="05000000000000000000" pitchFamily="2" charset="2"/>
              </a:rPr>
              <a:t>结尾的最大子段和</a:t>
            </a:r>
            <a:endParaRPr lang="zh-CN" altLang="en-US" sz="2400">
              <a:solidFill>
                <a:srgbClr val="00B050"/>
              </a:solidFill>
              <a:latin typeface="Consolas" pitchFamily="49" charset="0"/>
            </a:endParaRPr>
          </a:p>
        </p:txBody>
      </p:sp>
      <p:sp>
        <p:nvSpPr>
          <p:cNvPr id="21" name="文本框 20">
            <a:extLst>
              <a:ext uri="{FF2B5EF4-FFF2-40B4-BE49-F238E27FC236}">
                <a16:creationId xmlns:a16="http://schemas.microsoft.com/office/drawing/2014/main" id="{9610B23B-F7A4-4EAF-BB4D-E21B4BC178FC}"/>
              </a:ext>
            </a:extLst>
          </p:cNvPr>
          <p:cNvSpPr txBox="1"/>
          <p:nvPr/>
        </p:nvSpPr>
        <p:spPr>
          <a:xfrm>
            <a:off x="7229028" y="1704478"/>
            <a:ext cx="4771628" cy="461665"/>
          </a:xfrm>
          <a:prstGeom prst="rect">
            <a:avLst/>
          </a:prstGeom>
          <a:solidFill>
            <a:schemeClr val="accent2">
              <a:lumMod val="20000"/>
              <a:lumOff val="80000"/>
            </a:schemeClr>
          </a:solidFill>
          <a:ln>
            <a:solidFill>
              <a:schemeClr val="bg2">
                <a:lumMod val="25000"/>
              </a:schemeClr>
            </a:solidFill>
          </a:ln>
        </p:spPr>
        <p:txBody>
          <a:bodyPr wrap="square">
            <a:spAutoFit/>
          </a:bodyPr>
          <a:lstStyle>
            <a:defPPr>
              <a:defRPr lang="zh-CN"/>
            </a:defPPr>
            <a:lvl1pPr algn="ctr">
              <a:defRPr sz="2400">
                <a:latin typeface="Consolas" pitchFamily="49" charset="0"/>
                <a:cs typeface="Consolas" pitchFamily="49" charset="0"/>
              </a:defRPr>
            </a:lvl1pPr>
          </a:lstStyle>
          <a:p>
            <a:r>
              <a:rPr lang="en-US" altLang="zh-CN">
                <a:sym typeface="Wingdings" panose="05000000000000000000" pitchFamily="2" charset="2"/>
              </a:rPr>
              <a:t>f[i] = max(f[i-1],0) + x[i]</a:t>
            </a:r>
            <a:endParaRPr lang="zh-CN" altLang="en-US"/>
          </a:p>
        </p:txBody>
      </p:sp>
      <p:sp>
        <p:nvSpPr>
          <p:cNvPr id="19" name="文本框 18">
            <a:extLst>
              <a:ext uri="{FF2B5EF4-FFF2-40B4-BE49-F238E27FC236}">
                <a16:creationId xmlns:a16="http://schemas.microsoft.com/office/drawing/2014/main" id="{00776675-B53D-4903-91CD-DE0AA5E39C10}"/>
              </a:ext>
            </a:extLst>
          </p:cNvPr>
          <p:cNvSpPr txBox="1"/>
          <p:nvPr/>
        </p:nvSpPr>
        <p:spPr>
          <a:xfrm>
            <a:off x="486777" y="3151457"/>
            <a:ext cx="4896544" cy="461665"/>
          </a:xfrm>
          <a:prstGeom prst="rect">
            <a:avLst/>
          </a:prstGeom>
          <a:noFill/>
        </p:spPr>
        <p:txBody>
          <a:bodyPr wrap="square">
            <a:spAutoFit/>
          </a:bodyPr>
          <a:lstStyle/>
          <a:p>
            <a:r>
              <a:rPr lang="zh-CN" altLang="en-US" sz="2400">
                <a:solidFill>
                  <a:srgbClr val="FF0000"/>
                </a:solidFill>
                <a:latin typeface="Consolas" pitchFamily="49" charset="0"/>
                <a:sym typeface="Wingdings" panose="05000000000000000000" pitchFamily="2" charset="2"/>
              </a:rPr>
              <a:t>思考：如何确定符合条件的子区间</a:t>
            </a:r>
            <a:r>
              <a:rPr lang="en-US" altLang="zh-CN" sz="2400">
                <a:solidFill>
                  <a:srgbClr val="FF0000"/>
                </a:solidFill>
                <a:latin typeface="Consolas" pitchFamily="49" charset="0"/>
                <a:sym typeface="Wingdings" panose="05000000000000000000" pitchFamily="2" charset="2"/>
              </a:rPr>
              <a:t>?</a:t>
            </a:r>
            <a:endParaRPr lang="zh-CN" altLang="en-US" sz="2400">
              <a:solidFill>
                <a:srgbClr val="FF0000"/>
              </a:solidFill>
              <a:latin typeface="Consolas" pitchFamily="49" charset="0"/>
            </a:endParaRPr>
          </a:p>
        </p:txBody>
      </p:sp>
      <p:sp>
        <p:nvSpPr>
          <p:cNvPr id="22" name="文本框 21">
            <a:extLst>
              <a:ext uri="{FF2B5EF4-FFF2-40B4-BE49-F238E27FC236}">
                <a16:creationId xmlns:a16="http://schemas.microsoft.com/office/drawing/2014/main" id="{A7402631-4955-4684-97D5-0AC9422B67B7}"/>
              </a:ext>
            </a:extLst>
          </p:cNvPr>
          <p:cNvSpPr txBox="1"/>
          <p:nvPr/>
        </p:nvSpPr>
        <p:spPr>
          <a:xfrm>
            <a:off x="544774" y="3648989"/>
            <a:ext cx="7783474" cy="461665"/>
          </a:xfrm>
          <a:prstGeom prst="rect">
            <a:avLst/>
          </a:prstGeom>
          <a:noFill/>
        </p:spPr>
        <p:txBody>
          <a:bodyPr wrap="square">
            <a:spAutoFit/>
          </a:bodyPr>
          <a:lstStyle/>
          <a:p>
            <a:r>
              <a:rPr lang="en-US" altLang="zh-CN" sz="2400">
                <a:solidFill>
                  <a:srgbClr val="00B050"/>
                </a:solidFill>
                <a:latin typeface="Consolas" pitchFamily="49" charset="0"/>
                <a:sym typeface="Wingdings" panose="05000000000000000000" pitchFamily="2" charset="2"/>
              </a:rPr>
              <a:t>if(f[</a:t>
            </a:r>
            <a:r>
              <a:rPr lang="en-US" altLang="zh-CN" sz="2400">
                <a:solidFill>
                  <a:srgbClr val="FF0000"/>
                </a:solidFill>
                <a:latin typeface="Consolas" pitchFamily="49" charset="0"/>
                <a:sym typeface="Wingdings" panose="05000000000000000000" pitchFamily="2" charset="2"/>
              </a:rPr>
              <a:t>i</a:t>
            </a:r>
            <a:r>
              <a:rPr lang="en-US" altLang="zh-CN" sz="2400">
                <a:solidFill>
                  <a:srgbClr val="00B050"/>
                </a:solidFill>
                <a:latin typeface="Consolas" pitchFamily="49" charset="0"/>
                <a:sym typeface="Wingdings" panose="05000000000000000000" pitchFamily="2" charset="2"/>
              </a:rPr>
              <a:t>]</a:t>
            </a:r>
            <a:r>
              <a:rPr lang="zh-CN" altLang="en-US" sz="2400">
                <a:solidFill>
                  <a:srgbClr val="00B050"/>
                </a:solidFill>
                <a:latin typeface="Consolas" pitchFamily="49" charset="0"/>
                <a:sym typeface="Wingdings" panose="05000000000000000000" pitchFamily="2" charset="2"/>
              </a:rPr>
              <a:t> </a:t>
            </a:r>
            <a:r>
              <a:rPr lang="en-US" altLang="zh-CN" sz="2400">
                <a:solidFill>
                  <a:srgbClr val="00B050"/>
                </a:solidFill>
                <a:latin typeface="Consolas" pitchFamily="49" charset="0"/>
                <a:sym typeface="Wingdings" panose="05000000000000000000" pitchFamily="2" charset="2"/>
              </a:rPr>
              <a:t>== ans) </a:t>
            </a:r>
            <a:r>
              <a:rPr lang="zh-CN" altLang="en-US" sz="2400">
                <a:solidFill>
                  <a:srgbClr val="00B050"/>
                </a:solidFill>
                <a:latin typeface="Consolas" pitchFamily="49" charset="0"/>
                <a:sym typeface="Wingdings" panose="05000000000000000000" pitchFamily="2" charset="2"/>
              </a:rPr>
              <a:t>说明以</a:t>
            </a:r>
            <a:r>
              <a:rPr lang="en-US" altLang="zh-CN" sz="2400">
                <a:solidFill>
                  <a:srgbClr val="FF0000"/>
                </a:solidFill>
                <a:latin typeface="Consolas" pitchFamily="49" charset="0"/>
                <a:sym typeface="Wingdings" panose="05000000000000000000" pitchFamily="2" charset="2"/>
              </a:rPr>
              <a:t>i</a:t>
            </a:r>
            <a:r>
              <a:rPr lang="zh-CN" altLang="en-US" sz="2400">
                <a:solidFill>
                  <a:srgbClr val="00B050"/>
                </a:solidFill>
                <a:latin typeface="Consolas" pitchFamily="49" charset="0"/>
                <a:sym typeface="Wingdings" panose="05000000000000000000" pitchFamily="2" charset="2"/>
              </a:rPr>
              <a:t>结尾的子区间是符合条件的 </a:t>
            </a:r>
            <a:endParaRPr lang="zh-CN" altLang="en-US" sz="2400">
              <a:solidFill>
                <a:srgbClr val="00B050"/>
              </a:solidFill>
              <a:latin typeface="Consolas" pitchFamily="49" charset="0"/>
            </a:endParaRPr>
          </a:p>
        </p:txBody>
      </p:sp>
      <p:sp>
        <p:nvSpPr>
          <p:cNvPr id="23" name="文本框 22">
            <a:extLst>
              <a:ext uri="{FF2B5EF4-FFF2-40B4-BE49-F238E27FC236}">
                <a16:creationId xmlns:a16="http://schemas.microsoft.com/office/drawing/2014/main" id="{23AA9229-DAE2-4E62-99D0-BD02C0B76BDC}"/>
              </a:ext>
            </a:extLst>
          </p:cNvPr>
          <p:cNvSpPr txBox="1"/>
          <p:nvPr/>
        </p:nvSpPr>
        <p:spPr>
          <a:xfrm>
            <a:off x="600614" y="2383366"/>
            <a:ext cx="6287474" cy="461665"/>
          </a:xfrm>
          <a:prstGeom prst="rect">
            <a:avLst/>
          </a:prstGeom>
          <a:solidFill>
            <a:schemeClr val="accent2">
              <a:lumMod val="40000"/>
              <a:lumOff val="60000"/>
            </a:schemeClr>
          </a:solidFill>
          <a:ln>
            <a:solidFill>
              <a:schemeClr val="bg2">
                <a:lumMod val="25000"/>
              </a:schemeClr>
            </a:solidFill>
          </a:ln>
        </p:spPr>
        <p:txBody>
          <a:bodyPr wrap="square">
            <a:spAutoFit/>
          </a:bodyPr>
          <a:lstStyle>
            <a:defPPr>
              <a:defRPr lang="zh-CN"/>
            </a:defPPr>
            <a:lvl1pPr algn="ctr">
              <a:defRPr sz="2400">
                <a:latin typeface="Consolas" pitchFamily="49" charset="0"/>
                <a:cs typeface="Consolas" pitchFamily="49" charset="0"/>
              </a:defRPr>
            </a:lvl1pPr>
          </a:lstStyle>
          <a:p>
            <a:r>
              <a:rPr lang="zh-CN" altLang="en-US">
                <a:sym typeface="Wingdings" panose="05000000000000000000" pitchFamily="2" charset="2"/>
              </a:rPr>
              <a:t>最大子段和为 </a:t>
            </a:r>
            <a:r>
              <a:rPr lang="en-US" altLang="zh-CN">
                <a:sym typeface="Wingdings" panose="05000000000000000000" pitchFamily="2" charset="2"/>
              </a:rPr>
              <a:t>f[]</a:t>
            </a:r>
            <a:r>
              <a:rPr lang="zh-CN" altLang="en-US">
                <a:sym typeface="Wingdings" panose="05000000000000000000" pitchFamily="2" charset="2"/>
              </a:rPr>
              <a:t>数组的最大值，假设为</a:t>
            </a:r>
            <a:r>
              <a:rPr lang="en-US" altLang="zh-CN" b="1">
                <a:solidFill>
                  <a:srgbClr val="00B050"/>
                </a:solidFill>
                <a:sym typeface="Wingdings" panose="05000000000000000000" pitchFamily="2" charset="2"/>
              </a:rPr>
              <a:t>ans</a:t>
            </a:r>
            <a:endParaRPr lang="zh-CN" altLang="en-US" b="1">
              <a:solidFill>
                <a:srgbClr val="00B050"/>
              </a:solidFill>
            </a:endParaRPr>
          </a:p>
        </p:txBody>
      </p:sp>
      <p:sp>
        <p:nvSpPr>
          <p:cNvPr id="24" name="文本框 23">
            <a:extLst>
              <a:ext uri="{FF2B5EF4-FFF2-40B4-BE49-F238E27FC236}">
                <a16:creationId xmlns:a16="http://schemas.microsoft.com/office/drawing/2014/main" id="{4527A2C3-2784-4388-9AD0-6042D33D45D7}"/>
              </a:ext>
            </a:extLst>
          </p:cNvPr>
          <p:cNvSpPr txBox="1"/>
          <p:nvPr/>
        </p:nvSpPr>
        <p:spPr>
          <a:xfrm>
            <a:off x="600615" y="4142428"/>
            <a:ext cx="3263138" cy="461665"/>
          </a:xfrm>
          <a:prstGeom prst="rect">
            <a:avLst/>
          </a:prstGeom>
          <a:solidFill>
            <a:schemeClr val="bg1"/>
          </a:solidFill>
        </p:spPr>
        <p:txBody>
          <a:bodyPr wrap="square">
            <a:spAutoFit/>
          </a:bodyPr>
          <a:lstStyle/>
          <a:p>
            <a:r>
              <a:rPr lang="zh-CN" altLang="en-US" sz="2400">
                <a:solidFill>
                  <a:srgbClr val="00B0F0"/>
                </a:solidFill>
                <a:latin typeface="Consolas" pitchFamily="49" charset="0"/>
              </a:rPr>
              <a:t>找到该子区间的左端点</a:t>
            </a:r>
          </a:p>
        </p:txBody>
      </p:sp>
      <p:sp>
        <p:nvSpPr>
          <p:cNvPr id="25" name="文本框 24">
            <a:extLst>
              <a:ext uri="{FF2B5EF4-FFF2-40B4-BE49-F238E27FC236}">
                <a16:creationId xmlns:a16="http://schemas.microsoft.com/office/drawing/2014/main" id="{AAA7B606-8C50-4203-B059-64D3ADB609FE}"/>
              </a:ext>
            </a:extLst>
          </p:cNvPr>
          <p:cNvSpPr txBox="1"/>
          <p:nvPr/>
        </p:nvSpPr>
        <p:spPr>
          <a:xfrm>
            <a:off x="3821625" y="4142428"/>
            <a:ext cx="3067351" cy="461665"/>
          </a:xfrm>
          <a:prstGeom prst="rect">
            <a:avLst/>
          </a:prstGeom>
          <a:solidFill>
            <a:schemeClr val="bg1"/>
          </a:solidFill>
        </p:spPr>
        <p:txBody>
          <a:bodyPr wrap="square">
            <a:spAutoFit/>
          </a:bodyPr>
          <a:lstStyle/>
          <a:p>
            <a:r>
              <a:rPr lang="en-US" altLang="zh-CN" sz="2400">
                <a:solidFill>
                  <a:srgbClr val="FF0000"/>
                </a:solidFill>
                <a:latin typeface="Consolas" pitchFamily="49" charset="0"/>
              </a:rPr>
              <a:t>s[l] </a:t>
            </a:r>
            <a:r>
              <a:rPr lang="en-US" altLang="zh-CN" sz="2400">
                <a:solidFill>
                  <a:srgbClr val="00B0F0"/>
                </a:solidFill>
                <a:latin typeface="Consolas" pitchFamily="49" charset="0"/>
              </a:rPr>
              <a:t>= s[i] – ans </a:t>
            </a:r>
            <a:endParaRPr lang="zh-CN" altLang="en-US" sz="2400">
              <a:solidFill>
                <a:srgbClr val="00B0F0"/>
              </a:solidFill>
              <a:latin typeface="Consolas" pitchFamily="49" charset="0"/>
            </a:endParaRPr>
          </a:p>
        </p:txBody>
      </p:sp>
      <p:sp>
        <p:nvSpPr>
          <p:cNvPr id="26" name="文本框 25">
            <a:extLst>
              <a:ext uri="{FF2B5EF4-FFF2-40B4-BE49-F238E27FC236}">
                <a16:creationId xmlns:a16="http://schemas.microsoft.com/office/drawing/2014/main" id="{04A69ABB-CF65-4FE6-BCAB-1BDE943C7646}"/>
              </a:ext>
            </a:extLst>
          </p:cNvPr>
          <p:cNvSpPr txBox="1"/>
          <p:nvPr/>
        </p:nvSpPr>
        <p:spPr>
          <a:xfrm>
            <a:off x="6882503" y="4110654"/>
            <a:ext cx="5447928" cy="461665"/>
          </a:xfrm>
          <a:prstGeom prst="rect">
            <a:avLst/>
          </a:prstGeom>
          <a:solidFill>
            <a:schemeClr val="accent4"/>
          </a:solidFill>
        </p:spPr>
        <p:txBody>
          <a:bodyPr wrap="square">
            <a:spAutoFit/>
          </a:bodyPr>
          <a:lstStyle/>
          <a:p>
            <a:r>
              <a:rPr lang="zh-CN" altLang="en-US" sz="2400">
                <a:solidFill>
                  <a:srgbClr val="002060"/>
                </a:solidFill>
                <a:latin typeface="Consolas" pitchFamily="49" charset="0"/>
              </a:rPr>
              <a:t>累加左端点</a:t>
            </a:r>
            <a:r>
              <a:rPr lang="en-US" altLang="zh-CN" sz="2400">
                <a:solidFill>
                  <a:srgbClr val="002060"/>
                </a:solidFill>
                <a:latin typeface="Consolas" pitchFamily="49" charset="0"/>
              </a:rPr>
              <a:t>(</a:t>
            </a:r>
            <a:r>
              <a:rPr lang="zh-CN" altLang="en-US" sz="2000">
                <a:solidFill>
                  <a:srgbClr val="FF0000"/>
                </a:solidFill>
                <a:latin typeface="Consolas" pitchFamily="49" charset="0"/>
              </a:rPr>
              <a:t>该前缀和数值</a:t>
            </a:r>
            <a:r>
              <a:rPr lang="en-US" altLang="zh-CN" sz="2400">
                <a:solidFill>
                  <a:srgbClr val="002060"/>
                </a:solidFill>
                <a:latin typeface="Consolas" pitchFamily="49" charset="0"/>
              </a:rPr>
              <a:t>)</a:t>
            </a:r>
            <a:r>
              <a:rPr lang="zh-CN" altLang="en-US" sz="2400">
                <a:solidFill>
                  <a:srgbClr val="002060"/>
                </a:solidFill>
                <a:latin typeface="Consolas" pitchFamily="49" charset="0"/>
              </a:rPr>
              <a:t>出现的数量</a:t>
            </a:r>
          </a:p>
        </p:txBody>
      </p:sp>
      <p:sp>
        <p:nvSpPr>
          <p:cNvPr id="28" name="文本框 27">
            <a:extLst>
              <a:ext uri="{FF2B5EF4-FFF2-40B4-BE49-F238E27FC236}">
                <a16:creationId xmlns:a16="http://schemas.microsoft.com/office/drawing/2014/main" id="{EDA46DE8-E576-4ED1-B967-BD793DFB37C4}"/>
              </a:ext>
            </a:extLst>
          </p:cNvPr>
          <p:cNvSpPr txBox="1"/>
          <p:nvPr/>
        </p:nvSpPr>
        <p:spPr>
          <a:xfrm>
            <a:off x="521469" y="4755276"/>
            <a:ext cx="2766219" cy="461665"/>
          </a:xfrm>
          <a:prstGeom prst="rect">
            <a:avLst/>
          </a:prstGeom>
          <a:noFill/>
        </p:spPr>
        <p:txBody>
          <a:bodyPr wrap="square">
            <a:spAutoFit/>
          </a:bodyPr>
          <a:lstStyle/>
          <a:p>
            <a:r>
              <a:rPr lang="zh-CN" altLang="en-US" sz="2400">
                <a:solidFill>
                  <a:srgbClr val="FF0000"/>
                </a:solidFill>
                <a:latin typeface="Consolas" pitchFamily="49" charset="0"/>
                <a:sym typeface="Wingdings" panose="05000000000000000000" pitchFamily="2" charset="2"/>
              </a:rPr>
              <a:t>思考：如何记录？</a:t>
            </a:r>
            <a:endParaRPr lang="zh-CN" altLang="en-US" sz="2400">
              <a:solidFill>
                <a:srgbClr val="FF0000"/>
              </a:solidFill>
              <a:latin typeface="Consolas" pitchFamily="49" charset="0"/>
            </a:endParaRPr>
          </a:p>
        </p:txBody>
      </p:sp>
      <p:sp>
        <p:nvSpPr>
          <p:cNvPr id="29" name="矩形 28">
            <a:extLst>
              <a:ext uri="{FF2B5EF4-FFF2-40B4-BE49-F238E27FC236}">
                <a16:creationId xmlns:a16="http://schemas.microsoft.com/office/drawing/2014/main" id="{FD575EAA-6BCB-49DF-953E-EEE3CB727A96}"/>
              </a:ext>
            </a:extLst>
          </p:cNvPr>
          <p:cNvSpPr/>
          <p:nvPr/>
        </p:nvSpPr>
        <p:spPr>
          <a:xfrm>
            <a:off x="600614" y="5257144"/>
            <a:ext cx="4104456" cy="461664"/>
          </a:xfrm>
          <a:prstGeom prst="rect">
            <a:avLst/>
          </a:prstGeom>
          <a:noFill/>
          <a:ln>
            <a:solidFill>
              <a:schemeClr val="bg2">
                <a:lumMod val="25000"/>
              </a:schemeClr>
            </a:solidFill>
          </a:ln>
        </p:spPr>
        <p:txBody>
          <a:bodyPr wrap="square">
            <a:spAutoFit/>
          </a:bodyPr>
          <a:lstStyle/>
          <a:p>
            <a:pPr algn="ctr"/>
            <a:r>
              <a:rPr lang="en-US" altLang="zh-CN" sz="2400" dirty="0">
                <a:latin typeface="Consolas" pitchFamily="49" charset="0"/>
                <a:cs typeface="Consolas" pitchFamily="49" charset="0"/>
              </a:rPr>
              <a:t>map&lt;ll,ll&gt; valueCnt;</a:t>
            </a:r>
            <a:endParaRPr lang="zh-CN" altLang="en-US" sz="2400" dirty="0">
              <a:latin typeface="Consolas" pitchFamily="49" charset="0"/>
              <a:cs typeface="Consolas" pitchFamily="49" charset="0"/>
            </a:endParaRPr>
          </a:p>
        </p:txBody>
      </p:sp>
      <p:sp>
        <p:nvSpPr>
          <p:cNvPr id="30" name="文本框 29">
            <a:extLst>
              <a:ext uri="{FF2B5EF4-FFF2-40B4-BE49-F238E27FC236}">
                <a16:creationId xmlns:a16="http://schemas.microsoft.com/office/drawing/2014/main" id="{E89D6682-2019-480F-93B3-E8EF2407ED59}"/>
              </a:ext>
            </a:extLst>
          </p:cNvPr>
          <p:cNvSpPr txBox="1"/>
          <p:nvPr/>
        </p:nvSpPr>
        <p:spPr>
          <a:xfrm>
            <a:off x="7464152" y="6230298"/>
            <a:ext cx="3869590" cy="461665"/>
          </a:xfrm>
          <a:prstGeom prst="rect">
            <a:avLst/>
          </a:prstGeom>
          <a:solidFill>
            <a:srgbClr val="FFFF00"/>
          </a:solidFill>
        </p:spPr>
        <p:txBody>
          <a:bodyPr wrap="square">
            <a:spAutoFit/>
          </a:bodyPr>
          <a:lstStyle/>
          <a:p>
            <a:pPr algn="ctr"/>
            <a:r>
              <a:rPr lang="zh-CN" altLang="en-US" sz="2400" b="0" i="0">
                <a:solidFill>
                  <a:srgbClr val="00B0F0"/>
                </a:solidFill>
                <a:effectLst/>
                <a:latin typeface="Menlo"/>
              </a:rPr>
              <a:t>也可以使用</a:t>
            </a:r>
            <a:r>
              <a:rPr lang="en-US" altLang="zh-CN" sz="2400" b="1" i="0">
                <a:solidFill>
                  <a:srgbClr val="00B0F0"/>
                </a:solidFill>
                <a:effectLst/>
                <a:highlight>
                  <a:srgbClr val="FFFF00"/>
                </a:highlight>
                <a:latin typeface="Menlo"/>
              </a:rPr>
              <a:t>unordered_map</a:t>
            </a:r>
            <a:endParaRPr lang="zh-CN" altLang="en-US" sz="2400" b="1">
              <a:solidFill>
                <a:srgbClr val="00B0F0"/>
              </a:solidFill>
              <a:highlight>
                <a:srgbClr val="FFFF00"/>
              </a:highlight>
            </a:endParaRPr>
          </a:p>
        </p:txBody>
      </p:sp>
      <p:sp>
        <p:nvSpPr>
          <p:cNvPr id="31" name="矩形 30">
            <a:extLst>
              <a:ext uri="{FF2B5EF4-FFF2-40B4-BE49-F238E27FC236}">
                <a16:creationId xmlns:a16="http://schemas.microsoft.com/office/drawing/2014/main" id="{A2415437-CA77-4A04-BCA4-9967FE6C1114}"/>
              </a:ext>
            </a:extLst>
          </p:cNvPr>
          <p:cNvSpPr/>
          <p:nvPr/>
        </p:nvSpPr>
        <p:spPr>
          <a:xfrm>
            <a:off x="4739360" y="5257144"/>
            <a:ext cx="6973264" cy="830997"/>
          </a:xfrm>
          <a:prstGeom prst="rect">
            <a:avLst/>
          </a:prstGeom>
          <a:noFill/>
          <a:ln>
            <a:solidFill>
              <a:schemeClr val="bg2">
                <a:lumMod val="25000"/>
              </a:schemeClr>
            </a:solidFill>
          </a:ln>
        </p:spPr>
        <p:txBody>
          <a:bodyPr wrap="square">
            <a:spAutoFit/>
          </a:bodyPr>
          <a:lstStyle/>
          <a:p>
            <a:r>
              <a:rPr lang="zh-CN" altLang="en-US" sz="2400" b="1" i="0">
                <a:solidFill>
                  <a:srgbClr val="0F1115"/>
                </a:solidFill>
                <a:effectLst/>
                <a:latin typeface="quote-cjk-patch"/>
              </a:rPr>
              <a:t>所有可能成为符合条件的子区间的左端点</a:t>
            </a:r>
            <a:r>
              <a:rPr lang="zh-CN" altLang="en-US" sz="2400" b="1">
                <a:solidFill>
                  <a:srgbClr val="FF0000"/>
                </a:solidFill>
                <a:effectLst/>
                <a:latin typeface="quote-cjk-patch"/>
              </a:rPr>
              <a:t>之前</a:t>
            </a:r>
            <a:r>
              <a:rPr lang="zh-CN" altLang="en-US" sz="2400" b="1" i="0">
                <a:solidFill>
                  <a:srgbClr val="0F1115"/>
                </a:solidFill>
                <a:effectLst/>
                <a:latin typeface="quote-cjk-patch"/>
              </a:rPr>
              <a:t>位置的</a:t>
            </a:r>
            <a:r>
              <a:rPr lang="zh-CN" altLang="en-US" sz="2400" b="1" i="0">
                <a:solidFill>
                  <a:srgbClr val="00B0F0"/>
                </a:solidFill>
                <a:effectLst/>
                <a:latin typeface="quote-cjk-patch"/>
              </a:rPr>
              <a:t>前缀和数值</a:t>
            </a:r>
            <a:r>
              <a:rPr lang="zh-CN" altLang="en-US" sz="2400" b="1" i="0">
                <a:solidFill>
                  <a:srgbClr val="0F1115"/>
                </a:solidFill>
                <a:effectLst/>
                <a:latin typeface="quote-cjk-patch"/>
              </a:rPr>
              <a:t>出现的</a:t>
            </a:r>
            <a:r>
              <a:rPr lang="zh-CN" altLang="en-US" sz="2400" b="1" i="0">
                <a:solidFill>
                  <a:srgbClr val="00B0F0"/>
                </a:solidFill>
                <a:effectLst/>
                <a:latin typeface="quote-cjk-patch"/>
              </a:rPr>
              <a:t>次数</a:t>
            </a:r>
            <a:r>
              <a:rPr lang="zh-CN" altLang="en-US" sz="2400" b="1" i="0">
                <a:solidFill>
                  <a:srgbClr val="0F1115"/>
                </a:solidFill>
                <a:effectLst/>
                <a:latin typeface="quote-cjk-patch"/>
              </a:rPr>
              <a:t>。</a:t>
            </a:r>
            <a:endParaRPr lang="zh-CN" altLang="en-US" sz="2400" dirty="0">
              <a:latin typeface="Consolas" pitchFamily="49" charset="0"/>
              <a:cs typeface="Consolas" pitchFamily="49" charset="0"/>
            </a:endParaRPr>
          </a:p>
        </p:txBody>
      </p:sp>
      <p:sp>
        <p:nvSpPr>
          <p:cNvPr id="32" name="文本框 31">
            <a:extLst>
              <a:ext uri="{FF2B5EF4-FFF2-40B4-BE49-F238E27FC236}">
                <a16:creationId xmlns:a16="http://schemas.microsoft.com/office/drawing/2014/main" id="{87738281-5721-478B-9960-5A8F98DBA34E}"/>
              </a:ext>
            </a:extLst>
          </p:cNvPr>
          <p:cNvSpPr txBox="1"/>
          <p:nvPr/>
        </p:nvSpPr>
        <p:spPr>
          <a:xfrm>
            <a:off x="521470" y="5824332"/>
            <a:ext cx="4104456" cy="461665"/>
          </a:xfrm>
          <a:prstGeom prst="rect">
            <a:avLst/>
          </a:prstGeom>
          <a:solidFill>
            <a:schemeClr val="bg1"/>
          </a:solidFill>
        </p:spPr>
        <p:txBody>
          <a:bodyPr wrap="square">
            <a:spAutoFit/>
          </a:bodyPr>
          <a:lstStyle/>
          <a:p>
            <a:r>
              <a:rPr lang="en-US" altLang="zh-CN" sz="2400">
                <a:solidFill>
                  <a:srgbClr val="00B0F0"/>
                </a:solidFill>
                <a:latin typeface="Consolas" pitchFamily="49" charset="0"/>
              </a:rPr>
              <a:t>valueCnt[</a:t>
            </a:r>
            <a:r>
              <a:rPr lang="en-US" altLang="zh-CN" sz="2400">
                <a:solidFill>
                  <a:srgbClr val="FF0000"/>
                </a:solidFill>
                <a:latin typeface="Consolas" pitchFamily="49" charset="0"/>
              </a:rPr>
              <a:t>s[i]</a:t>
            </a:r>
            <a:r>
              <a:rPr lang="en-US" altLang="zh-CN" sz="2400">
                <a:solidFill>
                  <a:srgbClr val="00B0F0"/>
                </a:solidFill>
                <a:latin typeface="Consolas" pitchFamily="49" charset="0"/>
              </a:rPr>
              <a:t>]++</a:t>
            </a:r>
            <a:endParaRPr lang="zh-CN" altLang="en-US" sz="2400">
              <a:solidFill>
                <a:srgbClr val="00B0F0"/>
              </a:solidFill>
              <a:latin typeface="Consolas" pitchFamily="49" charset="0"/>
            </a:endParaRPr>
          </a:p>
        </p:txBody>
      </p:sp>
      <p:sp>
        <p:nvSpPr>
          <p:cNvPr id="6" name="灯片编号占位符 5">
            <a:extLst>
              <a:ext uri="{FF2B5EF4-FFF2-40B4-BE49-F238E27FC236}">
                <a16:creationId xmlns:a16="http://schemas.microsoft.com/office/drawing/2014/main" id="{EF0631D9-BB6C-414A-9C60-3A887D3E095D}"/>
              </a:ext>
            </a:extLst>
          </p:cNvPr>
          <p:cNvSpPr>
            <a:spLocks noGrp="1"/>
          </p:cNvSpPr>
          <p:nvPr>
            <p:ph type="sldNum" sz="quarter" idx="12"/>
          </p:nvPr>
        </p:nvSpPr>
        <p:spPr/>
        <p:txBody>
          <a:bodyPr/>
          <a:lstStyle/>
          <a:p>
            <a:fld id="{0C913308-F349-4B6D-A68A-DD1791B4A57B}" type="slidenum">
              <a:rPr lang="zh-CN" altLang="en-US" smtClean="0"/>
              <a:t>19</a:t>
            </a:fld>
            <a:endParaRPr lang="zh-CN" altLang="en-US"/>
          </a:p>
        </p:txBody>
      </p:sp>
    </p:spTree>
    <p:extLst>
      <p:ext uri="{BB962C8B-B14F-4D97-AF65-F5344CB8AC3E}">
        <p14:creationId xmlns:p14="http://schemas.microsoft.com/office/powerpoint/2010/main" val="3086775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1"/>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2"/>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2" grpId="0" animBg="1"/>
      <p:bldP spid="15" grpId="0"/>
      <p:bldP spid="16" grpId="0" animBg="1"/>
      <p:bldP spid="20" grpId="0"/>
      <p:bldP spid="21" grpId="0" animBg="1"/>
      <p:bldP spid="19" grpId="0"/>
      <p:bldP spid="22" grpId="0"/>
      <p:bldP spid="23" grpId="0" animBg="1"/>
      <p:bldP spid="24" grpId="0" animBg="1"/>
      <p:bldP spid="25" grpId="0" animBg="1"/>
      <p:bldP spid="26" grpId="0" animBg="1"/>
      <p:bldP spid="28" grpId="0"/>
      <p:bldP spid="29" grpId="0" animBg="1"/>
      <p:bldP spid="30" grpId="0" animBg="1"/>
      <p:bldP spid="31" grpId="0" animBg="1"/>
      <p:bldP spid="3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a:extLst>
              <a:ext uri="{FF2B5EF4-FFF2-40B4-BE49-F238E27FC236}">
                <a16:creationId xmlns:a16="http://schemas.microsoft.com/office/drawing/2014/main" id="{FE5D2427-56C3-C0F2-EED1-FFDBA12691EF}"/>
              </a:ext>
            </a:extLst>
          </p:cNvPr>
          <p:cNvPicPr>
            <a:picLocks noChangeAspect="1"/>
          </p:cNvPicPr>
          <p:nvPr/>
        </p:nvPicPr>
        <p:blipFill>
          <a:blip r:embed="rId2"/>
          <a:stretch>
            <a:fillRect/>
          </a:stretch>
        </p:blipFill>
        <p:spPr>
          <a:xfrm>
            <a:off x="1775520" y="332656"/>
            <a:ext cx="8456395" cy="5832648"/>
          </a:xfrm>
          <a:prstGeom prst="rect">
            <a:avLst/>
          </a:prstGeom>
        </p:spPr>
      </p:pic>
      <p:sp>
        <p:nvSpPr>
          <p:cNvPr id="14" name="矩形 13">
            <a:extLst>
              <a:ext uri="{FF2B5EF4-FFF2-40B4-BE49-F238E27FC236}">
                <a16:creationId xmlns:a16="http://schemas.microsoft.com/office/drawing/2014/main" id="{6EDEE2C9-2417-146C-30FD-B5E3C4AF16F7}"/>
              </a:ext>
            </a:extLst>
          </p:cNvPr>
          <p:cNvSpPr/>
          <p:nvPr/>
        </p:nvSpPr>
        <p:spPr>
          <a:xfrm>
            <a:off x="4583832" y="3851835"/>
            <a:ext cx="1656184" cy="369332"/>
          </a:xfrm>
          <a:prstGeom prst="rect">
            <a:avLst/>
          </a:prstGeom>
          <a:solidFill>
            <a:schemeClr val="bg1"/>
          </a:solidFill>
          <a:ln>
            <a:solidFill>
              <a:schemeClr val="bg2">
                <a:lumMod val="25000"/>
              </a:schemeClr>
            </a:solidFill>
          </a:ln>
        </p:spPr>
        <p:txBody>
          <a:bodyPr wrap="square">
            <a:spAutoFit/>
          </a:bodyPr>
          <a:lstStyle/>
          <a:p>
            <a:pPr algn="ctr"/>
            <a:endParaRPr lang="zh-CN" altLang="zh-CN" dirty="0">
              <a:latin typeface="Consolas" panose="020B0609020204030204" pitchFamily="49" charset="0"/>
            </a:endParaRPr>
          </a:p>
        </p:txBody>
      </p:sp>
      <p:sp>
        <p:nvSpPr>
          <p:cNvPr id="15" name="矩形 14">
            <a:extLst>
              <a:ext uri="{FF2B5EF4-FFF2-40B4-BE49-F238E27FC236}">
                <a16:creationId xmlns:a16="http://schemas.microsoft.com/office/drawing/2014/main" id="{84B94343-0011-49EB-39DE-B0FA8F3F3C40}"/>
              </a:ext>
            </a:extLst>
          </p:cNvPr>
          <p:cNvSpPr/>
          <p:nvPr/>
        </p:nvSpPr>
        <p:spPr>
          <a:xfrm>
            <a:off x="3971256" y="4233440"/>
            <a:ext cx="5077072" cy="369332"/>
          </a:xfrm>
          <a:prstGeom prst="rect">
            <a:avLst/>
          </a:prstGeom>
          <a:solidFill>
            <a:schemeClr val="bg1"/>
          </a:solidFill>
          <a:ln>
            <a:solidFill>
              <a:schemeClr val="bg2">
                <a:lumMod val="25000"/>
              </a:schemeClr>
            </a:solidFill>
          </a:ln>
        </p:spPr>
        <p:txBody>
          <a:bodyPr wrap="square">
            <a:spAutoFit/>
          </a:bodyPr>
          <a:lstStyle/>
          <a:p>
            <a:pPr algn="ctr"/>
            <a:endParaRPr lang="zh-CN" altLang="zh-CN" dirty="0">
              <a:latin typeface="Consolas" panose="020B0609020204030204" pitchFamily="49" charset="0"/>
            </a:endParaRPr>
          </a:p>
        </p:txBody>
      </p:sp>
      <p:sp>
        <p:nvSpPr>
          <p:cNvPr id="16" name="矩形 15">
            <a:extLst>
              <a:ext uri="{FF2B5EF4-FFF2-40B4-BE49-F238E27FC236}">
                <a16:creationId xmlns:a16="http://schemas.microsoft.com/office/drawing/2014/main" id="{3E2B8F9D-BCC5-B229-F2DF-D4EC627C11C3}"/>
              </a:ext>
            </a:extLst>
          </p:cNvPr>
          <p:cNvSpPr/>
          <p:nvPr/>
        </p:nvSpPr>
        <p:spPr>
          <a:xfrm>
            <a:off x="3971256" y="4615045"/>
            <a:ext cx="3204864" cy="369332"/>
          </a:xfrm>
          <a:prstGeom prst="rect">
            <a:avLst/>
          </a:prstGeom>
          <a:solidFill>
            <a:schemeClr val="bg1"/>
          </a:solidFill>
          <a:ln>
            <a:solidFill>
              <a:schemeClr val="bg2">
                <a:lumMod val="25000"/>
              </a:schemeClr>
            </a:solidFill>
          </a:ln>
        </p:spPr>
        <p:txBody>
          <a:bodyPr wrap="square">
            <a:spAutoFit/>
          </a:bodyPr>
          <a:lstStyle/>
          <a:p>
            <a:pPr algn="ctr"/>
            <a:endParaRPr lang="zh-CN" altLang="zh-CN" dirty="0">
              <a:latin typeface="Consolas" panose="020B0609020204030204" pitchFamily="49" charset="0"/>
            </a:endParaRPr>
          </a:p>
        </p:txBody>
      </p:sp>
      <p:sp>
        <p:nvSpPr>
          <p:cNvPr id="17" name="矩形 16">
            <a:extLst>
              <a:ext uri="{FF2B5EF4-FFF2-40B4-BE49-F238E27FC236}">
                <a16:creationId xmlns:a16="http://schemas.microsoft.com/office/drawing/2014/main" id="{0BD74054-0D18-B6FA-338B-7457B18F632E}"/>
              </a:ext>
            </a:extLst>
          </p:cNvPr>
          <p:cNvSpPr/>
          <p:nvPr/>
        </p:nvSpPr>
        <p:spPr>
          <a:xfrm>
            <a:off x="3305436" y="2667571"/>
            <a:ext cx="2502532" cy="369332"/>
          </a:xfrm>
          <a:prstGeom prst="rect">
            <a:avLst/>
          </a:prstGeom>
          <a:solidFill>
            <a:schemeClr val="bg1"/>
          </a:solidFill>
          <a:ln>
            <a:solidFill>
              <a:schemeClr val="bg2">
                <a:lumMod val="25000"/>
              </a:schemeClr>
            </a:solidFill>
          </a:ln>
        </p:spPr>
        <p:txBody>
          <a:bodyPr wrap="square">
            <a:spAutoFit/>
          </a:bodyPr>
          <a:lstStyle/>
          <a:p>
            <a:pPr algn="ctr"/>
            <a:endParaRPr lang="zh-CN" altLang="zh-CN" dirty="0">
              <a:latin typeface="Consolas" panose="020B0609020204030204" pitchFamily="49" charset="0"/>
            </a:endParaRPr>
          </a:p>
        </p:txBody>
      </p:sp>
      <p:sp>
        <p:nvSpPr>
          <p:cNvPr id="3" name="灯片编号占位符 2">
            <a:extLst>
              <a:ext uri="{FF2B5EF4-FFF2-40B4-BE49-F238E27FC236}">
                <a16:creationId xmlns:a16="http://schemas.microsoft.com/office/drawing/2014/main" id="{F1B5972D-FFD6-4034-8E07-E75D966B19BC}"/>
              </a:ext>
            </a:extLst>
          </p:cNvPr>
          <p:cNvSpPr>
            <a:spLocks noGrp="1"/>
          </p:cNvSpPr>
          <p:nvPr>
            <p:ph type="sldNum" sz="quarter" idx="12"/>
          </p:nvPr>
        </p:nvSpPr>
        <p:spPr/>
        <p:txBody>
          <a:bodyPr/>
          <a:lstStyle/>
          <a:p>
            <a:fld id="{0C913308-F349-4B6D-A68A-DD1791B4A57B}" type="slidenum">
              <a:rPr lang="zh-CN" altLang="en-US" smtClean="0"/>
              <a:t>20</a:t>
            </a:fld>
            <a:endParaRPr lang="zh-CN" altLang="en-US"/>
          </a:p>
        </p:txBody>
      </p:sp>
      <p:sp>
        <p:nvSpPr>
          <p:cNvPr id="10" name="文本框 9">
            <a:extLst>
              <a:ext uri="{FF2B5EF4-FFF2-40B4-BE49-F238E27FC236}">
                <a16:creationId xmlns:a16="http://schemas.microsoft.com/office/drawing/2014/main" id="{641BDB10-B441-4E98-AC9D-570F31A06405}"/>
              </a:ext>
            </a:extLst>
          </p:cNvPr>
          <p:cNvSpPr txBox="1"/>
          <p:nvPr/>
        </p:nvSpPr>
        <p:spPr>
          <a:xfrm>
            <a:off x="5807968" y="2630992"/>
            <a:ext cx="4248472" cy="584775"/>
          </a:xfrm>
          <a:prstGeom prst="rect">
            <a:avLst/>
          </a:prstGeom>
          <a:noFill/>
        </p:spPr>
        <p:txBody>
          <a:bodyPr wrap="square">
            <a:spAutoFit/>
          </a:bodyPr>
          <a:lstStyle>
            <a:defPPr>
              <a:defRPr lang="zh-CN"/>
            </a:defPPr>
            <a:lvl1pPr>
              <a:defRPr sz="1600">
                <a:solidFill>
                  <a:srgbClr val="00B050"/>
                </a:solidFill>
                <a:latin typeface="Consolas" pitchFamily="49" charset="0"/>
              </a:defRPr>
            </a:lvl1pPr>
          </a:lstStyle>
          <a:p>
            <a:r>
              <a:rPr lang="en-US" altLang="zh-CN">
                <a:sym typeface="Wingdings" panose="05000000000000000000" pitchFamily="2" charset="2"/>
              </a:rPr>
              <a:t>f[i]</a:t>
            </a:r>
            <a:r>
              <a:rPr lang="zh-CN" altLang="en-US">
                <a:sym typeface="Wingdings" panose="05000000000000000000" pitchFamily="2" charset="2"/>
              </a:rPr>
              <a:t>：初始化，空前缀 </a:t>
            </a:r>
            <a:r>
              <a:rPr lang="en-US" altLang="zh-CN">
                <a:sym typeface="Wingdings" panose="05000000000000000000" pitchFamily="2" charset="2"/>
              </a:rPr>
              <a:t>s[0] = 0 </a:t>
            </a:r>
            <a:r>
              <a:rPr lang="zh-CN" altLang="en-US">
                <a:sym typeface="Wingdings" panose="05000000000000000000" pitchFamily="2" charset="2"/>
              </a:rPr>
              <a:t>出现</a:t>
            </a:r>
            <a:r>
              <a:rPr lang="en-US" altLang="zh-CN">
                <a:sym typeface="Wingdings" panose="05000000000000000000" pitchFamily="2" charset="2"/>
              </a:rPr>
              <a:t>1</a:t>
            </a:r>
            <a:r>
              <a:rPr lang="zh-CN" altLang="en-US">
                <a:sym typeface="Wingdings" panose="05000000000000000000" pitchFamily="2" charset="2"/>
              </a:rPr>
              <a:t>次</a:t>
            </a:r>
            <a:endParaRPr lang="en-US" altLang="zh-CN">
              <a:sym typeface="Wingdings" panose="05000000000000000000" pitchFamily="2" charset="2"/>
            </a:endParaRPr>
          </a:p>
          <a:p>
            <a:r>
              <a:rPr lang="zh-CN" altLang="en-US">
                <a:sym typeface="Wingdings" panose="05000000000000000000" pitchFamily="2" charset="2"/>
              </a:rPr>
              <a:t>（对应左端点 </a:t>
            </a:r>
            <a:r>
              <a:rPr lang="en-US" altLang="zh-CN">
                <a:sym typeface="Wingdings" panose="05000000000000000000" pitchFamily="2" charset="2"/>
              </a:rPr>
              <a:t>l=1 </a:t>
            </a:r>
            <a:r>
              <a:rPr lang="zh-CN" altLang="en-US">
                <a:sym typeface="Wingdings" panose="05000000000000000000" pitchFamily="2" charset="2"/>
              </a:rPr>
              <a:t>的情况）</a:t>
            </a:r>
            <a:endParaRPr lang="zh-CN" altLang="en-US"/>
          </a:p>
        </p:txBody>
      </p:sp>
      <p:sp>
        <p:nvSpPr>
          <p:cNvPr id="13" name="文本框 12">
            <a:extLst>
              <a:ext uri="{FF2B5EF4-FFF2-40B4-BE49-F238E27FC236}">
                <a16:creationId xmlns:a16="http://schemas.microsoft.com/office/drawing/2014/main" id="{FA75ABB2-3707-4D1E-A89A-A5E83D2EBF31}"/>
              </a:ext>
            </a:extLst>
          </p:cNvPr>
          <p:cNvSpPr txBox="1"/>
          <p:nvPr/>
        </p:nvSpPr>
        <p:spPr>
          <a:xfrm>
            <a:off x="7101586" y="3438834"/>
            <a:ext cx="3366628" cy="338554"/>
          </a:xfrm>
          <a:prstGeom prst="rect">
            <a:avLst/>
          </a:prstGeom>
          <a:noFill/>
        </p:spPr>
        <p:txBody>
          <a:bodyPr wrap="square">
            <a:spAutoFit/>
          </a:bodyPr>
          <a:lstStyle>
            <a:defPPr>
              <a:defRPr lang="zh-CN"/>
            </a:defPPr>
            <a:lvl1pPr>
              <a:defRPr sz="1600">
                <a:solidFill>
                  <a:srgbClr val="00B050"/>
                </a:solidFill>
                <a:latin typeface="Consolas" pitchFamily="49" charset="0"/>
              </a:defRPr>
            </a:lvl1pPr>
          </a:lstStyle>
          <a:p>
            <a:r>
              <a:rPr lang="zh-CN" altLang="en-US"/>
              <a:t>枚举每一个区间的右端点</a:t>
            </a:r>
          </a:p>
        </p:txBody>
      </p:sp>
      <p:sp>
        <p:nvSpPr>
          <p:cNvPr id="18" name="文本框 17">
            <a:extLst>
              <a:ext uri="{FF2B5EF4-FFF2-40B4-BE49-F238E27FC236}">
                <a16:creationId xmlns:a16="http://schemas.microsoft.com/office/drawing/2014/main" id="{D206B0B8-FC14-425B-B80D-5B482143D0AC}"/>
              </a:ext>
            </a:extLst>
          </p:cNvPr>
          <p:cNvSpPr txBox="1"/>
          <p:nvPr/>
        </p:nvSpPr>
        <p:spPr>
          <a:xfrm>
            <a:off x="6506651" y="3851188"/>
            <a:ext cx="4850973" cy="338554"/>
          </a:xfrm>
          <a:prstGeom prst="rect">
            <a:avLst/>
          </a:prstGeom>
          <a:noFill/>
        </p:spPr>
        <p:txBody>
          <a:bodyPr wrap="square">
            <a:spAutoFit/>
          </a:bodyPr>
          <a:lstStyle/>
          <a:p>
            <a:r>
              <a:rPr lang="zh-CN" altLang="en-US" sz="1600">
                <a:solidFill>
                  <a:srgbClr val="00B050"/>
                </a:solidFill>
                <a:latin typeface="Consolas" pitchFamily="49" charset="0"/>
              </a:rPr>
              <a:t>判断当前位置是否可能为满足要求的子区间右端点。</a:t>
            </a:r>
          </a:p>
        </p:txBody>
      </p:sp>
      <p:sp>
        <p:nvSpPr>
          <p:cNvPr id="19" name="文本框 18">
            <a:extLst>
              <a:ext uri="{FF2B5EF4-FFF2-40B4-BE49-F238E27FC236}">
                <a16:creationId xmlns:a16="http://schemas.microsoft.com/office/drawing/2014/main" id="{866C1C70-3E5C-47BB-9334-DB642FEF8A36}"/>
              </a:ext>
            </a:extLst>
          </p:cNvPr>
          <p:cNvSpPr txBox="1"/>
          <p:nvPr/>
        </p:nvSpPr>
        <p:spPr>
          <a:xfrm>
            <a:off x="9048328" y="4190665"/>
            <a:ext cx="3017280" cy="584775"/>
          </a:xfrm>
          <a:prstGeom prst="rect">
            <a:avLst/>
          </a:prstGeom>
          <a:noFill/>
        </p:spPr>
        <p:txBody>
          <a:bodyPr wrap="square">
            <a:spAutoFit/>
          </a:bodyPr>
          <a:lstStyle/>
          <a:p>
            <a:r>
              <a:rPr lang="zh-CN" altLang="en-US" sz="1600">
                <a:solidFill>
                  <a:srgbClr val="00B050"/>
                </a:solidFill>
                <a:latin typeface="Consolas" pitchFamily="49" charset="0"/>
              </a:rPr>
              <a:t>符合条件的子区间左端点出现的次数（前缀数值相等）</a:t>
            </a:r>
          </a:p>
        </p:txBody>
      </p:sp>
      <p:sp>
        <p:nvSpPr>
          <p:cNvPr id="20" name="文本框 19">
            <a:extLst>
              <a:ext uri="{FF2B5EF4-FFF2-40B4-BE49-F238E27FC236}">
                <a16:creationId xmlns:a16="http://schemas.microsoft.com/office/drawing/2014/main" id="{47702595-325A-43D0-A0C0-F97401FD5B48}"/>
              </a:ext>
            </a:extLst>
          </p:cNvPr>
          <p:cNvSpPr txBox="1"/>
          <p:nvPr/>
        </p:nvSpPr>
        <p:spPr>
          <a:xfrm>
            <a:off x="7450934" y="4777667"/>
            <a:ext cx="3613618" cy="584775"/>
          </a:xfrm>
          <a:prstGeom prst="rect">
            <a:avLst/>
          </a:prstGeom>
          <a:noFill/>
        </p:spPr>
        <p:txBody>
          <a:bodyPr wrap="square">
            <a:spAutoFit/>
          </a:bodyPr>
          <a:lstStyle/>
          <a:p>
            <a:r>
              <a:rPr lang="zh-CN" altLang="en-US" sz="1600">
                <a:solidFill>
                  <a:srgbClr val="00B050"/>
                </a:solidFill>
                <a:latin typeface="Consolas" pitchFamily="49" charset="0"/>
              </a:rPr>
              <a:t>当前位置出现过</a:t>
            </a:r>
            <a:r>
              <a:rPr lang="en-US" altLang="zh-CN" sz="1600">
                <a:solidFill>
                  <a:srgbClr val="00B050"/>
                </a:solidFill>
                <a:latin typeface="Consolas" pitchFamily="49" charset="0"/>
              </a:rPr>
              <a:t>(</a:t>
            </a:r>
            <a:r>
              <a:rPr lang="zh-CN" altLang="en-US" sz="1600">
                <a:solidFill>
                  <a:srgbClr val="00B050"/>
                </a:solidFill>
                <a:latin typeface="Consolas" pitchFamily="49" charset="0"/>
              </a:rPr>
              <a:t>前缀和</a:t>
            </a:r>
            <a:r>
              <a:rPr lang="en-US" altLang="zh-CN" sz="1600">
                <a:solidFill>
                  <a:srgbClr val="00B050"/>
                </a:solidFill>
                <a:latin typeface="Consolas" pitchFamily="49" charset="0"/>
              </a:rPr>
              <a:t>)</a:t>
            </a:r>
            <a:r>
              <a:rPr lang="zh-CN" altLang="en-US" sz="1600">
                <a:solidFill>
                  <a:srgbClr val="00B050"/>
                </a:solidFill>
                <a:latin typeface="Consolas" pitchFamily="49" charset="0"/>
              </a:rPr>
              <a:t>，记录下来</a:t>
            </a:r>
            <a:r>
              <a:rPr lang="en-US" altLang="zh-CN" sz="1600">
                <a:solidFill>
                  <a:srgbClr val="00B050"/>
                </a:solidFill>
                <a:latin typeface="Consolas" pitchFamily="49" charset="0"/>
              </a:rPr>
              <a:t>.</a:t>
            </a:r>
          </a:p>
          <a:p>
            <a:r>
              <a:rPr lang="zh-CN" altLang="en-US" sz="1600">
                <a:solidFill>
                  <a:srgbClr val="00B050"/>
                </a:solidFill>
                <a:latin typeface="Consolas" pitchFamily="49" charset="0"/>
              </a:rPr>
              <a:t>有可能是后续符合要求的区间左端点</a:t>
            </a:r>
          </a:p>
        </p:txBody>
      </p:sp>
    </p:spTree>
    <p:extLst>
      <p:ext uri="{BB962C8B-B14F-4D97-AF65-F5344CB8AC3E}">
        <p14:creationId xmlns:p14="http://schemas.microsoft.com/office/powerpoint/2010/main" val="1758123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0" nodeType="clickEffect">
                                  <p:stCondLst>
                                    <p:cond delay="0"/>
                                  </p:stCondLst>
                                  <p:childTnLst>
                                    <p:set>
                                      <p:cBhvr>
                                        <p:cTn id="38" dur="1" fill="hold">
                                          <p:stCondLst>
                                            <p:cond delay="0"/>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0" grpId="0"/>
      <p:bldP spid="13" grpId="0"/>
      <p:bldP spid="18" grpId="0"/>
      <p:bldP spid="19" grpId="0"/>
      <p:bldP spid="2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BE54C04C-0830-59F7-A75F-95F79B512264}"/>
              </a:ext>
            </a:extLst>
          </p:cNvPr>
          <p:cNvSpPr/>
          <p:nvPr/>
        </p:nvSpPr>
        <p:spPr>
          <a:xfrm>
            <a:off x="3575720" y="2276873"/>
            <a:ext cx="5330452" cy="461665"/>
          </a:xfrm>
          <a:prstGeom prst="rect">
            <a:avLst/>
          </a:prstGeom>
          <a:solidFill>
            <a:schemeClr val="bg1">
              <a:lumMod val="95000"/>
            </a:schemeClr>
          </a:solidFill>
          <a:ln>
            <a:solidFill>
              <a:schemeClr val="bg2">
                <a:lumMod val="25000"/>
              </a:schemeClr>
            </a:solidFill>
          </a:ln>
        </p:spPr>
        <p:txBody>
          <a:bodyPr wrap="square">
            <a:spAutoFit/>
          </a:bodyPr>
          <a:lstStyle/>
          <a:p>
            <a:pPr algn="ctr"/>
            <a:r>
              <a:rPr lang="zh-CN" altLang="en-US" sz="2400" dirty="0">
                <a:latin typeface="Consolas" pitchFamily="49" charset="0"/>
                <a:cs typeface="Consolas" pitchFamily="49" charset="0"/>
              </a:rPr>
              <a:t>复杂度分析</a:t>
            </a:r>
          </a:p>
        </p:txBody>
      </p:sp>
      <p:sp>
        <p:nvSpPr>
          <p:cNvPr id="7" name="矩形 6">
            <a:extLst>
              <a:ext uri="{FF2B5EF4-FFF2-40B4-BE49-F238E27FC236}">
                <a16:creationId xmlns:a16="http://schemas.microsoft.com/office/drawing/2014/main" id="{592C368F-E082-157D-7CDD-81B337B75525}"/>
              </a:ext>
            </a:extLst>
          </p:cNvPr>
          <p:cNvSpPr/>
          <p:nvPr/>
        </p:nvSpPr>
        <p:spPr>
          <a:xfrm>
            <a:off x="3575720" y="2738538"/>
            <a:ext cx="5330452" cy="461665"/>
          </a:xfrm>
          <a:prstGeom prst="rect">
            <a:avLst/>
          </a:prstGeom>
          <a:noFill/>
          <a:ln>
            <a:solidFill>
              <a:schemeClr val="bg2">
                <a:lumMod val="25000"/>
              </a:schemeClr>
            </a:solidFill>
          </a:ln>
        </p:spPr>
        <p:txBody>
          <a:bodyPr wrap="square">
            <a:spAutoFit/>
          </a:bodyPr>
          <a:lstStyle/>
          <a:p>
            <a:pPr algn="ctr"/>
            <a:r>
              <a:rPr lang="en-US" altLang="zh-CN" sz="2400" dirty="0">
                <a:latin typeface="Consolas" pitchFamily="49" charset="0"/>
                <a:cs typeface="Consolas" pitchFamily="49" charset="0"/>
              </a:rPr>
              <a:t>O(nlogV)</a:t>
            </a:r>
            <a:endParaRPr lang="zh-CN" altLang="en-US" sz="2400" dirty="0">
              <a:latin typeface="Consolas" pitchFamily="49" charset="0"/>
              <a:cs typeface="Consolas" pitchFamily="49" charset="0"/>
            </a:endParaRPr>
          </a:p>
        </p:txBody>
      </p:sp>
      <p:sp>
        <p:nvSpPr>
          <p:cNvPr id="2" name="矩形 1">
            <a:extLst>
              <a:ext uri="{FF2B5EF4-FFF2-40B4-BE49-F238E27FC236}">
                <a16:creationId xmlns:a16="http://schemas.microsoft.com/office/drawing/2014/main" id="{741955FB-4FC6-99B9-8518-5E207917CBD1}"/>
              </a:ext>
            </a:extLst>
          </p:cNvPr>
          <p:cNvSpPr/>
          <p:nvPr/>
        </p:nvSpPr>
        <p:spPr>
          <a:xfrm>
            <a:off x="3571039" y="3670151"/>
            <a:ext cx="5330452" cy="461665"/>
          </a:xfrm>
          <a:prstGeom prst="rect">
            <a:avLst/>
          </a:prstGeom>
          <a:noFill/>
          <a:ln>
            <a:solidFill>
              <a:schemeClr val="bg2">
                <a:lumMod val="25000"/>
              </a:schemeClr>
            </a:solidFill>
          </a:ln>
        </p:spPr>
        <p:txBody>
          <a:bodyPr wrap="square">
            <a:spAutoFit/>
          </a:bodyPr>
          <a:lstStyle/>
          <a:p>
            <a:pPr algn="ctr"/>
            <a:r>
              <a:rPr lang="en-US" altLang="zh-CN" sz="2400" dirty="0">
                <a:latin typeface="Consolas" pitchFamily="49" charset="0"/>
                <a:cs typeface="Consolas" pitchFamily="49" charset="0"/>
              </a:rPr>
              <a:t>V</a:t>
            </a:r>
            <a:r>
              <a:rPr lang="zh-CN" altLang="en-US" sz="2400" dirty="0">
                <a:latin typeface="Consolas" pitchFamily="49" charset="0"/>
                <a:cs typeface="Consolas" pitchFamily="49" charset="0"/>
              </a:rPr>
              <a:t>为数值总和的范围</a:t>
            </a:r>
          </a:p>
        </p:txBody>
      </p:sp>
      <p:sp>
        <p:nvSpPr>
          <p:cNvPr id="3" name="灯片编号占位符 2">
            <a:extLst>
              <a:ext uri="{FF2B5EF4-FFF2-40B4-BE49-F238E27FC236}">
                <a16:creationId xmlns:a16="http://schemas.microsoft.com/office/drawing/2014/main" id="{CC4F53AC-D75D-4AD4-B647-D52F4FF5F5B5}"/>
              </a:ext>
            </a:extLst>
          </p:cNvPr>
          <p:cNvSpPr>
            <a:spLocks noGrp="1"/>
          </p:cNvSpPr>
          <p:nvPr>
            <p:ph type="sldNum" sz="quarter" idx="12"/>
          </p:nvPr>
        </p:nvSpPr>
        <p:spPr/>
        <p:txBody>
          <a:bodyPr/>
          <a:lstStyle/>
          <a:p>
            <a:fld id="{0C913308-F349-4B6D-A68A-DD1791B4A57B}" type="slidenum">
              <a:rPr lang="zh-CN" altLang="en-US" smtClean="0"/>
              <a:t>21</a:t>
            </a:fld>
            <a:endParaRPr lang="zh-CN" altLang="en-US"/>
          </a:p>
        </p:txBody>
      </p:sp>
    </p:spTree>
    <p:extLst>
      <p:ext uri="{BB962C8B-B14F-4D97-AF65-F5344CB8AC3E}">
        <p14:creationId xmlns:p14="http://schemas.microsoft.com/office/powerpoint/2010/main" val="3658198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BE54C04C-0830-59F7-A75F-95F79B512264}"/>
              </a:ext>
            </a:extLst>
          </p:cNvPr>
          <p:cNvSpPr/>
          <p:nvPr/>
        </p:nvSpPr>
        <p:spPr>
          <a:xfrm>
            <a:off x="6168008" y="207525"/>
            <a:ext cx="5330452" cy="830997"/>
          </a:xfrm>
          <a:prstGeom prst="rect">
            <a:avLst/>
          </a:prstGeom>
          <a:solidFill>
            <a:schemeClr val="bg1">
              <a:lumMod val="95000"/>
            </a:schemeClr>
          </a:solidFill>
          <a:ln>
            <a:solidFill>
              <a:schemeClr val="bg2">
                <a:lumMod val="25000"/>
              </a:schemeClr>
            </a:solidFill>
          </a:ln>
        </p:spPr>
        <p:txBody>
          <a:bodyPr wrap="square">
            <a:spAutoFit/>
          </a:bodyPr>
          <a:lstStyle/>
          <a:p>
            <a:pPr algn="ctr"/>
            <a:r>
              <a:rPr lang="zh-CN" altLang="en-US" sz="2400" dirty="0">
                <a:latin typeface="Consolas" pitchFamily="49" charset="0"/>
                <a:cs typeface="Consolas" pitchFamily="49" charset="0"/>
              </a:rPr>
              <a:t>最大子段和方案计数问题</a:t>
            </a:r>
            <a:endParaRPr lang="en-US" altLang="zh-CN" sz="2400" dirty="0">
              <a:latin typeface="Consolas" pitchFamily="49" charset="0"/>
              <a:cs typeface="Consolas" pitchFamily="49" charset="0"/>
            </a:endParaRPr>
          </a:p>
          <a:p>
            <a:pPr algn="ctr"/>
            <a:r>
              <a:rPr lang="zh-CN" altLang="en-US" sz="2400" dirty="0">
                <a:latin typeface="Consolas" pitchFamily="49" charset="0"/>
                <a:cs typeface="Consolas" pitchFamily="49" charset="0"/>
              </a:rPr>
              <a:t>有没有</a:t>
            </a:r>
            <a:r>
              <a:rPr lang="en-US" altLang="zh-CN" sz="2400" dirty="0">
                <a:latin typeface="Consolas" pitchFamily="49" charset="0"/>
                <a:cs typeface="Consolas" pitchFamily="49" charset="0"/>
              </a:rPr>
              <a:t>O(n)</a:t>
            </a:r>
            <a:r>
              <a:rPr lang="zh-CN" altLang="en-US" sz="2400" dirty="0">
                <a:latin typeface="Consolas" pitchFamily="49" charset="0"/>
                <a:cs typeface="Consolas" pitchFamily="49" charset="0"/>
              </a:rPr>
              <a:t>解法</a:t>
            </a:r>
            <a:r>
              <a:rPr lang="en-US" altLang="zh-CN" sz="2400" dirty="0">
                <a:latin typeface="Consolas" pitchFamily="49" charset="0"/>
                <a:cs typeface="Consolas" pitchFamily="49" charset="0"/>
              </a:rPr>
              <a:t>?</a:t>
            </a:r>
            <a:endParaRPr lang="zh-CN" altLang="en-US" sz="2400" dirty="0">
              <a:latin typeface="Consolas" pitchFamily="49" charset="0"/>
              <a:cs typeface="Consolas" pitchFamily="49" charset="0"/>
            </a:endParaRPr>
          </a:p>
        </p:txBody>
      </p:sp>
      <p:sp>
        <p:nvSpPr>
          <p:cNvPr id="3" name="矩形 2">
            <a:extLst>
              <a:ext uri="{FF2B5EF4-FFF2-40B4-BE49-F238E27FC236}">
                <a16:creationId xmlns:a16="http://schemas.microsoft.com/office/drawing/2014/main" id="{6E356B07-AD7E-FF82-44EF-B05EEE087BA5}"/>
              </a:ext>
            </a:extLst>
          </p:cNvPr>
          <p:cNvSpPr/>
          <p:nvPr/>
        </p:nvSpPr>
        <p:spPr>
          <a:xfrm>
            <a:off x="765548" y="200763"/>
            <a:ext cx="5330452" cy="830997"/>
          </a:xfrm>
          <a:prstGeom prst="rect">
            <a:avLst/>
          </a:prstGeom>
          <a:solidFill>
            <a:schemeClr val="bg1">
              <a:lumMod val="95000"/>
            </a:schemeClr>
          </a:solidFill>
          <a:ln>
            <a:solidFill>
              <a:schemeClr val="bg2">
                <a:lumMod val="25000"/>
              </a:schemeClr>
            </a:solidFill>
          </a:ln>
        </p:spPr>
        <p:txBody>
          <a:bodyPr wrap="square">
            <a:spAutoFit/>
          </a:bodyPr>
          <a:lstStyle/>
          <a:p>
            <a:pPr algn="ctr"/>
            <a:r>
              <a:rPr lang="zh-CN" altLang="en-US" sz="2400" dirty="0">
                <a:latin typeface="Consolas" pitchFamily="49" charset="0"/>
                <a:cs typeface="Consolas" pitchFamily="49" charset="0"/>
              </a:rPr>
              <a:t>最大子段和问题</a:t>
            </a:r>
            <a:endParaRPr lang="en-US" altLang="zh-CN" sz="2400" dirty="0">
              <a:latin typeface="Consolas" pitchFamily="49" charset="0"/>
              <a:cs typeface="Consolas" pitchFamily="49" charset="0"/>
            </a:endParaRPr>
          </a:p>
          <a:p>
            <a:pPr algn="ctr"/>
            <a:r>
              <a:rPr lang="zh-CN" altLang="en-US" sz="2400" dirty="0">
                <a:latin typeface="Consolas" pitchFamily="49" charset="0"/>
                <a:cs typeface="Consolas" pitchFamily="49" charset="0"/>
              </a:rPr>
              <a:t>有</a:t>
            </a:r>
            <a:r>
              <a:rPr lang="en-US" altLang="zh-CN" sz="2400" dirty="0">
                <a:latin typeface="Consolas" pitchFamily="49" charset="0"/>
                <a:cs typeface="Consolas" pitchFamily="49" charset="0"/>
              </a:rPr>
              <a:t>O(n)</a:t>
            </a:r>
            <a:r>
              <a:rPr lang="zh-CN" altLang="en-US" sz="2400" dirty="0">
                <a:latin typeface="Consolas" pitchFamily="49" charset="0"/>
                <a:cs typeface="Consolas" pitchFamily="49" charset="0"/>
              </a:rPr>
              <a:t>解法</a:t>
            </a:r>
          </a:p>
        </p:txBody>
      </p:sp>
      <p:sp>
        <p:nvSpPr>
          <p:cNvPr id="2" name="灯片编号占位符 1">
            <a:extLst>
              <a:ext uri="{FF2B5EF4-FFF2-40B4-BE49-F238E27FC236}">
                <a16:creationId xmlns:a16="http://schemas.microsoft.com/office/drawing/2014/main" id="{F2DB34A5-A5F1-48B6-832A-5E91EEDCF464}"/>
              </a:ext>
            </a:extLst>
          </p:cNvPr>
          <p:cNvSpPr>
            <a:spLocks noGrp="1"/>
          </p:cNvSpPr>
          <p:nvPr>
            <p:ph type="sldNum" sz="quarter" idx="12"/>
          </p:nvPr>
        </p:nvSpPr>
        <p:spPr/>
        <p:txBody>
          <a:bodyPr/>
          <a:lstStyle/>
          <a:p>
            <a:fld id="{0C913308-F349-4B6D-A68A-DD1791B4A57B}" type="slidenum">
              <a:rPr lang="zh-CN" altLang="en-US" smtClean="0"/>
              <a:t>22</a:t>
            </a:fld>
            <a:endParaRPr lang="zh-CN" altLang="en-US"/>
          </a:p>
        </p:txBody>
      </p:sp>
      <p:sp>
        <p:nvSpPr>
          <p:cNvPr id="7" name="文本框 6">
            <a:extLst>
              <a:ext uri="{FF2B5EF4-FFF2-40B4-BE49-F238E27FC236}">
                <a16:creationId xmlns:a16="http://schemas.microsoft.com/office/drawing/2014/main" id="{E12806C1-3B3E-4BB5-8591-2C5AA28D8E65}"/>
              </a:ext>
            </a:extLst>
          </p:cNvPr>
          <p:cNvSpPr txBox="1"/>
          <p:nvPr/>
        </p:nvSpPr>
        <p:spPr>
          <a:xfrm>
            <a:off x="801941" y="1242380"/>
            <a:ext cx="9183910" cy="1055802"/>
          </a:xfrm>
          <a:prstGeom prst="rect">
            <a:avLst/>
          </a:prstGeom>
          <a:noFill/>
          <a:ln>
            <a:solidFill>
              <a:schemeClr val="bg2">
                <a:lumMod val="25000"/>
              </a:schemeClr>
            </a:solidFill>
          </a:ln>
        </p:spPr>
        <p:txBody>
          <a:bodyPr wrap="square">
            <a:spAutoFit/>
          </a:bodyPr>
          <a:lstStyle>
            <a:defPPr>
              <a:defRPr lang="zh-CN"/>
            </a:defPPr>
            <a:lvl1pPr algn="ctr">
              <a:defRPr sz="2400">
                <a:latin typeface="Consolas" pitchFamily="49" charset="0"/>
                <a:cs typeface="Consolas" pitchFamily="49" charset="0"/>
              </a:defRPr>
            </a:lvl1pPr>
          </a:lstStyle>
          <a:p>
            <a:pPr algn="l">
              <a:lnSpc>
                <a:spcPct val="150000"/>
              </a:lnSpc>
            </a:pPr>
            <a:r>
              <a:rPr lang="en-US" altLang="zh-CN" sz="2200"/>
              <a:t>ll f[N];    //</a:t>
            </a:r>
            <a:r>
              <a:rPr lang="zh-CN" altLang="en-US" sz="2200"/>
              <a:t>以第 </a:t>
            </a:r>
            <a:r>
              <a:rPr lang="en-US" altLang="zh-CN" sz="2200"/>
              <a:t>i </a:t>
            </a:r>
            <a:r>
              <a:rPr lang="zh-CN" altLang="en-US" sz="2200"/>
              <a:t>个元素结尾的最大子段和</a:t>
            </a:r>
            <a:br>
              <a:rPr lang="zh-CN" altLang="en-US" sz="2200"/>
            </a:br>
            <a:r>
              <a:rPr lang="en-US" altLang="zh-CN" sz="2200"/>
              <a:t>ll cnt[N];  //</a:t>
            </a:r>
            <a:r>
              <a:rPr lang="zh-CN" altLang="en-US" sz="2200"/>
              <a:t>以第 </a:t>
            </a:r>
            <a:r>
              <a:rPr lang="en-US" altLang="zh-CN" sz="2200"/>
              <a:t>i </a:t>
            </a:r>
            <a:r>
              <a:rPr lang="zh-CN" altLang="en-US" sz="2200"/>
              <a:t>个元素结尾且和为 </a:t>
            </a:r>
            <a:r>
              <a:rPr lang="en-US" altLang="zh-CN" sz="2200"/>
              <a:t>f[i] </a:t>
            </a:r>
            <a:r>
              <a:rPr lang="zh-CN" altLang="en-US" sz="2200"/>
              <a:t>的子数组个数</a:t>
            </a:r>
          </a:p>
        </p:txBody>
      </p:sp>
      <p:sp>
        <p:nvSpPr>
          <p:cNvPr id="8" name="文本框 7">
            <a:extLst>
              <a:ext uri="{FF2B5EF4-FFF2-40B4-BE49-F238E27FC236}">
                <a16:creationId xmlns:a16="http://schemas.microsoft.com/office/drawing/2014/main" id="{87EFFADE-869E-49B4-AD64-DC24053850A1}"/>
              </a:ext>
            </a:extLst>
          </p:cNvPr>
          <p:cNvSpPr txBox="1"/>
          <p:nvPr/>
        </p:nvSpPr>
        <p:spPr>
          <a:xfrm>
            <a:off x="801941" y="2427607"/>
            <a:ext cx="9183910" cy="545727"/>
          </a:xfrm>
          <a:prstGeom prst="rect">
            <a:avLst/>
          </a:prstGeom>
          <a:noFill/>
          <a:ln>
            <a:solidFill>
              <a:schemeClr val="bg2">
                <a:lumMod val="25000"/>
              </a:schemeClr>
            </a:solidFill>
          </a:ln>
        </p:spPr>
        <p:txBody>
          <a:bodyPr wrap="square">
            <a:spAutoFit/>
          </a:bodyPr>
          <a:lstStyle>
            <a:defPPr>
              <a:defRPr lang="zh-CN"/>
            </a:defPPr>
            <a:lvl1pPr algn="ctr">
              <a:defRPr sz="2400">
                <a:latin typeface="Consolas" pitchFamily="49" charset="0"/>
                <a:cs typeface="Consolas" pitchFamily="49" charset="0"/>
              </a:defRPr>
            </a:lvl1pPr>
          </a:lstStyle>
          <a:p>
            <a:pPr algn="l">
              <a:lnSpc>
                <a:spcPct val="150000"/>
              </a:lnSpc>
            </a:pPr>
            <a:r>
              <a:rPr lang="en-US" altLang="zh-CN" sz="2200" b="1">
                <a:solidFill>
                  <a:srgbClr val="C00000"/>
                </a:solidFill>
              </a:rPr>
              <a:t>1</a:t>
            </a:r>
            <a:r>
              <a:rPr lang="zh-CN" altLang="en-US" sz="2200" b="1">
                <a:solidFill>
                  <a:srgbClr val="C00000"/>
                </a:solidFill>
              </a:rPr>
              <a:t>、</a:t>
            </a:r>
            <a:r>
              <a:rPr lang="en-US" altLang="zh-CN" sz="2200" b="1">
                <a:solidFill>
                  <a:srgbClr val="C00000"/>
                </a:solidFill>
              </a:rPr>
              <a:t>f[i-1] &lt; 0 </a:t>
            </a:r>
            <a:r>
              <a:rPr lang="zh-CN" altLang="en-US" sz="2200" b="1">
                <a:solidFill>
                  <a:srgbClr val="C00000"/>
                </a:solidFill>
              </a:rPr>
              <a:t>时  </a:t>
            </a:r>
            <a:r>
              <a:rPr lang="en-US" altLang="zh-CN" sz="2200">
                <a:solidFill>
                  <a:srgbClr val="0070C0"/>
                </a:solidFill>
              </a:rPr>
              <a:t>f[i] = x[i] </a:t>
            </a:r>
            <a:r>
              <a:rPr lang="zh-CN" altLang="en-US" sz="2200">
                <a:solidFill>
                  <a:srgbClr val="0070C0"/>
                </a:solidFill>
              </a:rPr>
              <a:t>则 </a:t>
            </a:r>
            <a:r>
              <a:rPr lang="en-US" altLang="zh-CN" sz="2200">
                <a:solidFill>
                  <a:srgbClr val="0070C0"/>
                </a:solidFill>
              </a:rPr>
              <a:t>cnt[i]=1</a:t>
            </a:r>
            <a:endParaRPr lang="zh-CN" altLang="en-US" sz="2200">
              <a:solidFill>
                <a:srgbClr val="0070C0"/>
              </a:solidFill>
            </a:endParaRPr>
          </a:p>
        </p:txBody>
      </p:sp>
      <p:sp>
        <p:nvSpPr>
          <p:cNvPr id="10" name="文本框 9">
            <a:extLst>
              <a:ext uri="{FF2B5EF4-FFF2-40B4-BE49-F238E27FC236}">
                <a16:creationId xmlns:a16="http://schemas.microsoft.com/office/drawing/2014/main" id="{8BC036AE-0DFE-4AE6-93F4-06224D711F06}"/>
              </a:ext>
            </a:extLst>
          </p:cNvPr>
          <p:cNvSpPr txBox="1"/>
          <p:nvPr/>
        </p:nvSpPr>
        <p:spPr>
          <a:xfrm>
            <a:off x="801941" y="3062930"/>
            <a:ext cx="9183910" cy="545727"/>
          </a:xfrm>
          <a:prstGeom prst="rect">
            <a:avLst/>
          </a:prstGeom>
          <a:noFill/>
          <a:ln>
            <a:solidFill>
              <a:schemeClr val="bg2">
                <a:lumMod val="25000"/>
              </a:schemeClr>
            </a:solidFill>
          </a:ln>
        </p:spPr>
        <p:txBody>
          <a:bodyPr wrap="square">
            <a:spAutoFit/>
          </a:bodyPr>
          <a:lstStyle>
            <a:defPPr>
              <a:defRPr lang="zh-CN"/>
            </a:defPPr>
            <a:lvl1pPr algn="ctr">
              <a:defRPr sz="2400">
                <a:latin typeface="Consolas" pitchFamily="49" charset="0"/>
                <a:cs typeface="Consolas" pitchFamily="49" charset="0"/>
              </a:defRPr>
            </a:lvl1pPr>
          </a:lstStyle>
          <a:p>
            <a:pPr algn="l">
              <a:lnSpc>
                <a:spcPct val="150000"/>
              </a:lnSpc>
            </a:pPr>
            <a:r>
              <a:rPr lang="en-US" altLang="zh-CN" sz="2200" b="1">
                <a:solidFill>
                  <a:srgbClr val="C00000"/>
                </a:solidFill>
              </a:rPr>
              <a:t>2</a:t>
            </a:r>
            <a:r>
              <a:rPr lang="zh-CN" altLang="en-US" sz="2200" b="1">
                <a:solidFill>
                  <a:srgbClr val="C00000"/>
                </a:solidFill>
              </a:rPr>
              <a:t>、</a:t>
            </a:r>
            <a:r>
              <a:rPr lang="en-US" altLang="zh-CN" sz="2200" b="1">
                <a:solidFill>
                  <a:srgbClr val="C00000"/>
                </a:solidFill>
              </a:rPr>
              <a:t>f[i-1] &gt; 0 </a:t>
            </a:r>
            <a:r>
              <a:rPr lang="zh-CN" altLang="en-US" sz="2200" b="1">
                <a:solidFill>
                  <a:srgbClr val="C00000"/>
                </a:solidFill>
              </a:rPr>
              <a:t>时  </a:t>
            </a:r>
            <a:r>
              <a:rPr lang="en-US" altLang="zh-CN" sz="2200">
                <a:solidFill>
                  <a:srgbClr val="0070C0"/>
                </a:solidFill>
              </a:rPr>
              <a:t>f[i] = f[i-1] + x[i] </a:t>
            </a:r>
            <a:r>
              <a:rPr lang="zh-CN" altLang="en-US" sz="2200">
                <a:solidFill>
                  <a:srgbClr val="0070C0"/>
                </a:solidFill>
              </a:rPr>
              <a:t>则 </a:t>
            </a:r>
            <a:r>
              <a:rPr lang="en-US" altLang="zh-CN" sz="2200">
                <a:solidFill>
                  <a:srgbClr val="0070C0"/>
                </a:solidFill>
              </a:rPr>
              <a:t>cnt[i]= cnt[i-1]</a:t>
            </a:r>
            <a:endParaRPr lang="zh-CN" altLang="en-US" sz="2200">
              <a:solidFill>
                <a:srgbClr val="0070C0"/>
              </a:solidFill>
            </a:endParaRPr>
          </a:p>
        </p:txBody>
      </p:sp>
      <p:sp>
        <p:nvSpPr>
          <p:cNvPr id="11" name="文本框 10">
            <a:extLst>
              <a:ext uri="{FF2B5EF4-FFF2-40B4-BE49-F238E27FC236}">
                <a16:creationId xmlns:a16="http://schemas.microsoft.com/office/drawing/2014/main" id="{21A6D79B-6BA8-433C-B134-8B5FE8CC8409}"/>
              </a:ext>
            </a:extLst>
          </p:cNvPr>
          <p:cNvSpPr txBox="1"/>
          <p:nvPr/>
        </p:nvSpPr>
        <p:spPr>
          <a:xfrm>
            <a:off x="777340" y="3710278"/>
            <a:ext cx="2942396" cy="545727"/>
          </a:xfrm>
          <a:prstGeom prst="rect">
            <a:avLst/>
          </a:prstGeom>
          <a:noFill/>
          <a:ln>
            <a:solidFill>
              <a:schemeClr val="bg2">
                <a:lumMod val="25000"/>
              </a:schemeClr>
            </a:solidFill>
          </a:ln>
        </p:spPr>
        <p:txBody>
          <a:bodyPr wrap="square">
            <a:spAutoFit/>
          </a:bodyPr>
          <a:lstStyle>
            <a:defPPr>
              <a:defRPr lang="zh-CN"/>
            </a:defPPr>
            <a:lvl1pPr algn="ctr">
              <a:defRPr sz="2400">
                <a:latin typeface="Consolas" pitchFamily="49" charset="0"/>
                <a:cs typeface="Consolas" pitchFamily="49" charset="0"/>
              </a:defRPr>
            </a:lvl1pPr>
          </a:lstStyle>
          <a:p>
            <a:pPr algn="l">
              <a:lnSpc>
                <a:spcPct val="150000"/>
              </a:lnSpc>
            </a:pPr>
            <a:r>
              <a:rPr lang="en-US" altLang="zh-CN" sz="2200" b="1">
                <a:solidFill>
                  <a:srgbClr val="C00000"/>
                </a:solidFill>
              </a:rPr>
              <a:t>3</a:t>
            </a:r>
            <a:r>
              <a:rPr lang="zh-CN" altLang="en-US" sz="2200" b="1">
                <a:solidFill>
                  <a:srgbClr val="C00000"/>
                </a:solidFill>
              </a:rPr>
              <a:t>、</a:t>
            </a:r>
            <a:r>
              <a:rPr lang="en-US" altLang="zh-CN" sz="2200" b="1">
                <a:solidFill>
                  <a:srgbClr val="C00000"/>
                </a:solidFill>
              </a:rPr>
              <a:t>f[i-1] == 0 </a:t>
            </a:r>
            <a:r>
              <a:rPr lang="zh-CN" altLang="en-US" sz="2200" b="1">
                <a:solidFill>
                  <a:srgbClr val="C00000"/>
                </a:solidFill>
              </a:rPr>
              <a:t>时</a:t>
            </a:r>
          </a:p>
        </p:txBody>
      </p:sp>
      <p:sp>
        <p:nvSpPr>
          <p:cNvPr id="12" name="文本框 11">
            <a:extLst>
              <a:ext uri="{FF2B5EF4-FFF2-40B4-BE49-F238E27FC236}">
                <a16:creationId xmlns:a16="http://schemas.microsoft.com/office/drawing/2014/main" id="{0F691C81-63C2-43B3-80CD-E26EC2BDD766}"/>
              </a:ext>
            </a:extLst>
          </p:cNvPr>
          <p:cNvSpPr txBox="1"/>
          <p:nvPr/>
        </p:nvSpPr>
        <p:spPr>
          <a:xfrm>
            <a:off x="1343472" y="4268907"/>
            <a:ext cx="8928992" cy="547971"/>
          </a:xfrm>
          <a:prstGeom prst="rect">
            <a:avLst/>
          </a:prstGeom>
          <a:noFill/>
          <a:ln>
            <a:solidFill>
              <a:schemeClr val="bg2">
                <a:lumMod val="25000"/>
              </a:schemeClr>
            </a:solidFill>
          </a:ln>
        </p:spPr>
        <p:txBody>
          <a:bodyPr wrap="square">
            <a:spAutoFit/>
          </a:bodyPr>
          <a:lstStyle>
            <a:defPPr>
              <a:defRPr lang="zh-CN"/>
            </a:defPPr>
            <a:lvl1pPr algn="ctr">
              <a:defRPr sz="2400">
                <a:latin typeface="Consolas" pitchFamily="49" charset="0"/>
                <a:cs typeface="Consolas" pitchFamily="49" charset="0"/>
              </a:defRPr>
            </a:lvl1pPr>
          </a:lstStyle>
          <a:p>
            <a:pPr algn="l">
              <a:lnSpc>
                <a:spcPct val="150000"/>
              </a:lnSpc>
            </a:pPr>
            <a:r>
              <a:rPr lang="en-US" altLang="zh-CN" sz="2200">
                <a:solidFill>
                  <a:srgbClr val="0070C0"/>
                </a:solidFill>
              </a:rPr>
              <a:t>f[i] = f[i-1] + x[i]  </a:t>
            </a:r>
            <a:r>
              <a:rPr lang="zh-CN" altLang="en-US" sz="2200">
                <a:solidFill>
                  <a:srgbClr val="0070C0"/>
                </a:solidFill>
              </a:rPr>
              <a:t>和 </a:t>
            </a:r>
            <a:r>
              <a:rPr lang="en-US" altLang="zh-CN" sz="2200">
                <a:solidFill>
                  <a:srgbClr val="0070C0"/>
                </a:solidFill>
              </a:rPr>
              <a:t>f[i] = x[i] </a:t>
            </a:r>
            <a:r>
              <a:rPr lang="zh-CN" altLang="en-US" sz="2200">
                <a:solidFill>
                  <a:srgbClr val="0070C0"/>
                </a:solidFill>
              </a:rPr>
              <a:t>是等效的，但多一种方案   </a:t>
            </a:r>
          </a:p>
        </p:txBody>
      </p:sp>
      <p:sp>
        <p:nvSpPr>
          <p:cNvPr id="13" name="文本框 12">
            <a:extLst>
              <a:ext uri="{FF2B5EF4-FFF2-40B4-BE49-F238E27FC236}">
                <a16:creationId xmlns:a16="http://schemas.microsoft.com/office/drawing/2014/main" id="{51CBD13B-EB95-4E6F-AA91-25337C1786A4}"/>
              </a:ext>
            </a:extLst>
          </p:cNvPr>
          <p:cNvSpPr txBox="1"/>
          <p:nvPr/>
        </p:nvSpPr>
        <p:spPr>
          <a:xfrm>
            <a:off x="1343472" y="4829780"/>
            <a:ext cx="8928992" cy="545727"/>
          </a:xfrm>
          <a:prstGeom prst="rect">
            <a:avLst/>
          </a:prstGeom>
          <a:noFill/>
          <a:ln>
            <a:solidFill>
              <a:schemeClr val="bg2">
                <a:lumMod val="25000"/>
              </a:schemeClr>
            </a:solidFill>
          </a:ln>
        </p:spPr>
        <p:txBody>
          <a:bodyPr wrap="square">
            <a:spAutoFit/>
          </a:bodyPr>
          <a:lstStyle>
            <a:defPPr>
              <a:defRPr lang="zh-CN"/>
            </a:defPPr>
            <a:lvl1pPr algn="ctr">
              <a:defRPr sz="2400">
                <a:latin typeface="Consolas" pitchFamily="49" charset="0"/>
                <a:cs typeface="Consolas" pitchFamily="49" charset="0"/>
              </a:defRPr>
            </a:lvl1pPr>
          </a:lstStyle>
          <a:p>
            <a:pPr algn="l">
              <a:lnSpc>
                <a:spcPct val="150000"/>
              </a:lnSpc>
            </a:pPr>
            <a:r>
              <a:rPr lang="en-US" altLang="zh-CN" sz="2200">
                <a:solidFill>
                  <a:srgbClr val="0070C0"/>
                </a:solidFill>
              </a:rPr>
              <a:t>cnt[i]= cnt[i-1] </a:t>
            </a:r>
            <a:r>
              <a:rPr lang="en-US" altLang="zh-CN" sz="2200">
                <a:solidFill>
                  <a:srgbClr val="FF0000"/>
                </a:solidFill>
              </a:rPr>
              <a:t>+ 1</a:t>
            </a:r>
            <a:endParaRPr lang="zh-CN" altLang="en-US" sz="2200">
              <a:solidFill>
                <a:srgbClr val="FF0000"/>
              </a:solidFill>
            </a:endParaRPr>
          </a:p>
        </p:txBody>
      </p:sp>
      <p:sp>
        <p:nvSpPr>
          <p:cNvPr id="14" name="文本框 13">
            <a:extLst>
              <a:ext uri="{FF2B5EF4-FFF2-40B4-BE49-F238E27FC236}">
                <a16:creationId xmlns:a16="http://schemas.microsoft.com/office/drawing/2014/main" id="{062C8024-C641-4679-A136-78E9108140FE}"/>
              </a:ext>
            </a:extLst>
          </p:cNvPr>
          <p:cNvSpPr txBox="1"/>
          <p:nvPr/>
        </p:nvSpPr>
        <p:spPr>
          <a:xfrm>
            <a:off x="765548" y="5739636"/>
            <a:ext cx="1514028" cy="461665"/>
          </a:xfrm>
          <a:prstGeom prst="rect">
            <a:avLst/>
          </a:prstGeom>
          <a:solidFill>
            <a:schemeClr val="accent4"/>
          </a:solidFill>
        </p:spPr>
        <p:txBody>
          <a:bodyPr wrap="square">
            <a:spAutoFit/>
          </a:bodyPr>
          <a:lstStyle/>
          <a:p>
            <a:pPr algn="ctr"/>
            <a:r>
              <a:rPr lang="zh-CN" altLang="en-US" sz="2400">
                <a:solidFill>
                  <a:srgbClr val="002060"/>
                </a:solidFill>
                <a:latin typeface="Consolas" pitchFamily="49" charset="0"/>
              </a:rPr>
              <a:t>最终统计</a:t>
            </a:r>
          </a:p>
        </p:txBody>
      </p:sp>
      <p:sp>
        <p:nvSpPr>
          <p:cNvPr id="15" name="文本框 14">
            <a:extLst>
              <a:ext uri="{FF2B5EF4-FFF2-40B4-BE49-F238E27FC236}">
                <a16:creationId xmlns:a16="http://schemas.microsoft.com/office/drawing/2014/main" id="{3ABF4A7E-B57A-4561-BD02-2F1207AFC733}"/>
              </a:ext>
            </a:extLst>
          </p:cNvPr>
          <p:cNvSpPr txBox="1"/>
          <p:nvPr/>
        </p:nvSpPr>
        <p:spPr>
          <a:xfrm>
            <a:off x="2351584" y="5672904"/>
            <a:ext cx="8928992" cy="545727"/>
          </a:xfrm>
          <a:prstGeom prst="rect">
            <a:avLst/>
          </a:prstGeom>
          <a:noFill/>
          <a:ln>
            <a:solidFill>
              <a:schemeClr val="bg2">
                <a:lumMod val="25000"/>
              </a:schemeClr>
            </a:solidFill>
          </a:ln>
        </p:spPr>
        <p:txBody>
          <a:bodyPr wrap="square">
            <a:spAutoFit/>
          </a:bodyPr>
          <a:lstStyle>
            <a:defPPr>
              <a:defRPr lang="zh-CN"/>
            </a:defPPr>
            <a:lvl1pPr algn="ctr">
              <a:defRPr sz="2400">
                <a:latin typeface="Consolas" pitchFamily="49" charset="0"/>
                <a:cs typeface="Consolas" pitchFamily="49" charset="0"/>
              </a:defRPr>
            </a:lvl1pPr>
          </a:lstStyle>
          <a:p>
            <a:pPr algn="l">
              <a:lnSpc>
                <a:spcPct val="150000"/>
              </a:lnSpc>
            </a:pPr>
            <a:r>
              <a:rPr lang="zh-CN" altLang="en-US" sz="2200">
                <a:solidFill>
                  <a:srgbClr val="0070C0"/>
                </a:solidFill>
              </a:rPr>
              <a:t>根据最大子段和</a:t>
            </a:r>
            <a:r>
              <a:rPr lang="en-US" altLang="zh-CN" sz="2200">
                <a:solidFill>
                  <a:srgbClr val="0070C0"/>
                </a:solidFill>
              </a:rPr>
              <a:t>MAX</a:t>
            </a:r>
            <a:r>
              <a:rPr lang="zh-CN" altLang="en-US" sz="2200">
                <a:solidFill>
                  <a:srgbClr val="0070C0"/>
                </a:solidFill>
              </a:rPr>
              <a:t>，累加所有 </a:t>
            </a:r>
            <a:r>
              <a:rPr lang="en-US" altLang="zh-CN" sz="2200">
                <a:solidFill>
                  <a:srgbClr val="0070C0"/>
                </a:solidFill>
              </a:rPr>
              <a:t>f[i]==MAX</a:t>
            </a:r>
            <a:r>
              <a:rPr lang="zh-CN" altLang="en-US" sz="2200">
                <a:solidFill>
                  <a:srgbClr val="0070C0"/>
                </a:solidFill>
              </a:rPr>
              <a:t>时的 </a:t>
            </a:r>
            <a:r>
              <a:rPr lang="en-US" altLang="zh-CN" sz="2200">
                <a:solidFill>
                  <a:srgbClr val="0070C0"/>
                </a:solidFill>
              </a:rPr>
              <a:t>cnt[i]</a:t>
            </a:r>
            <a:r>
              <a:rPr lang="zh-CN" altLang="en-US" sz="2200">
                <a:solidFill>
                  <a:srgbClr val="0070C0"/>
                </a:solidFill>
              </a:rPr>
              <a:t>的和。 </a:t>
            </a:r>
            <a:endParaRPr lang="zh-CN" altLang="en-US" sz="2200">
              <a:solidFill>
                <a:srgbClr val="FF0000"/>
              </a:solidFill>
            </a:endParaRPr>
          </a:p>
        </p:txBody>
      </p:sp>
    </p:spTree>
    <p:extLst>
      <p:ext uri="{BB962C8B-B14F-4D97-AF65-F5344CB8AC3E}">
        <p14:creationId xmlns:p14="http://schemas.microsoft.com/office/powerpoint/2010/main" val="2944105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 grpId="0" animBg="1"/>
      <p:bldP spid="7" grpId="0" animBg="1"/>
      <p:bldP spid="8" grpId="0" animBg="1"/>
      <p:bldP spid="10" grpId="0" animBg="1"/>
      <p:bldP spid="11" grpId="0" animBg="1"/>
      <p:bldP spid="12" grpId="0" animBg="1"/>
      <p:bldP spid="13" grpId="0" animBg="1"/>
      <p:bldP spid="14" grpId="0" animBg="1"/>
      <p:bldP spid="1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A7486861-9FE6-2FF5-8F45-4824DF3CE50E}"/>
              </a:ext>
            </a:extLst>
          </p:cNvPr>
          <p:cNvPicPr>
            <a:picLocks noChangeAspect="1"/>
          </p:cNvPicPr>
          <p:nvPr/>
        </p:nvPicPr>
        <p:blipFill>
          <a:blip r:embed="rId2"/>
          <a:stretch>
            <a:fillRect/>
          </a:stretch>
        </p:blipFill>
        <p:spPr>
          <a:xfrm>
            <a:off x="1658546" y="1138124"/>
            <a:ext cx="6165646" cy="5315212"/>
          </a:xfrm>
          <a:prstGeom prst="rect">
            <a:avLst/>
          </a:prstGeom>
        </p:spPr>
      </p:pic>
      <p:sp>
        <p:nvSpPr>
          <p:cNvPr id="5" name="矩形 4">
            <a:extLst>
              <a:ext uri="{FF2B5EF4-FFF2-40B4-BE49-F238E27FC236}">
                <a16:creationId xmlns:a16="http://schemas.microsoft.com/office/drawing/2014/main" id="{08D14FEE-F191-27F6-A709-D1880AECDF6F}"/>
              </a:ext>
            </a:extLst>
          </p:cNvPr>
          <p:cNvSpPr/>
          <p:nvPr/>
        </p:nvSpPr>
        <p:spPr>
          <a:xfrm>
            <a:off x="2999656" y="188640"/>
            <a:ext cx="6192688" cy="707886"/>
          </a:xfrm>
          <a:prstGeom prst="rect">
            <a:avLst/>
          </a:prstGeom>
          <a:noFill/>
          <a:ln>
            <a:solidFill>
              <a:schemeClr val="bg2">
                <a:lumMod val="25000"/>
              </a:schemeClr>
            </a:solidFill>
          </a:ln>
        </p:spPr>
        <p:txBody>
          <a:bodyPr wrap="square">
            <a:spAutoFit/>
          </a:bodyPr>
          <a:lstStyle/>
          <a:p>
            <a:pPr algn="ctr"/>
            <a:r>
              <a:rPr lang="en-US" altLang="zh-CN" sz="2000" dirty="0">
                <a:latin typeface="Consolas" pitchFamily="49" charset="0"/>
                <a:cs typeface="Consolas" pitchFamily="49" charset="0"/>
              </a:rPr>
              <a:t>f[i]</a:t>
            </a:r>
            <a:r>
              <a:rPr lang="zh-CN" altLang="en-US" sz="2000" dirty="0">
                <a:latin typeface="Consolas" pitchFamily="49" charset="0"/>
                <a:cs typeface="Consolas" pitchFamily="49" charset="0"/>
              </a:rPr>
              <a:t>表示以</a:t>
            </a:r>
            <a:r>
              <a:rPr lang="en-US" altLang="zh-CN" sz="2000" dirty="0">
                <a:latin typeface="Consolas" pitchFamily="49" charset="0"/>
                <a:cs typeface="Consolas" pitchFamily="49" charset="0"/>
              </a:rPr>
              <a:t>i</a:t>
            </a:r>
            <a:r>
              <a:rPr lang="zh-CN" altLang="en-US" sz="2000" dirty="0">
                <a:latin typeface="Consolas" pitchFamily="49" charset="0"/>
                <a:cs typeface="Consolas" pitchFamily="49" charset="0"/>
              </a:rPr>
              <a:t>号结尾的最大子段和 </a:t>
            </a:r>
          </a:p>
          <a:p>
            <a:pPr algn="ctr"/>
            <a:r>
              <a:rPr lang="en-US" altLang="zh-CN" sz="2000" dirty="0">
                <a:latin typeface="Consolas" pitchFamily="49" charset="0"/>
                <a:cs typeface="Consolas" pitchFamily="49" charset="0"/>
              </a:rPr>
              <a:t>c[i]</a:t>
            </a:r>
            <a:r>
              <a:rPr lang="zh-CN" altLang="en-US" sz="2000" dirty="0">
                <a:latin typeface="Consolas" pitchFamily="49" charset="0"/>
                <a:cs typeface="Consolas" pitchFamily="49" charset="0"/>
              </a:rPr>
              <a:t>表示以</a:t>
            </a:r>
            <a:r>
              <a:rPr lang="en-US" altLang="zh-CN" sz="2000" dirty="0">
                <a:latin typeface="Consolas" pitchFamily="49" charset="0"/>
                <a:cs typeface="Consolas" pitchFamily="49" charset="0"/>
              </a:rPr>
              <a:t>i</a:t>
            </a:r>
            <a:r>
              <a:rPr lang="zh-CN" altLang="en-US" sz="2000" dirty="0">
                <a:latin typeface="Consolas" pitchFamily="49" charset="0"/>
                <a:cs typeface="Consolas" pitchFamily="49" charset="0"/>
              </a:rPr>
              <a:t>号结尾的最大子段和的方案数 </a:t>
            </a:r>
          </a:p>
        </p:txBody>
      </p:sp>
      <p:sp>
        <p:nvSpPr>
          <p:cNvPr id="7" name="矩形 6">
            <a:extLst>
              <a:ext uri="{FF2B5EF4-FFF2-40B4-BE49-F238E27FC236}">
                <a16:creationId xmlns:a16="http://schemas.microsoft.com/office/drawing/2014/main" id="{A3565BED-B9DE-76D8-524C-3FD1BCC17BEA}"/>
              </a:ext>
            </a:extLst>
          </p:cNvPr>
          <p:cNvSpPr/>
          <p:nvPr/>
        </p:nvSpPr>
        <p:spPr>
          <a:xfrm>
            <a:off x="4511824" y="1904480"/>
            <a:ext cx="3240360" cy="369332"/>
          </a:xfrm>
          <a:prstGeom prst="rect">
            <a:avLst/>
          </a:prstGeom>
          <a:solidFill>
            <a:schemeClr val="bg1"/>
          </a:solidFill>
          <a:ln>
            <a:solidFill>
              <a:schemeClr val="bg2">
                <a:lumMod val="25000"/>
              </a:schemeClr>
            </a:solidFill>
          </a:ln>
        </p:spPr>
        <p:txBody>
          <a:bodyPr wrap="square">
            <a:spAutoFit/>
          </a:bodyPr>
          <a:lstStyle/>
          <a:p>
            <a:pPr algn="ctr"/>
            <a:endParaRPr lang="zh-CN" altLang="zh-CN" dirty="0">
              <a:latin typeface="Consolas" panose="020B0609020204030204" pitchFamily="49" charset="0"/>
            </a:endParaRPr>
          </a:p>
        </p:txBody>
      </p:sp>
      <p:sp>
        <p:nvSpPr>
          <p:cNvPr id="9" name="矩形 8">
            <a:extLst>
              <a:ext uri="{FF2B5EF4-FFF2-40B4-BE49-F238E27FC236}">
                <a16:creationId xmlns:a16="http://schemas.microsoft.com/office/drawing/2014/main" id="{C1EFEBE4-1693-326D-517D-857CCEB22B3C}"/>
              </a:ext>
            </a:extLst>
          </p:cNvPr>
          <p:cNvSpPr/>
          <p:nvPr/>
        </p:nvSpPr>
        <p:spPr>
          <a:xfrm>
            <a:off x="4511824" y="2264520"/>
            <a:ext cx="3240360" cy="369332"/>
          </a:xfrm>
          <a:prstGeom prst="rect">
            <a:avLst/>
          </a:prstGeom>
          <a:solidFill>
            <a:schemeClr val="bg1"/>
          </a:solidFill>
          <a:ln>
            <a:solidFill>
              <a:schemeClr val="bg2">
                <a:lumMod val="25000"/>
              </a:schemeClr>
            </a:solidFill>
          </a:ln>
        </p:spPr>
        <p:txBody>
          <a:bodyPr wrap="square">
            <a:spAutoFit/>
          </a:bodyPr>
          <a:lstStyle/>
          <a:p>
            <a:pPr algn="ctr"/>
            <a:endParaRPr lang="zh-CN" altLang="zh-CN" dirty="0">
              <a:latin typeface="Consolas" panose="020B0609020204030204" pitchFamily="49" charset="0"/>
            </a:endParaRPr>
          </a:p>
        </p:txBody>
      </p:sp>
      <p:sp>
        <p:nvSpPr>
          <p:cNvPr id="10" name="矩形 9">
            <a:extLst>
              <a:ext uri="{FF2B5EF4-FFF2-40B4-BE49-F238E27FC236}">
                <a16:creationId xmlns:a16="http://schemas.microsoft.com/office/drawing/2014/main" id="{D1910A82-6957-324B-F80D-2E1E013CD69D}"/>
              </a:ext>
            </a:extLst>
          </p:cNvPr>
          <p:cNvSpPr/>
          <p:nvPr/>
        </p:nvSpPr>
        <p:spPr>
          <a:xfrm>
            <a:off x="4511824" y="3429000"/>
            <a:ext cx="3240360" cy="369332"/>
          </a:xfrm>
          <a:prstGeom prst="rect">
            <a:avLst/>
          </a:prstGeom>
          <a:solidFill>
            <a:schemeClr val="bg1"/>
          </a:solidFill>
          <a:ln>
            <a:solidFill>
              <a:schemeClr val="bg2">
                <a:lumMod val="25000"/>
              </a:schemeClr>
            </a:solidFill>
          </a:ln>
        </p:spPr>
        <p:txBody>
          <a:bodyPr wrap="square">
            <a:spAutoFit/>
          </a:bodyPr>
          <a:lstStyle/>
          <a:p>
            <a:pPr algn="ctr"/>
            <a:endParaRPr lang="zh-CN" altLang="zh-CN" dirty="0">
              <a:latin typeface="Consolas" panose="020B0609020204030204" pitchFamily="49" charset="0"/>
            </a:endParaRPr>
          </a:p>
        </p:txBody>
      </p:sp>
      <p:sp>
        <p:nvSpPr>
          <p:cNvPr id="11" name="矩形 10">
            <a:extLst>
              <a:ext uri="{FF2B5EF4-FFF2-40B4-BE49-F238E27FC236}">
                <a16:creationId xmlns:a16="http://schemas.microsoft.com/office/drawing/2014/main" id="{EA72D9F6-5732-56BE-B923-6DCF9B9CE1D9}"/>
              </a:ext>
            </a:extLst>
          </p:cNvPr>
          <p:cNvSpPr/>
          <p:nvPr/>
        </p:nvSpPr>
        <p:spPr>
          <a:xfrm>
            <a:off x="4511824" y="3789040"/>
            <a:ext cx="3240360" cy="369332"/>
          </a:xfrm>
          <a:prstGeom prst="rect">
            <a:avLst/>
          </a:prstGeom>
          <a:solidFill>
            <a:schemeClr val="bg1"/>
          </a:solidFill>
          <a:ln>
            <a:solidFill>
              <a:schemeClr val="bg2">
                <a:lumMod val="25000"/>
              </a:schemeClr>
            </a:solidFill>
          </a:ln>
        </p:spPr>
        <p:txBody>
          <a:bodyPr wrap="square">
            <a:spAutoFit/>
          </a:bodyPr>
          <a:lstStyle/>
          <a:p>
            <a:pPr algn="ctr"/>
            <a:endParaRPr lang="zh-CN" altLang="zh-CN" dirty="0">
              <a:latin typeface="Consolas" panose="020B0609020204030204" pitchFamily="49" charset="0"/>
            </a:endParaRPr>
          </a:p>
        </p:txBody>
      </p:sp>
      <p:sp>
        <p:nvSpPr>
          <p:cNvPr id="12" name="矩形 11">
            <a:extLst>
              <a:ext uri="{FF2B5EF4-FFF2-40B4-BE49-F238E27FC236}">
                <a16:creationId xmlns:a16="http://schemas.microsoft.com/office/drawing/2014/main" id="{C7E0FAEB-78EC-261A-C4DB-B3EAF82ABC94}"/>
              </a:ext>
            </a:extLst>
          </p:cNvPr>
          <p:cNvSpPr/>
          <p:nvPr/>
        </p:nvSpPr>
        <p:spPr>
          <a:xfrm>
            <a:off x="4511824" y="4941168"/>
            <a:ext cx="3240360" cy="369332"/>
          </a:xfrm>
          <a:prstGeom prst="rect">
            <a:avLst/>
          </a:prstGeom>
          <a:solidFill>
            <a:schemeClr val="bg1"/>
          </a:solidFill>
          <a:ln>
            <a:solidFill>
              <a:schemeClr val="bg2">
                <a:lumMod val="25000"/>
              </a:schemeClr>
            </a:solidFill>
          </a:ln>
        </p:spPr>
        <p:txBody>
          <a:bodyPr wrap="square">
            <a:spAutoFit/>
          </a:bodyPr>
          <a:lstStyle/>
          <a:p>
            <a:pPr algn="ctr"/>
            <a:endParaRPr lang="zh-CN" altLang="zh-CN" dirty="0">
              <a:latin typeface="Consolas" panose="020B0609020204030204" pitchFamily="49" charset="0"/>
            </a:endParaRPr>
          </a:p>
        </p:txBody>
      </p:sp>
      <p:sp>
        <p:nvSpPr>
          <p:cNvPr id="13" name="矩形 12">
            <a:extLst>
              <a:ext uri="{FF2B5EF4-FFF2-40B4-BE49-F238E27FC236}">
                <a16:creationId xmlns:a16="http://schemas.microsoft.com/office/drawing/2014/main" id="{347A1E36-4969-E684-24D9-015BC4D331B0}"/>
              </a:ext>
            </a:extLst>
          </p:cNvPr>
          <p:cNvSpPr/>
          <p:nvPr/>
        </p:nvSpPr>
        <p:spPr>
          <a:xfrm>
            <a:off x="4511824" y="5301208"/>
            <a:ext cx="3240360" cy="369332"/>
          </a:xfrm>
          <a:prstGeom prst="rect">
            <a:avLst/>
          </a:prstGeom>
          <a:solidFill>
            <a:schemeClr val="bg1"/>
          </a:solidFill>
          <a:ln>
            <a:solidFill>
              <a:schemeClr val="bg2">
                <a:lumMod val="25000"/>
              </a:schemeClr>
            </a:solidFill>
          </a:ln>
        </p:spPr>
        <p:txBody>
          <a:bodyPr wrap="square">
            <a:spAutoFit/>
          </a:bodyPr>
          <a:lstStyle/>
          <a:p>
            <a:pPr algn="ctr"/>
            <a:endParaRPr lang="zh-CN" altLang="zh-CN" dirty="0">
              <a:latin typeface="Consolas" panose="020B0609020204030204" pitchFamily="49" charset="0"/>
            </a:endParaRPr>
          </a:p>
        </p:txBody>
      </p:sp>
      <p:sp>
        <p:nvSpPr>
          <p:cNvPr id="2" name="灯片编号占位符 1">
            <a:extLst>
              <a:ext uri="{FF2B5EF4-FFF2-40B4-BE49-F238E27FC236}">
                <a16:creationId xmlns:a16="http://schemas.microsoft.com/office/drawing/2014/main" id="{8339ECBC-473B-4A37-8294-7249112134F6}"/>
              </a:ext>
            </a:extLst>
          </p:cNvPr>
          <p:cNvSpPr>
            <a:spLocks noGrp="1"/>
          </p:cNvSpPr>
          <p:nvPr>
            <p:ph type="sldNum" sz="quarter" idx="12"/>
          </p:nvPr>
        </p:nvSpPr>
        <p:spPr/>
        <p:txBody>
          <a:bodyPr/>
          <a:lstStyle/>
          <a:p>
            <a:fld id="{0C913308-F349-4B6D-A68A-DD1791B4A57B}" type="slidenum">
              <a:rPr lang="zh-CN" altLang="en-US" smtClean="0"/>
              <a:t>23</a:t>
            </a:fld>
            <a:endParaRPr lang="zh-CN" altLang="en-US"/>
          </a:p>
        </p:txBody>
      </p:sp>
    </p:spTree>
    <p:extLst>
      <p:ext uri="{BB962C8B-B14F-4D97-AF65-F5344CB8AC3E}">
        <p14:creationId xmlns:p14="http://schemas.microsoft.com/office/powerpoint/2010/main" val="3718371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animBg="1"/>
      <p:bldP spid="11" grpId="0" animBg="1"/>
      <p:bldP spid="12" grpId="0" animBg="1"/>
      <p:bldP spid="1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08D14FEE-F191-27F6-A709-D1880AECDF6F}"/>
              </a:ext>
            </a:extLst>
          </p:cNvPr>
          <p:cNvSpPr/>
          <p:nvPr/>
        </p:nvSpPr>
        <p:spPr>
          <a:xfrm>
            <a:off x="2999656" y="188640"/>
            <a:ext cx="6192688" cy="707886"/>
          </a:xfrm>
          <a:prstGeom prst="rect">
            <a:avLst/>
          </a:prstGeom>
          <a:noFill/>
          <a:ln>
            <a:solidFill>
              <a:schemeClr val="bg2">
                <a:lumMod val="25000"/>
              </a:schemeClr>
            </a:solidFill>
          </a:ln>
        </p:spPr>
        <p:txBody>
          <a:bodyPr wrap="square">
            <a:spAutoFit/>
          </a:bodyPr>
          <a:lstStyle/>
          <a:p>
            <a:pPr algn="ctr"/>
            <a:r>
              <a:rPr lang="en-US" altLang="zh-CN" sz="2000" dirty="0">
                <a:latin typeface="Consolas" pitchFamily="49" charset="0"/>
                <a:cs typeface="Consolas" pitchFamily="49" charset="0"/>
              </a:rPr>
              <a:t>f[i]</a:t>
            </a:r>
            <a:r>
              <a:rPr lang="zh-CN" altLang="en-US" sz="2000" dirty="0">
                <a:latin typeface="Consolas" pitchFamily="49" charset="0"/>
                <a:cs typeface="Consolas" pitchFamily="49" charset="0"/>
              </a:rPr>
              <a:t>表示以</a:t>
            </a:r>
            <a:r>
              <a:rPr lang="en-US" altLang="zh-CN" sz="2000" dirty="0">
                <a:latin typeface="Consolas" pitchFamily="49" charset="0"/>
                <a:cs typeface="Consolas" pitchFamily="49" charset="0"/>
              </a:rPr>
              <a:t>i</a:t>
            </a:r>
            <a:r>
              <a:rPr lang="zh-CN" altLang="en-US" sz="2000" dirty="0">
                <a:latin typeface="Consolas" pitchFamily="49" charset="0"/>
                <a:cs typeface="Consolas" pitchFamily="49" charset="0"/>
              </a:rPr>
              <a:t>号结尾的最大子段和 </a:t>
            </a:r>
          </a:p>
          <a:p>
            <a:pPr algn="ctr"/>
            <a:r>
              <a:rPr lang="en-US" altLang="zh-CN" sz="2000" dirty="0">
                <a:latin typeface="Consolas" pitchFamily="49" charset="0"/>
                <a:cs typeface="Consolas" pitchFamily="49" charset="0"/>
              </a:rPr>
              <a:t>c[i]</a:t>
            </a:r>
            <a:r>
              <a:rPr lang="zh-CN" altLang="en-US" sz="2000" dirty="0">
                <a:latin typeface="Consolas" pitchFamily="49" charset="0"/>
                <a:cs typeface="Consolas" pitchFamily="49" charset="0"/>
              </a:rPr>
              <a:t>表示以</a:t>
            </a:r>
            <a:r>
              <a:rPr lang="en-US" altLang="zh-CN" sz="2000" dirty="0">
                <a:latin typeface="Consolas" pitchFamily="49" charset="0"/>
                <a:cs typeface="Consolas" pitchFamily="49" charset="0"/>
              </a:rPr>
              <a:t>i</a:t>
            </a:r>
            <a:r>
              <a:rPr lang="zh-CN" altLang="en-US" sz="2000" dirty="0">
                <a:latin typeface="Consolas" pitchFamily="49" charset="0"/>
                <a:cs typeface="Consolas" pitchFamily="49" charset="0"/>
              </a:rPr>
              <a:t>号结尾的最大子段和的方案数 </a:t>
            </a:r>
          </a:p>
        </p:txBody>
      </p:sp>
      <p:pic>
        <p:nvPicPr>
          <p:cNvPr id="3" name="图片 2">
            <a:extLst>
              <a:ext uri="{FF2B5EF4-FFF2-40B4-BE49-F238E27FC236}">
                <a16:creationId xmlns:a16="http://schemas.microsoft.com/office/drawing/2014/main" id="{D2259811-5495-28A9-769F-738C55B8F400}"/>
              </a:ext>
            </a:extLst>
          </p:cNvPr>
          <p:cNvPicPr>
            <a:picLocks noChangeAspect="1"/>
          </p:cNvPicPr>
          <p:nvPr/>
        </p:nvPicPr>
        <p:blipFill>
          <a:blip r:embed="rId2"/>
          <a:stretch>
            <a:fillRect/>
          </a:stretch>
        </p:blipFill>
        <p:spPr>
          <a:xfrm>
            <a:off x="1631504" y="1702716"/>
            <a:ext cx="8064896" cy="2890765"/>
          </a:xfrm>
          <a:prstGeom prst="rect">
            <a:avLst/>
          </a:prstGeom>
        </p:spPr>
      </p:pic>
      <p:sp>
        <p:nvSpPr>
          <p:cNvPr id="2" name="灯片编号占位符 1">
            <a:extLst>
              <a:ext uri="{FF2B5EF4-FFF2-40B4-BE49-F238E27FC236}">
                <a16:creationId xmlns:a16="http://schemas.microsoft.com/office/drawing/2014/main" id="{88EFCC69-0A97-40EB-8DAE-8C1BB7438C8E}"/>
              </a:ext>
            </a:extLst>
          </p:cNvPr>
          <p:cNvSpPr>
            <a:spLocks noGrp="1"/>
          </p:cNvSpPr>
          <p:nvPr>
            <p:ph type="sldNum" sz="quarter" idx="12"/>
          </p:nvPr>
        </p:nvSpPr>
        <p:spPr/>
        <p:txBody>
          <a:bodyPr/>
          <a:lstStyle/>
          <a:p>
            <a:fld id="{0C913308-F349-4B6D-A68A-DD1791B4A57B}" type="slidenum">
              <a:rPr lang="zh-CN" altLang="en-US" smtClean="0"/>
              <a:t>24</a:t>
            </a:fld>
            <a:endParaRPr lang="zh-CN" altLang="en-US"/>
          </a:p>
        </p:txBody>
      </p:sp>
    </p:spTree>
    <p:extLst>
      <p:ext uri="{BB962C8B-B14F-4D97-AF65-F5344CB8AC3E}">
        <p14:creationId xmlns:p14="http://schemas.microsoft.com/office/powerpoint/2010/main" val="13019236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1E976-E7D6-8426-B05A-DB40C48F6393}"/>
            </a:ext>
          </a:extLst>
        </p:cNvPr>
        <p:cNvGrpSpPr/>
        <p:nvPr/>
      </p:nvGrpSpPr>
      <p:grpSpPr>
        <a:xfrm>
          <a:off x="0" y="0"/>
          <a:ext cx="0" cy="0"/>
          <a:chOff x="0" y="0"/>
          <a:chExt cx="0" cy="0"/>
        </a:xfrm>
      </p:grpSpPr>
      <p:sp>
        <p:nvSpPr>
          <p:cNvPr id="2" name="TextBox 3">
            <a:extLst>
              <a:ext uri="{FF2B5EF4-FFF2-40B4-BE49-F238E27FC236}">
                <a16:creationId xmlns:a16="http://schemas.microsoft.com/office/drawing/2014/main" id="{58AF0DB1-FA76-B53F-770F-A54555503574}"/>
              </a:ext>
            </a:extLst>
          </p:cNvPr>
          <p:cNvSpPr txBox="1"/>
          <p:nvPr/>
        </p:nvSpPr>
        <p:spPr>
          <a:xfrm>
            <a:off x="-210616" y="2636912"/>
            <a:ext cx="12613232" cy="1015659"/>
          </a:xfrm>
          <a:prstGeom prst="rect">
            <a:avLst/>
          </a:prstGeom>
          <a:solidFill>
            <a:srgbClr val="F2F2F2"/>
          </a:solidFill>
          <a:ln w="12700">
            <a:solidFill>
              <a:srgbClr val="4A452A"/>
            </a:solidFill>
          </a:ln>
        </p:spPr>
        <p:txBody>
          <a:bodyPr wrap="square" lIns="45718" tIns="45718" rIns="45718" bIns="45718">
            <a:spAutoFit/>
          </a:bodyPr>
          <a:lstStyle>
            <a:defPPr>
              <a:defRPr lang="zh-CN"/>
            </a:defPPr>
            <a:lvl1pPr algn="ctr" defTabSz="914367">
              <a:defRPr sz="3937">
                <a:latin typeface="Calibri"/>
                <a:ea typeface="Calibri"/>
                <a:cs typeface="Calibri"/>
              </a:defRPr>
            </a:lvl1pPr>
          </a:lstStyle>
          <a:p>
            <a:pPr>
              <a:defRPr sz="5600">
                <a:latin typeface="Calibri"/>
                <a:ea typeface="Calibri"/>
                <a:cs typeface="Calibri"/>
                <a:sym typeface="Calibri"/>
              </a:defRPr>
            </a:pPr>
            <a:r>
              <a:rPr lang="en-US" altLang="zh-CN" sz="6000" dirty="0"/>
              <a:t>T2 </a:t>
            </a:r>
            <a:r>
              <a:rPr lang="zh-CN" altLang="en-US" sz="6000"/>
              <a:t>记单词</a:t>
            </a:r>
            <a:endParaRPr lang="zh-CN" altLang="en-US" sz="6000" dirty="0"/>
          </a:p>
        </p:txBody>
      </p:sp>
      <p:sp>
        <p:nvSpPr>
          <p:cNvPr id="4" name="灯片编号占位符 3">
            <a:extLst>
              <a:ext uri="{FF2B5EF4-FFF2-40B4-BE49-F238E27FC236}">
                <a16:creationId xmlns:a16="http://schemas.microsoft.com/office/drawing/2014/main" id="{59D79162-2E5E-2A96-CC9E-D0A2FD574880}"/>
              </a:ext>
            </a:extLst>
          </p:cNvPr>
          <p:cNvSpPr>
            <a:spLocks noGrp="1"/>
          </p:cNvSpPr>
          <p:nvPr>
            <p:ph type="sldNum" sz="quarter" idx="2"/>
          </p:nvPr>
        </p:nvSpPr>
        <p:spPr/>
        <p:txBody>
          <a:bodyPr/>
          <a:lstStyle/>
          <a:p>
            <a:fld id="{86CB4B4D-7CA3-9044-876B-883B54F8677D}" type="slidenum">
              <a:rPr lang="en-US" altLang="zh-CN" smtClean="0"/>
              <a:t>25</a:t>
            </a:fld>
            <a:endParaRPr lang="en-US" altLang="zh-CN" dirty="0"/>
          </a:p>
        </p:txBody>
      </p:sp>
    </p:spTree>
    <p:extLst>
      <p:ext uri="{BB962C8B-B14F-4D97-AF65-F5344CB8AC3E}">
        <p14:creationId xmlns:p14="http://schemas.microsoft.com/office/powerpoint/2010/main" val="4292086638"/>
      </p:ext>
    </p:extLst>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A43D539-DB67-44C6-92BB-BC687ACF471C}"/>
              </a:ext>
            </a:extLst>
          </p:cNvPr>
          <p:cNvSpPr>
            <a:spLocks noGrp="1"/>
          </p:cNvSpPr>
          <p:nvPr>
            <p:ph type="sldNum" sz="quarter" idx="12"/>
          </p:nvPr>
        </p:nvSpPr>
        <p:spPr/>
        <p:txBody>
          <a:bodyPr/>
          <a:lstStyle/>
          <a:p>
            <a:fld id="{0C913308-F349-4B6D-A68A-DD1791B4A57B}" type="slidenum">
              <a:rPr lang="zh-CN" altLang="en-US" smtClean="0"/>
              <a:t>26</a:t>
            </a:fld>
            <a:endParaRPr lang="zh-CN" altLang="en-US"/>
          </a:p>
        </p:txBody>
      </p:sp>
      <p:sp>
        <p:nvSpPr>
          <p:cNvPr id="22" name="文本框 21">
            <a:extLst>
              <a:ext uri="{FF2B5EF4-FFF2-40B4-BE49-F238E27FC236}">
                <a16:creationId xmlns:a16="http://schemas.microsoft.com/office/drawing/2014/main" id="{35700AC7-3D57-40E6-AA0A-C7C923D85692}"/>
              </a:ext>
            </a:extLst>
          </p:cNvPr>
          <p:cNvSpPr txBox="1"/>
          <p:nvPr/>
        </p:nvSpPr>
        <p:spPr>
          <a:xfrm>
            <a:off x="551384" y="308563"/>
            <a:ext cx="1440160" cy="461665"/>
          </a:xfrm>
          <a:prstGeom prst="rect">
            <a:avLst/>
          </a:prstGeom>
          <a:solidFill>
            <a:schemeClr val="accent2"/>
          </a:solidFill>
        </p:spPr>
        <p:txBody>
          <a:bodyPr wrap="square">
            <a:spAutoFit/>
          </a:bodyPr>
          <a:lstStyle/>
          <a:p>
            <a:pPr algn="ctr"/>
            <a:r>
              <a:rPr lang="zh-CN" altLang="en-US" sz="2400">
                <a:latin typeface="Consolas" panose="020B0609020204030204" pitchFamily="49" charset="0"/>
                <a:ea typeface="宋体" panose="02010600030101010101" pitchFamily="2" charset="-122"/>
              </a:rPr>
              <a:t>理解题意</a:t>
            </a:r>
            <a:endParaRPr lang="zh-CN" altLang="en-US" sz="2400"/>
          </a:p>
        </p:txBody>
      </p:sp>
      <p:sp>
        <p:nvSpPr>
          <p:cNvPr id="26" name="文本框 25">
            <a:extLst>
              <a:ext uri="{FF2B5EF4-FFF2-40B4-BE49-F238E27FC236}">
                <a16:creationId xmlns:a16="http://schemas.microsoft.com/office/drawing/2014/main" id="{73604496-22B3-4CA1-89CD-8AF5EC25B6B9}"/>
              </a:ext>
            </a:extLst>
          </p:cNvPr>
          <p:cNvSpPr txBox="1"/>
          <p:nvPr/>
        </p:nvSpPr>
        <p:spPr>
          <a:xfrm>
            <a:off x="1163452" y="1124744"/>
            <a:ext cx="1836204" cy="369332"/>
          </a:xfrm>
          <a:prstGeom prst="rect">
            <a:avLst/>
          </a:prstGeom>
          <a:noFill/>
        </p:spPr>
        <p:txBody>
          <a:bodyPr wrap="square">
            <a:spAutoFit/>
          </a:bodyPr>
          <a:lstStyle/>
          <a:p>
            <a:pPr algn="ctr"/>
            <a:r>
              <a:rPr lang="zh-CN" altLang="en-US" b="1">
                <a:latin typeface="Consolas" panose="020B0609020204030204" pitchFamily="49" charset="0"/>
                <a:ea typeface="宋体" panose="02010600030101010101" pitchFamily="2" charset="-122"/>
              </a:rPr>
              <a:t>单词内部复杂度</a:t>
            </a:r>
            <a:endParaRPr lang="zh-CN" altLang="en-US" b="1"/>
          </a:p>
        </p:txBody>
      </p:sp>
      <p:sp>
        <p:nvSpPr>
          <p:cNvPr id="27" name="文本框 26">
            <a:extLst>
              <a:ext uri="{FF2B5EF4-FFF2-40B4-BE49-F238E27FC236}">
                <a16:creationId xmlns:a16="http://schemas.microsoft.com/office/drawing/2014/main" id="{5C186997-3070-4F4E-BD2B-2C20624B248D}"/>
              </a:ext>
            </a:extLst>
          </p:cNvPr>
          <p:cNvSpPr txBox="1"/>
          <p:nvPr/>
        </p:nvSpPr>
        <p:spPr>
          <a:xfrm>
            <a:off x="2993418" y="1124744"/>
            <a:ext cx="4974790" cy="369332"/>
          </a:xfrm>
          <a:prstGeom prst="rect">
            <a:avLst/>
          </a:prstGeom>
          <a:noFill/>
        </p:spPr>
        <p:txBody>
          <a:bodyPr wrap="square">
            <a:spAutoFit/>
          </a:bodyPr>
          <a:lstStyle/>
          <a:p>
            <a:r>
              <a:rPr lang="zh-CN" altLang="en-US">
                <a:latin typeface="Consolas" panose="020B0609020204030204" pitchFamily="49" charset="0"/>
                <a:ea typeface="宋体" panose="02010600030101010101" pitchFamily="2" charset="-122"/>
              </a:rPr>
              <a:t>每个子单词相邻字母</a:t>
            </a:r>
            <a:r>
              <a:rPr lang="en-US" altLang="zh-CN">
                <a:latin typeface="Consolas" panose="020B0609020204030204" pitchFamily="49" charset="0"/>
                <a:ea typeface="宋体" panose="02010600030101010101" pitchFamily="2" charset="-122"/>
              </a:rPr>
              <a:t>ASCII</a:t>
            </a:r>
            <a:r>
              <a:rPr lang="zh-CN" altLang="en-US">
                <a:latin typeface="Consolas" panose="020B0609020204030204" pitchFamily="49" charset="0"/>
                <a:ea typeface="宋体" panose="02010600030101010101" pitchFamily="2" charset="-122"/>
              </a:rPr>
              <a:t>码之差的绝对值之和</a:t>
            </a:r>
            <a:endParaRPr lang="zh-CN" altLang="en-US"/>
          </a:p>
        </p:txBody>
      </p:sp>
      <p:sp>
        <p:nvSpPr>
          <p:cNvPr id="28" name="文本框 27">
            <a:extLst>
              <a:ext uri="{FF2B5EF4-FFF2-40B4-BE49-F238E27FC236}">
                <a16:creationId xmlns:a16="http://schemas.microsoft.com/office/drawing/2014/main" id="{E0882A0C-8632-4530-B419-D3BB978DCC49}"/>
              </a:ext>
            </a:extLst>
          </p:cNvPr>
          <p:cNvSpPr txBox="1"/>
          <p:nvPr/>
        </p:nvSpPr>
        <p:spPr>
          <a:xfrm>
            <a:off x="502904" y="1639833"/>
            <a:ext cx="2490514" cy="369332"/>
          </a:xfrm>
          <a:prstGeom prst="rect">
            <a:avLst/>
          </a:prstGeom>
          <a:noFill/>
        </p:spPr>
        <p:txBody>
          <a:bodyPr wrap="square">
            <a:spAutoFit/>
          </a:bodyPr>
          <a:lstStyle/>
          <a:p>
            <a:pPr algn="ctr"/>
            <a:r>
              <a:rPr lang="zh-CN" altLang="en-US" b="1">
                <a:latin typeface="Consolas" panose="020B0609020204030204" pitchFamily="49" charset="0"/>
                <a:ea typeface="宋体" panose="02010600030101010101" pitchFamily="2" charset="-122"/>
              </a:rPr>
              <a:t>拆分带来的额外复杂度</a:t>
            </a:r>
            <a:endParaRPr lang="zh-CN" altLang="en-US" b="1"/>
          </a:p>
        </p:txBody>
      </p:sp>
      <p:sp>
        <p:nvSpPr>
          <p:cNvPr id="29" name="文本框 28">
            <a:extLst>
              <a:ext uri="{FF2B5EF4-FFF2-40B4-BE49-F238E27FC236}">
                <a16:creationId xmlns:a16="http://schemas.microsoft.com/office/drawing/2014/main" id="{3C37BE52-F25B-4D7B-A77C-61FC0FB72C5A}"/>
              </a:ext>
            </a:extLst>
          </p:cNvPr>
          <p:cNvSpPr txBox="1"/>
          <p:nvPr/>
        </p:nvSpPr>
        <p:spPr>
          <a:xfrm>
            <a:off x="2993418" y="1628959"/>
            <a:ext cx="6342942" cy="369332"/>
          </a:xfrm>
          <a:prstGeom prst="rect">
            <a:avLst/>
          </a:prstGeom>
          <a:noFill/>
        </p:spPr>
        <p:txBody>
          <a:bodyPr wrap="square">
            <a:spAutoFit/>
          </a:bodyPr>
          <a:lstStyle/>
          <a:p>
            <a:r>
              <a:rPr lang="zh-CN" altLang="en-US">
                <a:latin typeface="Consolas" panose="020B0609020204030204" pitchFamily="49" charset="0"/>
                <a:ea typeface="宋体" panose="02010600030101010101" pitchFamily="2" charset="-122"/>
              </a:rPr>
              <a:t>每多拆出一个单词，就会增加当前单词数量的复杂度</a:t>
            </a:r>
            <a:endParaRPr lang="zh-CN" altLang="en-US"/>
          </a:p>
        </p:txBody>
      </p:sp>
      <p:sp>
        <p:nvSpPr>
          <p:cNvPr id="30" name="文本框 29">
            <a:extLst>
              <a:ext uri="{FF2B5EF4-FFF2-40B4-BE49-F238E27FC236}">
                <a16:creationId xmlns:a16="http://schemas.microsoft.com/office/drawing/2014/main" id="{255C272A-9F8B-4B47-8AD3-719DDEA05DCA}"/>
              </a:ext>
            </a:extLst>
          </p:cNvPr>
          <p:cNvSpPr txBox="1"/>
          <p:nvPr/>
        </p:nvSpPr>
        <p:spPr>
          <a:xfrm>
            <a:off x="2993418" y="2050152"/>
            <a:ext cx="4182702" cy="369332"/>
          </a:xfrm>
          <a:prstGeom prst="rect">
            <a:avLst/>
          </a:prstGeom>
          <a:noFill/>
        </p:spPr>
        <p:txBody>
          <a:bodyPr wrap="square">
            <a:spAutoFit/>
          </a:bodyPr>
          <a:lstStyle/>
          <a:p>
            <a:r>
              <a:rPr lang="zh-CN" altLang="en-US">
                <a:latin typeface="Consolas" panose="020B0609020204030204" pitchFamily="49" charset="0"/>
                <a:ea typeface="宋体" panose="02010600030101010101" pitchFamily="2" charset="-122"/>
              </a:rPr>
              <a:t>即拆出第</a:t>
            </a:r>
            <a:r>
              <a:rPr lang="en-US" altLang="zh-CN">
                <a:latin typeface="Consolas" panose="020B0609020204030204" pitchFamily="49" charset="0"/>
                <a:ea typeface="宋体" panose="02010600030101010101" pitchFamily="2" charset="-122"/>
              </a:rPr>
              <a:t>k+1</a:t>
            </a:r>
            <a:r>
              <a:rPr lang="zh-CN" altLang="en-US">
                <a:latin typeface="Consolas" panose="020B0609020204030204" pitchFamily="49" charset="0"/>
                <a:ea typeface="宋体" panose="02010600030101010101" pitchFamily="2" charset="-122"/>
              </a:rPr>
              <a:t>个单词时，增加</a:t>
            </a:r>
            <a:r>
              <a:rPr lang="en-US" altLang="zh-CN">
                <a:latin typeface="Consolas" panose="020B0609020204030204" pitchFamily="49" charset="0"/>
                <a:ea typeface="宋体" panose="02010600030101010101" pitchFamily="2" charset="-122"/>
              </a:rPr>
              <a:t>k</a:t>
            </a:r>
            <a:r>
              <a:rPr lang="zh-CN" altLang="en-US">
                <a:latin typeface="Consolas" panose="020B0609020204030204" pitchFamily="49" charset="0"/>
                <a:ea typeface="宋体" panose="02010600030101010101" pitchFamily="2" charset="-122"/>
              </a:rPr>
              <a:t>点复杂度</a:t>
            </a:r>
            <a:endParaRPr lang="zh-CN" altLang="en-US"/>
          </a:p>
        </p:txBody>
      </p:sp>
      <p:sp>
        <p:nvSpPr>
          <p:cNvPr id="31" name="文本框 30">
            <a:extLst>
              <a:ext uri="{FF2B5EF4-FFF2-40B4-BE49-F238E27FC236}">
                <a16:creationId xmlns:a16="http://schemas.microsoft.com/office/drawing/2014/main" id="{90051321-6240-4990-99BE-C96C6316A5AB}"/>
              </a:ext>
            </a:extLst>
          </p:cNvPr>
          <p:cNvSpPr txBox="1"/>
          <p:nvPr/>
        </p:nvSpPr>
        <p:spPr>
          <a:xfrm>
            <a:off x="551384" y="3046339"/>
            <a:ext cx="6330822" cy="400110"/>
          </a:xfrm>
          <a:prstGeom prst="rect">
            <a:avLst/>
          </a:prstGeom>
          <a:solidFill>
            <a:schemeClr val="accent2">
              <a:lumMod val="20000"/>
              <a:lumOff val="80000"/>
            </a:schemeClr>
          </a:solidFill>
        </p:spPr>
        <p:txBody>
          <a:bodyPr wrap="square">
            <a:spAutoFit/>
          </a:bodyPr>
          <a:lstStyle>
            <a:defPPr>
              <a:defRPr lang="zh-CN"/>
            </a:defPPr>
            <a:lvl1pPr>
              <a:defRPr sz="2000" b="1">
                <a:solidFill>
                  <a:srgbClr val="00B050"/>
                </a:solidFill>
                <a:latin typeface="Consolas" panose="020B0609020204030204" pitchFamily="49" charset="0"/>
                <a:ea typeface="宋体" panose="02010600030101010101" pitchFamily="2" charset="-122"/>
              </a:defRPr>
            </a:lvl1pPr>
          </a:lstStyle>
          <a:p>
            <a:r>
              <a:rPr lang="zh-CN" altLang="en-US">
                <a:solidFill>
                  <a:srgbClr val="FF0000"/>
                </a:solidFill>
              </a:rPr>
              <a:t>总复杂度 </a:t>
            </a:r>
            <a:r>
              <a:rPr lang="en-US" altLang="zh-CN" b="0">
                <a:solidFill>
                  <a:schemeClr val="tx1"/>
                </a:solidFill>
              </a:rPr>
              <a:t>= </a:t>
            </a:r>
            <a:r>
              <a:rPr lang="zh-CN" altLang="en-US" b="0">
                <a:solidFill>
                  <a:schemeClr val="tx1"/>
                </a:solidFill>
              </a:rPr>
              <a:t>单词内部复杂度  </a:t>
            </a:r>
            <a:r>
              <a:rPr lang="en-US" altLang="zh-CN" b="0">
                <a:solidFill>
                  <a:schemeClr val="tx1"/>
                </a:solidFill>
              </a:rPr>
              <a:t>+  </a:t>
            </a:r>
            <a:r>
              <a:rPr lang="zh-CN" altLang="en-US" b="0">
                <a:solidFill>
                  <a:schemeClr val="tx1"/>
                </a:solidFill>
              </a:rPr>
              <a:t>拆分带来的复杂度</a:t>
            </a:r>
          </a:p>
        </p:txBody>
      </p:sp>
      <p:sp>
        <p:nvSpPr>
          <p:cNvPr id="32" name="文本框 31">
            <a:extLst>
              <a:ext uri="{FF2B5EF4-FFF2-40B4-BE49-F238E27FC236}">
                <a16:creationId xmlns:a16="http://schemas.microsoft.com/office/drawing/2014/main" id="{AF6824C2-D039-437A-9CCC-6006A07521B5}"/>
              </a:ext>
            </a:extLst>
          </p:cNvPr>
          <p:cNvSpPr txBox="1"/>
          <p:nvPr/>
        </p:nvSpPr>
        <p:spPr>
          <a:xfrm>
            <a:off x="1771724" y="2460471"/>
            <a:ext cx="10036923" cy="400110"/>
          </a:xfrm>
          <a:prstGeom prst="rect">
            <a:avLst/>
          </a:prstGeom>
          <a:solidFill>
            <a:schemeClr val="accent2">
              <a:lumMod val="20000"/>
              <a:lumOff val="80000"/>
            </a:schemeClr>
          </a:solidFill>
        </p:spPr>
        <p:txBody>
          <a:bodyPr wrap="square">
            <a:spAutoFit/>
          </a:bodyPr>
          <a:lstStyle/>
          <a:p>
            <a:r>
              <a:rPr lang="zh-CN" altLang="en-US" sz="2000" b="1">
                <a:solidFill>
                  <a:srgbClr val="00B050"/>
                </a:solidFill>
                <a:latin typeface="Consolas" panose="020B0609020204030204" pitchFamily="49" charset="0"/>
                <a:ea typeface="宋体" panose="02010600030101010101" pitchFamily="2" charset="-122"/>
              </a:rPr>
              <a:t>如果拆分成</a:t>
            </a:r>
            <a:r>
              <a:rPr lang="en-US" altLang="zh-CN" sz="2000" b="1">
                <a:solidFill>
                  <a:srgbClr val="00B050"/>
                </a:solidFill>
                <a:latin typeface="Consolas" panose="020B0609020204030204" pitchFamily="49" charset="0"/>
                <a:ea typeface="宋体" panose="02010600030101010101" pitchFamily="2" charset="-122"/>
              </a:rPr>
              <a:t>k</a:t>
            </a:r>
            <a:r>
              <a:rPr lang="zh-CN" altLang="en-US" sz="2000" b="1">
                <a:solidFill>
                  <a:srgbClr val="00B050"/>
                </a:solidFill>
                <a:latin typeface="Consolas" panose="020B0609020204030204" pitchFamily="49" charset="0"/>
                <a:ea typeface="宋体" panose="02010600030101010101" pitchFamily="2" charset="-122"/>
              </a:rPr>
              <a:t>个单词，则额外的时间复杂度为：</a:t>
            </a:r>
            <a:r>
              <a:rPr lang="en-US" altLang="zh-CN" sz="2000" b="1" spc="300">
                <a:solidFill>
                  <a:srgbClr val="00B050"/>
                </a:solidFill>
                <a:latin typeface="Consolas" panose="020B0609020204030204" pitchFamily="49" charset="0"/>
                <a:ea typeface="宋体" panose="02010600030101010101" pitchFamily="2" charset="-122"/>
              </a:rPr>
              <a:t>0+1+2+3+(k-1)</a:t>
            </a:r>
            <a:r>
              <a:rPr lang="zh-CN" altLang="en-US" sz="2000" b="1" spc="300">
                <a:solidFill>
                  <a:srgbClr val="00B050"/>
                </a:solidFill>
                <a:latin typeface="Consolas" panose="020B0609020204030204" pitchFamily="49" charset="0"/>
                <a:ea typeface="宋体" panose="02010600030101010101" pitchFamily="2" charset="-122"/>
              </a:rPr>
              <a:t> </a:t>
            </a:r>
            <a:r>
              <a:rPr lang="en-US" altLang="zh-CN" sz="2000" b="1" spc="300">
                <a:solidFill>
                  <a:srgbClr val="00B050"/>
                </a:solidFill>
                <a:latin typeface="Consolas" panose="020B0609020204030204" pitchFamily="49" charset="0"/>
                <a:ea typeface="宋体" panose="02010600030101010101" pitchFamily="2" charset="-122"/>
              </a:rPr>
              <a:t>=</a:t>
            </a:r>
            <a:r>
              <a:rPr lang="zh-CN" altLang="en-US" sz="2000" b="1" spc="300">
                <a:solidFill>
                  <a:srgbClr val="00B050"/>
                </a:solidFill>
                <a:latin typeface="Consolas" panose="020B0609020204030204" pitchFamily="49" charset="0"/>
                <a:ea typeface="宋体" panose="02010600030101010101" pitchFamily="2" charset="-122"/>
              </a:rPr>
              <a:t> </a:t>
            </a:r>
            <a:r>
              <a:rPr lang="en-US" altLang="zh-CN" sz="2000" b="1" spc="300">
                <a:solidFill>
                  <a:srgbClr val="00B050"/>
                </a:solidFill>
                <a:latin typeface="Consolas" panose="020B0609020204030204" pitchFamily="49" charset="0"/>
                <a:ea typeface="宋体" panose="02010600030101010101" pitchFamily="2" charset="-122"/>
              </a:rPr>
              <a:t>k*(k-1)/2</a:t>
            </a:r>
            <a:endParaRPr lang="zh-CN" altLang="en-US" sz="2000" b="1" spc="300">
              <a:solidFill>
                <a:srgbClr val="00B050"/>
              </a:solidFill>
            </a:endParaRPr>
          </a:p>
        </p:txBody>
      </p:sp>
      <p:sp>
        <p:nvSpPr>
          <p:cNvPr id="34" name="文本框 33">
            <a:extLst>
              <a:ext uri="{FF2B5EF4-FFF2-40B4-BE49-F238E27FC236}">
                <a16:creationId xmlns:a16="http://schemas.microsoft.com/office/drawing/2014/main" id="{7F8DEEE3-F9F8-4D42-BD3B-86CB7E24988A}"/>
              </a:ext>
            </a:extLst>
          </p:cNvPr>
          <p:cNvSpPr txBox="1"/>
          <p:nvPr/>
        </p:nvSpPr>
        <p:spPr>
          <a:xfrm>
            <a:off x="559793" y="3634484"/>
            <a:ext cx="6904360" cy="369332"/>
          </a:xfrm>
          <a:prstGeom prst="rect">
            <a:avLst/>
          </a:prstGeom>
          <a:noFill/>
        </p:spPr>
        <p:txBody>
          <a:bodyPr wrap="square">
            <a:spAutoFit/>
          </a:bodyPr>
          <a:lstStyle/>
          <a:p>
            <a:r>
              <a:rPr lang="zh-CN" altLang="en-US">
                <a:latin typeface="Consolas" panose="020B0609020204030204" pitchFamily="49" charset="0"/>
                <a:ea typeface="宋体" panose="02010600030101010101" pitchFamily="2" charset="-122"/>
              </a:rPr>
              <a:t>定义 原单词的复杂度为 </a:t>
            </a:r>
            <a:r>
              <a:rPr lang="en-US" altLang="zh-CN" b="1">
                <a:solidFill>
                  <a:srgbClr val="0070C0"/>
                </a:solidFill>
                <a:latin typeface="Consolas" panose="020B0609020204030204" pitchFamily="49" charset="0"/>
                <a:ea typeface="宋体" panose="02010600030101010101" pitchFamily="2" charset="-122"/>
              </a:rPr>
              <a:t>S</a:t>
            </a:r>
            <a:r>
              <a:rPr lang="en-US" altLang="zh-CN">
                <a:latin typeface="Consolas" panose="020B0609020204030204" pitchFamily="49" charset="0"/>
                <a:ea typeface="宋体" panose="02010600030101010101" pitchFamily="2" charset="-122"/>
              </a:rPr>
              <a:t>   </a:t>
            </a:r>
            <a:r>
              <a:rPr lang="zh-CN" altLang="en-US">
                <a:latin typeface="Consolas" panose="020B0609020204030204" pitchFamily="49" charset="0"/>
                <a:ea typeface="宋体" panose="02010600030101010101" pitchFamily="2" charset="-122"/>
              </a:rPr>
              <a:t>拆分额外复杂度为：</a:t>
            </a:r>
            <a:r>
              <a:rPr lang="en-US" altLang="zh-CN" b="1">
                <a:solidFill>
                  <a:srgbClr val="0070C0"/>
                </a:solidFill>
                <a:latin typeface="Consolas" panose="020B0609020204030204" pitchFamily="49" charset="0"/>
                <a:ea typeface="宋体" panose="02010600030101010101" pitchFamily="2" charset="-122"/>
              </a:rPr>
              <a:t>k*(k-1)/2</a:t>
            </a:r>
            <a:endParaRPr lang="zh-CN" altLang="en-US" b="1"/>
          </a:p>
        </p:txBody>
      </p:sp>
      <p:sp>
        <p:nvSpPr>
          <p:cNvPr id="36" name="文本框 35">
            <a:extLst>
              <a:ext uri="{FF2B5EF4-FFF2-40B4-BE49-F238E27FC236}">
                <a16:creationId xmlns:a16="http://schemas.microsoft.com/office/drawing/2014/main" id="{5F6D820F-D1F8-43E5-BBC7-2830CAC11FB6}"/>
              </a:ext>
            </a:extLst>
          </p:cNvPr>
          <p:cNvSpPr txBox="1"/>
          <p:nvPr/>
        </p:nvSpPr>
        <p:spPr>
          <a:xfrm>
            <a:off x="551384" y="4191851"/>
            <a:ext cx="9318028" cy="369332"/>
          </a:xfrm>
          <a:prstGeom prst="rect">
            <a:avLst/>
          </a:prstGeom>
          <a:noFill/>
        </p:spPr>
        <p:txBody>
          <a:bodyPr wrap="square">
            <a:spAutoFit/>
          </a:bodyPr>
          <a:lstStyle/>
          <a:p>
            <a:r>
              <a:rPr lang="zh-CN" altLang="en-US">
                <a:latin typeface="Consolas" panose="020B0609020204030204" pitchFamily="49" charset="0"/>
                <a:ea typeface="宋体" panose="02010600030101010101" pitchFamily="2" charset="-122"/>
              </a:rPr>
              <a:t>拆分后减少的差值为 </a:t>
            </a:r>
            <a:r>
              <a:rPr lang="en-US" altLang="zh-CN" b="1">
                <a:solidFill>
                  <a:srgbClr val="0070C0"/>
                </a:solidFill>
                <a:latin typeface="Consolas" panose="020B0609020204030204" pitchFamily="49" charset="0"/>
                <a:ea typeface="宋体" panose="02010600030101010101" pitchFamily="2" charset="-122"/>
              </a:rPr>
              <a:t>V</a:t>
            </a:r>
            <a:r>
              <a:rPr lang="en-US" altLang="zh-CN">
                <a:solidFill>
                  <a:srgbClr val="0070C0"/>
                </a:solidFill>
                <a:latin typeface="Consolas" panose="020B0609020204030204" pitchFamily="49" charset="0"/>
                <a:ea typeface="宋体" panose="02010600030101010101" pitchFamily="2" charset="-122"/>
              </a:rPr>
              <a:t>  </a:t>
            </a:r>
            <a:r>
              <a:rPr lang="zh-CN" altLang="en-US">
                <a:latin typeface="Consolas" panose="020B0609020204030204" pitchFamily="49" charset="0"/>
                <a:ea typeface="宋体" panose="02010600030101010101" pitchFamily="2" charset="-122"/>
              </a:rPr>
              <a:t>则</a:t>
            </a:r>
            <a:r>
              <a:rPr lang="zh-CN" altLang="en-US">
                <a:solidFill>
                  <a:srgbClr val="00B050"/>
                </a:solidFill>
                <a:latin typeface="Consolas" panose="020B0609020204030204" pitchFamily="49" charset="0"/>
                <a:ea typeface="宋体" panose="02010600030101010101" pitchFamily="2" charset="-122"/>
              </a:rPr>
              <a:t>拆分后的单词内部复杂度为</a:t>
            </a:r>
            <a:r>
              <a:rPr lang="zh-CN" altLang="en-US">
                <a:latin typeface="Consolas" panose="020B0609020204030204" pitchFamily="49" charset="0"/>
                <a:ea typeface="宋体" panose="02010600030101010101" pitchFamily="2" charset="-122"/>
              </a:rPr>
              <a:t>： </a:t>
            </a:r>
            <a:r>
              <a:rPr lang="en-US" altLang="zh-CN" b="1">
                <a:solidFill>
                  <a:srgbClr val="0070C0"/>
                </a:solidFill>
                <a:latin typeface="Consolas" panose="020B0609020204030204" pitchFamily="49" charset="0"/>
                <a:ea typeface="宋体" panose="02010600030101010101" pitchFamily="2" charset="-122"/>
              </a:rPr>
              <a:t>S - V</a:t>
            </a:r>
            <a:endParaRPr lang="zh-CN" altLang="en-US" b="1">
              <a:solidFill>
                <a:srgbClr val="0070C0"/>
              </a:solidFill>
            </a:endParaRPr>
          </a:p>
        </p:txBody>
      </p:sp>
      <p:sp>
        <p:nvSpPr>
          <p:cNvPr id="37" name="文本框 36">
            <a:extLst>
              <a:ext uri="{FF2B5EF4-FFF2-40B4-BE49-F238E27FC236}">
                <a16:creationId xmlns:a16="http://schemas.microsoft.com/office/drawing/2014/main" id="{32DE3197-3661-4EF7-BCF8-A7CF70A65DBD}"/>
              </a:ext>
            </a:extLst>
          </p:cNvPr>
          <p:cNvSpPr txBox="1"/>
          <p:nvPr/>
        </p:nvSpPr>
        <p:spPr>
          <a:xfrm>
            <a:off x="599903" y="4744704"/>
            <a:ext cx="4199953" cy="400110"/>
          </a:xfrm>
          <a:prstGeom prst="rect">
            <a:avLst/>
          </a:prstGeom>
          <a:solidFill>
            <a:schemeClr val="accent2">
              <a:lumMod val="20000"/>
              <a:lumOff val="80000"/>
            </a:schemeClr>
          </a:solidFill>
        </p:spPr>
        <p:txBody>
          <a:bodyPr wrap="square">
            <a:spAutoFit/>
          </a:bodyPr>
          <a:lstStyle>
            <a:defPPr>
              <a:defRPr lang="zh-CN"/>
            </a:defPPr>
            <a:lvl1pPr>
              <a:defRPr sz="2000" b="1">
                <a:solidFill>
                  <a:srgbClr val="FF0000"/>
                </a:solidFill>
                <a:latin typeface="Consolas" panose="020B0609020204030204" pitchFamily="49" charset="0"/>
                <a:ea typeface="宋体" panose="02010600030101010101" pitchFamily="2" charset="-122"/>
              </a:defRPr>
            </a:lvl1pPr>
          </a:lstStyle>
          <a:p>
            <a:r>
              <a:rPr lang="zh-CN" altLang="en-US">
                <a:solidFill>
                  <a:srgbClr val="FF0000"/>
                </a:solidFill>
              </a:rPr>
              <a:t>总复杂度 </a:t>
            </a:r>
            <a:r>
              <a:rPr lang="en-US" altLang="zh-CN" b="0">
                <a:solidFill>
                  <a:schemeClr val="tx1"/>
                </a:solidFill>
              </a:rPr>
              <a:t>= </a:t>
            </a:r>
            <a:r>
              <a:rPr lang="en-US" altLang="zh-CN">
                <a:solidFill>
                  <a:srgbClr val="0070C0"/>
                </a:solidFill>
              </a:rPr>
              <a:t>S – V + k*(k-1)/2 </a:t>
            </a:r>
            <a:endParaRPr lang="zh-CN" altLang="en-US">
              <a:solidFill>
                <a:srgbClr val="0070C0"/>
              </a:solidFill>
            </a:endParaRPr>
          </a:p>
        </p:txBody>
      </p:sp>
      <p:sp>
        <p:nvSpPr>
          <p:cNvPr id="38" name="文本框 37">
            <a:extLst>
              <a:ext uri="{FF2B5EF4-FFF2-40B4-BE49-F238E27FC236}">
                <a16:creationId xmlns:a16="http://schemas.microsoft.com/office/drawing/2014/main" id="{05F11D19-3AC0-4E2B-A80B-51A71D196830}"/>
              </a:ext>
            </a:extLst>
          </p:cNvPr>
          <p:cNvSpPr txBox="1"/>
          <p:nvPr/>
        </p:nvSpPr>
        <p:spPr>
          <a:xfrm>
            <a:off x="599903" y="5335086"/>
            <a:ext cx="2759793" cy="400110"/>
          </a:xfrm>
          <a:prstGeom prst="rect">
            <a:avLst/>
          </a:prstGeom>
          <a:solidFill>
            <a:schemeClr val="accent2">
              <a:lumMod val="20000"/>
              <a:lumOff val="80000"/>
            </a:schemeClr>
          </a:solidFill>
        </p:spPr>
        <p:txBody>
          <a:bodyPr wrap="square">
            <a:spAutoFit/>
          </a:bodyPr>
          <a:lstStyle>
            <a:defPPr>
              <a:defRPr lang="zh-CN"/>
            </a:defPPr>
            <a:lvl1pPr>
              <a:defRPr sz="2000" b="1">
                <a:solidFill>
                  <a:srgbClr val="FF0000"/>
                </a:solidFill>
                <a:latin typeface="Consolas" panose="020B0609020204030204" pitchFamily="49" charset="0"/>
                <a:ea typeface="宋体" panose="02010600030101010101" pitchFamily="2" charset="-122"/>
              </a:defRPr>
            </a:lvl1pPr>
          </a:lstStyle>
          <a:p>
            <a:r>
              <a:rPr lang="zh-CN" altLang="en-US" b="0"/>
              <a:t>目标： </a:t>
            </a:r>
            <a:r>
              <a:rPr lang="zh-CN" altLang="en-US">
                <a:solidFill>
                  <a:srgbClr val="0070C0"/>
                </a:solidFill>
              </a:rPr>
              <a:t>总复杂度最小</a:t>
            </a:r>
          </a:p>
        </p:txBody>
      </p:sp>
      <p:sp>
        <p:nvSpPr>
          <p:cNvPr id="40" name="文本框 39">
            <a:extLst>
              <a:ext uri="{FF2B5EF4-FFF2-40B4-BE49-F238E27FC236}">
                <a16:creationId xmlns:a16="http://schemas.microsoft.com/office/drawing/2014/main" id="{B8C87D18-98E7-487C-B5F1-6EE58370AAB8}"/>
              </a:ext>
            </a:extLst>
          </p:cNvPr>
          <p:cNvSpPr txBox="1"/>
          <p:nvPr/>
        </p:nvSpPr>
        <p:spPr>
          <a:xfrm>
            <a:off x="3575720" y="5873204"/>
            <a:ext cx="5328592" cy="400110"/>
          </a:xfrm>
          <a:prstGeom prst="rect">
            <a:avLst/>
          </a:prstGeom>
          <a:solidFill>
            <a:schemeClr val="accent2">
              <a:lumMod val="20000"/>
              <a:lumOff val="80000"/>
            </a:schemeClr>
          </a:solidFill>
        </p:spPr>
        <p:txBody>
          <a:bodyPr wrap="square">
            <a:spAutoFit/>
          </a:bodyPr>
          <a:lstStyle>
            <a:defPPr>
              <a:defRPr lang="zh-CN"/>
            </a:defPPr>
            <a:lvl1pPr>
              <a:defRPr sz="2000" b="0">
                <a:solidFill>
                  <a:srgbClr val="FF0000"/>
                </a:solidFill>
                <a:latin typeface="Consolas" panose="020B0609020204030204" pitchFamily="49" charset="0"/>
                <a:ea typeface="宋体" panose="02010600030101010101" pitchFamily="2" charset="-122"/>
              </a:defRPr>
            </a:lvl1pPr>
          </a:lstStyle>
          <a:p>
            <a:r>
              <a:rPr lang="en-US" altLang="zh-CN">
                <a:solidFill>
                  <a:srgbClr val="00B050"/>
                </a:solidFill>
              </a:rPr>
              <a:t>s</a:t>
            </a:r>
            <a:r>
              <a:rPr lang="zh-CN" altLang="en-US">
                <a:solidFill>
                  <a:srgbClr val="00B050"/>
                </a:solidFill>
              </a:rPr>
              <a:t>为常数，则 </a:t>
            </a:r>
            <a:r>
              <a:rPr lang="en-US" altLang="zh-CN" b="1"/>
              <a:t>k*(k+1</a:t>
            </a:r>
            <a:r>
              <a:rPr lang="zh-CN" altLang="en-US" b="1"/>
              <a:t>）</a:t>
            </a:r>
            <a:r>
              <a:rPr lang="en-US" altLang="zh-CN" b="1"/>
              <a:t>/2 – V </a:t>
            </a:r>
            <a:r>
              <a:rPr lang="zh-CN" altLang="en-US">
                <a:solidFill>
                  <a:srgbClr val="00B050"/>
                </a:solidFill>
              </a:rPr>
              <a:t>要最小</a:t>
            </a:r>
            <a:r>
              <a:rPr lang="en-US" altLang="zh-CN">
                <a:solidFill>
                  <a:srgbClr val="00B050"/>
                </a:solidFill>
              </a:rPr>
              <a:t> </a:t>
            </a:r>
            <a:endParaRPr lang="zh-CN" altLang="en-US">
              <a:solidFill>
                <a:srgbClr val="00B050"/>
              </a:solidFill>
            </a:endParaRPr>
          </a:p>
        </p:txBody>
      </p:sp>
      <p:sp>
        <p:nvSpPr>
          <p:cNvPr id="41" name="文本框 40">
            <a:extLst>
              <a:ext uri="{FF2B5EF4-FFF2-40B4-BE49-F238E27FC236}">
                <a16:creationId xmlns:a16="http://schemas.microsoft.com/office/drawing/2014/main" id="{89E76D55-9B33-4464-BA71-85DED72B8AD4}"/>
              </a:ext>
            </a:extLst>
          </p:cNvPr>
          <p:cNvSpPr txBox="1"/>
          <p:nvPr/>
        </p:nvSpPr>
        <p:spPr>
          <a:xfrm>
            <a:off x="3575720" y="5324343"/>
            <a:ext cx="5388128" cy="400110"/>
          </a:xfrm>
          <a:prstGeom prst="rect">
            <a:avLst/>
          </a:prstGeom>
          <a:noFill/>
        </p:spPr>
        <p:txBody>
          <a:bodyPr wrap="square">
            <a:spAutoFit/>
          </a:bodyPr>
          <a:lstStyle/>
          <a:p>
            <a:r>
              <a:rPr lang="en-US" altLang="zh-CN" sz="2000">
                <a:solidFill>
                  <a:srgbClr val="0070C0"/>
                </a:solidFill>
              </a:rPr>
              <a:t>S – V + k*(k-1)/2   </a:t>
            </a:r>
            <a:r>
              <a:rPr lang="en-US" altLang="zh-CN" sz="2000" b="1">
                <a:solidFill>
                  <a:srgbClr val="FF0000"/>
                </a:solidFill>
              </a:rPr>
              <a:t>—&gt;</a:t>
            </a:r>
            <a:r>
              <a:rPr lang="en-US" altLang="zh-CN" sz="2000">
                <a:solidFill>
                  <a:srgbClr val="0070C0"/>
                </a:solidFill>
              </a:rPr>
              <a:t>  S + (k*(k-1)/2 – V  </a:t>
            </a:r>
            <a:endParaRPr lang="zh-CN" altLang="en-US" sz="2000"/>
          </a:p>
        </p:txBody>
      </p:sp>
      <p:sp>
        <p:nvSpPr>
          <p:cNvPr id="42" name="文本框 41">
            <a:extLst>
              <a:ext uri="{FF2B5EF4-FFF2-40B4-BE49-F238E27FC236}">
                <a16:creationId xmlns:a16="http://schemas.microsoft.com/office/drawing/2014/main" id="{0E8C474D-E831-4DA3-AB26-922517793926}"/>
              </a:ext>
            </a:extLst>
          </p:cNvPr>
          <p:cNvSpPr txBox="1"/>
          <p:nvPr/>
        </p:nvSpPr>
        <p:spPr>
          <a:xfrm>
            <a:off x="9480376" y="5894687"/>
            <a:ext cx="1584176" cy="461665"/>
          </a:xfrm>
          <a:prstGeom prst="rect">
            <a:avLst/>
          </a:prstGeom>
          <a:solidFill>
            <a:schemeClr val="tx1"/>
          </a:solidFill>
        </p:spPr>
        <p:txBody>
          <a:bodyPr wrap="square">
            <a:spAutoFit/>
          </a:bodyPr>
          <a:lstStyle>
            <a:defPPr>
              <a:defRPr lang="zh-CN"/>
            </a:defPPr>
            <a:lvl1pPr algn="ctr">
              <a:defRPr sz="2400">
                <a:latin typeface="Consolas" panose="020B0609020204030204" pitchFamily="49" charset="0"/>
                <a:ea typeface="宋体" panose="02010600030101010101" pitchFamily="2" charset="-122"/>
              </a:defRPr>
            </a:lvl1pPr>
          </a:lstStyle>
          <a:p>
            <a:r>
              <a:rPr lang="zh-CN" altLang="en-US" b="1">
                <a:solidFill>
                  <a:schemeClr val="bg1"/>
                </a:solidFill>
              </a:rPr>
              <a:t>贪心策略</a:t>
            </a:r>
          </a:p>
        </p:txBody>
      </p:sp>
    </p:spTree>
    <p:extLst>
      <p:ext uri="{BB962C8B-B14F-4D97-AF65-F5344CB8AC3E}">
        <p14:creationId xmlns:p14="http://schemas.microsoft.com/office/powerpoint/2010/main" val="589621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P spid="28" grpId="0"/>
      <p:bldP spid="29" grpId="0"/>
      <p:bldP spid="30" grpId="0"/>
      <p:bldP spid="31" grpId="0" animBg="1"/>
      <p:bldP spid="32" grpId="0" animBg="1"/>
      <p:bldP spid="34" grpId="0"/>
      <p:bldP spid="36" grpId="0"/>
      <p:bldP spid="37" grpId="0" animBg="1"/>
      <p:bldP spid="38" grpId="0" animBg="1"/>
      <p:bldP spid="40" grpId="0" animBg="1"/>
      <p:bldP spid="41" grpId="0"/>
      <p:bldP spid="4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a:extLst>
              <a:ext uri="{FF2B5EF4-FFF2-40B4-BE49-F238E27FC236}">
                <a16:creationId xmlns:a16="http://schemas.microsoft.com/office/drawing/2014/main" id="{DE5DB2D5-1CAF-FB81-FA9A-2BA33FB081D3}"/>
              </a:ext>
            </a:extLst>
          </p:cNvPr>
          <p:cNvSpPr txBox="1"/>
          <p:nvPr/>
        </p:nvSpPr>
        <p:spPr>
          <a:xfrm>
            <a:off x="2495600" y="1479106"/>
            <a:ext cx="8078783" cy="523220"/>
          </a:xfrm>
          <a:prstGeom prst="rect">
            <a:avLst/>
          </a:prstGeom>
          <a:noFill/>
        </p:spPr>
        <p:txBody>
          <a:bodyPr wrap="square">
            <a:spAutoFit/>
          </a:bodyPr>
          <a:lstStyle/>
          <a:p>
            <a:r>
              <a:rPr lang="zh-CN" altLang="en-US" sz="2800"/>
              <a:t>13   1    12   9    2     2     13  17    19    5     3</a:t>
            </a:r>
            <a:endParaRPr lang="zh-CN" altLang="en-US" sz="2800" dirty="0"/>
          </a:p>
        </p:txBody>
      </p:sp>
      <p:sp>
        <p:nvSpPr>
          <p:cNvPr id="14" name="矩形 13">
            <a:extLst>
              <a:ext uri="{FF2B5EF4-FFF2-40B4-BE49-F238E27FC236}">
                <a16:creationId xmlns:a16="http://schemas.microsoft.com/office/drawing/2014/main" id="{D9E0302B-63B9-D41E-163D-F83855F99EAF}"/>
              </a:ext>
            </a:extLst>
          </p:cNvPr>
          <p:cNvSpPr/>
          <p:nvPr/>
        </p:nvSpPr>
        <p:spPr>
          <a:xfrm>
            <a:off x="2136776" y="737637"/>
            <a:ext cx="7677103" cy="923330"/>
          </a:xfrm>
          <a:prstGeom prst="rect">
            <a:avLst/>
          </a:prstGeom>
          <a:noFill/>
        </p:spPr>
        <p:txBody>
          <a:bodyPr wrap="none" lIns="91440" tIns="45720" rIns="91440" bIns="45720">
            <a:spAutoFit/>
          </a:bodyPr>
          <a:lstStyle/>
          <a:p>
            <a:pPr algn="ctr"/>
            <a:r>
              <a:rPr lang="en-US" altLang="zh-CN" sz="5400" b="1" spc="600" dirty="0">
                <a:ln w="22225">
                  <a:solidFill>
                    <a:schemeClr val="accent2"/>
                  </a:solidFill>
                  <a:prstDash val="solid"/>
                </a:ln>
                <a:solidFill>
                  <a:schemeClr val="accent2">
                    <a:lumMod val="40000"/>
                    <a:lumOff val="60000"/>
                  </a:schemeClr>
                </a:solidFill>
              </a:rPr>
              <a:t>r e f </a:t>
            </a:r>
            <a:r>
              <a:rPr lang="en-US" altLang="zh-CN" sz="5400" b="1" spc="600">
                <a:ln w="22225">
                  <a:solidFill>
                    <a:schemeClr val="accent2"/>
                  </a:solidFill>
                  <a:prstDash val="solid"/>
                </a:ln>
                <a:solidFill>
                  <a:schemeClr val="accent2">
                    <a:lumMod val="40000"/>
                    <a:lumOff val="60000"/>
                  </a:schemeClr>
                </a:solidFill>
              </a:rPr>
              <a:t>r i </a:t>
            </a:r>
            <a:r>
              <a:rPr lang="en-US" altLang="zh-CN" sz="5400" b="1" spc="600" dirty="0">
                <a:ln w="22225">
                  <a:solidFill>
                    <a:schemeClr val="accent2"/>
                  </a:solidFill>
                  <a:prstDash val="solid"/>
                </a:ln>
                <a:solidFill>
                  <a:schemeClr val="accent2">
                    <a:lumMod val="40000"/>
                    <a:lumOff val="60000"/>
                  </a:schemeClr>
                </a:solidFill>
              </a:rPr>
              <a:t>g e r a t o r</a:t>
            </a:r>
            <a:endParaRPr lang="zh-CN" altLang="en-US" sz="5400" b="1" spc="600" dirty="0">
              <a:ln w="22225">
                <a:solidFill>
                  <a:schemeClr val="accent2"/>
                </a:solidFill>
                <a:prstDash val="solid"/>
              </a:ln>
              <a:solidFill>
                <a:schemeClr val="accent2">
                  <a:lumMod val="40000"/>
                  <a:lumOff val="60000"/>
                </a:schemeClr>
              </a:solidFill>
            </a:endParaRPr>
          </a:p>
        </p:txBody>
      </p:sp>
      <p:sp>
        <p:nvSpPr>
          <p:cNvPr id="15" name="右箭头 5">
            <a:extLst>
              <a:ext uri="{FF2B5EF4-FFF2-40B4-BE49-F238E27FC236}">
                <a16:creationId xmlns:a16="http://schemas.microsoft.com/office/drawing/2014/main" id="{C738DEDE-4F5F-E43A-028C-56E936973DC9}"/>
              </a:ext>
            </a:extLst>
          </p:cNvPr>
          <p:cNvSpPr/>
          <p:nvPr/>
        </p:nvSpPr>
        <p:spPr>
          <a:xfrm rot="16200000" flipH="1">
            <a:off x="2508950" y="693364"/>
            <a:ext cx="557259" cy="288032"/>
          </a:xfrm>
          <a:prstGeom prst="right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anose="020B0609020204030204" pitchFamily="49" charset="0"/>
              <a:cs typeface="Consolas" panose="020B0609020204030204" pitchFamily="49" charset="0"/>
            </a:endParaRPr>
          </a:p>
        </p:txBody>
      </p:sp>
      <p:sp>
        <p:nvSpPr>
          <p:cNvPr id="16" name="右箭头 5">
            <a:extLst>
              <a:ext uri="{FF2B5EF4-FFF2-40B4-BE49-F238E27FC236}">
                <a16:creationId xmlns:a16="http://schemas.microsoft.com/office/drawing/2014/main" id="{3009B207-3FCF-5D9F-516A-7E520400390B}"/>
              </a:ext>
            </a:extLst>
          </p:cNvPr>
          <p:cNvSpPr/>
          <p:nvPr/>
        </p:nvSpPr>
        <p:spPr>
          <a:xfrm rot="16200000" flipH="1">
            <a:off x="3747349" y="631733"/>
            <a:ext cx="557259" cy="288032"/>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anose="020B0609020204030204" pitchFamily="49" charset="0"/>
              <a:cs typeface="Consolas" panose="020B0609020204030204" pitchFamily="49" charset="0"/>
            </a:endParaRPr>
          </a:p>
        </p:txBody>
      </p:sp>
      <p:sp>
        <p:nvSpPr>
          <p:cNvPr id="17" name="右箭头 5">
            <a:extLst>
              <a:ext uri="{FF2B5EF4-FFF2-40B4-BE49-F238E27FC236}">
                <a16:creationId xmlns:a16="http://schemas.microsoft.com/office/drawing/2014/main" id="{D080A34C-86AB-1354-C347-D3678D009E99}"/>
              </a:ext>
            </a:extLst>
          </p:cNvPr>
          <p:cNvSpPr/>
          <p:nvPr/>
        </p:nvSpPr>
        <p:spPr>
          <a:xfrm rot="16200000" flipH="1">
            <a:off x="6253034" y="688388"/>
            <a:ext cx="557259" cy="288032"/>
          </a:xfrm>
          <a:prstGeom prst="right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anose="020B0609020204030204" pitchFamily="49" charset="0"/>
              <a:cs typeface="Consolas" panose="020B0609020204030204" pitchFamily="49" charset="0"/>
            </a:endParaRPr>
          </a:p>
        </p:txBody>
      </p:sp>
      <p:sp>
        <p:nvSpPr>
          <p:cNvPr id="18" name="右箭头 5">
            <a:extLst>
              <a:ext uri="{FF2B5EF4-FFF2-40B4-BE49-F238E27FC236}">
                <a16:creationId xmlns:a16="http://schemas.microsoft.com/office/drawing/2014/main" id="{8E7557E9-F044-5F82-68F2-58390957B867}"/>
              </a:ext>
            </a:extLst>
          </p:cNvPr>
          <p:cNvSpPr/>
          <p:nvPr/>
        </p:nvSpPr>
        <p:spPr>
          <a:xfrm rot="16200000" flipH="1">
            <a:off x="6861154" y="679960"/>
            <a:ext cx="557259" cy="288032"/>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anose="020B0609020204030204" pitchFamily="49" charset="0"/>
              <a:cs typeface="Consolas" panose="020B0609020204030204" pitchFamily="49" charset="0"/>
            </a:endParaRPr>
          </a:p>
        </p:txBody>
      </p:sp>
      <p:sp>
        <p:nvSpPr>
          <p:cNvPr id="19" name="右箭头 5">
            <a:extLst>
              <a:ext uri="{FF2B5EF4-FFF2-40B4-BE49-F238E27FC236}">
                <a16:creationId xmlns:a16="http://schemas.microsoft.com/office/drawing/2014/main" id="{EE469CE3-4694-8642-2773-AB22ED78B660}"/>
              </a:ext>
            </a:extLst>
          </p:cNvPr>
          <p:cNvSpPr/>
          <p:nvPr/>
        </p:nvSpPr>
        <p:spPr>
          <a:xfrm rot="16200000" flipH="1">
            <a:off x="7553126" y="703316"/>
            <a:ext cx="557259" cy="288032"/>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anose="020B0609020204030204" pitchFamily="49" charset="0"/>
              <a:cs typeface="Consolas" panose="020B0609020204030204" pitchFamily="49" charset="0"/>
            </a:endParaRPr>
          </a:p>
        </p:txBody>
      </p:sp>
      <p:sp>
        <p:nvSpPr>
          <p:cNvPr id="20" name="TextBox 24">
            <a:extLst>
              <a:ext uri="{FF2B5EF4-FFF2-40B4-BE49-F238E27FC236}">
                <a16:creationId xmlns:a16="http://schemas.microsoft.com/office/drawing/2014/main" id="{C9909C8F-3FE2-89B4-D4EC-9AF21F5FFB81}"/>
              </a:ext>
            </a:extLst>
          </p:cNvPr>
          <p:cNvSpPr txBox="1"/>
          <p:nvPr/>
        </p:nvSpPr>
        <p:spPr>
          <a:xfrm>
            <a:off x="1463682" y="2830383"/>
            <a:ext cx="4923965" cy="461665"/>
          </a:xfrm>
          <a:prstGeom prst="rect">
            <a:avLst/>
          </a:prstGeom>
          <a:noFill/>
          <a:ln>
            <a:solidFill>
              <a:schemeClr val="tx1">
                <a:lumMod val="50000"/>
                <a:lumOff val="50000"/>
              </a:schemeClr>
            </a:solidFill>
          </a:ln>
        </p:spPr>
        <p:txBody>
          <a:bodyPr wrap="square" rtlCol="0">
            <a:spAutoFit/>
          </a:bodyPr>
          <a:lstStyle/>
          <a:p>
            <a:pPr algn="ctr"/>
            <a:r>
              <a:rPr lang="zh-CN" altLang="en-US" sz="2400" dirty="0">
                <a:latin typeface="Consolas" panose="020B0609020204030204" pitchFamily="49" charset="0"/>
                <a:ea typeface="宋体" panose="02010600030101010101" pitchFamily="2" charset="-122"/>
                <a:cs typeface="Consolas" panose="020B0609020204030204" pitchFamily="49" charset="0"/>
              </a:rPr>
              <a:t>贪心：按照间隔从大到小插入空格</a:t>
            </a:r>
            <a:endParaRPr lang="en-US" altLang="zh-CN" sz="2400" dirty="0">
              <a:latin typeface="Consolas" panose="020B0609020204030204" pitchFamily="49" charset="0"/>
              <a:ea typeface="宋体" panose="02010600030101010101" pitchFamily="2" charset="-122"/>
              <a:cs typeface="Consolas" panose="020B0609020204030204" pitchFamily="49" charset="0"/>
            </a:endParaRPr>
          </a:p>
        </p:txBody>
      </p:sp>
      <p:sp>
        <p:nvSpPr>
          <p:cNvPr id="21" name="TextBox 24">
            <a:extLst>
              <a:ext uri="{FF2B5EF4-FFF2-40B4-BE49-F238E27FC236}">
                <a16:creationId xmlns:a16="http://schemas.microsoft.com/office/drawing/2014/main" id="{4F5224AE-DB12-CC09-6933-6A179F02B798}"/>
              </a:ext>
            </a:extLst>
          </p:cNvPr>
          <p:cNvSpPr txBox="1"/>
          <p:nvPr/>
        </p:nvSpPr>
        <p:spPr>
          <a:xfrm>
            <a:off x="6500356" y="2830383"/>
            <a:ext cx="3885892" cy="461665"/>
          </a:xfrm>
          <a:prstGeom prst="rect">
            <a:avLst/>
          </a:prstGeom>
          <a:noFill/>
          <a:ln>
            <a:solidFill>
              <a:schemeClr val="tx1">
                <a:lumMod val="50000"/>
                <a:lumOff val="50000"/>
              </a:schemeClr>
            </a:solidFill>
          </a:ln>
        </p:spPr>
        <p:txBody>
          <a:bodyPr wrap="square" rtlCol="0">
            <a:spAutoFit/>
          </a:bodyPr>
          <a:lstStyle/>
          <a:p>
            <a:pPr algn="ctr"/>
            <a:r>
              <a:rPr lang="zh-CN" altLang="en-US" sz="2400" dirty="0">
                <a:solidFill>
                  <a:srgbClr val="FF0000"/>
                </a:solidFill>
                <a:latin typeface="Consolas" panose="020B0609020204030204" pitchFamily="49" charset="0"/>
                <a:ea typeface="宋体" panose="02010600030101010101" pitchFamily="2" charset="-122"/>
                <a:cs typeface="Consolas" panose="020B0609020204030204" pitchFamily="49" charset="0"/>
              </a:rPr>
              <a:t>什么时候停止？</a:t>
            </a:r>
            <a:endParaRPr lang="en-US" altLang="zh-CN" sz="2400" dirty="0">
              <a:solidFill>
                <a:srgbClr val="FF0000"/>
              </a:solidFill>
              <a:latin typeface="Consolas" panose="020B0609020204030204" pitchFamily="49" charset="0"/>
              <a:ea typeface="宋体" panose="02010600030101010101" pitchFamily="2" charset="-122"/>
              <a:cs typeface="Consolas" panose="020B0609020204030204" pitchFamily="49" charset="0"/>
            </a:endParaRPr>
          </a:p>
        </p:txBody>
      </p:sp>
      <p:sp>
        <p:nvSpPr>
          <p:cNvPr id="2" name="灯片编号占位符 1">
            <a:extLst>
              <a:ext uri="{FF2B5EF4-FFF2-40B4-BE49-F238E27FC236}">
                <a16:creationId xmlns:a16="http://schemas.microsoft.com/office/drawing/2014/main" id="{AA43D539-DB67-44C6-92BB-BC687ACF471C}"/>
              </a:ext>
            </a:extLst>
          </p:cNvPr>
          <p:cNvSpPr>
            <a:spLocks noGrp="1"/>
          </p:cNvSpPr>
          <p:nvPr>
            <p:ph type="sldNum" sz="quarter" idx="12"/>
          </p:nvPr>
        </p:nvSpPr>
        <p:spPr/>
        <p:txBody>
          <a:bodyPr/>
          <a:lstStyle/>
          <a:p>
            <a:fld id="{0C913308-F349-4B6D-A68A-DD1791B4A57B}" type="slidenum">
              <a:rPr lang="zh-CN" altLang="en-US" smtClean="0"/>
              <a:t>27</a:t>
            </a:fld>
            <a:endParaRPr lang="zh-CN" altLang="en-US"/>
          </a:p>
        </p:txBody>
      </p:sp>
      <p:sp>
        <p:nvSpPr>
          <p:cNvPr id="22" name="文本框 21">
            <a:extLst>
              <a:ext uri="{FF2B5EF4-FFF2-40B4-BE49-F238E27FC236}">
                <a16:creationId xmlns:a16="http://schemas.microsoft.com/office/drawing/2014/main" id="{E6516E9B-1D27-4C38-8955-7477CD366751}"/>
              </a:ext>
            </a:extLst>
          </p:cNvPr>
          <p:cNvSpPr txBox="1"/>
          <p:nvPr/>
        </p:nvSpPr>
        <p:spPr>
          <a:xfrm>
            <a:off x="335360" y="371065"/>
            <a:ext cx="1584176" cy="461665"/>
          </a:xfrm>
          <a:prstGeom prst="rect">
            <a:avLst/>
          </a:prstGeom>
          <a:solidFill>
            <a:schemeClr val="tx1"/>
          </a:solidFill>
        </p:spPr>
        <p:txBody>
          <a:bodyPr wrap="square">
            <a:spAutoFit/>
          </a:bodyPr>
          <a:lstStyle>
            <a:defPPr>
              <a:defRPr lang="zh-CN"/>
            </a:defPPr>
            <a:lvl1pPr algn="ctr">
              <a:defRPr sz="2400">
                <a:latin typeface="Consolas" panose="020B0609020204030204" pitchFamily="49" charset="0"/>
                <a:ea typeface="宋体" panose="02010600030101010101" pitchFamily="2" charset="-122"/>
              </a:defRPr>
            </a:lvl1pPr>
          </a:lstStyle>
          <a:p>
            <a:r>
              <a:rPr lang="zh-CN" altLang="en-US" b="1">
                <a:solidFill>
                  <a:schemeClr val="bg1"/>
                </a:solidFill>
              </a:rPr>
              <a:t>贪心策略</a:t>
            </a:r>
          </a:p>
        </p:txBody>
      </p:sp>
      <p:sp>
        <p:nvSpPr>
          <p:cNvPr id="26" name="文本框 25">
            <a:extLst>
              <a:ext uri="{FF2B5EF4-FFF2-40B4-BE49-F238E27FC236}">
                <a16:creationId xmlns:a16="http://schemas.microsoft.com/office/drawing/2014/main" id="{0134766B-44D0-4E97-9C0A-38148BB49E88}"/>
              </a:ext>
            </a:extLst>
          </p:cNvPr>
          <p:cNvSpPr txBox="1"/>
          <p:nvPr/>
        </p:nvSpPr>
        <p:spPr>
          <a:xfrm>
            <a:off x="1463682" y="2170350"/>
            <a:ext cx="8827938" cy="430887"/>
          </a:xfrm>
          <a:prstGeom prst="rect">
            <a:avLst/>
          </a:prstGeom>
          <a:solidFill>
            <a:schemeClr val="accent2">
              <a:lumMod val="20000"/>
              <a:lumOff val="80000"/>
            </a:schemeClr>
          </a:solidFill>
        </p:spPr>
        <p:txBody>
          <a:bodyPr wrap="square">
            <a:spAutoFit/>
          </a:bodyPr>
          <a:lstStyle>
            <a:defPPr>
              <a:defRPr lang="zh-CN"/>
            </a:defPPr>
            <a:lvl1pPr>
              <a:defRPr sz="2000" b="1">
                <a:solidFill>
                  <a:srgbClr val="00B050"/>
                </a:solidFill>
                <a:latin typeface="Consolas" panose="020B0609020204030204" pitchFamily="49" charset="0"/>
                <a:ea typeface="宋体" panose="02010600030101010101" pitchFamily="2" charset="-122"/>
              </a:defRPr>
            </a:lvl1pPr>
          </a:lstStyle>
          <a:p>
            <a:r>
              <a:rPr lang="zh-CN" altLang="en-US" sz="2200"/>
              <a:t>将每个可拆分位置的差值vi从大到小排序，依次考虑每个位置。</a:t>
            </a:r>
          </a:p>
        </p:txBody>
      </p:sp>
      <p:sp>
        <p:nvSpPr>
          <p:cNvPr id="27" name="文本框 26">
            <a:extLst>
              <a:ext uri="{FF2B5EF4-FFF2-40B4-BE49-F238E27FC236}">
                <a16:creationId xmlns:a16="http://schemas.microsoft.com/office/drawing/2014/main" id="{B9DD3AEC-B10F-4D1E-8AB3-E2992B88C73D}"/>
              </a:ext>
            </a:extLst>
          </p:cNvPr>
          <p:cNvSpPr txBox="1"/>
          <p:nvPr/>
        </p:nvSpPr>
        <p:spPr>
          <a:xfrm>
            <a:off x="9696400" y="1551405"/>
            <a:ext cx="2495600" cy="400110"/>
          </a:xfrm>
          <a:prstGeom prst="rect">
            <a:avLst/>
          </a:prstGeom>
          <a:solidFill>
            <a:schemeClr val="accent4"/>
          </a:solidFill>
        </p:spPr>
        <p:txBody>
          <a:bodyPr wrap="square">
            <a:spAutoFit/>
          </a:bodyPr>
          <a:lstStyle>
            <a:defPPr>
              <a:defRPr lang="zh-CN"/>
            </a:defPPr>
            <a:lvl1pPr>
              <a:defRPr sz="2000" b="1">
                <a:solidFill>
                  <a:srgbClr val="00B050"/>
                </a:solidFill>
                <a:latin typeface="Consolas" panose="020B0609020204030204" pitchFamily="49" charset="0"/>
                <a:ea typeface="宋体" panose="02010600030101010101" pitchFamily="2" charset="-122"/>
              </a:defRPr>
            </a:lvl1pPr>
          </a:lstStyle>
          <a:p>
            <a:r>
              <a:rPr lang="zh-CN" altLang="en-US"/>
              <a:t>相邻字符差值绝对值</a:t>
            </a:r>
          </a:p>
        </p:txBody>
      </p:sp>
      <p:sp>
        <p:nvSpPr>
          <p:cNvPr id="28" name="文本框 27">
            <a:extLst>
              <a:ext uri="{FF2B5EF4-FFF2-40B4-BE49-F238E27FC236}">
                <a16:creationId xmlns:a16="http://schemas.microsoft.com/office/drawing/2014/main" id="{0D913DA8-6513-49A8-8CB0-1D215710385A}"/>
              </a:ext>
            </a:extLst>
          </p:cNvPr>
          <p:cNvSpPr txBox="1"/>
          <p:nvPr/>
        </p:nvSpPr>
        <p:spPr>
          <a:xfrm>
            <a:off x="1463682" y="3647062"/>
            <a:ext cx="6072478" cy="400110"/>
          </a:xfrm>
          <a:prstGeom prst="rect">
            <a:avLst/>
          </a:prstGeom>
          <a:solidFill>
            <a:schemeClr val="accent2">
              <a:lumMod val="20000"/>
              <a:lumOff val="80000"/>
            </a:schemeClr>
          </a:solidFill>
        </p:spPr>
        <p:txBody>
          <a:bodyPr wrap="square">
            <a:spAutoFit/>
          </a:bodyPr>
          <a:lstStyle>
            <a:defPPr>
              <a:defRPr lang="zh-CN"/>
            </a:defPPr>
            <a:lvl1pPr>
              <a:defRPr sz="2000" b="1">
                <a:solidFill>
                  <a:srgbClr val="FF0000"/>
                </a:solidFill>
                <a:latin typeface="Consolas" panose="020B0609020204030204" pitchFamily="49" charset="0"/>
                <a:ea typeface="宋体" panose="02010600030101010101" pitchFamily="2" charset="-122"/>
              </a:defRPr>
            </a:lvl1pPr>
          </a:lstStyle>
          <a:p>
            <a:r>
              <a:rPr lang="zh-CN" altLang="en-US" b="0"/>
              <a:t>目标： </a:t>
            </a:r>
            <a:r>
              <a:rPr lang="zh-CN" altLang="en-US">
                <a:solidFill>
                  <a:srgbClr val="0070C0"/>
                </a:solidFill>
              </a:rPr>
              <a:t>总复杂度最小</a:t>
            </a:r>
            <a:r>
              <a:rPr lang="en-US" altLang="zh-CN">
                <a:solidFill>
                  <a:srgbClr val="0070C0"/>
                </a:solidFill>
              </a:rPr>
              <a:t>,</a:t>
            </a:r>
            <a:r>
              <a:rPr lang="en-US" altLang="zh-CN"/>
              <a:t>  k*(k+1</a:t>
            </a:r>
            <a:r>
              <a:rPr lang="zh-CN" altLang="en-US"/>
              <a:t>）</a:t>
            </a:r>
            <a:r>
              <a:rPr lang="en-US" altLang="zh-CN"/>
              <a:t>/2 – V </a:t>
            </a:r>
            <a:r>
              <a:rPr lang="zh-CN" altLang="en-US">
                <a:solidFill>
                  <a:srgbClr val="00B050"/>
                </a:solidFill>
              </a:rPr>
              <a:t>要最小</a:t>
            </a:r>
            <a:r>
              <a:rPr lang="en-US" altLang="zh-CN">
                <a:solidFill>
                  <a:srgbClr val="00B050"/>
                </a:solidFill>
              </a:rPr>
              <a:t> </a:t>
            </a:r>
            <a:endParaRPr lang="zh-CN" altLang="en-US">
              <a:solidFill>
                <a:srgbClr val="0070C0"/>
              </a:solidFill>
            </a:endParaRPr>
          </a:p>
        </p:txBody>
      </p:sp>
      <p:sp>
        <p:nvSpPr>
          <p:cNvPr id="30" name="文本框 29">
            <a:extLst>
              <a:ext uri="{FF2B5EF4-FFF2-40B4-BE49-F238E27FC236}">
                <a16:creationId xmlns:a16="http://schemas.microsoft.com/office/drawing/2014/main" id="{101684FD-1532-4834-82F1-9259A75D5D9D}"/>
              </a:ext>
            </a:extLst>
          </p:cNvPr>
          <p:cNvSpPr txBox="1"/>
          <p:nvPr/>
        </p:nvSpPr>
        <p:spPr>
          <a:xfrm>
            <a:off x="1463682" y="4438273"/>
            <a:ext cx="7800670" cy="430887"/>
          </a:xfrm>
          <a:prstGeom prst="rect">
            <a:avLst/>
          </a:prstGeom>
          <a:noFill/>
        </p:spPr>
        <p:txBody>
          <a:bodyPr wrap="square">
            <a:spAutoFit/>
          </a:bodyPr>
          <a:lstStyle/>
          <a:p>
            <a:r>
              <a:rPr lang="en-US" altLang="zh-CN" sz="2200"/>
              <a:t>k*(k+1)/2 – V </a:t>
            </a:r>
            <a:r>
              <a:rPr lang="zh-CN" altLang="en-US" sz="2200"/>
              <a:t>可以拆分为： </a:t>
            </a:r>
            <a:r>
              <a:rPr lang="en-US" altLang="zh-CN" sz="2200"/>
              <a:t>(1-v[1]) + (2- v[2]) +…+(k-v[k])  </a:t>
            </a:r>
            <a:endParaRPr lang="zh-CN" altLang="en-US" sz="2200"/>
          </a:p>
        </p:txBody>
      </p:sp>
      <p:sp>
        <p:nvSpPr>
          <p:cNvPr id="31" name="文本框 30">
            <a:extLst>
              <a:ext uri="{FF2B5EF4-FFF2-40B4-BE49-F238E27FC236}">
                <a16:creationId xmlns:a16="http://schemas.microsoft.com/office/drawing/2014/main" id="{4BA75560-F545-49A3-823C-4B3B56562B7D}"/>
              </a:ext>
            </a:extLst>
          </p:cNvPr>
          <p:cNvSpPr txBox="1"/>
          <p:nvPr/>
        </p:nvSpPr>
        <p:spPr>
          <a:xfrm>
            <a:off x="8830507" y="4058057"/>
            <a:ext cx="3177325" cy="369332"/>
          </a:xfrm>
          <a:prstGeom prst="rect">
            <a:avLst/>
          </a:prstGeom>
          <a:solidFill>
            <a:schemeClr val="accent5">
              <a:lumMod val="20000"/>
              <a:lumOff val="80000"/>
            </a:schemeClr>
          </a:solidFill>
        </p:spPr>
        <p:txBody>
          <a:bodyPr wrap="square">
            <a:spAutoFit/>
          </a:bodyPr>
          <a:lstStyle/>
          <a:p>
            <a:r>
              <a:rPr lang="zh-CN" altLang="en-US"/>
              <a:t>vi是按从大到小排序后的差值</a:t>
            </a:r>
          </a:p>
        </p:txBody>
      </p:sp>
      <p:sp>
        <p:nvSpPr>
          <p:cNvPr id="32" name="文本框 31">
            <a:extLst>
              <a:ext uri="{FF2B5EF4-FFF2-40B4-BE49-F238E27FC236}">
                <a16:creationId xmlns:a16="http://schemas.microsoft.com/office/drawing/2014/main" id="{EE024239-18DA-4AE9-BC87-887D753513F0}"/>
              </a:ext>
            </a:extLst>
          </p:cNvPr>
          <p:cNvSpPr txBox="1"/>
          <p:nvPr/>
        </p:nvSpPr>
        <p:spPr>
          <a:xfrm>
            <a:off x="1463682" y="5221501"/>
            <a:ext cx="8232718" cy="461665"/>
          </a:xfrm>
          <a:prstGeom prst="rect">
            <a:avLst/>
          </a:prstGeom>
          <a:solidFill>
            <a:schemeClr val="accent2">
              <a:lumMod val="20000"/>
              <a:lumOff val="80000"/>
            </a:schemeClr>
          </a:solidFill>
        </p:spPr>
        <p:txBody>
          <a:bodyPr wrap="square">
            <a:spAutoFit/>
          </a:bodyPr>
          <a:lstStyle>
            <a:defPPr>
              <a:defRPr lang="zh-CN"/>
            </a:defPPr>
            <a:lvl1pPr>
              <a:defRPr sz="2000" b="0">
                <a:solidFill>
                  <a:srgbClr val="FF0000"/>
                </a:solidFill>
                <a:latin typeface="Consolas" panose="020B0609020204030204" pitchFamily="49" charset="0"/>
                <a:ea typeface="宋体" panose="02010600030101010101" pitchFamily="2" charset="-122"/>
              </a:defRPr>
            </a:lvl1pPr>
          </a:lstStyle>
          <a:p>
            <a:r>
              <a:rPr lang="zh-CN" altLang="en-US" sz="2400">
                <a:solidFill>
                  <a:srgbClr val="0070C0"/>
                </a:solidFill>
              </a:rPr>
              <a:t>所以：对于每一次拆分，要求净收益为</a:t>
            </a:r>
            <a:r>
              <a:rPr lang="en-US" altLang="zh-CN" sz="2400" b="1"/>
              <a:t>(</a:t>
            </a:r>
            <a:r>
              <a:rPr lang="zh-CN" altLang="en-US" sz="2400" b="1"/>
              <a:t>i-v[i]</a:t>
            </a:r>
            <a:r>
              <a:rPr lang="en-US" altLang="zh-CN" sz="2400" b="1"/>
              <a:t>)</a:t>
            </a:r>
            <a:r>
              <a:rPr lang="zh-CN" altLang="en-US" sz="2400">
                <a:solidFill>
                  <a:srgbClr val="0070C0"/>
                </a:solidFill>
              </a:rPr>
              <a:t>要小于0</a:t>
            </a:r>
          </a:p>
        </p:txBody>
      </p:sp>
      <p:pic>
        <p:nvPicPr>
          <p:cNvPr id="10" name="图片 9">
            <a:extLst>
              <a:ext uri="{FF2B5EF4-FFF2-40B4-BE49-F238E27FC236}">
                <a16:creationId xmlns:a16="http://schemas.microsoft.com/office/drawing/2014/main" id="{2209DF12-7029-4C91-A7AF-91538CA59872}"/>
              </a:ext>
            </a:extLst>
          </p:cNvPr>
          <p:cNvPicPr>
            <a:picLocks noChangeAspect="1"/>
          </p:cNvPicPr>
          <p:nvPr/>
        </p:nvPicPr>
        <p:blipFill>
          <a:blip r:embed="rId2">
            <a:duotone>
              <a:prstClr val="black"/>
              <a:schemeClr val="accent4">
                <a:tint val="45000"/>
                <a:satMod val="400000"/>
              </a:schemeClr>
            </a:duotone>
          </a:blip>
          <a:stretch>
            <a:fillRect/>
          </a:stretch>
        </p:blipFill>
        <p:spPr>
          <a:xfrm>
            <a:off x="8830507" y="4487680"/>
            <a:ext cx="1878381" cy="541619"/>
          </a:xfrm>
          <a:prstGeom prst="rect">
            <a:avLst/>
          </a:prstGeom>
        </p:spPr>
      </p:pic>
    </p:spTree>
    <p:extLst>
      <p:ext uri="{BB962C8B-B14F-4D97-AF65-F5344CB8AC3E}">
        <p14:creationId xmlns:p14="http://schemas.microsoft.com/office/powerpoint/2010/main" val="3122407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animBg="1"/>
      <p:bldP spid="16" grpId="0" animBg="1"/>
      <p:bldP spid="17" grpId="0" animBg="1"/>
      <p:bldP spid="18" grpId="0" animBg="1"/>
      <p:bldP spid="19" grpId="0" animBg="1"/>
      <p:bldP spid="20" grpId="0" animBg="1"/>
      <p:bldP spid="21" grpId="0" animBg="1"/>
      <p:bldP spid="26" grpId="0" animBg="1"/>
      <p:bldP spid="27" grpId="0" animBg="1"/>
      <p:bldP spid="28" grpId="0" animBg="1"/>
      <p:bldP spid="30" grpId="0"/>
      <p:bldP spid="31" grpId="0" animBg="1"/>
      <p:bldP spid="3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9D5FCD8C-6DA2-13F6-AFC3-380E5913FC51}"/>
              </a:ext>
            </a:extLst>
          </p:cNvPr>
          <p:cNvPicPr>
            <a:picLocks noChangeAspect="1"/>
          </p:cNvPicPr>
          <p:nvPr/>
        </p:nvPicPr>
        <p:blipFill>
          <a:blip r:embed="rId2"/>
          <a:stretch>
            <a:fillRect/>
          </a:stretch>
        </p:blipFill>
        <p:spPr>
          <a:xfrm>
            <a:off x="1703513" y="476672"/>
            <a:ext cx="3807237" cy="1584176"/>
          </a:xfrm>
          <a:prstGeom prst="rect">
            <a:avLst/>
          </a:prstGeom>
        </p:spPr>
      </p:pic>
      <p:sp>
        <p:nvSpPr>
          <p:cNvPr id="5" name="TextBox 17">
            <a:extLst>
              <a:ext uri="{FF2B5EF4-FFF2-40B4-BE49-F238E27FC236}">
                <a16:creationId xmlns:a16="http://schemas.microsoft.com/office/drawing/2014/main" id="{327A1E21-89DA-F2B8-B924-2FB8BAAA66FD}"/>
              </a:ext>
            </a:extLst>
          </p:cNvPr>
          <p:cNvSpPr txBox="1"/>
          <p:nvPr/>
        </p:nvSpPr>
        <p:spPr>
          <a:xfrm>
            <a:off x="4999301" y="1110586"/>
            <a:ext cx="4392488" cy="461665"/>
          </a:xfrm>
          <a:prstGeom prst="rect">
            <a:avLst/>
          </a:prstGeom>
          <a:solidFill>
            <a:schemeClr val="accent6">
              <a:lumMod val="20000"/>
              <a:lumOff val="80000"/>
            </a:schemeClr>
          </a:solidFill>
          <a:ln>
            <a:solidFill>
              <a:schemeClr val="tx1">
                <a:lumMod val="50000"/>
                <a:lumOff val="50000"/>
              </a:schemeClr>
            </a:solidFill>
          </a:ln>
        </p:spPr>
        <p:txBody>
          <a:bodyPr wrap="square" rtlCol="0">
            <a:spAutoFit/>
          </a:bodyPr>
          <a:lstStyle/>
          <a:p>
            <a:pPr algn="ctr"/>
            <a:r>
              <a:rPr lang="zh-CN" altLang="en-US" sz="2400" dirty="0">
                <a:latin typeface="Consolas" panose="020B0609020204030204" pitchFamily="49" charset="0"/>
                <a:cs typeface="Consolas" panose="020B0609020204030204" pitchFamily="49" charset="0"/>
              </a:rPr>
              <a:t>记录间隔的值</a:t>
            </a:r>
            <a:r>
              <a:rPr lang="en-US" altLang="zh-CN" sz="2400" dirty="0">
                <a:latin typeface="Consolas" panose="020B0609020204030204" pitchFamily="49" charset="0"/>
                <a:cs typeface="Consolas" panose="020B0609020204030204" pitchFamily="49" charset="0"/>
              </a:rPr>
              <a:t>v</a:t>
            </a:r>
            <a:r>
              <a:rPr lang="zh-CN" altLang="en-US" sz="2400" dirty="0">
                <a:latin typeface="Consolas" panose="020B0609020204030204" pitchFamily="49" charset="0"/>
                <a:cs typeface="Consolas" panose="020B0609020204030204" pitchFamily="49" charset="0"/>
              </a:rPr>
              <a:t>和位置</a:t>
            </a:r>
            <a:r>
              <a:rPr lang="en-US" altLang="zh-CN" sz="2400" dirty="0">
                <a:latin typeface="Consolas" panose="020B0609020204030204" pitchFamily="49" charset="0"/>
                <a:cs typeface="Consolas" panose="020B0609020204030204" pitchFamily="49" charset="0"/>
              </a:rPr>
              <a:t>id</a:t>
            </a:r>
            <a:endParaRPr lang="zh-CN" altLang="en-US" sz="2400" dirty="0">
              <a:latin typeface="Consolas" panose="020B0609020204030204" pitchFamily="49" charset="0"/>
              <a:cs typeface="Consolas" panose="020B0609020204030204" pitchFamily="49" charset="0"/>
            </a:endParaRPr>
          </a:p>
        </p:txBody>
      </p:sp>
      <p:pic>
        <p:nvPicPr>
          <p:cNvPr id="11" name="图片 10">
            <a:extLst>
              <a:ext uri="{FF2B5EF4-FFF2-40B4-BE49-F238E27FC236}">
                <a16:creationId xmlns:a16="http://schemas.microsoft.com/office/drawing/2014/main" id="{01A11B14-B49D-EF99-FA20-EF69CB308D89}"/>
              </a:ext>
            </a:extLst>
          </p:cNvPr>
          <p:cNvPicPr>
            <a:picLocks noChangeAspect="1"/>
          </p:cNvPicPr>
          <p:nvPr/>
        </p:nvPicPr>
        <p:blipFill>
          <a:blip r:embed="rId3"/>
          <a:stretch>
            <a:fillRect/>
          </a:stretch>
        </p:blipFill>
        <p:spPr>
          <a:xfrm>
            <a:off x="2294104" y="2146360"/>
            <a:ext cx="6998725" cy="1470506"/>
          </a:xfrm>
          <a:prstGeom prst="rect">
            <a:avLst/>
          </a:prstGeom>
        </p:spPr>
      </p:pic>
      <p:sp>
        <p:nvSpPr>
          <p:cNvPr id="12" name="矩形 11">
            <a:extLst>
              <a:ext uri="{FF2B5EF4-FFF2-40B4-BE49-F238E27FC236}">
                <a16:creationId xmlns:a16="http://schemas.microsoft.com/office/drawing/2014/main" id="{5379193E-287B-E58D-0090-3B0D2B1CC1CC}"/>
              </a:ext>
            </a:extLst>
          </p:cNvPr>
          <p:cNvSpPr/>
          <p:nvPr/>
        </p:nvSpPr>
        <p:spPr>
          <a:xfrm>
            <a:off x="3863752" y="2852937"/>
            <a:ext cx="5112568" cy="3285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anose="020B0609020204030204" pitchFamily="49" charset="0"/>
              <a:cs typeface="Consolas" panose="020B0609020204030204" pitchFamily="49" charset="0"/>
            </a:endParaRPr>
          </a:p>
        </p:txBody>
      </p:sp>
      <p:pic>
        <p:nvPicPr>
          <p:cNvPr id="14" name="图片 13">
            <a:extLst>
              <a:ext uri="{FF2B5EF4-FFF2-40B4-BE49-F238E27FC236}">
                <a16:creationId xmlns:a16="http://schemas.microsoft.com/office/drawing/2014/main" id="{58C60A1E-59D6-F865-F5E0-75BA661BB4DC}"/>
              </a:ext>
            </a:extLst>
          </p:cNvPr>
          <p:cNvPicPr>
            <a:picLocks noChangeAspect="1"/>
          </p:cNvPicPr>
          <p:nvPr/>
        </p:nvPicPr>
        <p:blipFill>
          <a:blip r:embed="rId4"/>
          <a:stretch>
            <a:fillRect/>
          </a:stretch>
        </p:blipFill>
        <p:spPr>
          <a:xfrm>
            <a:off x="2135560" y="3573017"/>
            <a:ext cx="1872208" cy="828351"/>
          </a:xfrm>
          <a:prstGeom prst="rect">
            <a:avLst/>
          </a:prstGeom>
        </p:spPr>
      </p:pic>
      <p:pic>
        <p:nvPicPr>
          <p:cNvPr id="16" name="图片 15">
            <a:extLst>
              <a:ext uri="{FF2B5EF4-FFF2-40B4-BE49-F238E27FC236}">
                <a16:creationId xmlns:a16="http://schemas.microsoft.com/office/drawing/2014/main" id="{72B576EC-5D72-E2AA-481B-D15C51EE111E}"/>
              </a:ext>
            </a:extLst>
          </p:cNvPr>
          <p:cNvPicPr>
            <a:picLocks noChangeAspect="1"/>
          </p:cNvPicPr>
          <p:nvPr/>
        </p:nvPicPr>
        <p:blipFill>
          <a:blip r:embed="rId5"/>
          <a:stretch>
            <a:fillRect/>
          </a:stretch>
        </p:blipFill>
        <p:spPr>
          <a:xfrm>
            <a:off x="2135561" y="4507300"/>
            <a:ext cx="6804419" cy="1558994"/>
          </a:xfrm>
          <a:prstGeom prst="rect">
            <a:avLst/>
          </a:prstGeom>
        </p:spPr>
      </p:pic>
      <p:sp>
        <p:nvSpPr>
          <p:cNvPr id="18" name="TextBox 17">
            <a:extLst>
              <a:ext uri="{FF2B5EF4-FFF2-40B4-BE49-F238E27FC236}">
                <a16:creationId xmlns:a16="http://schemas.microsoft.com/office/drawing/2014/main" id="{B02C14CD-1B72-E4C6-8AC5-80DEA2933652}"/>
              </a:ext>
            </a:extLst>
          </p:cNvPr>
          <p:cNvSpPr txBox="1"/>
          <p:nvPr/>
        </p:nvSpPr>
        <p:spPr>
          <a:xfrm>
            <a:off x="5087888" y="4507300"/>
            <a:ext cx="2952328" cy="461665"/>
          </a:xfrm>
          <a:prstGeom prst="rect">
            <a:avLst/>
          </a:prstGeom>
          <a:solidFill>
            <a:schemeClr val="accent6">
              <a:lumMod val="20000"/>
              <a:lumOff val="80000"/>
            </a:schemeClr>
          </a:solidFill>
          <a:ln>
            <a:solidFill>
              <a:schemeClr val="tx1">
                <a:lumMod val="50000"/>
                <a:lumOff val="50000"/>
              </a:schemeClr>
            </a:solidFill>
          </a:ln>
        </p:spPr>
        <p:txBody>
          <a:bodyPr wrap="square" rtlCol="0">
            <a:spAutoFit/>
          </a:bodyPr>
          <a:lstStyle/>
          <a:p>
            <a:pPr algn="ctr"/>
            <a:r>
              <a:rPr lang="en-US" altLang="zh-CN" sz="2400">
                <a:latin typeface="Consolas" panose="020B0609020204030204" pitchFamily="49" charset="0"/>
                <a:cs typeface="Consolas" panose="020B0609020204030204" pitchFamily="49" charset="0"/>
              </a:rPr>
              <a:t>n</a:t>
            </a:r>
            <a:r>
              <a:rPr lang="zh-CN" altLang="en-US" sz="2400">
                <a:latin typeface="Consolas" panose="020B0609020204030204" pitchFamily="49" charset="0"/>
                <a:cs typeface="Consolas" panose="020B0609020204030204" pitchFamily="49" charset="0"/>
              </a:rPr>
              <a:t>表示</a:t>
            </a:r>
            <a:r>
              <a:rPr lang="zh-CN" altLang="en-US" sz="2400" dirty="0">
                <a:latin typeface="Consolas" panose="020B0609020204030204" pitchFamily="49" charset="0"/>
                <a:cs typeface="Consolas" panose="020B0609020204030204" pitchFamily="49" charset="0"/>
              </a:rPr>
              <a:t>间隔的数量</a:t>
            </a:r>
          </a:p>
        </p:txBody>
      </p:sp>
      <p:sp>
        <p:nvSpPr>
          <p:cNvPr id="2" name="灯片编号占位符 1">
            <a:extLst>
              <a:ext uri="{FF2B5EF4-FFF2-40B4-BE49-F238E27FC236}">
                <a16:creationId xmlns:a16="http://schemas.microsoft.com/office/drawing/2014/main" id="{5BD86C07-0762-4A9E-8885-BFEB3D608B69}"/>
              </a:ext>
            </a:extLst>
          </p:cNvPr>
          <p:cNvSpPr>
            <a:spLocks noGrp="1"/>
          </p:cNvSpPr>
          <p:nvPr>
            <p:ph type="sldNum" sz="quarter" idx="12"/>
          </p:nvPr>
        </p:nvSpPr>
        <p:spPr/>
        <p:txBody>
          <a:bodyPr/>
          <a:lstStyle/>
          <a:p>
            <a:fld id="{0C913308-F349-4B6D-A68A-DD1791B4A57B}" type="slidenum">
              <a:rPr lang="zh-CN" altLang="en-US" smtClean="0"/>
              <a:t>28</a:t>
            </a:fld>
            <a:endParaRPr lang="zh-CN" altLang="en-US"/>
          </a:p>
        </p:txBody>
      </p:sp>
      <p:pic>
        <p:nvPicPr>
          <p:cNvPr id="6" name="图片 5">
            <a:extLst>
              <a:ext uri="{FF2B5EF4-FFF2-40B4-BE49-F238E27FC236}">
                <a16:creationId xmlns:a16="http://schemas.microsoft.com/office/drawing/2014/main" id="{18143C11-412C-492C-9CD0-ACB710827AB9}"/>
              </a:ext>
            </a:extLst>
          </p:cNvPr>
          <p:cNvPicPr>
            <a:picLocks noChangeAspect="1"/>
          </p:cNvPicPr>
          <p:nvPr/>
        </p:nvPicPr>
        <p:blipFill>
          <a:blip r:embed="rId6">
            <a:duotone>
              <a:prstClr val="black"/>
              <a:schemeClr val="accent4">
                <a:tint val="45000"/>
                <a:satMod val="400000"/>
              </a:schemeClr>
            </a:duotone>
            <a:extLst>
              <a:ext uri="{BEBA8EAE-BF5A-486C-A8C5-ECC9F3942E4B}">
                <a14:imgProps xmlns:a14="http://schemas.microsoft.com/office/drawing/2010/main">
                  <a14:imgLayer r:embed="rId7">
                    <a14:imgEffect>
                      <a14:brightnessContrast bright="40000" contrast="-40000"/>
                    </a14:imgEffect>
                  </a14:imgLayer>
                </a14:imgProps>
              </a:ext>
            </a:extLst>
          </a:blip>
          <a:stretch>
            <a:fillRect/>
          </a:stretch>
        </p:blipFill>
        <p:spPr>
          <a:xfrm>
            <a:off x="2891067" y="3188602"/>
            <a:ext cx="6700477" cy="437815"/>
          </a:xfrm>
          <a:prstGeom prst="rect">
            <a:avLst/>
          </a:prstGeom>
        </p:spPr>
      </p:pic>
    </p:spTree>
    <p:extLst>
      <p:ext uri="{BB962C8B-B14F-4D97-AF65-F5344CB8AC3E}">
        <p14:creationId xmlns:p14="http://schemas.microsoft.com/office/powerpoint/2010/main" val="1049641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2"/>
                                        </p:tgtEl>
                                      </p:cBhvr>
                                    </p:animEffect>
                                    <p:set>
                                      <p:cBhvr>
                                        <p:cTn id="7" dur="1" fill="hold">
                                          <p:stCondLst>
                                            <p:cond delay="499"/>
                                          </p:stCondLst>
                                        </p:cTn>
                                        <p:tgtEl>
                                          <p:spTgt spid="12"/>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4">
            <a:extLst>
              <a:ext uri="{FF2B5EF4-FFF2-40B4-BE49-F238E27FC236}">
                <a16:creationId xmlns:a16="http://schemas.microsoft.com/office/drawing/2014/main" id="{E4C6FAE1-8FF2-E9C3-B988-E7B9FEFE8C30}"/>
              </a:ext>
            </a:extLst>
          </p:cNvPr>
          <p:cNvSpPr txBox="1"/>
          <p:nvPr/>
        </p:nvSpPr>
        <p:spPr>
          <a:xfrm>
            <a:off x="1524001" y="1196752"/>
            <a:ext cx="9211945" cy="521970"/>
          </a:xfrm>
          <a:prstGeom prst="rect">
            <a:avLst/>
          </a:prstGeom>
          <a:noFill/>
          <a:ln>
            <a:solidFill>
              <a:schemeClr val="tx1">
                <a:lumMod val="50000"/>
                <a:lumOff val="50000"/>
              </a:schemeClr>
            </a:solidFill>
          </a:ln>
        </p:spPr>
        <p:txBody>
          <a:bodyPr wrap="square" rtlCol="0">
            <a:spAutoFit/>
          </a:bodyPr>
          <a:lstStyle/>
          <a:p>
            <a:pPr algn="ctr"/>
            <a:r>
              <a:rPr lang="zh-CN" altLang="en-US" sz="2800" dirty="0">
                <a:latin typeface="Consolas" panose="020B0609020204030204" pitchFamily="49" charset="0"/>
                <a:ea typeface="宋体" panose="02010600030101010101" pitchFamily="2" charset="-122"/>
                <a:cs typeface="Consolas" panose="020B0609020204030204" pitchFamily="49" charset="0"/>
              </a:rPr>
              <a:t>如何插入空格？</a:t>
            </a:r>
            <a:endParaRPr lang="en-US" altLang="zh-CN" sz="2800" dirty="0">
              <a:latin typeface="Consolas" panose="020B0609020204030204" pitchFamily="49" charset="0"/>
              <a:ea typeface="宋体" panose="02010600030101010101" pitchFamily="2" charset="-122"/>
              <a:cs typeface="Consolas" panose="020B0609020204030204" pitchFamily="49" charset="0"/>
            </a:endParaRPr>
          </a:p>
        </p:txBody>
      </p:sp>
      <p:sp>
        <p:nvSpPr>
          <p:cNvPr id="3" name="TextBox 24">
            <a:extLst>
              <a:ext uri="{FF2B5EF4-FFF2-40B4-BE49-F238E27FC236}">
                <a16:creationId xmlns:a16="http://schemas.microsoft.com/office/drawing/2014/main" id="{332BD4D6-C63D-AE59-D4F7-CEBDE65B189C}"/>
              </a:ext>
            </a:extLst>
          </p:cNvPr>
          <p:cNvSpPr txBox="1"/>
          <p:nvPr/>
        </p:nvSpPr>
        <p:spPr>
          <a:xfrm>
            <a:off x="1493606" y="2564904"/>
            <a:ext cx="9211945" cy="521970"/>
          </a:xfrm>
          <a:prstGeom prst="rect">
            <a:avLst/>
          </a:prstGeom>
          <a:noFill/>
          <a:ln>
            <a:solidFill>
              <a:schemeClr val="tx1">
                <a:lumMod val="50000"/>
                <a:lumOff val="50000"/>
              </a:schemeClr>
            </a:solidFill>
          </a:ln>
        </p:spPr>
        <p:txBody>
          <a:bodyPr wrap="square" rtlCol="0">
            <a:spAutoFit/>
          </a:bodyPr>
          <a:lstStyle/>
          <a:p>
            <a:pPr algn="ctr"/>
            <a:r>
              <a:rPr lang="zh-CN" altLang="en-US" sz="2800" dirty="0">
                <a:latin typeface="Consolas" panose="020B0609020204030204" pitchFamily="49" charset="0"/>
                <a:ea typeface="宋体" panose="02010600030101010101" pitchFamily="2" charset="-122"/>
                <a:cs typeface="Consolas" panose="020B0609020204030204" pitchFamily="49" charset="0"/>
              </a:rPr>
              <a:t>假设要在</a:t>
            </a:r>
            <a:r>
              <a:rPr lang="en-US" altLang="zh-CN" sz="2800">
                <a:latin typeface="Consolas" panose="020B0609020204030204" pitchFamily="49" charset="0"/>
                <a:ea typeface="宋体" panose="02010600030101010101" pitchFamily="2" charset="-122"/>
                <a:cs typeface="Consolas" panose="020B0609020204030204" pitchFamily="49" charset="0"/>
              </a:rPr>
              <a:t>abcde</a:t>
            </a:r>
            <a:r>
              <a:rPr lang="zh-CN" altLang="en-US" sz="2800" dirty="0">
                <a:latin typeface="Consolas" panose="020B0609020204030204" pitchFamily="49" charset="0"/>
                <a:ea typeface="宋体" panose="02010600030101010101" pitchFamily="2" charset="-122"/>
                <a:cs typeface="Consolas" panose="020B0609020204030204" pitchFamily="49" charset="0"/>
              </a:rPr>
              <a:t>的</a:t>
            </a:r>
            <a:r>
              <a:rPr lang="en-US" altLang="zh-CN" sz="2800">
                <a:latin typeface="Consolas" panose="020B0609020204030204" pitchFamily="49" charset="0"/>
                <a:ea typeface="宋体" panose="02010600030101010101" pitchFamily="2" charset="-122"/>
                <a:cs typeface="Consolas" panose="020B0609020204030204" pitchFamily="49" charset="0"/>
              </a:rPr>
              <a:t>bc</a:t>
            </a:r>
            <a:r>
              <a:rPr lang="zh-CN" altLang="en-US" sz="2800" dirty="0">
                <a:latin typeface="Consolas" panose="020B0609020204030204" pitchFamily="49" charset="0"/>
                <a:ea typeface="宋体" panose="02010600030101010101" pitchFamily="2" charset="-122"/>
                <a:cs typeface="Consolas" panose="020B0609020204030204" pitchFamily="49" charset="0"/>
              </a:rPr>
              <a:t>和</a:t>
            </a:r>
            <a:r>
              <a:rPr lang="en-US" altLang="zh-CN" sz="2800" dirty="0">
                <a:latin typeface="Consolas" panose="020B0609020204030204" pitchFamily="49" charset="0"/>
                <a:ea typeface="宋体" panose="02010600030101010101" pitchFamily="2" charset="-122"/>
                <a:cs typeface="Consolas" panose="020B0609020204030204" pitchFamily="49" charset="0"/>
              </a:rPr>
              <a:t>de</a:t>
            </a:r>
            <a:r>
              <a:rPr lang="zh-CN" altLang="en-US" sz="2800" dirty="0">
                <a:latin typeface="Consolas" panose="020B0609020204030204" pitchFamily="49" charset="0"/>
                <a:ea typeface="宋体" panose="02010600030101010101" pitchFamily="2" charset="-122"/>
                <a:cs typeface="Consolas" panose="020B0609020204030204" pitchFamily="49" charset="0"/>
              </a:rPr>
              <a:t>之间插入空格</a:t>
            </a:r>
            <a:endParaRPr lang="en-US" altLang="zh-CN" sz="2800" dirty="0">
              <a:latin typeface="Consolas" panose="020B0609020204030204" pitchFamily="49" charset="0"/>
              <a:ea typeface="宋体" panose="02010600030101010101" pitchFamily="2" charset="-122"/>
              <a:cs typeface="Consolas" panose="020B0609020204030204" pitchFamily="49" charset="0"/>
            </a:endParaRPr>
          </a:p>
        </p:txBody>
      </p:sp>
      <p:pic>
        <p:nvPicPr>
          <p:cNvPr id="10" name="图片 9">
            <a:extLst>
              <a:ext uri="{FF2B5EF4-FFF2-40B4-BE49-F238E27FC236}">
                <a16:creationId xmlns:a16="http://schemas.microsoft.com/office/drawing/2014/main" id="{76435C21-543C-8E95-CDD3-810FE8D3982A}"/>
              </a:ext>
            </a:extLst>
          </p:cNvPr>
          <p:cNvPicPr>
            <a:picLocks noChangeAspect="1"/>
          </p:cNvPicPr>
          <p:nvPr/>
        </p:nvPicPr>
        <p:blipFill>
          <a:blip r:embed="rId2"/>
          <a:stretch>
            <a:fillRect/>
          </a:stretch>
        </p:blipFill>
        <p:spPr>
          <a:xfrm>
            <a:off x="4070559" y="3515640"/>
            <a:ext cx="4050883" cy="1077840"/>
          </a:xfrm>
          <a:prstGeom prst="rect">
            <a:avLst/>
          </a:prstGeom>
        </p:spPr>
      </p:pic>
      <p:sp>
        <p:nvSpPr>
          <p:cNvPr id="13" name="TextBox 24">
            <a:extLst>
              <a:ext uri="{FF2B5EF4-FFF2-40B4-BE49-F238E27FC236}">
                <a16:creationId xmlns:a16="http://schemas.microsoft.com/office/drawing/2014/main" id="{D84BFC0F-A919-2C8B-275F-92589BE6BAC5}"/>
              </a:ext>
            </a:extLst>
          </p:cNvPr>
          <p:cNvSpPr txBox="1"/>
          <p:nvPr/>
        </p:nvSpPr>
        <p:spPr>
          <a:xfrm>
            <a:off x="1490027" y="4869160"/>
            <a:ext cx="9211945" cy="521970"/>
          </a:xfrm>
          <a:prstGeom prst="rect">
            <a:avLst/>
          </a:prstGeom>
          <a:noFill/>
          <a:ln>
            <a:solidFill>
              <a:schemeClr val="tx1">
                <a:lumMod val="50000"/>
                <a:lumOff val="50000"/>
              </a:schemeClr>
            </a:solidFill>
          </a:ln>
        </p:spPr>
        <p:txBody>
          <a:bodyPr wrap="square" rtlCol="0">
            <a:spAutoFit/>
          </a:bodyPr>
          <a:lstStyle/>
          <a:p>
            <a:pPr algn="ctr"/>
            <a:r>
              <a:rPr lang="zh-CN" altLang="en-US" sz="2800" dirty="0">
                <a:latin typeface="Consolas" panose="020B0609020204030204" pitchFamily="49" charset="0"/>
                <a:ea typeface="宋体" panose="02010600030101010101" pitchFamily="2" charset="-122"/>
                <a:cs typeface="Consolas" panose="020B0609020204030204" pitchFamily="49" charset="0"/>
              </a:rPr>
              <a:t>结果为？</a:t>
            </a:r>
            <a:endParaRPr lang="en-US" altLang="zh-CN" sz="2800" dirty="0">
              <a:latin typeface="Consolas" panose="020B0609020204030204" pitchFamily="49" charset="0"/>
              <a:ea typeface="宋体" panose="02010600030101010101" pitchFamily="2" charset="-122"/>
              <a:cs typeface="Consolas" panose="020B0609020204030204" pitchFamily="49" charset="0"/>
            </a:endParaRPr>
          </a:p>
        </p:txBody>
      </p:sp>
      <p:sp>
        <p:nvSpPr>
          <p:cNvPr id="16" name="TextBox 24">
            <a:extLst>
              <a:ext uri="{FF2B5EF4-FFF2-40B4-BE49-F238E27FC236}">
                <a16:creationId xmlns:a16="http://schemas.microsoft.com/office/drawing/2014/main" id="{AF3EFD3E-4BC4-2758-1238-F399A8416149}"/>
              </a:ext>
            </a:extLst>
          </p:cNvPr>
          <p:cNvSpPr txBox="1"/>
          <p:nvPr/>
        </p:nvSpPr>
        <p:spPr>
          <a:xfrm>
            <a:off x="1516464" y="5886318"/>
            <a:ext cx="9211945" cy="521970"/>
          </a:xfrm>
          <a:prstGeom prst="rect">
            <a:avLst/>
          </a:prstGeom>
          <a:noFill/>
          <a:ln>
            <a:solidFill>
              <a:schemeClr val="tx1">
                <a:lumMod val="50000"/>
                <a:lumOff val="50000"/>
              </a:schemeClr>
            </a:solidFill>
          </a:ln>
        </p:spPr>
        <p:txBody>
          <a:bodyPr wrap="square" rtlCol="0">
            <a:spAutoFit/>
          </a:bodyPr>
          <a:lstStyle/>
          <a:p>
            <a:pPr algn="ctr"/>
            <a:r>
              <a:rPr lang="en-US" altLang="zh-CN" sz="2800" dirty="0">
                <a:latin typeface="Consolas" panose="020B0609020204030204" pitchFamily="49" charset="0"/>
                <a:ea typeface="宋体" panose="02010600030101010101" pitchFamily="2" charset="-122"/>
                <a:cs typeface="Consolas" panose="020B0609020204030204" pitchFamily="49" charset="0"/>
              </a:rPr>
              <a:t>ab c de</a:t>
            </a:r>
          </a:p>
        </p:txBody>
      </p:sp>
      <p:sp>
        <p:nvSpPr>
          <p:cNvPr id="17" name="TextBox 24">
            <a:extLst>
              <a:ext uri="{FF2B5EF4-FFF2-40B4-BE49-F238E27FC236}">
                <a16:creationId xmlns:a16="http://schemas.microsoft.com/office/drawing/2014/main" id="{1DDF0274-A931-12BB-3F53-4DEC37121003}"/>
              </a:ext>
            </a:extLst>
          </p:cNvPr>
          <p:cNvSpPr txBox="1"/>
          <p:nvPr/>
        </p:nvSpPr>
        <p:spPr>
          <a:xfrm>
            <a:off x="7808570" y="5886318"/>
            <a:ext cx="2984609" cy="521970"/>
          </a:xfrm>
          <a:prstGeom prst="rect">
            <a:avLst/>
          </a:prstGeom>
          <a:noFill/>
          <a:ln>
            <a:solidFill>
              <a:schemeClr val="tx1">
                <a:lumMod val="50000"/>
                <a:lumOff val="50000"/>
              </a:schemeClr>
            </a:solidFill>
          </a:ln>
        </p:spPr>
        <p:txBody>
          <a:bodyPr wrap="square" rtlCol="0">
            <a:spAutoFit/>
          </a:bodyPr>
          <a:lstStyle/>
          <a:p>
            <a:pPr algn="ctr"/>
            <a:r>
              <a:rPr lang="zh-CN" altLang="en-US" sz="2800" dirty="0">
                <a:latin typeface="Consolas" panose="020B0609020204030204" pitchFamily="49" charset="0"/>
                <a:ea typeface="宋体" panose="02010600030101010101" pitchFamily="2" charset="-122"/>
                <a:cs typeface="Consolas" panose="020B0609020204030204" pitchFamily="49" charset="0"/>
              </a:rPr>
              <a:t>为什么？</a:t>
            </a:r>
            <a:endParaRPr lang="en-US" altLang="zh-CN" sz="2800" dirty="0">
              <a:latin typeface="Consolas" panose="020B0609020204030204" pitchFamily="49" charset="0"/>
              <a:ea typeface="宋体" panose="02010600030101010101" pitchFamily="2" charset="-122"/>
              <a:cs typeface="Consolas" panose="020B0609020204030204" pitchFamily="49" charset="0"/>
            </a:endParaRPr>
          </a:p>
        </p:txBody>
      </p:sp>
      <p:sp>
        <p:nvSpPr>
          <p:cNvPr id="4" name="灯片编号占位符 3">
            <a:extLst>
              <a:ext uri="{FF2B5EF4-FFF2-40B4-BE49-F238E27FC236}">
                <a16:creationId xmlns:a16="http://schemas.microsoft.com/office/drawing/2014/main" id="{2E7BD189-5907-48A8-A5B2-8A9039B2051E}"/>
              </a:ext>
            </a:extLst>
          </p:cNvPr>
          <p:cNvSpPr>
            <a:spLocks noGrp="1"/>
          </p:cNvSpPr>
          <p:nvPr>
            <p:ph type="sldNum" sz="quarter" idx="12"/>
          </p:nvPr>
        </p:nvSpPr>
        <p:spPr/>
        <p:txBody>
          <a:bodyPr/>
          <a:lstStyle/>
          <a:p>
            <a:fld id="{0C913308-F349-4B6D-A68A-DD1791B4A57B}" type="slidenum">
              <a:rPr lang="zh-CN" altLang="en-US" smtClean="0"/>
              <a:t>29</a:t>
            </a:fld>
            <a:endParaRPr lang="zh-CN" altLang="en-US"/>
          </a:p>
        </p:txBody>
      </p:sp>
    </p:spTree>
    <p:extLst>
      <p:ext uri="{BB962C8B-B14F-4D97-AF65-F5344CB8AC3E}">
        <p14:creationId xmlns:p14="http://schemas.microsoft.com/office/powerpoint/2010/main" val="20851763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4">
            <a:extLst>
              <a:ext uri="{FF2B5EF4-FFF2-40B4-BE49-F238E27FC236}">
                <a16:creationId xmlns:a16="http://schemas.microsoft.com/office/drawing/2014/main" id="{E4C6FAE1-8FF2-E9C3-B988-E7B9FEFE8C30}"/>
              </a:ext>
            </a:extLst>
          </p:cNvPr>
          <p:cNvSpPr txBox="1"/>
          <p:nvPr/>
        </p:nvSpPr>
        <p:spPr>
          <a:xfrm>
            <a:off x="1524001" y="1196752"/>
            <a:ext cx="9211945" cy="521970"/>
          </a:xfrm>
          <a:prstGeom prst="rect">
            <a:avLst/>
          </a:prstGeom>
          <a:noFill/>
          <a:ln>
            <a:solidFill>
              <a:schemeClr val="tx1">
                <a:lumMod val="50000"/>
                <a:lumOff val="50000"/>
              </a:schemeClr>
            </a:solidFill>
          </a:ln>
        </p:spPr>
        <p:txBody>
          <a:bodyPr wrap="square" rtlCol="0">
            <a:spAutoFit/>
          </a:bodyPr>
          <a:lstStyle/>
          <a:p>
            <a:pPr algn="ctr"/>
            <a:r>
              <a:rPr lang="zh-CN" altLang="en-US" sz="2800" dirty="0">
                <a:latin typeface="Consolas" panose="020B0609020204030204" pitchFamily="49" charset="0"/>
                <a:ea typeface="宋体" panose="02010600030101010101" pitchFamily="2" charset="-122"/>
                <a:cs typeface="Consolas" panose="020B0609020204030204" pitchFamily="49" charset="0"/>
              </a:rPr>
              <a:t>如何修改？</a:t>
            </a:r>
            <a:endParaRPr lang="en-US" altLang="zh-CN" sz="2800" dirty="0">
              <a:latin typeface="Consolas" panose="020B0609020204030204" pitchFamily="49" charset="0"/>
              <a:ea typeface="宋体" panose="02010600030101010101" pitchFamily="2" charset="-122"/>
              <a:cs typeface="Consolas" panose="020B0609020204030204" pitchFamily="49" charset="0"/>
            </a:endParaRPr>
          </a:p>
        </p:txBody>
      </p:sp>
      <p:sp>
        <p:nvSpPr>
          <p:cNvPr id="3" name="TextBox 24">
            <a:extLst>
              <a:ext uri="{FF2B5EF4-FFF2-40B4-BE49-F238E27FC236}">
                <a16:creationId xmlns:a16="http://schemas.microsoft.com/office/drawing/2014/main" id="{332BD4D6-C63D-AE59-D4F7-CEBDE65B189C}"/>
              </a:ext>
            </a:extLst>
          </p:cNvPr>
          <p:cNvSpPr txBox="1"/>
          <p:nvPr/>
        </p:nvSpPr>
        <p:spPr>
          <a:xfrm>
            <a:off x="1493606" y="2564904"/>
            <a:ext cx="9211945" cy="521970"/>
          </a:xfrm>
          <a:prstGeom prst="rect">
            <a:avLst/>
          </a:prstGeom>
          <a:noFill/>
          <a:ln>
            <a:solidFill>
              <a:schemeClr val="tx1">
                <a:lumMod val="50000"/>
                <a:lumOff val="50000"/>
              </a:schemeClr>
            </a:solidFill>
          </a:ln>
        </p:spPr>
        <p:txBody>
          <a:bodyPr wrap="square" rtlCol="0">
            <a:spAutoFit/>
          </a:bodyPr>
          <a:lstStyle/>
          <a:p>
            <a:pPr algn="ctr"/>
            <a:r>
              <a:rPr lang="zh-CN" altLang="en-US" sz="2800" dirty="0">
                <a:latin typeface="Consolas" panose="020B0609020204030204" pitchFamily="49" charset="0"/>
                <a:ea typeface="宋体" panose="02010600030101010101" pitchFamily="2" charset="-122"/>
                <a:cs typeface="Consolas" panose="020B0609020204030204" pitchFamily="49" charset="0"/>
              </a:rPr>
              <a:t>假设要在</a:t>
            </a:r>
            <a:r>
              <a:rPr lang="en-US" altLang="zh-CN" sz="2800" dirty="0">
                <a:latin typeface="Consolas" panose="020B0609020204030204" pitchFamily="49" charset="0"/>
                <a:ea typeface="宋体" panose="02010600030101010101" pitchFamily="2" charset="-122"/>
                <a:cs typeface="Consolas" panose="020B0609020204030204" pitchFamily="49" charset="0"/>
              </a:rPr>
              <a:t>abcde</a:t>
            </a:r>
            <a:r>
              <a:rPr lang="zh-CN" altLang="en-US" sz="2800" dirty="0">
                <a:latin typeface="Consolas" panose="020B0609020204030204" pitchFamily="49" charset="0"/>
                <a:ea typeface="宋体" panose="02010600030101010101" pitchFamily="2" charset="-122"/>
                <a:cs typeface="Consolas" panose="020B0609020204030204" pitchFamily="49" charset="0"/>
              </a:rPr>
              <a:t>的</a:t>
            </a:r>
            <a:r>
              <a:rPr lang="en-US" altLang="zh-CN" sz="2800" dirty="0">
                <a:latin typeface="Consolas" panose="020B0609020204030204" pitchFamily="49" charset="0"/>
                <a:ea typeface="宋体" panose="02010600030101010101" pitchFamily="2" charset="-122"/>
                <a:cs typeface="Consolas" panose="020B0609020204030204" pitchFamily="49" charset="0"/>
              </a:rPr>
              <a:t>bc</a:t>
            </a:r>
            <a:r>
              <a:rPr lang="zh-CN" altLang="en-US" sz="2800" dirty="0">
                <a:latin typeface="Consolas" panose="020B0609020204030204" pitchFamily="49" charset="0"/>
                <a:ea typeface="宋体" panose="02010600030101010101" pitchFamily="2" charset="-122"/>
                <a:cs typeface="Consolas" panose="020B0609020204030204" pitchFamily="49" charset="0"/>
              </a:rPr>
              <a:t>和</a:t>
            </a:r>
            <a:r>
              <a:rPr lang="en-US" altLang="zh-CN" sz="2800" dirty="0">
                <a:latin typeface="Consolas" panose="020B0609020204030204" pitchFamily="49" charset="0"/>
                <a:ea typeface="宋体" panose="02010600030101010101" pitchFamily="2" charset="-122"/>
                <a:cs typeface="Consolas" panose="020B0609020204030204" pitchFamily="49" charset="0"/>
              </a:rPr>
              <a:t>de</a:t>
            </a:r>
            <a:r>
              <a:rPr lang="zh-CN" altLang="en-US" sz="2800" dirty="0">
                <a:latin typeface="Consolas" panose="020B0609020204030204" pitchFamily="49" charset="0"/>
                <a:ea typeface="宋体" panose="02010600030101010101" pitchFamily="2" charset="-122"/>
                <a:cs typeface="Consolas" panose="020B0609020204030204" pitchFamily="49" charset="0"/>
              </a:rPr>
              <a:t>之间插入空格</a:t>
            </a:r>
            <a:endParaRPr lang="en-US" altLang="zh-CN" sz="2800" dirty="0">
              <a:latin typeface="Consolas" panose="020B0609020204030204" pitchFamily="49" charset="0"/>
              <a:ea typeface="宋体" panose="02010600030101010101" pitchFamily="2" charset="-122"/>
              <a:cs typeface="Consolas" panose="020B0609020204030204" pitchFamily="49" charset="0"/>
            </a:endParaRPr>
          </a:p>
        </p:txBody>
      </p:sp>
      <p:pic>
        <p:nvPicPr>
          <p:cNvPr id="5" name="图片 4">
            <a:extLst>
              <a:ext uri="{FF2B5EF4-FFF2-40B4-BE49-F238E27FC236}">
                <a16:creationId xmlns:a16="http://schemas.microsoft.com/office/drawing/2014/main" id="{38D11C68-E1EB-A5FC-4528-8F2C6604AFC4}"/>
              </a:ext>
            </a:extLst>
          </p:cNvPr>
          <p:cNvPicPr>
            <a:picLocks noChangeAspect="1"/>
          </p:cNvPicPr>
          <p:nvPr/>
        </p:nvPicPr>
        <p:blipFill>
          <a:blip r:embed="rId2"/>
          <a:stretch>
            <a:fillRect/>
          </a:stretch>
        </p:blipFill>
        <p:spPr>
          <a:xfrm>
            <a:off x="3428184" y="3797023"/>
            <a:ext cx="5335633" cy="1159920"/>
          </a:xfrm>
          <a:prstGeom prst="rect">
            <a:avLst/>
          </a:prstGeom>
        </p:spPr>
      </p:pic>
      <p:sp>
        <p:nvSpPr>
          <p:cNvPr id="4" name="灯片编号占位符 3">
            <a:extLst>
              <a:ext uri="{FF2B5EF4-FFF2-40B4-BE49-F238E27FC236}">
                <a16:creationId xmlns:a16="http://schemas.microsoft.com/office/drawing/2014/main" id="{9A5C0345-3933-4062-A6D2-73997EF12659}"/>
              </a:ext>
            </a:extLst>
          </p:cNvPr>
          <p:cNvSpPr>
            <a:spLocks noGrp="1"/>
          </p:cNvSpPr>
          <p:nvPr>
            <p:ph type="sldNum" sz="quarter" idx="12"/>
          </p:nvPr>
        </p:nvSpPr>
        <p:spPr/>
        <p:txBody>
          <a:bodyPr/>
          <a:lstStyle/>
          <a:p>
            <a:fld id="{0C913308-F349-4B6D-A68A-DD1791B4A57B}" type="slidenum">
              <a:rPr lang="zh-CN" altLang="en-US" smtClean="0"/>
              <a:t>30</a:t>
            </a:fld>
            <a:endParaRPr lang="zh-CN" altLang="en-US"/>
          </a:p>
        </p:txBody>
      </p:sp>
      <p:sp>
        <p:nvSpPr>
          <p:cNvPr id="6" name="文本框 5">
            <a:extLst>
              <a:ext uri="{FF2B5EF4-FFF2-40B4-BE49-F238E27FC236}">
                <a16:creationId xmlns:a16="http://schemas.microsoft.com/office/drawing/2014/main" id="{D6EF0B0C-C3CD-43E9-829E-F2510D2EE021}"/>
              </a:ext>
            </a:extLst>
          </p:cNvPr>
          <p:cNvSpPr txBox="1"/>
          <p:nvPr/>
        </p:nvSpPr>
        <p:spPr>
          <a:xfrm>
            <a:off x="4223792" y="5199583"/>
            <a:ext cx="3672408" cy="461665"/>
          </a:xfrm>
          <a:prstGeom prst="rect">
            <a:avLst/>
          </a:prstGeom>
          <a:solidFill>
            <a:schemeClr val="accent4"/>
          </a:solidFill>
        </p:spPr>
        <p:txBody>
          <a:bodyPr wrap="square">
            <a:spAutoFit/>
          </a:bodyPr>
          <a:lstStyle>
            <a:defPPr>
              <a:defRPr lang="zh-CN"/>
            </a:defPPr>
            <a:lvl1pPr>
              <a:defRPr sz="2000" b="1">
                <a:solidFill>
                  <a:srgbClr val="00B050"/>
                </a:solidFill>
                <a:latin typeface="Consolas" panose="020B0609020204030204" pitchFamily="49" charset="0"/>
                <a:ea typeface="宋体" panose="02010600030101010101" pitchFamily="2" charset="-122"/>
              </a:defRPr>
            </a:lvl1pPr>
          </a:lstStyle>
          <a:p>
            <a:r>
              <a:rPr lang="zh-CN" altLang="en-US" sz="2400"/>
              <a:t>从后往前处理，依次插入</a:t>
            </a:r>
          </a:p>
        </p:txBody>
      </p:sp>
    </p:spTree>
    <p:extLst>
      <p:ext uri="{BB962C8B-B14F-4D97-AF65-F5344CB8AC3E}">
        <p14:creationId xmlns:p14="http://schemas.microsoft.com/office/powerpoint/2010/main" val="4069676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001B9669-9125-CD7E-ECA7-FADCDF4E1229}"/>
              </a:ext>
            </a:extLst>
          </p:cNvPr>
          <p:cNvPicPr>
            <a:picLocks noChangeAspect="1"/>
          </p:cNvPicPr>
          <p:nvPr/>
        </p:nvPicPr>
        <p:blipFill>
          <a:blip r:embed="rId2"/>
          <a:stretch>
            <a:fillRect/>
          </a:stretch>
        </p:blipFill>
        <p:spPr>
          <a:xfrm>
            <a:off x="1991544" y="1772816"/>
            <a:ext cx="7612794" cy="3024336"/>
          </a:xfrm>
          <a:prstGeom prst="rect">
            <a:avLst/>
          </a:prstGeom>
        </p:spPr>
      </p:pic>
      <p:sp>
        <p:nvSpPr>
          <p:cNvPr id="13" name="矩形 12">
            <a:extLst>
              <a:ext uri="{FF2B5EF4-FFF2-40B4-BE49-F238E27FC236}">
                <a16:creationId xmlns:a16="http://schemas.microsoft.com/office/drawing/2014/main" id="{D5967146-65C5-E475-BDAE-51A23E14114A}"/>
              </a:ext>
            </a:extLst>
          </p:cNvPr>
          <p:cNvSpPr/>
          <p:nvPr/>
        </p:nvSpPr>
        <p:spPr>
          <a:xfrm>
            <a:off x="3143672" y="2348880"/>
            <a:ext cx="1512168" cy="296018"/>
          </a:xfrm>
          <a:prstGeom prst="rect">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anose="020B0609020204030204" pitchFamily="49" charset="0"/>
              <a:cs typeface="Consolas" panose="020B0609020204030204" pitchFamily="49" charset="0"/>
            </a:endParaRPr>
          </a:p>
        </p:txBody>
      </p:sp>
      <p:pic>
        <p:nvPicPr>
          <p:cNvPr id="5" name="图片 4">
            <a:extLst>
              <a:ext uri="{FF2B5EF4-FFF2-40B4-BE49-F238E27FC236}">
                <a16:creationId xmlns:a16="http://schemas.microsoft.com/office/drawing/2014/main" id="{36720605-C349-3A16-A54E-661EEDA723E9}"/>
              </a:ext>
            </a:extLst>
          </p:cNvPr>
          <p:cNvPicPr>
            <a:picLocks noChangeAspect="1"/>
          </p:cNvPicPr>
          <p:nvPr/>
        </p:nvPicPr>
        <p:blipFill>
          <a:blip r:embed="rId3"/>
          <a:stretch>
            <a:fillRect/>
          </a:stretch>
        </p:blipFill>
        <p:spPr>
          <a:xfrm>
            <a:off x="2063552" y="1196752"/>
            <a:ext cx="5966454" cy="393000"/>
          </a:xfrm>
          <a:prstGeom prst="rect">
            <a:avLst/>
          </a:prstGeom>
        </p:spPr>
      </p:pic>
      <p:sp>
        <p:nvSpPr>
          <p:cNvPr id="2" name="灯片编号占位符 1">
            <a:extLst>
              <a:ext uri="{FF2B5EF4-FFF2-40B4-BE49-F238E27FC236}">
                <a16:creationId xmlns:a16="http://schemas.microsoft.com/office/drawing/2014/main" id="{B7AD2ADD-C788-4C64-A0D0-3232149DB3BB}"/>
              </a:ext>
            </a:extLst>
          </p:cNvPr>
          <p:cNvSpPr>
            <a:spLocks noGrp="1"/>
          </p:cNvSpPr>
          <p:nvPr>
            <p:ph type="sldNum" sz="quarter" idx="12"/>
          </p:nvPr>
        </p:nvSpPr>
        <p:spPr/>
        <p:txBody>
          <a:bodyPr/>
          <a:lstStyle/>
          <a:p>
            <a:fld id="{0C913308-F349-4B6D-A68A-DD1791B4A57B}" type="slidenum">
              <a:rPr lang="zh-CN" altLang="en-US" smtClean="0"/>
              <a:t>31</a:t>
            </a:fld>
            <a:endParaRPr lang="zh-CN" altLang="en-US"/>
          </a:p>
        </p:txBody>
      </p:sp>
    </p:spTree>
    <p:extLst>
      <p:ext uri="{BB962C8B-B14F-4D97-AF65-F5344CB8AC3E}">
        <p14:creationId xmlns:p14="http://schemas.microsoft.com/office/powerpoint/2010/main" val="5543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1E976-E7D6-8426-B05A-DB40C48F6393}"/>
            </a:ext>
          </a:extLst>
        </p:cNvPr>
        <p:cNvGrpSpPr/>
        <p:nvPr/>
      </p:nvGrpSpPr>
      <p:grpSpPr>
        <a:xfrm>
          <a:off x="0" y="0"/>
          <a:ext cx="0" cy="0"/>
          <a:chOff x="0" y="0"/>
          <a:chExt cx="0" cy="0"/>
        </a:xfrm>
      </p:grpSpPr>
      <p:sp>
        <p:nvSpPr>
          <p:cNvPr id="2" name="TextBox 3">
            <a:extLst>
              <a:ext uri="{FF2B5EF4-FFF2-40B4-BE49-F238E27FC236}">
                <a16:creationId xmlns:a16="http://schemas.microsoft.com/office/drawing/2014/main" id="{58AF0DB1-FA76-B53F-770F-A54555503574}"/>
              </a:ext>
            </a:extLst>
          </p:cNvPr>
          <p:cNvSpPr txBox="1"/>
          <p:nvPr/>
        </p:nvSpPr>
        <p:spPr>
          <a:xfrm>
            <a:off x="-210616" y="2636912"/>
            <a:ext cx="12613232" cy="1015659"/>
          </a:xfrm>
          <a:prstGeom prst="rect">
            <a:avLst/>
          </a:prstGeom>
          <a:solidFill>
            <a:srgbClr val="F2F2F2"/>
          </a:solidFill>
          <a:ln w="12700">
            <a:solidFill>
              <a:srgbClr val="4A452A"/>
            </a:solidFill>
          </a:ln>
        </p:spPr>
        <p:txBody>
          <a:bodyPr wrap="square" lIns="45718" tIns="45718" rIns="45718" bIns="45718">
            <a:spAutoFit/>
          </a:bodyPr>
          <a:lstStyle>
            <a:defPPr>
              <a:defRPr lang="zh-CN"/>
            </a:defPPr>
            <a:lvl1pPr algn="ctr" defTabSz="914367">
              <a:defRPr sz="3937">
                <a:latin typeface="Calibri"/>
                <a:ea typeface="Calibri"/>
                <a:cs typeface="Calibri"/>
              </a:defRPr>
            </a:lvl1pPr>
          </a:lstStyle>
          <a:p>
            <a:pPr>
              <a:defRPr sz="5600">
                <a:latin typeface="Calibri"/>
                <a:ea typeface="Calibri"/>
                <a:cs typeface="Calibri"/>
                <a:sym typeface="Calibri"/>
              </a:defRPr>
            </a:pPr>
            <a:r>
              <a:rPr lang="en-US" altLang="zh-CN" sz="6000" dirty="0"/>
              <a:t>T3 </a:t>
            </a:r>
            <a:r>
              <a:rPr lang="zh-CN" altLang="en-US" sz="6000"/>
              <a:t>新生入学</a:t>
            </a:r>
            <a:endParaRPr lang="zh-CN" altLang="en-US" sz="6000" dirty="0"/>
          </a:p>
        </p:txBody>
      </p:sp>
      <p:sp>
        <p:nvSpPr>
          <p:cNvPr id="4" name="灯片编号占位符 3">
            <a:extLst>
              <a:ext uri="{FF2B5EF4-FFF2-40B4-BE49-F238E27FC236}">
                <a16:creationId xmlns:a16="http://schemas.microsoft.com/office/drawing/2014/main" id="{59D79162-2E5E-2A96-CC9E-D0A2FD574880}"/>
              </a:ext>
            </a:extLst>
          </p:cNvPr>
          <p:cNvSpPr>
            <a:spLocks noGrp="1"/>
          </p:cNvSpPr>
          <p:nvPr>
            <p:ph type="sldNum" sz="quarter" idx="2"/>
          </p:nvPr>
        </p:nvSpPr>
        <p:spPr/>
        <p:txBody>
          <a:bodyPr/>
          <a:lstStyle/>
          <a:p>
            <a:fld id="{86CB4B4D-7CA3-9044-876B-883B54F8677D}" type="slidenum">
              <a:rPr lang="en-US" altLang="zh-CN" smtClean="0"/>
              <a:t>32</a:t>
            </a:fld>
            <a:endParaRPr lang="en-US" altLang="zh-CN" dirty="0"/>
          </a:p>
        </p:txBody>
      </p:sp>
    </p:spTree>
    <p:extLst>
      <p:ext uri="{BB962C8B-B14F-4D97-AF65-F5344CB8AC3E}">
        <p14:creationId xmlns:p14="http://schemas.microsoft.com/office/powerpoint/2010/main" val="708118808"/>
      </p:ext>
    </p:extLst>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19037A0C-02DA-974C-7EA0-20B2B115A5B4}"/>
              </a:ext>
            </a:extLst>
          </p:cNvPr>
          <p:cNvSpPr/>
          <p:nvPr/>
        </p:nvSpPr>
        <p:spPr>
          <a:xfrm>
            <a:off x="3430774" y="980728"/>
            <a:ext cx="5330452" cy="1077218"/>
          </a:xfrm>
          <a:prstGeom prst="rect">
            <a:avLst/>
          </a:prstGeom>
          <a:noFill/>
          <a:ln>
            <a:solidFill>
              <a:schemeClr val="bg2">
                <a:lumMod val="25000"/>
              </a:schemeClr>
            </a:solidFill>
          </a:ln>
        </p:spPr>
        <p:txBody>
          <a:bodyPr wrap="square">
            <a:spAutoFit/>
          </a:bodyPr>
          <a:lstStyle/>
          <a:p>
            <a:pPr algn="ctr"/>
            <a:r>
              <a:rPr lang="zh-CN" altLang="en-US" sz="3200" dirty="0">
                <a:latin typeface="Consolas" pitchFamily="49" charset="0"/>
                <a:cs typeface="Consolas" pitchFamily="49" charset="0"/>
              </a:rPr>
              <a:t>请同学写出题目大意</a:t>
            </a:r>
            <a:endParaRPr lang="en-US" altLang="zh-CN" sz="3200" dirty="0">
              <a:latin typeface="Consolas" pitchFamily="49" charset="0"/>
              <a:cs typeface="Consolas" pitchFamily="49" charset="0"/>
            </a:endParaRPr>
          </a:p>
          <a:p>
            <a:pPr algn="ctr"/>
            <a:r>
              <a:rPr lang="zh-CN" altLang="en-US" sz="3200" dirty="0">
                <a:latin typeface="Consolas" pitchFamily="49" charset="0"/>
                <a:cs typeface="Consolas" pitchFamily="49" charset="0"/>
              </a:rPr>
              <a:t>已知什么求什么</a:t>
            </a:r>
          </a:p>
        </p:txBody>
      </p:sp>
      <p:sp>
        <p:nvSpPr>
          <p:cNvPr id="7" name="矩形 6">
            <a:extLst>
              <a:ext uri="{FF2B5EF4-FFF2-40B4-BE49-F238E27FC236}">
                <a16:creationId xmlns:a16="http://schemas.microsoft.com/office/drawing/2014/main" id="{6BE282AC-317D-5183-EE87-7B639BEC9DF4}"/>
              </a:ext>
            </a:extLst>
          </p:cNvPr>
          <p:cNvSpPr/>
          <p:nvPr/>
        </p:nvSpPr>
        <p:spPr>
          <a:xfrm>
            <a:off x="3072594" y="2708920"/>
            <a:ext cx="6192688" cy="1143390"/>
          </a:xfrm>
          <a:prstGeom prst="rect">
            <a:avLst/>
          </a:prstGeom>
          <a:noFill/>
          <a:ln>
            <a:solidFill>
              <a:schemeClr val="bg2">
                <a:lumMod val="25000"/>
              </a:schemeClr>
            </a:solidFill>
          </a:ln>
        </p:spPr>
        <p:txBody>
          <a:bodyPr wrap="square">
            <a:spAutoFit/>
          </a:bodyPr>
          <a:lstStyle/>
          <a:p>
            <a:pPr algn="just">
              <a:lnSpc>
                <a:spcPct val="150000"/>
              </a:lnSpc>
            </a:pPr>
            <a:r>
              <a:rPr lang="zh-CN" altLang="en-US" sz="2400" dirty="0">
                <a:latin typeface="Consolas" pitchFamily="49" charset="0"/>
                <a:cs typeface="Consolas" pitchFamily="49" charset="0"/>
              </a:rPr>
              <a:t>共</a:t>
            </a:r>
            <a:r>
              <a:rPr lang="en-US" altLang="zh-CN" sz="2400" dirty="0">
                <a:latin typeface="Consolas" pitchFamily="49" charset="0"/>
                <a:cs typeface="Consolas" pitchFamily="49" charset="0"/>
              </a:rPr>
              <a:t>n</a:t>
            </a:r>
            <a:r>
              <a:rPr lang="zh-CN" altLang="en-US" sz="2400" dirty="0">
                <a:latin typeface="Consolas" pitchFamily="49" charset="0"/>
                <a:cs typeface="Consolas" pitchFamily="49" charset="0"/>
              </a:rPr>
              <a:t>人，</a:t>
            </a:r>
            <a:r>
              <a:rPr lang="en-US" altLang="zh-CN" sz="2400" dirty="0">
                <a:latin typeface="Consolas" pitchFamily="49" charset="0"/>
                <a:cs typeface="Consolas" pitchFamily="49" charset="0"/>
              </a:rPr>
              <a:t>i</a:t>
            </a:r>
            <a:r>
              <a:rPr lang="zh-CN" altLang="en-US" sz="2400" dirty="0">
                <a:latin typeface="Consolas" pitchFamily="49" charset="0"/>
                <a:cs typeface="Consolas" pitchFamily="49" charset="0"/>
              </a:rPr>
              <a:t>号人停留时间</a:t>
            </a:r>
            <a:r>
              <a:rPr lang="en-US" altLang="zh-CN" sz="2400" dirty="0">
                <a:latin typeface="Consolas" pitchFamily="49" charset="0"/>
                <a:cs typeface="Consolas" pitchFamily="49" charset="0"/>
              </a:rPr>
              <a:t>[Li,Ri]</a:t>
            </a:r>
            <a:r>
              <a:rPr lang="zh-CN" altLang="en-US" sz="2400" dirty="0">
                <a:latin typeface="Consolas" pitchFamily="49" charset="0"/>
                <a:cs typeface="Consolas" pitchFamily="49" charset="0"/>
              </a:rPr>
              <a:t>，每次最多接走</a:t>
            </a:r>
            <a:r>
              <a:rPr lang="en-US" altLang="zh-CN" sz="2400" dirty="0">
                <a:latin typeface="Consolas" pitchFamily="49" charset="0"/>
                <a:cs typeface="Consolas" pitchFamily="49" charset="0"/>
              </a:rPr>
              <a:t>k</a:t>
            </a:r>
            <a:r>
              <a:rPr lang="zh-CN" altLang="en-US" sz="2400" dirty="0">
                <a:latin typeface="Consolas" pitchFamily="49" charset="0"/>
                <a:cs typeface="Consolas" pitchFamily="49" charset="0"/>
              </a:rPr>
              <a:t>人，要全部接走，求最少接几次</a:t>
            </a:r>
            <a:r>
              <a:rPr lang="en-US" altLang="zh-CN" sz="2400" dirty="0">
                <a:latin typeface="Consolas" pitchFamily="49" charset="0"/>
                <a:cs typeface="Consolas" pitchFamily="49" charset="0"/>
              </a:rPr>
              <a:t>?</a:t>
            </a:r>
            <a:endParaRPr lang="zh-CN" altLang="zh-CN" sz="2400" dirty="0">
              <a:latin typeface="Consolas" pitchFamily="49" charset="0"/>
              <a:cs typeface="Consolas" pitchFamily="49" charset="0"/>
            </a:endParaRPr>
          </a:p>
        </p:txBody>
      </p:sp>
      <p:sp>
        <p:nvSpPr>
          <p:cNvPr id="2" name="灯片编号占位符 1">
            <a:extLst>
              <a:ext uri="{FF2B5EF4-FFF2-40B4-BE49-F238E27FC236}">
                <a16:creationId xmlns:a16="http://schemas.microsoft.com/office/drawing/2014/main" id="{68A3E037-9638-42D4-9D17-349EA9564E71}"/>
              </a:ext>
            </a:extLst>
          </p:cNvPr>
          <p:cNvSpPr>
            <a:spLocks noGrp="1"/>
          </p:cNvSpPr>
          <p:nvPr>
            <p:ph type="sldNum" sz="quarter" idx="12"/>
          </p:nvPr>
        </p:nvSpPr>
        <p:spPr/>
        <p:txBody>
          <a:bodyPr/>
          <a:lstStyle/>
          <a:p>
            <a:fld id="{0C913308-F349-4B6D-A68A-DD1791B4A57B}" type="slidenum">
              <a:rPr lang="zh-CN" altLang="en-US" smtClean="0"/>
              <a:t>33</a:t>
            </a:fld>
            <a:endParaRPr lang="zh-CN" altLang="en-US"/>
          </a:p>
        </p:txBody>
      </p:sp>
    </p:spTree>
    <p:extLst>
      <p:ext uri="{BB962C8B-B14F-4D97-AF65-F5344CB8AC3E}">
        <p14:creationId xmlns:p14="http://schemas.microsoft.com/office/powerpoint/2010/main" val="3598036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1"/>
          <p:cNvSpPr txBox="1">
            <a:spLocks/>
          </p:cNvSpPr>
          <p:nvPr/>
        </p:nvSpPr>
        <p:spPr>
          <a:xfrm>
            <a:off x="2329064" y="320998"/>
            <a:ext cx="7505700" cy="443707"/>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4000" dirty="0">
                <a:solidFill>
                  <a:schemeClr val="tx1"/>
                </a:solidFill>
                <a:latin typeface="Consolas" pitchFamily="49" charset="0"/>
                <a:cs typeface="Consolas" pitchFamily="49" charset="0"/>
              </a:rPr>
              <a:t>部分分策略讨论</a:t>
            </a:r>
          </a:p>
        </p:txBody>
      </p:sp>
      <p:sp>
        <p:nvSpPr>
          <p:cNvPr id="15" name="矩形 14">
            <a:extLst>
              <a:ext uri="{FF2B5EF4-FFF2-40B4-BE49-F238E27FC236}">
                <a16:creationId xmlns:a16="http://schemas.microsoft.com/office/drawing/2014/main" id="{AF58475B-481F-85F8-0589-70A22D331E8D}"/>
              </a:ext>
            </a:extLst>
          </p:cNvPr>
          <p:cNvSpPr/>
          <p:nvPr/>
        </p:nvSpPr>
        <p:spPr>
          <a:xfrm>
            <a:off x="3239038" y="1839530"/>
            <a:ext cx="7249450" cy="3700308"/>
          </a:xfrm>
          <a:prstGeom prst="rect">
            <a:avLst/>
          </a:prstGeom>
          <a:noFill/>
          <a:ln>
            <a:solidFill>
              <a:schemeClr val="bg2">
                <a:lumMod val="25000"/>
              </a:schemeClr>
            </a:solidFill>
          </a:ln>
        </p:spPr>
        <p:txBody>
          <a:bodyPr wrap="square">
            <a:spAutoFit/>
          </a:bodyPr>
          <a:lstStyle/>
          <a:p>
            <a:pPr>
              <a:lnSpc>
                <a:spcPct val="200000"/>
              </a:lnSpc>
            </a:pPr>
            <a:r>
              <a:rPr lang="zh-CN" altLang="zh-CN" sz="2000" dirty="0"/>
              <a:t>【数据规模与约定】</a:t>
            </a:r>
          </a:p>
          <a:p>
            <a:pPr>
              <a:lnSpc>
                <a:spcPct val="200000"/>
              </a:lnSpc>
            </a:pPr>
            <a:r>
              <a:rPr lang="en-US" altLang="zh-CN" sz="2000" dirty="0"/>
              <a:t>1</a:t>
            </a:r>
            <a:r>
              <a:rPr lang="zh-CN" altLang="zh-CN" sz="2000" dirty="0"/>
              <a:t>号数据：</a:t>
            </a:r>
            <a:r>
              <a:rPr lang="en-US" altLang="zh-CN" sz="2000" dirty="0"/>
              <a:t>k=1</a:t>
            </a:r>
            <a:endParaRPr lang="zh-CN" altLang="zh-CN" sz="2000" dirty="0"/>
          </a:p>
          <a:p>
            <a:pPr>
              <a:lnSpc>
                <a:spcPct val="200000"/>
              </a:lnSpc>
            </a:pPr>
            <a:r>
              <a:rPr lang="en-US" altLang="zh-CN" sz="2000" dirty="0"/>
              <a:t>2</a:t>
            </a:r>
            <a:r>
              <a:rPr lang="zh-CN" altLang="zh-CN" sz="2000" dirty="0"/>
              <a:t>号数据：</a:t>
            </a:r>
            <a:r>
              <a:rPr lang="en-US" altLang="zh-CN" sz="2000" dirty="0"/>
              <a:t>k=2</a:t>
            </a:r>
            <a:endParaRPr lang="zh-CN" altLang="zh-CN" sz="2000" dirty="0"/>
          </a:p>
          <a:p>
            <a:pPr>
              <a:lnSpc>
                <a:spcPct val="200000"/>
              </a:lnSpc>
            </a:pPr>
            <a:r>
              <a:rPr lang="en-US" altLang="zh-CN" sz="2000" dirty="0"/>
              <a:t>3</a:t>
            </a:r>
            <a:r>
              <a:rPr lang="zh-CN" altLang="zh-CN" sz="2000" dirty="0"/>
              <a:t>号数据：对于所有</a:t>
            </a:r>
            <a:r>
              <a:rPr lang="en-US" altLang="zh-CN" sz="2000" dirty="0"/>
              <a:t>i</a:t>
            </a:r>
            <a:r>
              <a:rPr lang="zh-CN" altLang="zh-CN" sz="2000" dirty="0"/>
              <a:t>：</a:t>
            </a:r>
            <a:r>
              <a:rPr lang="en-US" altLang="zh-CN" sz="2000" dirty="0"/>
              <a:t>L[i]=R[i]</a:t>
            </a:r>
            <a:endParaRPr lang="zh-CN" altLang="zh-CN" sz="2000" dirty="0"/>
          </a:p>
          <a:p>
            <a:pPr>
              <a:lnSpc>
                <a:spcPct val="200000"/>
              </a:lnSpc>
            </a:pPr>
            <a:r>
              <a:rPr lang="en-US" altLang="zh-CN" sz="2000" dirty="0"/>
              <a:t>4</a:t>
            </a:r>
            <a:r>
              <a:rPr lang="zh-CN" altLang="zh-CN" sz="2000" dirty="0"/>
              <a:t>号数据：对于所有</a:t>
            </a:r>
            <a:r>
              <a:rPr lang="en-US" altLang="zh-CN" sz="2000" dirty="0"/>
              <a:t>i</a:t>
            </a:r>
            <a:r>
              <a:rPr lang="zh-CN" altLang="zh-CN" sz="2000" dirty="0"/>
              <a:t>：</a:t>
            </a:r>
            <a:r>
              <a:rPr lang="en-US" altLang="zh-CN" sz="2000" dirty="0"/>
              <a:t>R[i]-L[i]</a:t>
            </a:r>
            <a:r>
              <a:rPr lang="zh-CN" altLang="zh-CN" sz="2000" dirty="0"/>
              <a:t>均为</a:t>
            </a:r>
            <a:r>
              <a:rPr lang="en-US" altLang="zh-CN" sz="2000" dirty="0"/>
              <a:t>10</a:t>
            </a:r>
            <a:endParaRPr lang="zh-CN" altLang="zh-CN" sz="2000" dirty="0"/>
          </a:p>
          <a:p>
            <a:pPr>
              <a:lnSpc>
                <a:spcPct val="200000"/>
              </a:lnSpc>
            </a:pPr>
            <a:r>
              <a:rPr lang="en-US" altLang="zh-CN" sz="2000" dirty="0"/>
              <a:t>5-10</a:t>
            </a:r>
            <a:r>
              <a:rPr lang="zh-CN" altLang="zh-CN" sz="2000" dirty="0"/>
              <a:t>号数据：</a:t>
            </a:r>
            <a:r>
              <a:rPr lang="en-US" altLang="zh-CN" sz="2000" dirty="0"/>
              <a:t>k&lt;=n&lt;=100000</a:t>
            </a:r>
            <a:r>
              <a:rPr lang="zh-CN" altLang="zh-CN" sz="2000" dirty="0"/>
              <a:t>，</a:t>
            </a:r>
            <a:r>
              <a:rPr lang="en-US" altLang="zh-CN" sz="2000" dirty="0"/>
              <a:t>L[i]</a:t>
            </a:r>
            <a:r>
              <a:rPr lang="zh-CN" altLang="zh-CN" sz="2000" dirty="0"/>
              <a:t>和</a:t>
            </a:r>
            <a:r>
              <a:rPr lang="en-US" altLang="zh-CN" sz="2000" dirty="0"/>
              <a:t>R[i]</a:t>
            </a:r>
            <a:r>
              <a:rPr lang="zh-CN" altLang="zh-CN" sz="2000" dirty="0"/>
              <a:t>均不超过</a:t>
            </a:r>
            <a:r>
              <a:rPr lang="en-US" altLang="zh-CN" sz="2000" dirty="0"/>
              <a:t>1000000000</a:t>
            </a:r>
            <a:endParaRPr lang="zh-CN" altLang="zh-CN" sz="2000" dirty="0"/>
          </a:p>
        </p:txBody>
      </p:sp>
      <p:sp>
        <p:nvSpPr>
          <p:cNvPr id="3" name="矩形 2">
            <a:extLst>
              <a:ext uri="{FF2B5EF4-FFF2-40B4-BE49-F238E27FC236}">
                <a16:creationId xmlns:a16="http://schemas.microsoft.com/office/drawing/2014/main" id="{FCB26537-0FDC-E9F3-46D7-ABD12B532CC8}"/>
              </a:ext>
            </a:extLst>
          </p:cNvPr>
          <p:cNvSpPr/>
          <p:nvPr/>
        </p:nvSpPr>
        <p:spPr>
          <a:xfrm>
            <a:off x="1127448" y="2712730"/>
            <a:ext cx="2075078" cy="338554"/>
          </a:xfrm>
          <a:prstGeom prst="rect">
            <a:avLst/>
          </a:prstGeom>
          <a:solidFill>
            <a:schemeClr val="bg1">
              <a:lumMod val="95000"/>
            </a:schemeClr>
          </a:solidFill>
          <a:ln>
            <a:solidFill>
              <a:schemeClr val="bg2">
                <a:lumMod val="25000"/>
              </a:schemeClr>
            </a:solidFill>
          </a:ln>
        </p:spPr>
        <p:txBody>
          <a:bodyPr wrap="square">
            <a:spAutoFit/>
          </a:bodyPr>
          <a:lstStyle/>
          <a:p>
            <a:pPr algn="ctr"/>
            <a:r>
              <a:rPr lang="zh-CN" altLang="en-US" sz="1600" dirty="0">
                <a:latin typeface="Consolas" pitchFamily="49" charset="0"/>
                <a:cs typeface="Consolas" pitchFamily="49" charset="0"/>
              </a:rPr>
              <a:t>送分</a:t>
            </a:r>
            <a:endParaRPr lang="zh-CN" altLang="zh-CN" sz="1600" dirty="0">
              <a:latin typeface="Consolas" pitchFamily="49" charset="0"/>
              <a:cs typeface="Consolas" pitchFamily="49" charset="0"/>
            </a:endParaRPr>
          </a:p>
        </p:txBody>
      </p:sp>
      <p:sp>
        <p:nvSpPr>
          <p:cNvPr id="4" name="矩形 3">
            <a:extLst>
              <a:ext uri="{FF2B5EF4-FFF2-40B4-BE49-F238E27FC236}">
                <a16:creationId xmlns:a16="http://schemas.microsoft.com/office/drawing/2014/main" id="{6CAD3FFE-0C18-7092-660E-4B81C19D80E1}"/>
              </a:ext>
            </a:extLst>
          </p:cNvPr>
          <p:cNvSpPr/>
          <p:nvPr/>
        </p:nvSpPr>
        <p:spPr>
          <a:xfrm>
            <a:off x="1127448" y="3362830"/>
            <a:ext cx="2075078" cy="338554"/>
          </a:xfrm>
          <a:prstGeom prst="rect">
            <a:avLst/>
          </a:prstGeom>
          <a:solidFill>
            <a:schemeClr val="bg1">
              <a:lumMod val="95000"/>
            </a:schemeClr>
          </a:solidFill>
          <a:ln>
            <a:solidFill>
              <a:schemeClr val="bg2">
                <a:lumMod val="25000"/>
              </a:schemeClr>
            </a:solidFill>
          </a:ln>
        </p:spPr>
        <p:txBody>
          <a:bodyPr wrap="square">
            <a:spAutoFit/>
          </a:bodyPr>
          <a:lstStyle/>
          <a:p>
            <a:pPr algn="ctr"/>
            <a:r>
              <a:rPr lang="zh-CN" altLang="en-US" sz="1600" dirty="0">
                <a:latin typeface="Consolas" pitchFamily="49" charset="0"/>
                <a:cs typeface="Consolas" pitchFamily="49" charset="0"/>
              </a:rPr>
              <a:t>简化问题启发思路</a:t>
            </a:r>
            <a:endParaRPr lang="zh-CN" altLang="zh-CN" sz="1600" dirty="0">
              <a:latin typeface="Consolas" pitchFamily="49" charset="0"/>
              <a:cs typeface="Consolas" pitchFamily="49" charset="0"/>
            </a:endParaRPr>
          </a:p>
        </p:txBody>
      </p:sp>
      <p:sp>
        <p:nvSpPr>
          <p:cNvPr id="6" name="矩形 5">
            <a:extLst>
              <a:ext uri="{FF2B5EF4-FFF2-40B4-BE49-F238E27FC236}">
                <a16:creationId xmlns:a16="http://schemas.microsoft.com/office/drawing/2014/main" id="{01E70D4A-8FC1-1644-196D-BE3A7FAD3475}"/>
              </a:ext>
            </a:extLst>
          </p:cNvPr>
          <p:cNvSpPr/>
          <p:nvPr/>
        </p:nvSpPr>
        <p:spPr>
          <a:xfrm>
            <a:off x="1127448" y="3931028"/>
            <a:ext cx="2075078" cy="338554"/>
          </a:xfrm>
          <a:prstGeom prst="rect">
            <a:avLst/>
          </a:prstGeom>
          <a:solidFill>
            <a:schemeClr val="bg1">
              <a:lumMod val="95000"/>
            </a:schemeClr>
          </a:solidFill>
          <a:ln>
            <a:solidFill>
              <a:schemeClr val="bg2">
                <a:lumMod val="25000"/>
              </a:schemeClr>
            </a:solidFill>
          </a:ln>
        </p:spPr>
        <p:txBody>
          <a:bodyPr wrap="square">
            <a:spAutoFit/>
          </a:bodyPr>
          <a:lstStyle/>
          <a:p>
            <a:pPr algn="ctr"/>
            <a:r>
              <a:rPr lang="zh-CN" altLang="en-US" sz="1600" dirty="0">
                <a:latin typeface="Consolas" pitchFamily="49" charset="0"/>
                <a:cs typeface="Consolas" pitchFamily="49" charset="0"/>
              </a:rPr>
              <a:t>送分</a:t>
            </a:r>
            <a:endParaRPr lang="zh-CN" altLang="zh-CN" sz="1600" dirty="0">
              <a:latin typeface="Consolas" pitchFamily="49" charset="0"/>
              <a:cs typeface="Consolas" pitchFamily="49" charset="0"/>
            </a:endParaRPr>
          </a:p>
        </p:txBody>
      </p:sp>
      <p:sp>
        <p:nvSpPr>
          <p:cNvPr id="7" name="矩形 6">
            <a:extLst>
              <a:ext uri="{FF2B5EF4-FFF2-40B4-BE49-F238E27FC236}">
                <a16:creationId xmlns:a16="http://schemas.microsoft.com/office/drawing/2014/main" id="{C4897784-5BA9-8675-A4C0-A3E56192CE23}"/>
              </a:ext>
            </a:extLst>
          </p:cNvPr>
          <p:cNvSpPr/>
          <p:nvPr/>
        </p:nvSpPr>
        <p:spPr>
          <a:xfrm>
            <a:off x="1127448" y="4581128"/>
            <a:ext cx="2075078" cy="338554"/>
          </a:xfrm>
          <a:prstGeom prst="rect">
            <a:avLst/>
          </a:prstGeom>
          <a:solidFill>
            <a:schemeClr val="bg1">
              <a:lumMod val="95000"/>
            </a:schemeClr>
          </a:solidFill>
          <a:ln>
            <a:solidFill>
              <a:schemeClr val="bg2">
                <a:lumMod val="25000"/>
              </a:schemeClr>
            </a:solidFill>
          </a:ln>
        </p:spPr>
        <p:txBody>
          <a:bodyPr wrap="square">
            <a:spAutoFit/>
          </a:bodyPr>
          <a:lstStyle/>
          <a:p>
            <a:pPr algn="ctr"/>
            <a:r>
              <a:rPr lang="zh-CN" altLang="en-US" sz="1600" dirty="0">
                <a:latin typeface="Consolas" pitchFamily="49" charset="0"/>
                <a:cs typeface="Consolas" pitchFamily="49" charset="0"/>
              </a:rPr>
              <a:t>简化问题启发思路</a:t>
            </a:r>
            <a:endParaRPr lang="zh-CN" altLang="zh-CN" sz="1600" dirty="0">
              <a:latin typeface="Consolas" pitchFamily="49" charset="0"/>
              <a:cs typeface="Consolas" pitchFamily="49" charset="0"/>
            </a:endParaRPr>
          </a:p>
        </p:txBody>
      </p:sp>
      <p:sp>
        <p:nvSpPr>
          <p:cNvPr id="2" name="灯片编号占位符 1">
            <a:extLst>
              <a:ext uri="{FF2B5EF4-FFF2-40B4-BE49-F238E27FC236}">
                <a16:creationId xmlns:a16="http://schemas.microsoft.com/office/drawing/2014/main" id="{5253C58B-828C-4C17-A6EC-1EB60A1A3580}"/>
              </a:ext>
            </a:extLst>
          </p:cNvPr>
          <p:cNvSpPr>
            <a:spLocks noGrp="1"/>
          </p:cNvSpPr>
          <p:nvPr>
            <p:ph type="sldNum" sz="quarter" idx="12"/>
          </p:nvPr>
        </p:nvSpPr>
        <p:spPr/>
        <p:txBody>
          <a:bodyPr/>
          <a:lstStyle/>
          <a:p>
            <a:fld id="{0C913308-F349-4B6D-A68A-DD1791B4A57B}" type="slidenum">
              <a:rPr lang="zh-CN" altLang="en-US" smtClean="0"/>
              <a:t>34</a:t>
            </a:fld>
            <a:endParaRPr lang="zh-CN" altLang="en-US"/>
          </a:p>
        </p:txBody>
      </p:sp>
    </p:spTree>
    <p:extLst>
      <p:ext uri="{BB962C8B-B14F-4D97-AF65-F5344CB8AC3E}">
        <p14:creationId xmlns:p14="http://schemas.microsoft.com/office/powerpoint/2010/main" val="41142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8FD5CF1F-8DEF-0BD8-D7CC-9E82FCB0D05E}"/>
              </a:ext>
            </a:extLst>
          </p:cNvPr>
          <p:cNvPicPr>
            <a:picLocks noChangeAspect="1"/>
          </p:cNvPicPr>
          <p:nvPr/>
        </p:nvPicPr>
        <p:blipFill>
          <a:blip r:embed="rId2"/>
          <a:stretch>
            <a:fillRect/>
          </a:stretch>
        </p:blipFill>
        <p:spPr>
          <a:xfrm>
            <a:off x="2855640" y="2206733"/>
            <a:ext cx="6804248" cy="4270467"/>
          </a:xfrm>
          <a:prstGeom prst="rect">
            <a:avLst/>
          </a:prstGeom>
        </p:spPr>
      </p:pic>
      <p:sp>
        <p:nvSpPr>
          <p:cNvPr id="4" name="TextBox 3"/>
          <p:cNvSpPr txBox="1"/>
          <p:nvPr/>
        </p:nvSpPr>
        <p:spPr>
          <a:xfrm>
            <a:off x="1271464" y="1"/>
            <a:ext cx="9649072" cy="584775"/>
          </a:xfrm>
          <a:prstGeom prst="rect">
            <a:avLst/>
          </a:prstGeom>
          <a:solidFill>
            <a:srgbClr val="FFFFCC"/>
          </a:solidFill>
          <a:ln>
            <a:solidFill>
              <a:schemeClr val="tx1">
                <a:lumMod val="50000"/>
                <a:lumOff val="50000"/>
              </a:schemeClr>
            </a:solidFill>
          </a:ln>
        </p:spPr>
        <p:txBody>
          <a:bodyPr wrap="square" rtlCol="0">
            <a:spAutoFit/>
          </a:bodyPr>
          <a:lstStyle/>
          <a:p>
            <a:pPr algn="ctr"/>
            <a:r>
              <a:rPr lang="zh-CN" altLang="en-US" sz="3200" dirty="0">
                <a:latin typeface="Consolas" pitchFamily="49" charset="0"/>
                <a:cs typeface="Consolas" pitchFamily="49" charset="0"/>
              </a:rPr>
              <a:t>数据分治</a:t>
            </a:r>
          </a:p>
        </p:txBody>
      </p:sp>
      <p:sp>
        <p:nvSpPr>
          <p:cNvPr id="5" name="TextBox 3">
            <a:extLst>
              <a:ext uri="{FF2B5EF4-FFF2-40B4-BE49-F238E27FC236}">
                <a16:creationId xmlns:a16="http://schemas.microsoft.com/office/drawing/2014/main" id="{83C9FAB2-0F68-46A0-536B-5A90FCC1CC95}"/>
              </a:ext>
            </a:extLst>
          </p:cNvPr>
          <p:cNvSpPr txBox="1"/>
          <p:nvPr/>
        </p:nvSpPr>
        <p:spPr>
          <a:xfrm>
            <a:off x="1271464" y="584776"/>
            <a:ext cx="9649072" cy="584775"/>
          </a:xfrm>
          <a:prstGeom prst="rect">
            <a:avLst/>
          </a:prstGeom>
          <a:noFill/>
          <a:ln>
            <a:solidFill>
              <a:schemeClr val="tx1">
                <a:lumMod val="50000"/>
                <a:lumOff val="50000"/>
              </a:schemeClr>
            </a:solidFill>
          </a:ln>
        </p:spPr>
        <p:txBody>
          <a:bodyPr wrap="square" rtlCol="0">
            <a:spAutoFit/>
          </a:bodyPr>
          <a:lstStyle/>
          <a:p>
            <a:pPr algn="ctr"/>
            <a:r>
              <a:rPr lang="zh-CN" altLang="en-US" sz="3200" dirty="0">
                <a:latin typeface="Consolas" pitchFamily="49" charset="0"/>
                <a:cs typeface="Consolas" pitchFamily="49" charset="0"/>
              </a:rPr>
              <a:t>剥离出小型数据</a:t>
            </a:r>
          </a:p>
        </p:txBody>
      </p:sp>
      <p:sp>
        <p:nvSpPr>
          <p:cNvPr id="6" name="TextBox 3">
            <a:extLst>
              <a:ext uri="{FF2B5EF4-FFF2-40B4-BE49-F238E27FC236}">
                <a16:creationId xmlns:a16="http://schemas.microsoft.com/office/drawing/2014/main" id="{4DD95D94-8DB2-65FF-5FB7-075F31C8E183}"/>
              </a:ext>
            </a:extLst>
          </p:cNvPr>
          <p:cNvSpPr txBox="1"/>
          <p:nvPr/>
        </p:nvSpPr>
        <p:spPr>
          <a:xfrm>
            <a:off x="1271464" y="1169551"/>
            <a:ext cx="9649072" cy="584775"/>
          </a:xfrm>
          <a:prstGeom prst="rect">
            <a:avLst/>
          </a:prstGeom>
          <a:noFill/>
          <a:ln>
            <a:solidFill>
              <a:schemeClr val="tx1">
                <a:lumMod val="50000"/>
                <a:lumOff val="50000"/>
              </a:schemeClr>
            </a:solidFill>
          </a:ln>
        </p:spPr>
        <p:txBody>
          <a:bodyPr wrap="square" rtlCol="0">
            <a:spAutoFit/>
          </a:bodyPr>
          <a:lstStyle/>
          <a:p>
            <a:pPr algn="ctr"/>
            <a:r>
              <a:rPr lang="zh-CN" altLang="en-US" sz="3200" dirty="0">
                <a:latin typeface="Consolas" pitchFamily="49" charset="0"/>
                <a:cs typeface="Consolas" pitchFamily="49" charset="0"/>
              </a:rPr>
              <a:t>剥离出特色数据</a:t>
            </a:r>
          </a:p>
        </p:txBody>
      </p:sp>
      <p:sp>
        <p:nvSpPr>
          <p:cNvPr id="2" name="灯片编号占位符 1">
            <a:extLst>
              <a:ext uri="{FF2B5EF4-FFF2-40B4-BE49-F238E27FC236}">
                <a16:creationId xmlns:a16="http://schemas.microsoft.com/office/drawing/2014/main" id="{680EFE8D-E718-4CC7-8E40-91B6DA0CE5B0}"/>
              </a:ext>
            </a:extLst>
          </p:cNvPr>
          <p:cNvSpPr>
            <a:spLocks noGrp="1"/>
          </p:cNvSpPr>
          <p:nvPr>
            <p:ph type="sldNum" sz="quarter" idx="12"/>
          </p:nvPr>
        </p:nvSpPr>
        <p:spPr/>
        <p:txBody>
          <a:bodyPr/>
          <a:lstStyle/>
          <a:p>
            <a:fld id="{0C913308-F349-4B6D-A68A-DD1791B4A57B}" type="slidenum">
              <a:rPr lang="zh-CN" altLang="en-US" smtClean="0"/>
              <a:t>35</a:t>
            </a:fld>
            <a:endParaRPr lang="zh-CN" altLang="en-US"/>
          </a:p>
        </p:txBody>
      </p:sp>
    </p:spTree>
    <p:extLst>
      <p:ext uri="{BB962C8B-B14F-4D97-AF65-F5344CB8AC3E}">
        <p14:creationId xmlns:p14="http://schemas.microsoft.com/office/powerpoint/2010/main" val="20779577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B9C45285-3D65-DDA8-E7D3-F9B235D13023}"/>
              </a:ext>
            </a:extLst>
          </p:cNvPr>
          <p:cNvPicPr>
            <a:picLocks noChangeAspect="1"/>
          </p:cNvPicPr>
          <p:nvPr/>
        </p:nvPicPr>
        <p:blipFill>
          <a:blip r:embed="rId2"/>
          <a:stretch>
            <a:fillRect/>
          </a:stretch>
        </p:blipFill>
        <p:spPr>
          <a:xfrm>
            <a:off x="2279576" y="2391610"/>
            <a:ext cx="7416824" cy="2201870"/>
          </a:xfrm>
          <a:prstGeom prst="rect">
            <a:avLst/>
          </a:prstGeom>
        </p:spPr>
      </p:pic>
      <p:sp>
        <p:nvSpPr>
          <p:cNvPr id="10" name="TextBox 3">
            <a:extLst>
              <a:ext uri="{FF2B5EF4-FFF2-40B4-BE49-F238E27FC236}">
                <a16:creationId xmlns:a16="http://schemas.microsoft.com/office/drawing/2014/main" id="{2AFA6830-27C6-D595-FE9A-20843F683102}"/>
              </a:ext>
            </a:extLst>
          </p:cNvPr>
          <p:cNvSpPr txBox="1"/>
          <p:nvPr/>
        </p:nvSpPr>
        <p:spPr>
          <a:xfrm>
            <a:off x="1281760" y="947630"/>
            <a:ext cx="9649072" cy="584775"/>
          </a:xfrm>
          <a:prstGeom prst="rect">
            <a:avLst/>
          </a:prstGeom>
          <a:noFill/>
          <a:ln>
            <a:solidFill>
              <a:schemeClr val="tx1">
                <a:lumMod val="50000"/>
                <a:lumOff val="50000"/>
              </a:schemeClr>
            </a:solidFill>
          </a:ln>
        </p:spPr>
        <p:txBody>
          <a:bodyPr wrap="square" rtlCol="0">
            <a:spAutoFit/>
          </a:bodyPr>
          <a:lstStyle/>
          <a:p>
            <a:pPr algn="ctr"/>
            <a:r>
              <a:rPr lang="zh-CN" altLang="zh-CN" sz="3200" dirty="0"/>
              <a:t>对于所有</a:t>
            </a:r>
            <a:r>
              <a:rPr lang="en-US" altLang="zh-CN" sz="3200" dirty="0"/>
              <a:t>i</a:t>
            </a:r>
            <a:r>
              <a:rPr lang="zh-CN" altLang="zh-CN" sz="3200" dirty="0"/>
              <a:t>：</a:t>
            </a:r>
            <a:r>
              <a:rPr lang="en-US" altLang="zh-CN" sz="3200" dirty="0"/>
              <a:t>L[i]=R[i]</a:t>
            </a:r>
            <a:endParaRPr lang="zh-CN" altLang="zh-CN" sz="3200" dirty="0"/>
          </a:p>
        </p:txBody>
      </p:sp>
      <p:sp>
        <p:nvSpPr>
          <p:cNvPr id="2" name="灯片编号占位符 1">
            <a:extLst>
              <a:ext uri="{FF2B5EF4-FFF2-40B4-BE49-F238E27FC236}">
                <a16:creationId xmlns:a16="http://schemas.microsoft.com/office/drawing/2014/main" id="{2A751511-522F-4C33-93D3-D28E6AC944B0}"/>
              </a:ext>
            </a:extLst>
          </p:cNvPr>
          <p:cNvSpPr>
            <a:spLocks noGrp="1"/>
          </p:cNvSpPr>
          <p:nvPr>
            <p:ph type="sldNum" sz="quarter" idx="12"/>
          </p:nvPr>
        </p:nvSpPr>
        <p:spPr/>
        <p:txBody>
          <a:bodyPr/>
          <a:lstStyle/>
          <a:p>
            <a:fld id="{0C913308-F349-4B6D-A68A-DD1791B4A57B}" type="slidenum">
              <a:rPr lang="zh-CN" altLang="en-US" smtClean="0"/>
              <a:t>36</a:t>
            </a:fld>
            <a:endParaRPr lang="zh-CN" altLang="en-US"/>
          </a:p>
        </p:txBody>
      </p:sp>
    </p:spTree>
    <p:extLst>
      <p:ext uri="{BB962C8B-B14F-4D97-AF65-F5344CB8AC3E}">
        <p14:creationId xmlns:p14="http://schemas.microsoft.com/office/powerpoint/2010/main" val="6365459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19AEB493-DAC8-947C-4D79-C79ABB5C5E56}"/>
              </a:ext>
            </a:extLst>
          </p:cNvPr>
          <p:cNvPicPr>
            <a:picLocks noChangeAspect="1"/>
          </p:cNvPicPr>
          <p:nvPr/>
        </p:nvPicPr>
        <p:blipFill>
          <a:blip r:embed="rId2"/>
          <a:stretch>
            <a:fillRect/>
          </a:stretch>
        </p:blipFill>
        <p:spPr>
          <a:xfrm>
            <a:off x="2999656" y="1556793"/>
            <a:ext cx="5328592" cy="5050197"/>
          </a:xfrm>
          <a:prstGeom prst="rect">
            <a:avLst/>
          </a:prstGeom>
        </p:spPr>
      </p:pic>
      <p:sp>
        <p:nvSpPr>
          <p:cNvPr id="3" name="TextBox 3">
            <a:extLst>
              <a:ext uri="{FF2B5EF4-FFF2-40B4-BE49-F238E27FC236}">
                <a16:creationId xmlns:a16="http://schemas.microsoft.com/office/drawing/2014/main" id="{D18D1415-0CBF-080C-E84B-ADA36A9F483F}"/>
              </a:ext>
            </a:extLst>
          </p:cNvPr>
          <p:cNvSpPr txBox="1"/>
          <p:nvPr/>
        </p:nvSpPr>
        <p:spPr>
          <a:xfrm>
            <a:off x="1271464" y="620689"/>
            <a:ext cx="9649072" cy="584775"/>
          </a:xfrm>
          <a:prstGeom prst="rect">
            <a:avLst/>
          </a:prstGeom>
          <a:noFill/>
          <a:ln>
            <a:solidFill>
              <a:schemeClr val="tx1">
                <a:lumMod val="50000"/>
                <a:lumOff val="50000"/>
              </a:schemeClr>
            </a:solidFill>
          </a:ln>
        </p:spPr>
        <p:txBody>
          <a:bodyPr wrap="square" rtlCol="0">
            <a:spAutoFit/>
          </a:bodyPr>
          <a:lstStyle/>
          <a:p>
            <a:pPr algn="ctr"/>
            <a:r>
              <a:rPr lang="zh-CN" altLang="zh-CN" sz="3200" dirty="0"/>
              <a:t>对于所有</a:t>
            </a:r>
            <a:r>
              <a:rPr lang="en-US" altLang="zh-CN" sz="3200" dirty="0"/>
              <a:t>i</a:t>
            </a:r>
            <a:r>
              <a:rPr lang="zh-CN" altLang="zh-CN" sz="3200" dirty="0"/>
              <a:t>：</a:t>
            </a:r>
            <a:r>
              <a:rPr lang="en-US" altLang="zh-CN" sz="3200" dirty="0"/>
              <a:t>L[i]=R[i]</a:t>
            </a:r>
            <a:endParaRPr lang="zh-CN" altLang="zh-CN" sz="3200" dirty="0"/>
          </a:p>
        </p:txBody>
      </p:sp>
      <p:sp>
        <p:nvSpPr>
          <p:cNvPr id="6" name="矩形 5">
            <a:extLst>
              <a:ext uri="{FF2B5EF4-FFF2-40B4-BE49-F238E27FC236}">
                <a16:creationId xmlns:a16="http://schemas.microsoft.com/office/drawing/2014/main" id="{C0B066BF-846B-43F6-2E70-DCE19A6FBEEF}"/>
              </a:ext>
            </a:extLst>
          </p:cNvPr>
          <p:cNvSpPr/>
          <p:nvPr/>
        </p:nvSpPr>
        <p:spPr>
          <a:xfrm>
            <a:off x="5494136" y="3722898"/>
            <a:ext cx="2978128" cy="360040"/>
          </a:xfrm>
          <a:prstGeom prst="rect">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7" name="矩形 6">
            <a:extLst>
              <a:ext uri="{FF2B5EF4-FFF2-40B4-BE49-F238E27FC236}">
                <a16:creationId xmlns:a16="http://schemas.microsoft.com/office/drawing/2014/main" id="{0BBB1845-BB5C-0918-4128-68FD2F31E31D}"/>
              </a:ext>
            </a:extLst>
          </p:cNvPr>
          <p:cNvSpPr/>
          <p:nvPr/>
        </p:nvSpPr>
        <p:spPr>
          <a:xfrm>
            <a:off x="4871864" y="4869160"/>
            <a:ext cx="2978128" cy="360040"/>
          </a:xfrm>
          <a:prstGeom prst="rect">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10" name="矩形 9">
            <a:extLst>
              <a:ext uri="{FF2B5EF4-FFF2-40B4-BE49-F238E27FC236}">
                <a16:creationId xmlns:a16="http://schemas.microsoft.com/office/drawing/2014/main" id="{8F225C94-C450-9E6D-7943-CD12C638B3F7}"/>
              </a:ext>
            </a:extLst>
          </p:cNvPr>
          <p:cNvSpPr/>
          <p:nvPr/>
        </p:nvSpPr>
        <p:spPr>
          <a:xfrm>
            <a:off x="4871864" y="5229200"/>
            <a:ext cx="2978128" cy="360040"/>
          </a:xfrm>
          <a:prstGeom prst="rect">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11" name="矩形 10">
            <a:extLst>
              <a:ext uri="{FF2B5EF4-FFF2-40B4-BE49-F238E27FC236}">
                <a16:creationId xmlns:a16="http://schemas.microsoft.com/office/drawing/2014/main" id="{1D1B0022-270D-4CC5-541F-5002E68EF78E}"/>
              </a:ext>
            </a:extLst>
          </p:cNvPr>
          <p:cNvSpPr/>
          <p:nvPr/>
        </p:nvSpPr>
        <p:spPr>
          <a:xfrm>
            <a:off x="4921399" y="3011529"/>
            <a:ext cx="2978128" cy="360040"/>
          </a:xfrm>
          <a:prstGeom prst="rect">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2" name="灯片编号占位符 1">
            <a:extLst>
              <a:ext uri="{FF2B5EF4-FFF2-40B4-BE49-F238E27FC236}">
                <a16:creationId xmlns:a16="http://schemas.microsoft.com/office/drawing/2014/main" id="{B1642A26-A988-412D-872A-F7A089EEEC97}"/>
              </a:ext>
            </a:extLst>
          </p:cNvPr>
          <p:cNvSpPr>
            <a:spLocks noGrp="1"/>
          </p:cNvSpPr>
          <p:nvPr>
            <p:ph type="sldNum" sz="quarter" idx="12"/>
          </p:nvPr>
        </p:nvSpPr>
        <p:spPr/>
        <p:txBody>
          <a:bodyPr/>
          <a:lstStyle/>
          <a:p>
            <a:fld id="{0C913308-F349-4B6D-A68A-DD1791B4A57B}" type="slidenum">
              <a:rPr lang="zh-CN" altLang="en-US" smtClean="0"/>
              <a:t>37</a:t>
            </a:fld>
            <a:endParaRPr lang="zh-CN" altLang="en-US"/>
          </a:p>
        </p:txBody>
      </p:sp>
    </p:spTree>
    <p:extLst>
      <p:ext uri="{BB962C8B-B14F-4D97-AF65-F5344CB8AC3E}">
        <p14:creationId xmlns:p14="http://schemas.microsoft.com/office/powerpoint/2010/main" val="275285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0" grpId="0" animBg="1"/>
      <p:bldP spid="11"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6BE282AC-317D-5183-EE87-7B639BEC9DF4}"/>
              </a:ext>
            </a:extLst>
          </p:cNvPr>
          <p:cNvSpPr/>
          <p:nvPr/>
        </p:nvSpPr>
        <p:spPr>
          <a:xfrm>
            <a:off x="3430774" y="980728"/>
            <a:ext cx="5330452" cy="461665"/>
          </a:xfrm>
          <a:prstGeom prst="rect">
            <a:avLst/>
          </a:prstGeom>
          <a:solidFill>
            <a:schemeClr val="bg1">
              <a:lumMod val="95000"/>
            </a:schemeClr>
          </a:solidFill>
          <a:ln>
            <a:solidFill>
              <a:schemeClr val="bg2">
                <a:lumMod val="25000"/>
              </a:schemeClr>
            </a:solidFill>
          </a:ln>
        </p:spPr>
        <p:txBody>
          <a:bodyPr wrap="square">
            <a:spAutoFit/>
          </a:bodyPr>
          <a:lstStyle/>
          <a:p>
            <a:pPr algn="ctr"/>
            <a:r>
              <a:rPr lang="zh-CN" altLang="en-US" sz="2400" dirty="0">
                <a:latin typeface="Consolas" pitchFamily="49" charset="0"/>
                <a:cs typeface="Consolas" pitchFamily="49" charset="0"/>
              </a:rPr>
              <a:t>正解：贪心</a:t>
            </a:r>
            <a:endParaRPr lang="zh-CN" altLang="zh-CN" sz="2400" dirty="0">
              <a:latin typeface="Consolas" pitchFamily="49" charset="0"/>
              <a:cs typeface="Consolas" pitchFamily="49" charset="0"/>
            </a:endParaRPr>
          </a:p>
        </p:txBody>
      </p:sp>
      <p:sp>
        <p:nvSpPr>
          <p:cNvPr id="3" name="矩形 2">
            <a:extLst>
              <a:ext uri="{FF2B5EF4-FFF2-40B4-BE49-F238E27FC236}">
                <a16:creationId xmlns:a16="http://schemas.microsoft.com/office/drawing/2014/main" id="{6953D66F-BD04-2DF3-B0A9-A3768CDDDF60}"/>
              </a:ext>
            </a:extLst>
          </p:cNvPr>
          <p:cNvSpPr/>
          <p:nvPr/>
        </p:nvSpPr>
        <p:spPr>
          <a:xfrm>
            <a:off x="3430774" y="1965025"/>
            <a:ext cx="5330452" cy="461665"/>
          </a:xfrm>
          <a:prstGeom prst="rect">
            <a:avLst/>
          </a:prstGeom>
          <a:noFill/>
          <a:ln>
            <a:solidFill>
              <a:schemeClr val="bg2">
                <a:lumMod val="25000"/>
              </a:schemeClr>
            </a:solidFill>
          </a:ln>
        </p:spPr>
        <p:txBody>
          <a:bodyPr wrap="square">
            <a:spAutoFit/>
          </a:bodyPr>
          <a:lstStyle/>
          <a:p>
            <a:pPr algn="ctr"/>
            <a:r>
              <a:rPr lang="zh-CN" altLang="en-US" sz="2400" dirty="0">
                <a:latin typeface="Consolas" pitchFamily="49" charset="0"/>
                <a:cs typeface="Consolas" pitchFamily="49" charset="0"/>
              </a:rPr>
              <a:t>每次干什么</a:t>
            </a:r>
            <a:r>
              <a:rPr lang="en-US" altLang="zh-CN" sz="2400" dirty="0">
                <a:latin typeface="Consolas" pitchFamily="49" charset="0"/>
                <a:cs typeface="Consolas" pitchFamily="49" charset="0"/>
              </a:rPr>
              <a:t>?</a:t>
            </a:r>
            <a:endParaRPr lang="zh-CN" altLang="zh-CN" sz="2400" dirty="0">
              <a:latin typeface="Consolas" pitchFamily="49" charset="0"/>
              <a:cs typeface="Consolas" pitchFamily="49" charset="0"/>
            </a:endParaRPr>
          </a:p>
        </p:txBody>
      </p:sp>
      <p:sp>
        <p:nvSpPr>
          <p:cNvPr id="4" name="矩形 3">
            <a:extLst>
              <a:ext uri="{FF2B5EF4-FFF2-40B4-BE49-F238E27FC236}">
                <a16:creationId xmlns:a16="http://schemas.microsoft.com/office/drawing/2014/main" id="{9EB177C6-AEAB-AF71-86B7-8A6105528E71}"/>
              </a:ext>
            </a:extLst>
          </p:cNvPr>
          <p:cNvSpPr/>
          <p:nvPr/>
        </p:nvSpPr>
        <p:spPr>
          <a:xfrm>
            <a:off x="2676814" y="2854124"/>
            <a:ext cx="6838371" cy="1697388"/>
          </a:xfrm>
          <a:prstGeom prst="rect">
            <a:avLst/>
          </a:prstGeom>
          <a:noFill/>
          <a:ln>
            <a:solidFill>
              <a:schemeClr val="bg2">
                <a:lumMod val="25000"/>
              </a:schemeClr>
            </a:solidFill>
          </a:ln>
        </p:spPr>
        <p:txBody>
          <a:bodyPr wrap="square">
            <a:spAutoFit/>
          </a:bodyPr>
          <a:lstStyle/>
          <a:p>
            <a:pPr algn="ctr">
              <a:lnSpc>
                <a:spcPct val="150000"/>
              </a:lnSpc>
            </a:pPr>
            <a:r>
              <a:rPr lang="zh-CN" altLang="en-US" sz="2400" dirty="0">
                <a:latin typeface="Consolas" pitchFamily="49" charset="0"/>
                <a:cs typeface="Consolas" pitchFamily="49" charset="0"/>
              </a:rPr>
              <a:t>每次挑选</a:t>
            </a:r>
            <a:endParaRPr lang="en-US" altLang="zh-CN" sz="2400" dirty="0">
              <a:latin typeface="Consolas" pitchFamily="49" charset="0"/>
              <a:cs typeface="Consolas" pitchFamily="49" charset="0"/>
            </a:endParaRPr>
          </a:p>
          <a:p>
            <a:pPr algn="ctr">
              <a:lnSpc>
                <a:spcPct val="150000"/>
              </a:lnSpc>
            </a:pPr>
            <a:r>
              <a:rPr lang="zh-CN" altLang="en-US" sz="2400" dirty="0">
                <a:latin typeface="Consolas" pitchFamily="49" charset="0"/>
                <a:cs typeface="Consolas" pitchFamily="49" charset="0"/>
              </a:rPr>
              <a:t>已经出现的人里截止日期最早的</a:t>
            </a:r>
            <a:r>
              <a:rPr lang="en-US" altLang="zh-CN" sz="2400" dirty="0">
                <a:latin typeface="Consolas" pitchFamily="49" charset="0"/>
                <a:cs typeface="Consolas" pitchFamily="49" charset="0"/>
              </a:rPr>
              <a:t>k</a:t>
            </a:r>
            <a:r>
              <a:rPr lang="zh-CN" altLang="en-US" sz="2400" dirty="0">
                <a:latin typeface="Consolas" pitchFamily="49" charset="0"/>
                <a:cs typeface="Consolas" pitchFamily="49" charset="0"/>
              </a:rPr>
              <a:t>个人</a:t>
            </a:r>
            <a:endParaRPr lang="en-US" altLang="zh-CN" sz="2400" dirty="0">
              <a:latin typeface="Consolas" pitchFamily="49" charset="0"/>
              <a:cs typeface="Consolas" pitchFamily="49" charset="0"/>
            </a:endParaRPr>
          </a:p>
          <a:p>
            <a:pPr algn="ctr">
              <a:lnSpc>
                <a:spcPct val="150000"/>
              </a:lnSpc>
            </a:pPr>
            <a:r>
              <a:rPr lang="zh-CN" altLang="en-US" sz="2400" dirty="0">
                <a:latin typeface="Consolas" pitchFamily="49" charset="0"/>
                <a:cs typeface="Consolas" pitchFamily="49" charset="0"/>
              </a:rPr>
              <a:t>安排接走</a:t>
            </a:r>
            <a:endParaRPr lang="zh-CN" altLang="zh-CN" sz="2400" dirty="0">
              <a:latin typeface="Consolas" pitchFamily="49" charset="0"/>
              <a:cs typeface="Consolas" pitchFamily="49" charset="0"/>
            </a:endParaRPr>
          </a:p>
        </p:txBody>
      </p:sp>
      <p:sp>
        <p:nvSpPr>
          <p:cNvPr id="5" name="矩形 4">
            <a:extLst>
              <a:ext uri="{FF2B5EF4-FFF2-40B4-BE49-F238E27FC236}">
                <a16:creationId xmlns:a16="http://schemas.microsoft.com/office/drawing/2014/main" id="{B2484F7F-145D-BA38-8B8E-17A08C0FA56A}"/>
              </a:ext>
            </a:extLst>
          </p:cNvPr>
          <p:cNvSpPr/>
          <p:nvPr/>
        </p:nvSpPr>
        <p:spPr>
          <a:xfrm>
            <a:off x="3430774" y="4956706"/>
            <a:ext cx="5330452" cy="461665"/>
          </a:xfrm>
          <a:prstGeom prst="rect">
            <a:avLst/>
          </a:prstGeom>
          <a:noFill/>
          <a:ln>
            <a:solidFill>
              <a:schemeClr val="bg2">
                <a:lumMod val="25000"/>
              </a:schemeClr>
            </a:solidFill>
          </a:ln>
        </p:spPr>
        <p:txBody>
          <a:bodyPr wrap="square">
            <a:spAutoFit/>
          </a:bodyPr>
          <a:lstStyle/>
          <a:p>
            <a:pPr algn="ctr"/>
            <a:r>
              <a:rPr lang="zh-CN" altLang="en-US" sz="2400" dirty="0">
                <a:latin typeface="Consolas" pitchFamily="49" charset="0"/>
                <a:cs typeface="Consolas" pitchFamily="49" charset="0"/>
              </a:rPr>
              <a:t>可能不足</a:t>
            </a:r>
            <a:r>
              <a:rPr lang="en-US" altLang="zh-CN" sz="2400" dirty="0">
                <a:latin typeface="Consolas" pitchFamily="49" charset="0"/>
                <a:cs typeface="Consolas" pitchFamily="49" charset="0"/>
              </a:rPr>
              <a:t>k</a:t>
            </a:r>
            <a:r>
              <a:rPr lang="zh-CN" altLang="en-US" sz="2400" dirty="0">
                <a:latin typeface="Consolas" pitchFamily="49" charset="0"/>
                <a:cs typeface="Consolas" pitchFamily="49" charset="0"/>
              </a:rPr>
              <a:t>人</a:t>
            </a:r>
            <a:endParaRPr lang="zh-CN" altLang="zh-CN" sz="2400" dirty="0">
              <a:latin typeface="Consolas" pitchFamily="49" charset="0"/>
              <a:cs typeface="Consolas" pitchFamily="49" charset="0"/>
            </a:endParaRPr>
          </a:p>
        </p:txBody>
      </p:sp>
      <p:sp>
        <p:nvSpPr>
          <p:cNvPr id="2" name="灯片编号占位符 1">
            <a:extLst>
              <a:ext uri="{FF2B5EF4-FFF2-40B4-BE49-F238E27FC236}">
                <a16:creationId xmlns:a16="http://schemas.microsoft.com/office/drawing/2014/main" id="{DC946884-A359-4572-A83B-AE2A8BF2633E}"/>
              </a:ext>
            </a:extLst>
          </p:cNvPr>
          <p:cNvSpPr>
            <a:spLocks noGrp="1"/>
          </p:cNvSpPr>
          <p:nvPr>
            <p:ph type="sldNum" sz="quarter" idx="12"/>
          </p:nvPr>
        </p:nvSpPr>
        <p:spPr/>
        <p:txBody>
          <a:bodyPr/>
          <a:lstStyle/>
          <a:p>
            <a:fld id="{0C913308-F349-4B6D-A68A-DD1791B4A57B}" type="slidenum">
              <a:rPr lang="zh-CN" altLang="en-US" smtClean="0"/>
              <a:t>38</a:t>
            </a:fld>
            <a:endParaRPr lang="zh-CN" altLang="en-US"/>
          </a:p>
        </p:txBody>
      </p:sp>
      <p:sp>
        <p:nvSpPr>
          <p:cNvPr id="8" name="文本框 7">
            <a:extLst>
              <a:ext uri="{FF2B5EF4-FFF2-40B4-BE49-F238E27FC236}">
                <a16:creationId xmlns:a16="http://schemas.microsoft.com/office/drawing/2014/main" id="{213706D7-7E8D-49D0-94C4-91E152A0E359}"/>
              </a:ext>
            </a:extLst>
          </p:cNvPr>
          <p:cNvSpPr txBox="1"/>
          <p:nvPr/>
        </p:nvSpPr>
        <p:spPr>
          <a:xfrm>
            <a:off x="3430774" y="5894687"/>
            <a:ext cx="4896544" cy="461665"/>
          </a:xfrm>
          <a:prstGeom prst="rect">
            <a:avLst/>
          </a:prstGeom>
          <a:noFill/>
        </p:spPr>
        <p:txBody>
          <a:bodyPr wrap="square">
            <a:spAutoFit/>
          </a:bodyPr>
          <a:lstStyle/>
          <a:p>
            <a:r>
              <a:rPr lang="zh-CN" altLang="en-US" sz="2400">
                <a:solidFill>
                  <a:srgbClr val="FF0000"/>
                </a:solidFill>
                <a:latin typeface="Consolas" pitchFamily="49" charset="0"/>
                <a:sym typeface="Wingdings" panose="05000000000000000000" pitchFamily="2" charset="2"/>
              </a:rPr>
              <a:t>思考：如何管理到达和离开的数据</a:t>
            </a:r>
            <a:r>
              <a:rPr lang="en-US" altLang="zh-CN" sz="2400">
                <a:solidFill>
                  <a:srgbClr val="FF0000"/>
                </a:solidFill>
                <a:latin typeface="Consolas" pitchFamily="49" charset="0"/>
                <a:sym typeface="Wingdings" panose="05000000000000000000" pitchFamily="2" charset="2"/>
              </a:rPr>
              <a:t>?</a:t>
            </a:r>
            <a:endParaRPr lang="zh-CN" altLang="en-US" sz="2400">
              <a:solidFill>
                <a:srgbClr val="FF0000"/>
              </a:solidFill>
              <a:latin typeface="Consolas" pitchFamily="49" charset="0"/>
            </a:endParaRPr>
          </a:p>
        </p:txBody>
      </p:sp>
    </p:spTree>
    <p:extLst>
      <p:ext uri="{BB962C8B-B14F-4D97-AF65-F5344CB8AC3E}">
        <p14:creationId xmlns:p14="http://schemas.microsoft.com/office/powerpoint/2010/main" val="3505964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a:extLst>
              <a:ext uri="{FF2B5EF4-FFF2-40B4-BE49-F238E27FC236}">
                <a16:creationId xmlns:a16="http://schemas.microsoft.com/office/drawing/2014/main" id="{BFC2009C-E53C-E941-F61F-1A9FFFB0951F}"/>
              </a:ext>
            </a:extLst>
          </p:cNvPr>
          <p:cNvSpPr/>
          <p:nvPr/>
        </p:nvSpPr>
        <p:spPr>
          <a:xfrm>
            <a:off x="1775520" y="201350"/>
            <a:ext cx="5330452" cy="461665"/>
          </a:xfrm>
          <a:prstGeom prst="rect">
            <a:avLst/>
          </a:prstGeom>
          <a:solidFill>
            <a:schemeClr val="bg1">
              <a:lumMod val="95000"/>
            </a:schemeClr>
          </a:solidFill>
          <a:ln>
            <a:solidFill>
              <a:schemeClr val="bg2">
                <a:lumMod val="25000"/>
              </a:schemeClr>
            </a:solidFill>
          </a:ln>
        </p:spPr>
        <p:txBody>
          <a:bodyPr wrap="square">
            <a:spAutoFit/>
          </a:bodyPr>
          <a:lstStyle/>
          <a:p>
            <a:pPr algn="ctr"/>
            <a:r>
              <a:rPr lang="en-US" altLang="zh-CN" sz="2400" dirty="0">
                <a:latin typeface="Consolas" pitchFamily="49" charset="0"/>
                <a:cs typeface="Consolas" pitchFamily="49" charset="0"/>
              </a:rPr>
              <a:t>01</a:t>
            </a:r>
            <a:r>
              <a:rPr lang="zh-CN" altLang="en-US" sz="2400" dirty="0">
                <a:latin typeface="Consolas" pitchFamily="49" charset="0"/>
                <a:cs typeface="Consolas" pitchFamily="49" charset="0"/>
              </a:rPr>
              <a:t>信息的标记</a:t>
            </a:r>
            <a:endParaRPr lang="zh-CN" altLang="zh-CN" sz="2400" dirty="0">
              <a:latin typeface="Consolas" pitchFamily="49" charset="0"/>
              <a:cs typeface="Consolas" pitchFamily="49" charset="0"/>
            </a:endParaRPr>
          </a:p>
        </p:txBody>
      </p:sp>
      <p:sp>
        <p:nvSpPr>
          <p:cNvPr id="18" name="矩形 17">
            <a:extLst>
              <a:ext uri="{FF2B5EF4-FFF2-40B4-BE49-F238E27FC236}">
                <a16:creationId xmlns:a16="http://schemas.microsoft.com/office/drawing/2014/main" id="{C489B02E-3C47-3A8F-86E7-3EC6E50F84EA}"/>
              </a:ext>
            </a:extLst>
          </p:cNvPr>
          <p:cNvSpPr/>
          <p:nvPr/>
        </p:nvSpPr>
        <p:spPr>
          <a:xfrm>
            <a:off x="2055963" y="1022465"/>
            <a:ext cx="5330452" cy="954107"/>
          </a:xfrm>
          <a:prstGeom prst="rect">
            <a:avLst/>
          </a:prstGeom>
          <a:noFill/>
          <a:ln>
            <a:noFill/>
          </a:ln>
        </p:spPr>
        <p:txBody>
          <a:bodyPr wrap="square">
            <a:spAutoFit/>
          </a:bodyPr>
          <a:lstStyle/>
          <a:p>
            <a:r>
              <a:rPr lang="it-IT" altLang="zh-CN" sz="2800" b="1" dirty="0">
                <a:solidFill>
                  <a:srgbClr val="339933"/>
                </a:solidFill>
                <a:latin typeface="Consolas" pitchFamily="49" charset="0"/>
                <a:cs typeface="Consolas" pitchFamily="49" charset="0"/>
              </a:rPr>
              <a:t>#define ARRIVAL 0</a:t>
            </a:r>
          </a:p>
          <a:p>
            <a:r>
              <a:rPr lang="it-IT" altLang="zh-CN" sz="2800" b="1" dirty="0">
                <a:solidFill>
                  <a:srgbClr val="339933"/>
                </a:solidFill>
                <a:latin typeface="Consolas" pitchFamily="49" charset="0"/>
                <a:cs typeface="Consolas" pitchFamily="49" charset="0"/>
              </a:rPr>
              <a:t>#define DEPARTURE 1</a:t>
            </a:r>
            <a:endParaRPr lang="zh-CN" altLang="zh-CN" sz="2800" b="1" dirty="0">
              <a:solidFill>
                <a:srgbClr val="339933"/>
              </a:solidFill>
              <a:latin typeface="Consolas" pitchFamily="49" charset="0"/>
              <a:cs typeface="Consolas" pitchFamily="49" charset="0"/>
            </a:endParaRPr>
          </a:p>
        </p:txBody>
      </p:sp>
      <p:sp>
        <p:nvSpPr>
          <p:cNvPr id="2" name="灯片编号占位符 1">
            <a:extLst>
              <a:ext uri="{FF2B5EF4-FFF2-40B4-BE49-F238E27FC236}">
                <a16:creationId xmlns:a16="http://schemas.microsoft.com/office/drawing/2014/main" id="{E1C74D51-E7FB-4562-AAD7-D945B56056C0}"/>
              </a:ext>
            </a:extLst>
          </p:cNvPr>
          <p:cNvSpPr>
            <a:spLocks noGrp="1"/>
          </p:cNvSpPr>
          <p:nvPr>
            <p:ph type="sldNum" sz="quarter" idx="12"/>
          </p:nvPr>
        </p:nvSpPr>
        <p:spPr/>
        <p:txBody>
          <a:bodyPr/>
          <a:lstStyle/>
          <a:p>
            <a:fld id="{0C913308-F349-4B6D-A68A-DD1791B4A57B}" type="slidenum">
              <a:rPr lang="zh-CN" altLang="en-US" smtClean="0"/>
              <a:t>39</a:t>
            </a:fld>
            <a:endParaRPr lang="zh-CN" altLang="en-US"/>
          </a:p>
        </p:txBody>
      </p:sp>
      <p:sp>
        <p:nvSpPr>
          <p:cNvPr id="5" name="文本框 4">
            <a:extLst>
              <a:ext uri="{FF2B5EF4-FFF2-40B4-BE49-F238E27FC236}">
                <a16:creationId xmlns:a16="http://schemas.microsoft.com/office/drawing/2014/main" id="{16FB503F-E055-4A3A-ACA8-6C76E531039A}"/>
              </a:ext>
            </a:extLst>
          </p:cNvPr>
          <p:cNvSpPr txBox="1"/>
          <p:nvPr/>
        </p:nvSpPr>
        <p:spPr>
          <a:xfrm>
            <a:off x="6079892" y="880130"/>
            <a:ext cx="1008112" cy="1055802"/>
          </a:xfrm>
          <a:prstGeom prst="rect">
            <a:avLst/>
          </a:prstGeom>
          <a:noFill/>
        </p:spPr>
        <p:txBody>
          <a:bodyPr wrap="square">
            <a:spAutoFit/>
          </a:bodyPr>
          <a:lstStyle/>
          <a:p>
            <a:pPr>
              <a:lnSpc>
                <a:spcPct val="150000"/>
              </a:lnSpc>
            </a:pPr>
            <a:r>
              <a:rPr lang="zh-CN" altLang="en-US" sz="2200">
                <a:solidFill>
                  <a:srgbClr val="7030A0"/>
                </a:solidFill>
                <a:latin typeface="Consolas" pitchFamily="49" charset="0"/>
                <a:sym typeface="Wingdings" panose="05000000000000000000" pitchFamily="2" charset="2"/>
              </a:rPr>
              <a:t>到达</a:t>
            </a:r>
            <a:endParaRPr lang="en-US" altLang="zh-CN" sz="2200">
              <a:solidFill>
                <a:srgbClr val="7030A0"/>
              </a:solidFill>
              <a:latin typeface="Consolas" pitchFamily="49" charset="0"/>
              <a:sym typeface="Wingdings" panose="05000000000000000000" pitchFamily="2" charset="2"/>
            </a:endParaRPr>
          </a:p>
          <a:p>
            <a:pPr>
              <a:lnSpc>
                <a:spcPct val="150000"/>
              </a:lnSpc>
            </a:pPr>
            <a:r>
              <a:rPr lang="zh-CN" altLang="en-US" sz="2200">
                <a:solidFill>
                  <a:srgbClr val="7030A0"/>
                </a:solidFill>
                <a:latin typeface="Consolas" pitchFamily="49" charset="0"/>
                <a:sym typeface="Wingdings" panose="05000000000000000000" pitchFamily="2" charset="2"/>
              </a:rPr>
              <a:t>离开</a:t>
            </a:r>
            <a:endParaRPr lang="zh-CN" altLang="en-US" sz="2200">
              <a:solidFill>
                <a:srgbClr val="7030A0"/>
              </a:solidFill>
              <a:latin typeface="Consolas" pitchFamily="49" charset="0"/>
            </a:endParaRPr>
          </a:p>
        </p:txBody>
      </p:sp>
      <p:sp>
        <p:nvSpPr>
          <p:cNvPr id="6" name="矩形 5">
            <a:extLst>
              <a:ext uri="{FF2B5EF4-FFF2-40B4-BE49-F238E27FC236}">
                <a16:creationId xmlns:a16="http://schemas.microsoft.com/office/drawing/2014/main" id="{17C0B8F5-C5E8-4B3B-A40B-201D03D5B8F2}"/>
              </a:ext>
            </a:extLst>
          </p:cNvPr>
          <p:cNvSpPr/>
          <p:nvPr/>
        </p:nvSpPr>
        <p:spPr>
          <a:xfrm>
            <a:off x="1775520" y="2285642"/>
            <a:ext cx="5330452" cy="461665"/>
          </a:xfrm>
          <a:prstGeom prst="rect">
            <a:avLst/>
          </a:prstGeom>
          <a:solidFill>
            <a:srgbClr val="FFFF99"/>
          </a:solidFill>
          <a:ln>
            <a:solidFill>
              <a:schemeClr val="bg2">
                <a:lumMod val="25000"/>
              </a:schemeClr>
            </a:solidFill>
          </a:ln>
        </p:spPr>
        <p:txBody>
          <a:bodyPr wrap="square">
            <a:spAutoFit/>
          </a:bodyPr>
          <a:lstStyle/>
          <a:p>
            <a:pPr algn="ctr"/>
            <a:r>
              <a:rPr lang="zh-CN" altLang="en-US" sz="2400" dirty="0">
                <a:latin typeface="Consolas" pitchFamily="49" charset="0"/>
                <a:cs typeface="Consolas" pitchFamily="49" charset="0"/>
              </a:rPr>
              <a:t>按照事件发展</a:t>
            </a:r>
            <a:r>
              <a:rPr lang="zh-CN" altLang="en-US" sz="2400">
                <a:latin typeface="Consolas" pitchFamily="49" charset="0"/>
                <a:cs typeface="Consolas" pitchFamily="49" charset="0"/>
              </a:rPr>
              <a:t>的先后排序</a:t>
            </a:r>
            <a:endParaRPr lang="zh-CN" altLang="zh-CN" sz="2400" dirty="0">
              <a:latin typeface="Consolas" pitchFamily="49" charset="0"/>
              <a:cs typeface="Consolas" pitchFamily="49" charset="0"/>
            </a:endParaRPr>
          </a:p>
        </p:txBody>
      </p:sp>
      <p:pic>
        <p:nvPicPr>
          <p:cNvPr id="7" name="图片 6">
            <a:extLst>
              <a:ext uri="{FF2B5EF4-FFF2-40B4-BE49-F238E27FC236}">
                <a16:creationId xmlns:a16="http://schemas.microsoft.com/office/drawing/2014/main" id="{21658390-E201-49DF-9B23-C35F13394E70}"/>
              </a:ext>
            </a:extLst>
          </p:cNvPr>
          <p:cNvPicPr>
            <a:picLocks noChangeAspect="1"/>
          </p:cNvPicPr>
          <p:nvPr/>
        </p:nvPicPr>
        <p:blipFill rotWithShape="1">
          <a:blip r:embed="rId2"/>
          <a:srcRect r="50471" b="42759"/>
          <a:stretch/>
        </p:blipFill>
        <p:spPr>
          <a:xfrm>
            <a:off x="1775520" y="3058587"/>
            <a:ext cx="4528915" cy="1707661"/>
          </a:xfrm>
          <a:prstGeom prst="rect">
            <a:avLst/>
          </a:prstGeom>
        </p:spPr>
      </p:pic>
      <p:pic>
        <p:nvPicPr>
          <p:cNvPr id="8" name="图片 7">
            <a:extLst>
              <a:ext uri="{FF2B5EF4-FFF2-40B4-BE49-F238E27FC236}">
                <a16:creationId xmlns:a16="http://schemas.microsoft.com/office/drawing/2014/main" id="{8A2C2BE3-9FC2-4921-82BE-51FA403120BB}"/>
              </a:ext>
            </a:extLst>
          </p:cNvPr>
          <p:cNvPicPr>
            <a:picLocks noChangeAspect="1"/>
          </p:cNvPicPr>
          <p:nvPr/>
        </p:nvPicPr>
        <p:blipFill rotWithShape="1">
          <a:blip r:embed="rId2"/>
          <a:srcRect t="57929"/>
          <a:stretch/>
        </p:blipFill>
        <p:spPr>
          <a:xfrm>
            <a:off x="1775520" y="5054913"/>
            <a:ext cx="9144000" cy="1255082"/>
          </a:xfrm>
          <a:prstGeom prst="rect">
            <a:avLst/>
          </a:prstGeom>
        </p:spPr>
      </p:pic>
      <p:sp>
        <p:nvSpPr>
          <p:cNvPr id="9" name="矩形 8">
            <a:extLst>
              <a:ext uri="{FF2B5EF4-FFF2-40B4-BE49-F238E27FC236}">
                <a16:creationId xmlns:a16="http://schemas.microsoft.com/office/drawing/2014/main" id="{DA29B7F9-6DEC-4356-9237-25ED7188FE34}"/>
              </a:ext>
            </a:extLst>
          </p:cNvPr>
          <p:cNvSpPr/>
          <p:nvPr/>
        </p:nvSpPr>
        <p:spPr>
          <a:xfrm>
            <a:off x="3585301" y="5956242"/>
            <a:ext cx="2504255" cy="400110"/>
          </a:xfrm>
          <a:prstGeom prst="rect">
            <a:avLst/>
          </a:prstGeom>
          <a:solidFill>
            <a:srgbClr val="FFFF99"/>
          </a:solidFill>
          <a:ln>
            <a:solidFill>
              <a:schemeClr val="bg2">
                <a:lumMod val="25000"/>
              </a:schemeClr>
            </a:solidFill>
          </a:ln>
        </p:spPr>
        <p:txBody>
          <a:bodyPr wrap="square">
            <a:spAutoFit/>
          </a:bodyPr>
          <a:lstStyle/>
          <a:p>
            <a:pPr algn="ctr"/>
            <a:r>
              <a:rPr lang="zh-CN" altLang="en-US" sz="2000">
                <a:latin typeface="Consolas" pitchFamily="49" charset="0"/>
                <a:cs typeface="Consolas" pitchFamily="49" charset="0"/>
              </a:rPr>
              <a:t>按时间顺序从小到大</a:t>
            </a:r>
            <a:endParaRPr lang="zh-CN" altLang="zh-CN" sz="2000" dirty="0">
              <a:latin typeface="Consolas" pitchFamily="49" charset="0"/>
              <a:cs typeface="Consolas" pitchFamily="49" charset="0"/>
            </a:endParaRPr>
          </a:p>
        </p:txBody>
      </p:sp>
      <p:sp>
        <p:nvSpPr>
          <p:cNvPr id="10" name="矩形 9">
            <a:extLst>
              <a:ext uri="{FF2B5EF4-FFF2-40B4-BE49-F238E27FC236}">
                <a16:creationId xmlns:a16="http://schemas.microsoft.com/office/drawing/2014/main" id="{85DD44E4-0EB3-4ABA-B56C-870C86E2225A}"/>
              </a:ext>
            </a:extLst>
          </p:cNvPr>
          <p:cNvSpPr/>
          <p:nvPr/>
        </p:nvSpPr>
        <p:spPr>
          <a:xfrm>
            <a:off x="6486089" y="5956242"/>
            <a:ext cx="4146415" cy="400110"/>
          </a:xfrm>
          <a:prstGeom prst="rect">
            <a:avLst/>
          </a:prstGeom>
          <a:solidFill>
            <a:srgbClr val="FFFF99"/>
          </a:solidFill>
          <a:ln>
            <a:solidFill>
              <a:schemeClr val="bg2">
                <a:lumMod val="25000"/>
              </a:schemeClr>
            </a:solidFill>
          </a:ln>
        </p:spPr>
        <p:txBody>
          <a:bodyPr wrap="square">
            <a:spAutoFit/>
          </a:bodyPr>
          <a:lstStyle/>
          <a:p>
            <a:r>
              <a:rPr lang="zh-CN" altLang="en-US" sz="2000">
                <a:latin typeface="Consolas" pitchFamily="49" charset="0"/>
                <a:cs typeface="Consolas" pitchFamily="49" charset="0"/>
              </a:rPr>
              <a:t>时间相同时，</a:t>
            </a:r>
            <a:r>
              <a:rPr lang="zh-CN" altLang="en-US" sz="2000" b="1">
                <a:solidFill>
                  <a:srgbClr val="7030A0"/>
                </a:solidFill>
                <a:latin typeface="Consolas" pitchFamily="49" charset="0"/>
                <a:cs typeface="Consolas" pitchFamily="49" charset="0"/>
              </a:rPr>
              <a:t>到达</a:t>
            </a:r>
            <a:r>
              <a:rPr lang="zh-CN" altLang="en-US" sz="2000">
                <a:latin typeface="Consolas" pitchFamily="49" charset="0"/>
                <a:cs typeface="Consolas" pitchFamily="49" charset="0"/>
              </a:rPr>
              <a:t>的事件排在前面</a:t>
            </a:r>
            <a:endParaRPr lang="zh-CN" altLang="zh-CN" sz="2000" dirty="0">
              <a:latin typeface="Consolas" pitchFamily="49" charset="0"/>
              <a:cs typeface="Consolas" pitchFamily="49" charset="0"/>
            </a:endParaRPr>
          </a:p>
        </p:txBody>
      </p:sp>
      <p:sp>
        <p:nvSpPr>
          <p:cNvPr id="11" name="文本框 10">
            <a:extLst>
              <a:ext uri="{FF2B5EF4-FFF2-40B4-BE49-F238E27FC236}">
                <a16:creationId xmlns:a16="http://schemas.microsoft.com/office/drawing/2014/main" id="{44348B92-884D-4F77-9E0F-DCF6130C1293}"/>
              </a:ext>
            </a:extLst>
          </p:cNvPr>
          <p:cNvSpPr txBox="1"/>
          <p:nvPr/>
        </p:nvSpPr>
        <p:spPr>
          <a:xfrm>
            <a:off x="5293455" y="3939344"/>
            <a:ext cx="1368747" cy="400110"/>
          </a:xfrm>
          <a:prstGeom prst="rect">
            <a:avLst/>
          </a:prstGeom>
          <a:noFill/>
        </p:spPr>
        <p:txBody>
          <a:bodyPr wrap="square">
            <a:spAutoFit/>
          </a:bodyPr>
          <a:lstStyle/>
          <a:p>
            <a:pPr algn="ctr"/>
            <a:r>
              <a:rPr lang="zh-CN" altLang="en-US" sz="2000">
                <a:solidFill>
                  <a:srgbClr val="7030A0"/>
                </a:solidFill>
                <a:latin typeface="Consolas" pitchFamily="49" charset="0"/>
                <a:sym typeface="Wingdings" panose="05000000000000000000" pitchFamily="2" charset="2"/>
              </a:rPr>
              <a:t>到达</a:t>
            </a:r>
            <a:r>
              <a:rPr lang="en-US" altLang="zh-CN" sz="2000">
                <a:solidFill>
                  <a:srgbClr val="7030A0"/>
                </a:solidFill>
                <a:latin typeface="Consolas" pitchFamily="49" charset="0"/>
                <a:sym typeface="Wingdings" panose="05000000000000000000" pitchFamily="2" charset="2"/>
              </a:rPr>
              <a:t>/</a:t>
            </a:r>
            <a:r>
              <a:rPr lang="zh-CN" altLang="en-US" sz="2000">
                <a:solidFill>
                  <a:srgbClr val="7030A0"/>
                </a:solidFill>
                <a:latin typeface="Consolas" pitchFamily="49" charset="0"/>
                <a:sym typeface="Wingdings" panose="05000000000000000000" pitchFamily="2" charset="2"/>
              </a:rPr>
              <a:t>离开</a:t>
            </a:r>
            <a:endParaRPr lang="zh-CN" altLang="en-US" sz="2000">
              <a:solidFill>
                <a:srgbClr val="7030A0"/>
              </a:solidFill>
              <a:latin typeface="Consolas" pitchFamily="49" charset="0"/>
            </a:endParaRPr>
          </a:p>
        </p:txBody>
      </p:sp>
    </p:spTree>
    <p:extLst>
      <p:ext uri="{BB962C8B-B14F-4D97-AF65-F5344CB8AC3E}">
        <p14:creationId xmlns:p14="http://schemas.microsoft.com/office/powerpoint/2010/main" val="3674515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9" grpId="0" animBg="1"/>
      <p:bldP spid="10" grpId="0" animBg="1"/>
      <p:bldP spid="11"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a:extLst>
              <a:ext uri="{FF2B5EF4-FFF2-40B4-BE49-F238E27FC236}">
                <a16:creationId xmlns:a16="http://schemas.microsoft.com/office/drawing/2014/main" id="{BFC2009C-E53C-E941-F61F-1A9FFFB0951F}"/>
              </a:ext>
            </a:extLst>
          </p:cNvPr>
          <p:cNvSpPr/>
          <p:nvPr/>
        </p:nvSpPr>
        <p:spPr>
          <a:xfrm>
            <a:off x="3647728" y="476673"/>
            <a:ext cx="5330452" cy="461665"/>
          </a:xfrm>
          <a:prstGeom prst="rect">
            <a:avLst/>
          </a:prstGeom>
          <a:solidFill>
            <a:srgbClr val="FFFF99"/>
          </a:solidFill>
          <a:ln>
            <a:solidFill>
              <a:schemeClr val="bg2">
                <a:lumMod val="25000"/>
              </a:schemeClr>
            </a:solidFill>
          </a:ln>
        </p:spPr>
        <p:txBody>
          <a:bodyPr wrap="square">
            <a:spAutoFit/>
          </a:bodyPr>
          <a:lstStyle/>
          <a:p>
            <a:pPr algn="ctr"/>
            <a:r>
              <a:rPr lang="zh-CN" altLang="en-US" sz="2400" dirty="0">
                <a:latin typeface="Consolas" pitchFamily="49" charset="0"/>
                <a:cs typeface="Consolas" pitchFamily="49" charset="0"/>
              </a:rPr>
              <a:t>按照事件发展的先后顺序扫描</a:t>
            </a:r>
            <a:endParaRPr lang="zh-CN" altLang="zh-CN" sz="2400" dirty="0">
              <a:latin typeface="Consolas" pitchFamily="49" charset="0"/>
              <a:cs typeface="Consolas" pitchFamily="49" charset="0"/>
            </a:endParaRPr>
          </a:p>
        </p:txBody>
      </p:sp>
      <p:pic>
        <p:nvPicPr>
          <p:cNvPr id="4" name="图片 3">
            <a:extLst>
              <a:ext uri="{FF2B5EF4-FFF2-40B4-BE49-F238E27FC236}">
                <a16:creationId xmlns:a16="http://schemas.microsoft.com/office/drawing/2014/main" id="{211B9C58-5E8E-A894-C931-B347878791C1}"/>
              </a:ext>
            </a:extLst>
          </p:cNvPr>
          <p:cNvPicPr>
            <a:picLocks noChangeAspect="1"/>
          </p:cNvPicPr>
          <p:nvPr/>
        </p:nvPicPr>
        <p:blipFill>
          <a:blip r:embed="rId2"/>
          <a:stretch>
            <a:fillRect/>
          </a:stretch>
        </p:blipFill>
        <p:spPr>
          <a:xfrm>
            <a:off x="1524000" y="2428659"/>
            <a:ext cx="9144000" cy="2000683"/>
          </a:xfrm>
          <a:prstGeom prst="rect">
            <a:avLst/>
          </a:prstGeom>
        </p:spPr>
      </p:pic>
      <p:sp>
        <p:nvSpPr>
          <p:cNvPr id="2" name="灯片编号占位符 1">
            <a:extLst>
              <a:ext uri="{FF2B5EF4-FFF2-40B4-BE49-F238E27FC236}">
                <a16:creationId xmlns:a16="http://schemas.microsoft.com/office/drawing/2014/main" id="{CE66BC82-CDD5-49F2-8B00-E2E1F18564A5}"/>
              </a:ext>
            </a:extLst>
          </p:cNvPr>
          <p:cNvSpPr>
            <a:spLocks noGrp="1"/>
          </p:cNvSpPr>
          <p:nvPr>
            <p:ph type="sldNum" sz="quarter" idx="12"/>
          </p:nvPr>
        </p:nvSpPr>
        <p:spPr/>
        <p:txBody>
          <a:bodyPr/>
          <a:lstStyle/>
          <a:p>
            <a:fld id="{0C913308-F349-4B6D-A68A-DD1791B4A57B}" type="slidenum">
              <a:rPr lang="zh-CN" altLang="en-US" smtClean="0"/>
              <a:t>40</a:t>
            </a:fld>
            <a:endParaRPr lang="zh-CN" altLang="en-US"/>
          </a:p>
        </p:txBody>
      </p:sp>
      <p:sp>
        <p:nvSpPr>
          <p:cNvPr id="5" name="文本框 4">
            <a:extLst>
              <a:ext uri="{FF2B5EF4-FFF2-40B4-BE49-F238E27FC236}">
                <a16:creationId xmlns:a16="http://schemas.microsoft.com/office/drawing/2014/main" id="{409A9D03-5724-4177-9BB5-3DCF7D7238AF}"/>
              </a:ext>
            </a:extLst>
          </p:cNvPr>
          <p:cNvSpPr txBox="1"/>
          <p:nvPr/>
        </p:nvSpPr>
        <p:spPr>
          <a:xfrm>
            <a:off x="2783632" y="4538986"/>
            <a:ext cx="4680520" cy="430887"/>
          </a:xfrm>
          <a:prstGeom prst="rect">
            <a:avLst/>
          </a:prstGeom>
          <a:noFill/>
        </p:spPr>
        <p:txBody>
          <a:bodyPr wrap="square">
            <a:spAutoFit/>
          </a:bodyPr>
          <a:lstStyle/>
          <a:p>
            <a:r>
              <a:rPr lang="zh-CN" altLang="en-US" sz="2200">
                <a:solidFill>
                  <a:srgbClr val="FF0000"/>
                </a:solidFill>
                <a:latin typeface="Consolas" pitchFamily="49" charset="0"/>
                <a:sym typeface="Wingdings" panose="05000000000000000000" pitchFamily="2" charset="2"/>
              </a:rPr>
              <a:t>排序的目的是什么？</a:t>
            </a:r>
            <a:endParaRPr lang="zh-CN" altLang="en-US" sz="2200">
              <a:solidFill>
                <a:srgbClr val="FF0000"/>
              </a:solidFill>
              <a:latin typeface="Consolas" pitchFamily="49" charset="0"/>
            </a:endParaRPr>
          </a:p>
        </p:txBody>
      </p:sp>
      <p:sp>
        <p:nvSpPr>
          <p:cNvPr id="6" name="文本框 5">
            <a:extLst>
              <a:ext uri="{FF2B5EF4-FFF2-40B4-BE49-F238E27FC236}">
                <a16:creationId xmlns:a16="http://schemas.microsoft.com/office/drawing/2014/main" id="{F4E7888E-1641-4691-A3E4-3D7215C4F8CB}"/>
              </a:ext>
            </a:extLst>
          </p:cNvPr>
          <p:cNvSpPr txBox="1"/>
          <p:nvPr/>
        </p:nvSpPr>
        <p:spPr>
          <a:xfrm>
            <a:off x="7104112" y="2428659"/>
            <a:ext cx="4896544" cy="400110"/>
          </a:xfrm>
          <a:prstGeom prst="rect">
            <a:avLst/>
          </a:prstGeom>
          <a:noFill/>
        </p:spPr>
        <p:txBody>
          <a:bodyPr wrap="square">
            <a:spAutoFit/>
          </a:bodyPr>
          <a:lstStyle/>
          <a:p>
            <a:r>
              <a:rPr lang="zh-CN" altLang="en-US" sz="2000">
                <a:solidFill>
                  <a:srgbClr val="7030A0"/>
                </a:solidFill>
                <a:latin typeface="Consolas" pitchFamily="49" charset="0"/>
                <a:sym typeface="Wingdings" panose="05000000000000000000" pitchFamily="2" charset="2"/>
              </a:rPr>
              <a:t>同一个人的到达和离开为两个独立的事件</a:t>
            </a:r>
            <a:endParaRPr lang="zh-CN" altLang="en-US" sz="2000">
              <a:solidFill>
                <a:srgbClr val="7030A0"/>
              </a:solidFill>
              <a:latin typeface="Consolas" pitchFamily="49" charset="0"/>
            </a:endParaRPr>
          </a:p>
        </p:txBody>
      </p:sp>
      <p:sp>
        <p:nvSpPr>
          <p:cNvPr id="7" name="文本框 6">
            <a:extLst>
              <a:ext uri="{FF2B5EF4-FFF2-40B4-BE49-F238E27FC236}">
                <a16:creationId xmlns:a16="http://schemas.microsoft.com/office/drawing/2014/main" id="{272B3037-4B73-4E2A-AFB2-C1C9B391BA3A}"/>
              </a:ext>
            </a:extLst>
          </p:cNvPr>
          <p:cNvSpPr txBox="1"/>
          <p:nvPr/>
        </p:nvSpPr>
        <p:spPr>
          <a:xfrm>
            <a:off x="2783632" y="5079517"/>
            <a:ext cx="4680520" cy="430887"/>
          </a:xfrm>
          <a:prstGeom prst="rect">
            <a:avLst/>
          </a:prstGeom>
          <a:noFill/>
        </p:spPr>
        <p:txBody>
          <a:bodyPr wrap="square">
            <a:spAutoFit/>
          </a:bodyPr>
          <a:lstStyle/>
          <a:p>
            <a:r>
              <a:rPr lang="zh-CN" altLang="en-US" sz="2200">
                <a:solidFill>
                  <a:srgbClr val="FF0000"/>
                </a:solidFill>
                <a:latin typeface="Consolas" pitchFamily="49" charset="0"/>
                <a:sym typeface="Wingdings" panose="05000000000000000000" pitchFamily="2" charset="2"/>
              </a:rPr>
              <a:t>后续如何处理数据？逻辑是什么？</a:t>
            </a:r>
            <a:endParaRPr lang="zh-CN" altLang="en-US" sz="2200">
              <a:solidFill>
                <a:srgbClr val="FF0000"/>
              </a:solidFill>
              <a:latin typeface="Consolas" pitchFamily="49" charset="0"/>
            </a:endParaRPr>
          </a:p>
        </p:txBody>
      </p:sp>
    </p:spTree>
    <p:extLst>
      <p:ext uri="{BB962C8B-B14F-4D97-AF65-F5344CB8AC3E}">
        <p14:creationId xmlns:p14="http://schemas.microsoft.com/office/powerpoint/2010/main" val="2576005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a:extLst>
              <a:ext uri="{FF2B5EF4-FFF2-40B4-BE49-F238E27FC236}">
                <a16:creationId xmlns:a16="http://schemas.microsoft.com/office/drawing/2014/main" id="{BFC2009C-E53C-E941-F61F-1A9FFFB0951F}"/>
              </a:ext>
            </a:extLst>
          </p:cNvPr>
          <p:cNvSpPr/>
          <p:nvPr/>
        </p:nvSpPr>
        <p:spPr>
          <a:xfrm>
            <a:off x="3647728" y="476673"/>
            <a:ext cx="5330452" cy="461665"/>
          </a:xfrm>
          <a:prstGeom prst="rect">
            <a:avLst/>
          </a:prstGeom>
          <a:solidFill>
            <a:schemeClr val="bg1">
              <a:lumMod val="95000"/>
            </a:schemeClr>
          </a:solidFill>
          <a:ln>
            <a:solidFill>
              <a:schemeClr val="bg2">
                <a:lumMod val="25000"/>
              </a:schemeClr>
            </a:solidFill>
          </a:ln>
        </p:spPr>
        <p:txBody>
          <a:bodyPr wrap="square">
            <a:spAutoFit/>
          </a:bodyPr>
          <a:lstStyle/>
          <a:p>
            <a:pPr algn="ctr"/>
            <a:r>
              <a:rPr lang="zh-CN" altLang="en-US" sz="2400" dirty="0">
                <a:latin typeface="Consolas" pitchFamily="49" charset="0"/>
                <a:cs typeface="Consolas" pitchFamily="49" charset="0"/>
              </a:rPr>
              <a:t>贪心算法中要找截止日期最早的人</a:t>
            </a:r>
            <a:endParaRPr lang="zh-CN" altLang="zh-CN" sz="2400" dirty="0">
              <a:latin typeface="Consolas" pitchFamily="49" charset="0"/>
              <a:cs typeface="Consolas" pitchFamily="49" charset="0"/>
            </a:endParaRPr>
          </a:p>
        </p:txBody>
      </p:sp>
      <p:pic>
        <p:nvPicPr>
          <p:cNvPr id="3" name="图片 2">
            <a:extLst>
              <a:ext uri="{FF2B5EF4-FFF2-40B4-BE49-F238E27FC236}">
                <a16:creationId xmlns:a16="http://schemas.microsoft.com/office/drawing/2014/main" id="{2B581985-1D07-DE92-46E6-7AB173E11F24}"/>
              </a:ext>
            </a:extLst>
          </p:cNvPr>
          <p:cNvPicPr>
            <a:picLocks noChangeAspect="1"/>
          </p:cNvPicPr>
          <p:nvPr/>
        </p:nvPicPr>
        <p:blipFill>
          <a:blip r:embed="rId2"/>
          <a:stretch>
            <a:fillRect/>
          </a:stretch>
        </p:blipFill>
        <p:spPr>
          <a:xfrm>
            <a:off x="1524000" y="1945257"/>
            <a:ext cx="9144000" cy="2967487"/>
          </a:xfrm>
          <a:prstGeom prst="rect">
            <a:avLst/>
          </a:prstGeom>
        </p:spPr>
      </p:pic>
      <p:sp>
        <p:nvSpPr>
          <p:cNvPr id="2" name="灯片编号占位符 1">
            <a:extLst>
              <a:ext uri="{FF2B5EF4-FFF2-40B4-BE49-F238E27FC236}">
                <a16:creationId xmlns:a16="http://schemas.microsoft.com/office/drawing/2014/main" id="{5F938A68-A75A-41CD-B5C8-391EDA1BF397}"/>
              </a:ext>
            </a:extLst>
          </p:cNvPr>
          <p:cNvSpPr>
            <a:spLocks noGrp="1"/>
          </p:cNvSpPr>
          <p:nvPr>
            <p:ph type="sldNum" sz="quarter" idx="12"/>
          </p:nvPr>
        </p:nvSpPr>
        <p:spPr/>
        <p:txBody>
          <a:bodyPr/>
          <a:lstStyle/>
          <a:p>
            <a:fld id="{0C913308-F349-4B6D-A68A-DD1791B4A57B}" type="slidenum">
              <a:rPr lang="zh-CN" altLang="en-US" smtClean="0"/>
              <a:t>41</a:t>
            </a:fld>
            <a:endParaRPr lang="zh-CN" altLang="en-US"/>
          </a:p>
        </p:txBody>
      </p:sp>
      <p:sp>
        <p:nvSpPr>
          <p:cNvPr id="5" name="文本框 4">
            <a:extLst>
              <a:ext uri="{FF2B5EF4-FFF2-40B4-BE49-F238E27FC236}">
                <a16:creationId xmlns:a16="http://schemas.microsoft.com/office/drawing/2014/main" id="{58A8BBC7-B3D0-4618-814F-AA89EE5817F5}"/>
              </a:ext>
            </a:extLst>
          </p:cNvPr>
          <p:cNvSpPr txBox="1"/>
          <p:nvPr/>
        </p:nvSpPr>
        <p:spPr>
          <a:xfrm>
            <a:off x="5807968" y="1844824"/>
            <a:ext cx="2016224" cy="430887"/>
          </a:xfrm>
          <a:prstGeom prst="rect">
            <a:avLst/>
          </a:prstGeom>
          <a:noFill/>
        </p:spPr>
        <p:txBody>
          <a:bodyPr wrap="square">
            <a:spAutoFit/>
          </a:bodyPr>
          <a:lstStyle/>
          <a:p>
            <a:r>
              <a:rPr lang="zh-CN" altLang="en-US" sz="2200">
                <a:solidFill>
                  <a:srgbClr val="7030A0"/>
                </a:solidFill>
                <a:latin typeface="Consolas" pitchFamily="49" charset="0"/>
              </a:rPr>
              <a:t>管理离开事件</a:t>
            </a:r>
          </a:p>
        </p:txBody>
      </p:sp>
      <p:sp>
        <p:nvSpPr>
          <p:cNvPr id="6" name="文本框 5">
            <a:extLst>
              <a:ext uri="{FF2B5EF4-FFF2-40B4-BE49-F238E27FC236}">
                <a16:creationId xmlns:a16="http://schemas.microsoft.com/office/drawing/2014/main" id="{D30CB979-34E7-4253-9D31-A52A068ABEFA}"/>
              </a:ext>
            </a:extLst>
          </p:cNvPr>
          <p:cNvSpPr txBox="1"/>
          <p:nvPr/>
        </p:nvSpPr>
        <p:spPr>
          <a:xfrm>
            <a:off x="6528048" y="3213556"/>
            <a:ext cx="2736304" cy="430887"/>
          </a:xfrm>
          <a:prstGeom prst="rect">
            <a:avLst/>
          </a:prstGeom>
          <a:noFill/>
        </p:spPr>
        <p:txBody>
          <a:bodyPr wrap="square">
            <a:spAutoFit/>
          </a:bodyPr>
          <a:lstStyle>
            <a:defPPr>
              <a:defRPr lang="zh-CN"/>
            </a:defPPr>
            <a:lvl1pPr>
              <a:defRPr sz="2200">
                <a:solidFill>
                  <a:srgbClr val="7030A0"/>
                </a:solidFill>
                <a:latin typeface="Consolas" pitchFamily="49" charset="0"/>
              </a:defRPr>
            </a:lvl1pPr>
          </a:lstStyle>
          <a:p>
            <a:r>
              <a:rPr lang="zh-CN" altLang="en-US"/>
              <a:t>离开时早的排在前面</a:t>
            </a:r>
          </a:p>
        </p:txBody>
      </p:sp>
      <p:sp>
        <p:nvSpPr>
          <p:cNvPr id="7" name="文本框 6">
            <a:extLst>
              <a:ext uri="{FF2B5EF4-FFF2-40B4-BE49-F238E27FC236}">
                <a16:creationId xmlns:a16="http://schemas.microsoft.com/office/drawing/2014/main" id="{085D0DF4-A43E-4EB2-B8EF-DD805C373113}"/>
              </a:ext>
            </a:extLst>
          </p:cNvPr>
          <p:cNvSpPr txBox="1"/>
          <p:nvPr/>
        </p:nvSpPr>
        <p:spPr>
          <a:xfrm>
            <a:off x="1103704" y="2783615"/>
            <a:ext cx="1823944" cy="430887"/>
          </a:xfrm>
          <a:prstGeom prst="rect">
            <a:avLst/>
          </a:prstGeom>
          <a:solidFill>
            <a:schemeClr val="accent2">
              <a:lumMod val="20000"/>
              <a:lumOff val="80000"/>
            </a:schemeClr>
          </a:solidFill>
        </p:spPr>
        <p:txBody>
          <a:bodyPr wrap="square">
            <a:spAutoFit/>
          </a:bodyPr>
          <a:lstStyle>
            <a:defPPr>
              <a:defRPr lang="zh-CN"/>
            </a:defPPr>
            <a:lvl1pPr>
              <a:defRPr sz="2200">
                <a:solidFill>
                  <a:srgbClr val="7030A0"/>
                </a:solidFill>
                <a:latin typeface="Consolas" pitchFamily="49" charset="0"/>
              </a:defRPr>
            </a:lvl1pPr>
          </a:lstStyle>
          <a:p>
            <a:pPr algn="ctr"/>
            <a:r>
              <a:rPr lang="zh-CN" altLang="en-US"/>
              <a:t>重载小于号</a:t>
            </a:r>
          </a:p>
        </p:txBody>
      </p:sp>
      <p:sp>
        <p:nvSpPr>
          <p:cNvPr id="8" name="文本框 7">
            <a:extLst>
              <a:ext uri="{FF2B5EF4-FFF2-40B4-BE49-F238E27FC236}">
                <a16:creationId xmlns:a16="http://schemas.microsoft.com/office/drawing/2014/main" id="{DAA63548-E56D-4CC8-92B0-1B0B33D2CC65}"/>
              </a:ext>
            </a:extLst>
          </p:cNvPr>
          <p:cNvSpPr txBox="1"/>
          <p:nvPr/>
        </p:nvSpPr>
        <p:spPr>
          <a:xfrm>
            <a:off x="2207568" y="4936060"/>
            <a:ext cx="1823944" cy="430887"/>
          </a:xfrm>
          <a:prstGeom prst="rect">
            <a:avLst/>
          </a:prstGeom>
          <a:solidFill>
            <a:schemeClr val="accent2">
              <a:lumMod val="20000"/>
              <a:lumOff val="80000"/>
            </a:schemeClr>
          </a:solidFill>
        </p:spPr>
        <p:txBody>
          <a:bodyPr wrap="square">
            <a:spAutoFit/>
          </a:bodyPr>
          <a:lstStyle>
            <a:defPPr>
              <a:defRPr lang="zh-CN"/>
            </a:defPPr>
            <a:lvl1pPr>
              <a:defRPr sz="2200">
                <a:solidFill>
                  <a:srgbClr val="7030A0"/>
                </a:solidFill>
                <a:latin typeface="Consolas" pitchFamily="49" charset="0"/>
              </a:defRPr>
            </a:lvl1pPr>
          </a:lstStyle>
          <a:p>
            <a:pPr algn="ctr"/>
            <a:r>
              <a:rPr lang="zh-CN" altLang="en-US"/>
              <a:t>优先队列</a:t>
            </a:r>
          </a:p>
        </p:txBody>
      </p:sp>
      <p:sp>
        <p:nvSpPr>
          <p:cNvPr id="9" name="文本框 8">
            <a:extLst>
              <a:ext uri="{FF2B5EF4-FFF2-40B4-BE49-F238E27FC236}">
                <a16:creationId xmlns:a16="http://schemas.microsoft.com/office/drawing/2014/main" id="{B438022C-14B5-4A57-BB4A-EB1E6EE59017}"/>
              </a:ext>
            </a:extLst>
          </p:cNvPr>
          <p:cNvSpPr txBox="1"/>
          <p:nvPr/>
        </p:nvSpPr>
        <p:spPr>
          <a:xfrm>
            <a:off x="4029136" y="4929724"/>
            <a:ext cx="1058752" cy="430887"/>
          </a:xfrm>
          <a:prstGeom prst="rect">
            <a:avLst/>
          </a:prstGeom>
          <a:solidFill>
            <a:schemeClr val="bg1"/>
          </a:solidFill>
          <a:ln>
            <a:solidFill>
              <a:schemeClr val="bg1">
                <a:lumMod val="85000"/>
              </a:schemeClr>
            </a:solidFill>
          </a:ln>
        </p:spPr>
        <p:txBody>
          <a:bodyPr wrap="square">
            <a:spAutoFit/>
          </a:bodyPr>
          <a:lstStyle>
            <a:defPPr>
              <a:defRPr lang="zh-CN"/>
            </a:defPPr>
            <a:lvl1pPr>
              <a:defRPr sz="2200">
                <a:solidFill>
                  <a:srgbClr val="7030A0"/>
                </a:solidFill>
                <a:latin typeface="Consolas" pitchFamily="49" charset="0"/>
              </a:defRPr>
            </a:lvl1pPr>
          </a:lstStyle>
          <a:p>
            <a:r>
              <a:rPr lang="zh-CN" altLang="en-US"/>
              <a:t>小根堆</a:t>
            </a:r>
          </a:p>
        </p:txBody>
      </p:sp>
    </p:spTree>
    <p:extLst>
      <p:ext uri="{BB962C8B-B14F-4D97-AF65-F5344CB8AC3E}">
        <p14:creationId xmlns:p14="http://schemas.microsoft.com/office/powerpoint/2010/main" val="4091486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90E810FD-EB6F-E7F7-2C8A-F9B06023AEF4}"/>
              </a:ext>
            </a:extLst>
          </p:cNvPr>
          <p:cNvPicPr>
            <a:picLocks noChangeAspect="1"/>
          </p:cNvPicPr>
          <p:nvPr/>
        </p:nvPicPr>
        <p:blipFill>
          <a:blip r:embed="rId2"/>
          <a:stretch>
            <a:fillRect/>
          </a:stretch>
        </p:blipFill>
        <p:spPr>
          <a:xfrm>
            <a:off x="623392" y="404664"/>
            <a:ext cx="8074888" cy="5773034"/>
          </a:xfrm>
          <a:prstGeom prst="rect">
            <a:avLst/>
          </a:prstGeom>
        </p:spPr>
      </p:pic>
      <p:sp>
        <p:nvSpPr>
          <p:cNvPr id="6" name="矩形 5">
            <a:extLst>
              <a:ext uri="{FF2B5EF4-FFF2-40B4-BE49-F238E27FC236}">
                <a16:creationId xmlns:a16="http://schemas.microsoft.com/office/drawing/2014/main" id="{BA31CCE5-3DB5-27EC-4950-844B5DBFDFB9}"/>
              </a:ext>
            </a:extLst>
          </p:cNvPr>
          <p:cNvSpPr/>
          <p:nvPr/>
        </p:nvSpPr>
        <p:spPr>
          <a:xfrm>
            <a:off x="3359528" y="1916832"/>
            <a:ext cx="5472776" cy="360040"/>
          </a:xfrm>
          <a:prstGeom prst="rect">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7" name="矩形 6">
            <a:extLst>
              <a:ext uri="{FF2B5EF4-FFF2-40B4-BE49-F238E27FC236}">
                <a16:creationId xmlns:a16="http://schemas.microsoft.com/office/drawing/2014/main" id="{6A25CA75-B5F7-C40E-9B84-9141D17ADD87}"/>
              </a:ext>
            </a:extLst>
          </p:cNvPr>
          <p:cNvSpPr/>
          <p:nvPr/>
        </p:nvSpPr>
        <p:spPr>
          <a:xfrm>
            <a:off x="3359528" y="2338717"/>
            <a:ext cx="1872376" cy="360040"/>
          </a:xfrm>
          <a:prstGeom prst="rect">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8" name="矩形 7">
            <a:extLst>
              <a:ext uri="{FF2B5EF4-FFF2-40B4-BE49-F238E27FC236}">
                <a16:creationId xmlns:a16="http://schemas.microsoft.com/office/drawing/2014/main" id="{8F642E71-AE1E-B01C-7B2A-C6975C38D128}"/>
              </a:ext>
            </a:extLst>
          </p:cNvPr>
          <p:cNvSpPr/>
          <p:nvPr/>
        </p:nvSpPr>
        <p:spPr>
          <a:xfrm>
            <a:off x="3143672" y="3117113"/>
            <a:ext cx="2880320" cy="360040"/>
          </a:xfrm>
          <a:prstGeom prst="rect">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16" name="矩形 15">
            <a:extLst>
              <a:ext uri="{FF2B5EF4-FFF2-40B4-BE49-F238E27FC236}">
                <a16:creationId xmlns:a16="http://schemas.microsoft.com/office/drawing/2014/main" id="{F0614781-C8BF-A7C8-DD3C-82C1B50DC6C6}"/>
              </a:ext>
            </a:extLst>
          </p:cNvPr>
          <p:cNvSpPr/>
          <p:nvPr/>
        </p:nvSpPr>
        <p:spPr>
          <a:xfrm>
            <a:off x="2619128" y="3877473"/>
            <a:ext cx="4196952" cy="327309"/>
          </a:xfrm>
          <a:prstGeom prst="rect">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18" name="矩形 17">
            <a:extLst>
              <a:ext uri="{FF2B5EF4-FFF2-40B4-BE49-F238E27FC236}">
                <a16:creationId xmlns:a16="http://schemas.microsoft.com/office/drawing/2014/main" id="{D3BB63ED-02D3-D4EA-6D56-3E59CC8D78B0}"/>
              </a:ext>
            </a:extLst>
          </p:cNvPr>
          <p:cNvSpPr/>
          <p:nvPr/>
        </p:nvSpPr>
        <p:spPr>
          <a:xfrm>
            <a:off x="2619128" y="4279950"/>
            <a:ext cx="4196952" cy="327309"/>
          </a:xfrm>
          <a:prstGeom prst="rect">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19" name="矩形 18">
            <a:extLst>
              <a:ext uri="{FF2B5EF4-FFF2-40B4-BE49-F238E27FC236}">
                <a16:creationId xmlns:a16="http://schemas.microsoft.com/office/drawing/2014/main" id="{553DC26C-A8F7-C3FA-CE66-B23355E57AF0}"/>
              </a:ext>
            </a:extLst>
          </p:cNvPr>
          <p:cNvSpPr/>
          <p:nvPr/>
        </p:nvSpPr>
        <p:spPr>
          <a:xfrm>
            <a:off x="2619128" y="4662107"/>
            <a:ext cx="4196952" cy="327309"/>
          </a:xfrm>
          <a:prstGeom prst="rect">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20" name="矩形 19">
            <a:extLst>
              <a:ext uri="{FF2B5EF4-FFF2-40B4-BE49-F238E27FC236}">
                <a16:creationId xmlns:a16="http://schemas.microsoft.com/office/drawing/2014/main" id="{6443F52F-5487-CC74-941B-28A13D3AEC40}"/>
              </a:ext>
            </a:extLst>
          </p:cNvPr>
          <p:cNvSpPr/>
          <p:nvPr/>
        </p:nvSpPr>
        <p:spPr>
          <a:xfrm>
            <a:off x="2619128" y="5064584"/>
            <a:ext cx="4196952" cy="327309"/>
          </a:xfrm>
          <a:prstGeom prst="rect">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2" name="灯片编号占位符 1">
            <a:extLst>
              <a:ext uri="{FF2B5EF4-FFF2-40B4-BE49-F238E27FC236}">
                <a16:creationId xmlns:a16="http://schemas.microsoft.com/office/drawing/2014/main" id="{1F484A42-0092-49D1-9EF5-EDEC6DF3C6D3}"/>
              </a:ext>
            </a:extLst>
          </p:cNvPr>
          <p:cNvSpPr>
            <a:spLocks noGrp="1"/>
          </p:cNvSpPr>
          <p:nvPr>
            <p:ph type="sldNum" sz="quarter" idx="12"/>
          </p:nvPr>
        </p:nvSpPr>
        <p:spPr/>
        <p:txBody>
          <a:bodyPr/>
          <a:lstStyle/>
          <a:p>
            <a:fld id="{0C913308-F349-4B6D-A68A-DD1791B4A57B}" type="slidenum">
              <a:rPr lang="zh-CN" altLang="en-US" smtClean="0"/>
              <a:t>42</a:t>
            </a:fld>
            <a:endParaRPr lang="zh-CN" altLang="en-US"/>
          </a:p>
        </p:txBody>
      </p:sp>
      <p:sp>
        <p:nvSpPr>
          <p:cNvPr id="13" name="文本框 12">
            <a:extLst>
              <a:ext uri="{FF2B5EF4-FFF2-40B4-BE49-F238E27FC236}">
                <a16:creationId xmlns:a16="http://schemas.microsoft.com/office/drawing/2014/main" id="{5F0924AE-2C73-49A9-B683-991CF793BBB7}"/>
              </a:ext>
            </a:extLst>
          </p:cNvPr>
          <p:cNvSpPr txBox="1"/>
          <p:nvPr/>
        </p:nvSpPr>
        <p:spPr>
          <a:xfrm>
            <a:off x="7448644" y="1170079"/>
            <a:ext cx="1327160" cy="400110"/>
          </a:xfrm>
          <a:prstGeom prst="rect">
            <a:avLst/>
          </a:prstGeom>
          <a:noFill/>
        </p:spPr>
        <p:txBody>
          <a:bodyPr wrap="square">
            <a:spAutoFit/>
          </a:bodyPr>
          <a:lstStyle/>
          <a:p>
            <a:r>
              <a:rPr lang="zh-CN" altLang="en-US" sz="2000">
                <a:solidFill>
                  <a:srgbClr val="0070C0"/>
                </a:solidFill>
                <a:latin typeface="Consolas" pitchFamily="49" charset="0"/>
                <a:sym typeface="Wingdings" panose="05000000000000000000" pitchFamily="2" charset="2"/>
              </a:rPr>
              <a:t>到达事件</a:t>
            </a:r>
            <a:endParaRPr lang="zh-CN" altLang="en-US" sz="2000">
              <a:solidFill>
                <a:srgbClr val="0070C0"/>
              </a:solidFill>
              <a:latin typeface="Consolas" pitchFamily="49" charset="0"/>
            </a:endParaRPr>
          </a:p>
        </p:txBody>
      </p:sp>
      <p:sp>
        <p:nvSpPr>
          <p:cNvPr id="14" name="文本框 13">
            <a:extLst>
              <a:ext uri="{FF2B5EF4-FFF2-40B4-BE49-F238E27FC236}">
                <a16:creationId xmlns:a16="http://schemas.microsoft.com/office/drawing/2014/main" id="{9AACAFB3-FCFD-49D2-B13E-5D47E2A24F46}"/>
              </a:ext>
            </a:extLst>
          </p:cNvPr>
          <p:cNvSpPr txBox="1"/>
          <p:nvPr/>
        </p:nvSpPr>
        <p:spPr>
          <a:xfrm>
            <a:off x="8853328" y="1876762"/>
            <a:ext cx="2844800" cy="400110"/>
          </a:xfrm>
          <a:prstGeom prst="rect">
            <a:avLst/>
          </a:prstGeom>
          <a:noFill/>
        </p:spPr>
        <p:txBody>
          <a:bodyPr wrap="square">
            <a:spAutoFit/>
          </a:bodyPr>
          <a:lstStyle/>
          <a:p>
            <a:r>
              <a:rPr lang="zh-CN" altLang="en-US" sz="2000">
                <a:solidFill>
                  <a:srgbClr val="0070C0"/>
                </a:solidFill>
                <a:latin typeface="Consolas" pitchFamily="49" charset="0"/>
                <a:sym typeface="Wingdings" panose="05000000000000000000" pitchFamily="2" charset="2"/>
              </a:rPr>
              <a:t>将对应的离开事件入队</a:t>
            </a:r>
            <a:endParaRPr lang="zh-CN" altLang="en-US" sz="2000">
              <a:solidFill>
                <a:srgbClr val="0070C0"/>
              </a:solidFill>
              <a:latin typeface="Consolas" pitchFamily="49" charset="0"/>
            </a:endParaRPr>
          </a:p>
        </p:txBody>
      </p:sp>
      <p:sp>
        <p:nvSpPr>
          <p:cNvPr id="22" name="文本框 21">
            <a:extLst>
              <a:ext uri="{FF2B5EF4-FFF2-40B4-BE49-F238E27FC236}">
                <a16:creationId xmlns:a16="http://schemas.microsoft.com/office/drawing/2014/main" id="{67C0FA90-2FDB-4FA3-BB93-206A511AB12C}"/>
              </a:ext>
            </a:extLst>
          </p:cNvPr>
          <p:cNvSpPr txBox="1"/>
          <p:nvPr/>
        </p:nvSpPr>
        <p:spPr>
          <a:xfrm>
            <a:off x="7896200" y="3101240"/>
            <a:ext cx="2844800" cy="400110"/>
          </a:xfrm>
          <a:prstGeom prst="rect">
            <a:avLst/>
          </a:prstGeom>
          <a:noFill/>
        </p:spPr>
        <p:txBody>
          <a:bodyPr wrap="square">
            <a:spAutoFit/>
          </a:bodyPr>
          <a:lstStyle/>
          <a:p>
            <a:r>
              <a:rPr lang="zh-CN" altLang="en-US" sz="2000">
                <a:solidFill>
                  <a:srgbClr val="0070C0"/>
                </a:solidFill>
                <a:latin typeface="Consolas" pitchFamily="49" charset="0"/>
                <a:sym typeface="Wingdings" panose="05000000000000000000" pitchFamily="2" charset="2"/>
              </a:rPr>
              <a:t>如果已经离开，则跳过</a:t>
            </a:r>
            <a:endParaRPr lang="zh-CN" altLang="en-US" sz="2000">
              <a:solidFill>
                <a:srgbClr val="0070C0"/>
              </a:solidFill>
              <a:latin typeface="Consolas" pitchFamily="49" charset="0"/>
            </a:endParaRPr>
          </a:p>
        </p:txBody>
      </p:sp>
      <p:sp>
        <p:nvSpPr>
          <p:cNvPr id="23" name="文本框 22">
            <a:extLst>
              <a:ext uri="{FF2B5EF4-FFF2-40B4-BE49-F238E27FC236}">
                <a16:creationId xmlns:a16="http://schemas.microsoft.com/office/drawing/2014/main" id="{9E30BDA8-DE45-48DB-B7EA-4D118D1A289C}"/>
              </a:ext>
            </a:extLst>
          </p:cNvPr>
          <p:cNvSpPr txBox="1"/>
          <p:nvPr/>
        </p:nvSpPr>
        <p:spPr>
          <a:xfrm>
            <a:off x="3809504" y="3495399"/>
            <a:ext cx="1638424" cy="338554"/>
          </a:xfrm>
          <a:prstGeom prst="rect">
            <a:avLst/>
          </a:prstGeom>
          <a:noFill/>
        </p:spPr>
        <p:txBody>
          <a:bodyPr wrap="square">
            <a:spAutoFit/>
          </a:bodyPr>
          <a:lstStyle/>
          <a:p>
            <a:r>
              <a:rPr lang="zh-CN" altLang="en-US" sz="1600">
                <a:solidFill>
                  <a:srgbClr val="0070C0"/>
                </a:solidFill>
                <a:latin typeface="Consolas" pitchFamily="49" charset="0"/>
                <a:sym typeface="Wingdings" panose="05000000000000000000" pitchFamily="2" charset="2"/>
              </a:rPr>
              <a:t>增加一次发车</a:t>
            </a:r>
            <a:endParaRPr lang="zh-CN" altLang="en-US" sz="1600">
              <a:solidFill>
                <a:srgbClr val="0070C0"/>
              </a:solidFill>
              <a:latin typeface="Consolas" pitchFamily="49" charset="0"/>
            </a:endParaRPr>
          </a:p>
        </p:txBody>
      </p:sp>
      <p:sp>
        <p:nvSpPr>
          <p:cNvPr id="24" name="文本框 23">
            <a:extLst>
              <a:ext uri="{FF2B5EF4-FFF2-40B4-BE49-F238E27FC236}">
                <a16:creationId xmlns:a16="http://schemas.microsoft.com/office/drawing/2014/main" id="{47131A03-2BEF-4444-B729-0C65B8ED3431}"/>
              </a:ext>
            </a:extLst>
          </p:cNvPr>
          <p:cNvSpPr txBox="1"/>
          <p:nvPr/>
        </p:nvSpPr>
        <p:spPr>
          <a:xfrm>
            <a:off x="6874840" y="3833953"/>
            <a:ext cx="2533528" cy="400110"/>
          </a:xfrm>
          <a:prstGeom prst="rect">
            <a:avLst/>
          </a:prstGeom>
          <a:noFill/>
        </p:spPr>
        <p:txBody>
          <a:bodyPr wrap="square">
            <a:spAutoFit/>
          </a:bodyPr>
          <a:lstStyle/>
          <a:p>
            <a:r>
              <a:rPr lang="zh-CN" altLang="en-US" sz="2000">
                <a:solidFill>
                  <a:srgbClr val="0070C0"/>
                </a:solidFill>
                <a:latin typeface="Consolas" pitchFamily="49" charset="0"/>
                <a:sym typeface="Wingdings" panose="05000000000000000000" pitchFamily="2" charset="2"/>
              </a:rPr>
              <a:t>最多一次转运</a:t>
            </a:r>
            <a:r>
              <a:rPr lang="en-US" altLang="zh-CN" sz="2000">
                <a:solidFill>
                  <a:srgbClr val="0070C0"/>
                </a:solidFill>
                <a:latin typeface="Consolas" pitchFamily="49" charset="0"/>
                <a:sym typeface="Wingdings" panose="05000000000000000000" pitchFamily="2" charset="2"/>
              </a:rPr>
              <a:t>k</a:t>
            </a:r>
            <a:r>
              <a:rPr lang="zh-CN" altLang="en-US" sz="2000">
                <a:solidFill>
                  <a:srgbClr val="0070C0"/>
                </a:solidFill>
                <a:latin typeface="Consolas" pitchFamily="49" charset="0"/>
                <a:sym typeface="Wingdings" panose="05000000000000000000" pitchFamily="2" charset="2"/>
              </a:rPr>
              <a:t>个人</a:t>
            </a:r>
            <a:endParaRPr lang="zh-CN" altLang="en-US" sz="2000">
              <a:solidFill>
                <a:srgbClr val="0070C0"/>
              </a:solidFill>
              <a:latin typeface="Consolas" pitchFamily="49" charset="0"/>
            </a:endParaRPr>
          </a:p>
        </p:txBody>
      </p:sp>
    </p:spTree>
    <p:extLst>
      <p:ext uri="{BB962C8B-B14F-4D97-AF65-F5344CB8AC3E}">
        <p14:creationId xmlns:p14="http://schemas.microsoft.com/office/powerpoint/2010/main" val="1495104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0" nodeType="clickEffect">
                                  <p:stCondLst>
                                    <p:cond delay="0"/>
                                  </p:stCondLst>
                                  <p:childTnLst>
                                    <p:set>
                                      <p:cBhvr>
                                        <p:cTn id="38" dur="1" fill="hold">
                                          <p:stCondLst>
                                            <p:cond delay="0"/>
                                          </p:stCondLst>
                                        </p:cTn>
                                        <p:tgtEl>
                                          <p:spTgt spid="16"/>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grpId="0" nodeType="clickEffect">
                                  <p:stCondLst>
                                    <p:cond delay="0"/>
                                  </p:stCondLst>
                                  <p:childTnLst>
                                    <p:set>
                                      <p:cBhvr>
                                        <p:cTn id="42" dur="1" fill="hold">
                                          <p:stCondLst>
                                            <p:cond delay="0"/>
                                          </p:stCondLst>
                                        </p:cTn>
                                        <p:tgtEl>
                                          <p:spTgt spid="18"/>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grpId="0" nodeType="clickEffect">
                                  <p:stCondLst>
                                    <p:cond delay="0"/>
                                  </p:stCondLst>
                                  <p:childTnLst>
                                    <p:set>
                                      <p:cBhvr>
                                        <p:cTn id="46" dur="1" fill="hold">
                                          <p:stCondLst>
                                            <p:cond delay="0"/>
                                          </p:stCondLst>
                                        </p:cTn>
                                        <p:tgtEl>
                                          <p:spTgt spid="19"/>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grpId="0" nodeType="clickEffect">
                                  <p:stCondLst>
                                    <p:cond delay="0"/>
                                  </p:stCondLst>
                                  <p:childTnLst>
                                    <p:set>
                                      <p:cBhvr>
                                        <p:cTn id="50" dur="1" fill="hold">
                                          <p:stCondLst>
                                            <p:cond delay="0"/>
                                          </p:stCondLst>
                                        </p:cTn>
                                        <p:tgtEl>
                                          <p:spTgt spid="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6" grpId="0" animBg="1"/>
      <p:bldP spid="18" grpId="0" animBg="1"/>
      <p:bldP spid="19" grpId="0" animBg="1"/>
      <p:bldP spid="20" grpId="0" animBg="1"/>
      <p:bldP spid="13" grpId="0"/>
      <p:bldP spid="14" grpId="0"/>
      <p:bldP spid="22" grpId="0"/>
      <p:bldP spid="23" grpId="0"/>
      <p:bldP spid="24"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1E976-E7D6-8426-B05A-DB40C48F6393}"/>
            </a:ext>
          </a:extLst>
        </p:cNvPr>
        <p:cNvGrpSpPr/>
        <p:nvPr/>
      </p:nvGrpSpPr>
      <p:grpSpPr>
        <a:xfrm>
          <a:off x="0" y="0"/>
          <a:ext cx="0" cy="0"/>
          <a:chOff x="0" y="0"/>
          <a:chExt cx="0" cy="0"/>
        </a:xfrm>
      </p:grpSpPr>
      <p:sp>
        <p:nvSpPr>
          <p:cNvPr id="2" name="TextBox 3">
            <a:extLst>
              <a:ext uri="{FF2B5EF4-FFF2-40B4-BE49-F238E27FC236}">
                <a16:creationId xmlns:a16="http://schemas.microsoft.com/office/drawing/2014/main" id="{58AF0DB1-FA76-B53F-770F-A54555503574}"/>
              </a:ext>
            </a:extLst>
          </p:cNvPr>
          <p:cNvSpPr txBox="1"/>
          <p:nvPr/>
        </p:nvSpPr>
        <p:spPr>
          <a:xfrm>
            <a:off x="-210616" y="2636912"/>
            <a:ext cx="12613232" cy="1015659"/>
          </a:xfrm>
          <a:prstGeom prst="rect">
            <a:avLst/>
          </a:prstGeom>
          <a:solidFill>
            <a:srgbClr val="F2F2F2"/>
          </a:solidFill>
          <a:ln w="12700">
            <a:solidFill>
              <a:srgbClr val="4A452A"/>
            </a:solidFill>
          </a:ln>
        </p:spPr>
        <p:txBody>
          <a:bodyPr wrap="square" lIns="45718" tIns="45718" rIns="45718" bIns="45718">
            <a:spAutoFit/>
          </a:bodyPr>
          <a:lstStyle>
            <a:defPPr>
              <a:defRPr lang="zh-CN"/>
            </a:defPPr>
            <a:lvl1pPr algn="ctr" defTabSz="914367">
              <a:defRPr sz="3937">
                <a:latin typeface="Calibri"/>
                <a:ea typeface="Calibri"/>
                <a:cs typeface="Calibri"/>
              </a:defRPr>
            </a:lvl1pPr>
          </a:lstStyle>
          <a:p>
            <a:pPr>
              <a:defRPr sz="5600">
                <a:latin typeface="Calibri"/>
                <a:ea typeface="Calibri"/>
                <a:cs typeface="Calibri"/>
                <a:sym typeface="Calibri"/>
              </a:defRPr>
            </a:pPr>
            <a:r>
              <a:rPr lang="en-US" altLang="zh-CN" sz="6000" dirty="0"/>
              <a:t>T4 </a:t>
            </a:r>
            <a:r>
              <a:rPr lang="zh-CN" altLang="en-US" sz="6000"/>
              <a:t>罗密欧与朱丽叶</a:t>
            </a:r>
            <a:r>
              <a:rPr lang="en-US" altLang="zh-CN" sz="6000" dirty="0"/>
              <a:t>3  </a:t>
            </a:r>
            <a:endParaRPr lang="zh-CN" altLang="en-US" sz="6000" dirty="0"/>
          </a:p>
        </p:txBody>
      </p:sp>
      <p:sp>
        <p:nvSpPr>
          <p:cNvPr id="4" name="灯片编号占位符 3">
            <a:extLst>
              <a:ext uri="{FF2B5EF4-FFF2-40B4-BE49-F238E27FC236}">
                <a16:creationId xmlns:a16="http://schemas.microsoft.com/office/drawing/2014/main" id="{59D79162-2E5E-2A96-CC9E-D0A2FD574880}"/>
              </a:ext>
            </a:extLst>
          </p:cNvPr>
          <p:cNvSpPr>
            <a:spLocks noGrp="1"/>
          </p:cNvSpPr>
          <p:nvPr>
            <p:ph type="sldNum" sz="quarter" idx="2"/>
          </p:nvPr>
        </p:nvSpPr>
        <p:spPr/>
        <p:txBody>
          <a:bodyPr/>
          <a:lstStyle/>
          <a:p>
            <a:fld id="{86CB4B4D-7CA3-9044-876B-883B54F8677D}" type="slidenum">
              <a:rPr lang="en-US" altLang="zh-CN" smtClean="0"/>
              <a:t>43</a:t>
            </a:fld>
            <a:endParaRPr lang="en-US" altLang="zh-CN" dirty="0"/>
          </a:p>
        </p:txBody>
      </p:sp>
    </p:spTree>
    <p:extLst>
      <p:ext uri="{BB962C8B-B14F-4D97-AF65-F5344CB8AC3E}">
        <p14:creationId xmlns:p14="http://schemas.microsoft.com/office/powerpoint/2010/main" val="120336601"/>
      </p:ext>
    </p:extLst>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29600" cy="706091"/>
          </a:xfrm>
        </p:spPr>
        <p:txBody>
          <a:bodyPr>
            <a:normAutofit fontScale="90000"/>
          </a:bodyPr>
          <a:lstStyle/>
          <a:p>
            <a:r>
              <a:rPr lang="zh-CN" altLang="en-US" dirty="0">
                <a:latin typeface="Consolas" pitchFamily="49" charset="0"/>
                <a:ea typeface="宋体" pitchFamily="2" charset="-122"/>
                <a:cs typeface="Consolas" pitchFamily="49" charset="0"/>
              </a:rPr>
              <a:t>手算样例</a:t>
            </a:r>
            <a:endParaRPr lang="zh-CN" altLang="zh-CN" dirty="0">
              <a:latin typeface="Consolas" pitchFamily="49" charset="0"/>
              <a:ea typeface="宋体" pitchFamily="2" charset="-122"/>
              <a:cs typeface="Consolas" pitchFamily="49" charset="0"/>
            </a:endParaRPr>
          </a:p>
        </p:txBody>
      </p:sp>
      <p:sp>
        <p:nvSpPr>
          <p:cNvPr id="7" name="TextBox 4">
            <a:extLst>
              <a:ext uri="{FF2B5EF4-FFF2-40B4-BE49-F238E27FC236}">
                <a16:creationId xmlns:a16="http://schemas.microsoft.com/office/drawing/2014/main" id="{C4FAAB0D-76C6-4D08-BCC7-E3C54CAAFBB5}"/>
              </a:ext>
            </a:extLst>
          </p:cNvPr>
          <p:cNvSpPr txBox="1"/>
          <p:nvPr/>
        </p:nvSpPr>
        <p:spPr>
          <a:xfrm>
            <a:off x="2004184" y="2136338"/>
            <a:ext cx="2236192" cy="1569660"/>
          </a:xfrm>
          <a:prstGeom prst="rect">
            <a:avLst/>
          </a:prstGeom>
          <a:solidFill>
            <a:schemeClr val="bg1">
              <a:lumMod val="95000"/>
            </a:schemeClr>
          </a:solidFill>
          <a:ln>
            <a:solidFill>
              <a:schemeClr val="tx1">
                <a:lumMod val="50000"/>
                <a:lumOff val="50000"/>
              </a:schemeClr>
            </a:solidFill>
          </a:ln>
        </p:spPr>
        <p:txBody>
          <a:bodyPr wrap="square" rtlCol="0">
            <a:spAutoFit/>
          </a:bodyPr>
          <a:lstStyle/>
          <a:p>
            <a:pPr algn="just"/>
            <a:r>
              <a:rPr lang="zh-CN" altLang="en-US" sz="2400" dirty="0">
                <a:latin typeface="Consolas" pitchFamily="49" charset="0"/>
                <a:cs typeface="Consolas" pitchFamily="49" charset="0"/>
              </a:rPr>
              <a:t>输入</a:t>
            </a:r>
            <a:endParaRPr lang="en-US" altLang="zh-CN" sz="2400" dirty="0">
              <a:latin typeface="Consolas" pitchFamily="49" charset="0"/>
              <a:cs typeface="Consolas" pitchFamily="49" charset="0"/>
            </a:endParaRPr>
          </a:p>
          <a:p>
            <a:pPr algn="just"/>
            <a:r>
              <a:rPr lang="pt-BR" altLang="zh-CN" sz="2400" dirty="0">
                <a:latin typeface="Consolas" pitchFamily="49" charset="0"/>
                <a:cs typeface="Consolas" pitchFamily="49" charset="0"/>
              </a:rPr>
              <a:t>2 2</a:t>
            </a:r>
          </a:p>
          <a:p>
            <a:pPr algn="just"/>
            <a:r>
              <a:rPr lang="pt-BR" altLang="zh-CN" sz="2400" dirty="0">
                <a:latin typeface="Consolas" pitchFamily="49" charset="0"/>
                <a:cs typeface="Consolas" pitchFamily="49" charset="0"/>
              </a:rPr>
              <a:t>oJ</a:t>
            </a:r>
          </a:p>
          <a:p>
            <a:pPr algn="just"/>
            <a:r>
              <a:rPr lang="pt-BR" altLang="zh-CN" sz="2400" dirty="0">
                <a:latin typeface="Consolas" pitchFamily="49" charset="0"/>
                <a:cs typeface="Consolas" pitchFamily="49" charset="0"/>
              </a:rPr>
              <a:t>R#</a:t>
            </a:r>
          </a:p>
        </p:txBody>
      </p:sp>
      <p:sp>
        <p:nvSpPr>
          <p:cNvPr id="8" name="TextBox 5">
            <a:extLst>
              <a:ext uri="{FF2B5EF4-FFF2-40B4-BE49-F238E27FC236}">
                <a16:creationId xmlns:a16="http://schemas.microsoft.com/office/drawing/2014/main" id="{53EA990E-034F-4938-8ACF-098E87BE0374}"/>
              </a:ext>
            </a:extLst>
          </p:cNvPr>
          <p:cNvSpPr txBox="1"/>
          <p:nvPr/>
        </p:nvSpPr>
        <p:spPr>
          <a:xfrm>
            <a:off x="4439816" y="2136339"/>
            <a:ext cx="936104" cy="830997"/>
          </a:xfrm>
          <a:prstGeom prst="rect">
            <a:avLst/>
          </a:prstGeom>
          <a:noFill/>
          <a:ln>
            <a:solidFill>
              <a:schemeClr val="tx1">
                <a:lumMod val="50000"/>
                <a:lumOff val="50000"/>
              </a:schemeClr>
            </a:solidFill>
          </a:ln>
        </p:spPr>
        <p:txBody>
          <a:bodyPr wrap="square" rtlCol="0">
            <a:spAutoFit/>
          </a:bodyPr>
          <a:lstStyle/>
          <a:p>
            <a:pPr algn="just"/>
            <a:r>
              <a:rPr lang="zh-CN" altLang="en-US" sz="2400" dirty="0">
                <a:latin typeface="Consolas" pitchFamily="49" charset="0"/>
                <a:cs typeface="Consolas" pitchFamily="49" charset="0"/>
              </a:rPr>
              <a:t>输出</a:t>
            </a:r>
            <a:endParaRPr lang="en-US" altLang="zh-CN" sz="2400" dirty="0">
              <a:latin typeface="Consolas" pitchFamily="49" charset="0"/>
              <a:cs typeface="Consolas" pitchFamily="49" charset="0"/>
            </a:endParaRPr>
          </a:p>
          <a:p>
            <a:pPr algn="just"/>
            <a:r>
              <a:rPr lang="zh-CN" altLang="en-US" sz="2400" dirty="0">
                <a:latin typeface="Consolas" pitchFamily="49" charset="0"/>
                <a:cs typeface="Consolas" pitchFamily="49" charset="0"/>
              </a:rPr>
              <a:t>多少</a:t>
            </a:r>
            <a:endParaRPr lang="en-US" altLang="zh-CN" sz="2400" dirty="0">
              <a:latin typeface="Consolas" pitchFamily="49" charset="0"/>
              <a:cs typeface="Consolas" pitchFamily="49" charset="0"/>
            </a:endParaRPr>
          </a:p>
        </p:txBody>
      </p:sp>
      <p:sp>
        <p:nvSpPr>
          <p:cNvPr id="10" name="TextBox 5">
            <a:extLst>
              <a:ext uri="{FF2B5EF4-FFF2-40B4-BE49-F238E27FC236}">
                <a16:creationId xmlns:a16="http://schemas.microsoft.com/office/drawing/2014/main" id="{C55D93E7-0529-4C7F-B8D3-99AC93864623}"/>
              </a:ext>
            </a:extLst>
          </p:cNvPr>
          <p:cNvSpPr txBox="1"/>
          <p:nvPr/>
        </p:nvSpPr>
        <p:spPr>
          <a:xfrm>
            <a:off x="4439816" y="2967336"/>
            <a:ext cx="936104" cy="461665"/>
          </a:xfrm>
          <a:prstGeom prst="rect">
            <a:avLst/>
          </a:prstGeom>
          <a:solidFill>
            <a:schemeClr val="accent3">
              <a:lumMod val="20000"/>
              <a:lumOff val="80000"/>
            </a:schemeClr>
          </a:solidFill>
          <a:ln>
            <a:solidFill>
              <a:schemeClr val="tx1">
                <a:lumMod val="50000"/>
                <a:lumOff val="50000"/>
              </a:schemeClr>
            </a:solidFill>
          </a:ln>
        </p:spPr>
        <p:txBody>
          <a:bodyPr wrap="square" rtlCol="0">
            <a:spAutoFit/>
          </a:bodyPr>
          <a:lstStyle/>
          <a:p>
            <a:pPr algn="just"/>
            <a:r>
              <a:rPr lang="en-US" altLang="zh-CN" sz="2400" dirty="0">
                <a:latin typeface="Consolas" pitchFamily="49" charset="0"/>
                <a:cs typeface="Consolas" pitchFamily="49" charset="0"/>
              </a:rPr>
              <a:t>1.0</a:t>
            </a:r>
          </a:p>
        </p:txBody>
      </p:sp>
      <p:sp>
        <p:nvSpPr>
          <p:cNvPr id="12" name="TextBox 4">
            <a:extLst>
              <a:ext uri="{FF2B5EF4-FFF2-40B4-BE49-F238E27FC236}">
                <a16:creationId xmlns:a16="http://schemas.microsoft.com/office/drawing/2014/main" id="{A46FF90D-52CF-42BC-AF2F-1697FD578324}"/>
              </a:ext>
            </a:extLst>
          </p:cNvPr>
          <p:cNvSpPr txBox="1"/>
          <p:nvPr/>
        </p:nvSpPr>
        <p:spPr>
          <a:xfrm>
            <a:off x="6456040" y="2136338"/>
            <a:ext cx="2236192" cy="2308324"/>
          </a:xfrm>
          <a:prstGeom prst="rect">
            <a:avLst/>
          </a:prstGeom>
          <a:solidFill>
            <a:schemeClr val="bg1">
              <a:lumMod val="95000"/>
            </a:schemeClr>
          </a:solidFill>
          <a:ln>
            <a:solidFill>
              <a:schemeClr val="tx1">
                <a:lumMod val="50000"/>
                <a:lumOff val="50000"/>
              </a:schemeClr>
            </a:solidFill>
          </a:ln>
        </p:spPr>
        <p:txBody>
          <a:bodyPr wrap="square" rtlCol="0">
            <a:spAutoFit/>
          </a:bodyPr>
          <a:lstStyle/>
          <a:p>
            <a:pPr algn="just"/>
            <a:r>
              <a:rPr lang="zh-CN" altLang="en-US" sz="2400" dirty="0">
                <a:latin typeface="Consolas" pitchFamily="49" charset="0"/>
                <a:cs typeface="Consolas" pitchFamily="49" charset="0"/>
              </a:rPr>
              <a:t>输入</a:t>
            </a:r>
            <a:endParaRPr lang="en-US" altLang="zh-CN" sz="2400" dirty="0">
              <a:latin typeface="Consolas" pitchFamily="49" charset="0"/>
              <a:cs typeface="Consolas" pitchFamily="49" charset="0"/>
            </a:endParaRPr>
          </a:p>
          <a:p>
            <a:pPr algn="just"/>
            <a:r>
              <a:rPr lang="pt-BR" altLang="zh-CN" sz="2400" dirty="0">
                <a:latin typeface="Consolas" pitchFamily="49" charset="0"/>
                <a:cs typeface="Consolas" pitchFamily="49" charset="0"/>
              </a:rPr>
              <a:t>4 5</a:t>
            </a:r>
          </a:p>
          <a:p>
            <a:pPr algn="just"/>
            <a:r>
              <a:rPr lang="pt-BR" altLang="zh-CN" sz="2400" dirty="0">
                <a:latin typeface="Consolas" pitchFamily="49" charset="0"/>
                <a:cs typeface="Consolas" pitchFamily="49" charset="0"/>
              </a:rPr>
              <a:t>ooo#J</a:t>
            </a:r>
          </a:p>
          <a:p>
            <a:pPr algn="just"/>
            <a:r>
              <a:rPr lang="pt-BR" altLang="zh-CN" sz="2400" dirty="0">
                <a:latin typeface="Consolas" pitchFamily="49" charset="0"/>
                <a:cs typeface="Consolas" pitchFamily="49" charset="0"/>
              </a:rPr>
              <a:t>o#o#o</a:t>
            </a:r>
          </a:p>
          <a:p>
            <a:pPr algn="just"/>
            <a:r>
              <a:rPr lang="pt-BR" altLang="zh-CN" sz="2400" dirty="0">
                <a:latin typeface="Consolas" pitchFamily="49" charset="0"/>
                <a:cs typeface="Consolas" pitchFamily="49" charset="0"/>
              </a:rPr>
              <a:t>o#o#o</a:t>
            </a:r>
          </a:p>
          <a:p>
            <a:pPr algn="just"/>
            <a:r>
              <a:rPr lang="pt-BR" altLang="zh-CN" sz="2400" dirty="0">
                <a:latin typeface="Consolas" pitchFamily="49" charset="0"/>
                <a:cs typeface="Consolas" pitchFamily="49" charset="0"/>
              </a:rPr>
              <a:t>R#ooo</a:t>
            </a:r>
          </a:p>
        </p:txBody>
      </p:sp>
      <p:sp>
        <p:nvSpPr>
          <p:cNvPr id="13" name="TextBox 5">
            <a:extLst>
              <a:ext uri="{FF2B5EF4-FFF2-40B4-BE49-F238E27FC236}">
                <a16:creationId xmlns:a16="http://schemas.microsoft.com/office/drawing/2014/main" id="{E8956667-A5F4-4574-B680-CC216CB1C536}"/>
              </a:ext>
            </a:extLst>
          </p:cNvPr>
          <p:cNvSpPr txBox="1"/>
          <p:nvPr/>
        </p:nvSpPr>
        <p:spPr>
          <a:xfrm>
            <a:off x="8891672" y="2136339"/>
            <a:ext cx="936104" cy="830997"/>
          </a:xfrm>
          <a:prstGeom prst="rect">
            <a:avLst/>
          </a:prstGeom>
          <a:noFill/>
          <a:ln>
            <a:solidFill>
              <a:schemeClr val="tx1">
                <a:lumMod val="50000"/>
                <a:lumOff val="50000"/>
              </a:schemeClr>
            </a:solidFill>
          </a:ln>
        </p:spPr>
        <p:txBody>
          <a:bodyPr wrap="square" rtlCol="0">
            <a:spAutoFit/>
          </a:bodyPr>
          <a:lstStyle/>
          <a:p>
            <a:pPr algn="just"/>
            <a:r>
              <a:rPr lang="zh-CN" altLang="en-US" sz="2400" dirty="0">
                <a:latin typeface="Consolas" pitchFamily="49" charset="0"/>
                <a:cs typeface="Consolas" pitchFamily="49" charset="0"/>
              </a:rPr>
              <a:t>输出</a:t>
            </a:r>
            <a:endParaRPr lang="en-US" altLang="zh-CN" sz="2400" dirty="0">
              <a:latin typeface="Consolas" pitchFamily="49" charset="0"/>
              <a:cs typeface="Consolas" pitchFamily="49" charset="0"/>
            </a:endParaRPr>
          </a:p>
          <a:p>
            <a:pPr algn="just"/>
            <a:r>
              <a:rPr lang="zh-CN" altLang="en-US" sz="2400" dirty="0">
                <a:latin typeface="Consolas" pitchFamily="49" charset="0"/>
                <a:cs typeface="Consolas" pitchFamily="49" charset="0"/>
              </a:rPr>
              <a:t>多少</a:t>
            </a:r>
            <a:endParaRPr lang="en-US" altLang="zh-CN" sz="2400" dirty="0">
              <a:latin typeface="Consolas" pitchFamily="49" charset="0"/>
              <a:cs typeface="Consolas" pitchFamily="49" charset="0"/>
            </a:endParaRPr>
          </a:p>
        </p:txBody>
      </p:sp>
      <p:sp>
        <p:nvSpPr>
          <p:cNvPr id="14" name="TextBox 5">
            <a:extLst>
              <a:ext uri="{FF2B5EF4-FFF2-40B4-BE49-F238E27FC236}">
                <a16:creationId xmlns:a16="http://schemas.microsoft.com/office/drawing/2014/main" id="{F226274C-7D99-4199-A576-AF0FC308611B}"/>
              </a:ext>
            </a:extLst>
          </p:cNvPr>
          <p:cNvSpPr txBox="1"/>
          <p:nvPr/>
        </p:nvSpPr>
        <p:spPr>
          <a:xfrm>
            <a:off x="8891672" y="2967336"/>
            <a:ext cx="936104" cy="461665"/>
          </a:xfrm>
          <a:prstGeom prst="rect">
            <a:avLst/>
          </a:prstGeom>
          <a:solidFill>
            <a:schemeClr val="accent3">
              <a:lumMod val="20000"/>
              <a:lumOff val="80000"/>
            </a:schemeClr>
          </a:solidFill>
          <a:ln>
            <a:solidFill>
              <a:schemeClr val="tx1">
                <a:lumMod val="50000"/>
                <a:lumOff val="50000"/>
              </a:schemeClr>
            </a:solidFill>
          </a:ln>
        </p:spPr>
        <p:txBody>
          <a:bodyPr wrap="square" rtlCol="0">
            <a:spAutoFit/>
          </a:bodyPr>
          <a:lstStyle/>
          <a:p>
            <a:pPr algn="just"/>
            <a:r>
              <a:rPr lang="en-US" altLang="zh-CN" sz="2400" dirty="0">
                <a:latin typeface="Consolas" pitchFamily="49" charset="0"/>
                <a:cs typeface="Consolas" pitchFamily="49" charset="0"/>
              </a:rPr>
              <a:t>6.5</a:t>
            </a:r>
          </a:p>
        </p:txBody>
      </p:sp>
      <p:sp>
        <p:nvSpPr>
          <p:cNvPr id="3" name="灯片编号占位符 2">
            <a:extLst>
              <a:ext uri="{FF2B5EF4-FFF2-40B4-BE49-F238E27FC236}">
                <a16:creationId xmlns:a16="http://schemas.microsoft.com/office/drawing/2014/main" id="{755208A3-2386-25BC-0F84-F135FFAB5AA7}"/>
              </a:ext>
            </a:extLst>
          </p:cNvPr>
          <p:cNvSpPr>
            <a:spLocks noGrp="1"/>
          </p:cNvSpPr>
          <p:nvPr>
            <p:ph type="sldNum" sz="quarter" idx="12"/>
          </p:nvPr>
        </p:nvSpPr>
        <p:spPr/>
        <p:txBody>
          <a:bodyPr/>
          <a:lstStyle/>
          <a:p>
            <a:fld id="{0C913308-F349-4B6D-A68A-DD1791B4A57B}" type="slidenum">
              <a:rPr lang="zh-CN" altLang="en-US" smtClean="0"/>
              <a:t>44</a:t>
            </a:fld>
            <a:endParaRPr lang="zh-CN" altLang="en-US"/>
          </a:p>
        </p:txBody>
      </p:sp>
    </p:spTree>
    <p:extLst>
      <p:ext uri="{BB962C8B-B14F-4D97-AF65-F5344CB8AC3E}">
        <p14:creationId xmlns:p14="http://schemas.microsoft.com/office/powerpoint/2010/main" val="674401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5519936" y="4928294"/>
            <a:ext cx="3312368" cy="461665"/>
          </a:xfrm>
          <a:prstGeom prst="rect">
            <a:avLst/>
          </a:prstGeom>
          <a:noFill/>
          <a:ln>
            <a:solidFill>
              <a:schemeClr val="bg2">
                <a:lumMod val="25000"/>
              </a:schemeClr>
            </a:solidFill>
          </a:ln>
        </p:spPr>
        <p:txBody>
          <a:bodyPr wrap="square">
            <a:spAutoFit/>
          </a:bodyPr>
          <a:lstStyle/>
          <a:p>
            <a:pPr algn="ctr"/>
            <a:r>
              <a:rPr lang="zh-CN" altLang="en-US" sz="2400" dirty="0"/>
              <a:t>每一步耗时都是</a:t>
            </a:r>
            <a:r>
              <a:rPr lang="en-US" altLang="zh-CN" sz="2400" dirty="0"/>
              <a:t>1</a:t>
            </a:r>
            <a:endParaRPr lang="zh-CN" altLang="zh-CN" sz="2400" dirty="0"/>
          </a:p>
        </p:txBody>
      </p:sp>
      <p:sp>
        <p:nvSpPr>
          <p:cNvPr id="6" name="矩形 5"/>
          <p:cNvSpPr/>
          <p:nvPr/>
        </p:nvSpPr>
        <p:spPr>
          <a:xfrm>
            <a:off x="3488230" y="620689"/>
            <a:ext cx="5344074" cy="1200329"/>
          </a:xfrm>
          <a:prstGeom prst="rect">
            <a:avLst/>
          </a:prstGeom>
          <a:noFill/>
          <a:ln>
            <a:solidFill>
              <a:schemeClr val="bg2">
                <a:lumMod val="25000"/>
              </a:schemeClr>
            </a:solidFill>
          </a:ln>
        </p:spPr>
        <p:txBody>
          <a:bodyPr wrap="square">
            <a:spAutoFit/>
          </a:bodyPr>
          <a:lstStyle/>
          <a:p>
            <a:pPr algn="ctr"/>
            <a:r>
              <a:rPr lang="zh-CN" altLang="en-US" sz="2400" dirty="0"/>
              <a:t>棋盘格里两人同时移动</a:t>
            </a:r>
            <a:endParaRPr lang="en-US" altLang="zh-CN" sz="2400" dirty="0"/>
          </a:p>
          <a:p>
            <a:pPr algn="ctr"/>
            <a:r>
              <a:rPr lang="zh-CN" altLang="en-US" sz="2400" dirty="0"/>
              <a:t>每秒可以移动一格</a:t>
            </a:r>
            <a:endParaRPr lang="en-US" altLang="zh-CN" sz="2400" dirty="0"/>
          </a:p>
          <a:p>
            <a:pPr algn="ctr"/>
            <a:r>
              <a:rPr lang="zh-CN" altLang="en-US" sz="2400" dirty="0"/>
              <a:t>求最少几秒相遇</a:t>
            </a:r>
            <a:endParaRPr lang="zh-CN" altLang="zh-CN" sz="2400" dirty="0"/>
          </a:p>
        </p:txBody>
      </p:sp>
      <p:sp>
        <p:nvSpPr>
          <p:cNvPr id="19" name="矩形 18"/>
          <p:cNvSpPr/>
          <p:nvPr/>
        </p:nvSpPr>
        <p:spPr>
          <a:xfrm>
            <a:off x="3488230" y="4293097"/>
            <a:ext cx="5344074" cy="461665"/>
          </a:xfrm>
          <a:prstGeom prst="rect">
            <a:avLst/>
          </a:prstGeom>
          <a:solidFill>
            <a:srgbClr val="FFCDDE"/>
          </a:solidFill>
          <a:ln>
            <a:solidFill>
              <a:schemeClr val="bg2">
                <a:lumMod val="25000"/>
              </a:schemeClr>
            </a:solidFill>
          </a:ln>
        </p:spPr>
        <p:txBody>
          <a:bodyPr wrap="square">
            <a:spAutoFit/>
          </a:bodyPr>
          <a:lstStyle/>
          <a:p>
            <a:pPr algn="ctr"/>
            <a:r>
              <a:rPr lang="zh-CN" altLang="en-US" sz="2400" dirty="0"/>
              <a:t>单源单汇最短路问题</a:t>
            </a:r>
            <a:endParaRPr lang="zh-CN" altLang="zh-CN" sz="2400" dirty="0"/>
          </a:p>
        </p:txBody>
      </p:sp>
      <p:sp>
        <p:nvSpPr>
          <p:cNvPr id="17" name="矩形 16"/>
          <p:cNvSpPr/>
          <p:nvPr/>
        </p:nvSpPr>
        <p:spPr>
          <a:xfrm>
            <a:off x="3488230" y="1982146"/>
            <a:ext cx="5344074" cy="830997"/>
          </a:xfrm>
          <a:prstGeom prst="rect">
            <a:avLst/>
          </a:prstGeom>
          <a:noFill/>
          <a:ln>
            <a:solidFill>
              <a:schemeClr val="bg2">
                <a:lumMod val="25000"/>
              </a:schemeClr>
            </a:solidFill>
          </a:ln>
        </p:spPr>
        <p:txBody>
          <a:bodyPr wrap="square">
            <a:spAutoFit/>
          </a:bodyPr>
          <a:lstStyle/>
          <a:p>
            <a:pPr algn="ctr"/>
            <a:r>
              <a:rPr lang="zh-CN" altLang="en-US" sz="2400" dirty="0"/>
              <a:t>固定一人不懂</a:t>
            </a:r>
            <a:endParaRPr lang="en-US" altLang="zh-CN" sz="2400" dirty="0"/>
          </a:p>
          <a:p>
            <a:pPr algn="ctr"/>
            <a:r>
              <a:rPr lang="zh-CN" altLang="en-US" sz="2400" dirty="0"/>
              <a:t>只让另一人移动</a:t>
            </a:r>
            <a:endParaRPr lang="en-US" altLang="zh-CN" sz="2400" dirty="0"/>
          </a:p>
        </p:txBody>
      </p:sp>
      <p:sp>
        <p:nvSpPr>
          <p:cNvPr id="18" name="矩形 17"/>
          <p:cNvSpPr/>
          <p:nvPr/>
        </p:nvSpPr>
        <p:spPr>
          <a:xfrm>
            <a:off x="3488230" y="2932202"/>
            <a:ext cx="5344074" cy="1200329"/>
          </a:xfrm>
          <a:prstGeom prst="rect">
            <a:avLst/>
          </a:prstGeom>
          <a:noFill/>
          <a:ln>
            <a:solidFill>
              <a:schemeClr val="bg2">
                <a:lumMod val="25000"/>
              </a:schemeClr>
            </a:solidFill>
          </a:ln>
        </p:spPr>
        <p:txBody>
          <a:bodyPr wrap="square">
            <a:spAutoFit/>
          </a:bodyPr>
          <a:lstStyle/>
          <a:p>
            <a:pPr algn="ctr"/>
            <a:r>
              <a:rPr lang="zh-CN" altLang="en-US" sz="2400" dirty="0"/>
              <a:t>起点和终点给定</a:t>
            </a:r>
            <a:endParaRPr lang="en-US" altLang="zh-CN" sz="2400" dirty="0"/>
          </a:p>
          <a:p>
            <a:pPr algn="ctr"/>
            <a:r>
              <a:rPr lang="zh-CN" altLang="en-US" sz="2400" dirty="0"/>
              <a:t>求最短路长度</a:t>
            </a:r>
            <a:endParaRPr lang="en-US" altLang="zh-CN" sz="2400" dirty="0"/>
          </a:p>
          <a:p>
            <a:pPr algn="ctr"/>
            <a:r>
              <a:rPr lang="zh-CN" altLang="en-US" sz="2400" dirty="0"/>
              <a:t>结果再除以</a:t>
            </a:r>
            <a:r>
              <a:rPr lang="en-US" altLang="zh-CN" sz="2400" dirty="0"/>
              <a:t>2</a:t>
            </a:r>
          </a:p>
        </p:txBody>
      </p:sp>
      <p:sp>
        <p:nvSpPr>
          <p:cNvPr id="20" name="矩形 19"/>
          <p:cNvSpPr/>
          <p:nvPr/>
        </p:nvSpPr>
        <p:spPr>
          <a:xfrm>
            <a:off x="5519936" y="5505180"/>
            <a:ext cx="3312368" cy="830997"/>
          </a:xfrm>
          <a:prstGeom prst="rect">
            <a:avLst/>
          </a:prstGeom>
          <a:solidFill>
            <a:srgbClr val="FFCCCC"/>
          </a:solidFill>
          <a:ln>
            <a:solidFill>
              <a:schemeClr val="bg2">
                <a:lumMod val="25000"/>
              </a:schemeClr>
            </a:solidFill>
          </a:ln>
        </p:spPr>
        <p:txBody>
          <a:bodyPr wrap="square">
            <a:spAutoFit/>
          </a:bodyPr>
          <a:lstStyle/>
          <a:p>
            <a:pPr algn="ctr"/>
            <a:r>
              <a:rPr lang="zh-CN" altLang="en-US" sz="2400" dirty="0"/>
              <a:t>无权图最短路问题</a:t>
            </a:r>
            <a:endParaRPr lang="en-US" altLang="zh-CN" sz="2400" dirty="0"/>
          </a:p>
          <a:p>
            <a:pPr algn="ctr"/>
            <a:r>
              <a:rPr lang="zh-CN" altLang="en-US" sz="2400" dirty="0"/>
              <a:t>用</a:t>
            </a:r>
            <a:r>
              <a:rPr lang="en-US" altLang="zh-CN" sz="2400" dirty="0"/>
              <a:t>BFS</a:t>
            </a:r>
            <a:r>
              <a:rPr lang="zh-CN" altLang="en-US" sz="2400" dirty="0"/>
              <a:t>求解</a:t>
            </a:r>
            <a:endParaRPr lang="zh-CN" altLang="zh-CN" sz="2400" dirty="0"/>
          </a:p>
        </p:txBody>
      </p:sp>
      <p:sp>
        <p:nvSpPr>
          <p:cNvPr id="2" name="灯片编号占位符 1">
            <a:extLst>
              <a:ext uri="{FF2B5EF4-FFF2-40B4-BE49-F238E27FC236}">
                <a16:creationId xmlns:a16="http://schemas.microsoft.com/office/drawing/2014/main" id="{2467E9F9-EEC8-E81E-E67C-A3190BEB996B}"/>
              </a:ext>
            </a:extLst>
          </p:cNvPr>
          <p:cNvSpPr>
            <a:spLocks noGrp="1"/>
          </p:cNvSpPr>
          <p:nvPr>
            <p:ph type="sldNum" sz="quarter" idx="12"/>
          </p:nvPr>
        </p:nvSpPr>
        <p:spPr/>
        <p:txBody>
          <a:bodyPr/>
          <a:lstStyle/>
          <a:p>
            <a:fld id="{0C913308-F349-4B6D-A68A-DD1791B4A57B}" type="slidenum">
              <a:rPr lang="zh-CN" altLang="en-US" smtClean="0"/>
              <a:t>45</a:t>
            </a:fld>
            <a:endParaRPr lang="zh-CN" altLang="en-US"/>
          </a:p>
        </p:txBody>
      </p:sp>
    </p:spTree>
    <p:extLst>
      <p:ext uri="{BB962C8B-B14F-4D97-AF65-F5344CB8AC3E}">
        <p14:creationId xmlns:p14="http://schemas.microsoft.com/office/powerpoint/2010/main" val="1103610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9" grpId="0" animBg="1"/>
      <p:bldP spid="17" grpId="0" animBg="1"/>
      <p:bldP spid="18" grpId="0" animBg="1"/>
      <p:bldP spid="20"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6384032" y="170952"/>
            <a:ext cx="3312368" cy="461665"/>
          </a:xfrm>
          <a:prstGeom prst="rect">
            <a:avLst/>
          </a:prstGeom>
          <a:noFill/>
          <a:ln>
            <a:solidFill>
              <a:schemeClr val="bg2">
                <a:lumMod val="25000"/>
              </a:schemeClr>
            </a:solidFill>
          </a:ln>
        </p:spPr>
        <p:txBody>
          <a:bodyPr wrap="square">
            <a:spAutoFit/>
          </a:bodyPr>
          <a:lstStyle/>
          <a:p>
            <a:pPr algn="ctr"/>
            <a:r>
              <a:rPr lang="zh-CN" altLang="en-US" sz="2400" dirty="0"/>
              <a:t>从</a:t>
            </a:r>
            <a:r>
              <a:rPr lang="en-US" altLang="zh-CN" sz="2400" dirty="0"/>
              <a:t>J</a:t>
            </a:r>
            <a:r>
              <a:rPr lang="zh-CN" altLang="en-US" sz="2400" dirty="0"/>
              <a:t>到</a:t>
            </a:r>
            <a:r>
              <a:rPr lang="en-US" altLang="zh-CN" sz="2400" dirty="0"/>
              <a:t>R</a:t>
            </a:r>
            <a:r>
              <a:rPr lang="zh-CN" altLang="en-US" sz="2400" dirty="0"/>
              <a:t>求最短路</a:t>
            </a:r>
            <a:endParaRPr lang="zh-CN" altLang="zh-CN" sz="2400" dirty="0"/>
          </a:p>
        </p:txBody>
      </p:sp>
      <p:sp>
        <p:nvSpPr>
          <p:cNvPr id="20" name="矩形 19"/>
          <p:cNvSpPr/>
          <p:nvPr/>
        </p:nvSpPr>
        <p:spPr>
          <a:xfrm>
            <a:off x="2161591" y="170953"/>
            <a:ext cx="3312368" cy="830997"/>
          </a:xfrm>
          <a:prstGeom prst="rect">
            <a:avLst/>
          </a:prstGeom>
          <a:solidFill>
            <a:srgbClr val="FFCCCC"/>
          </a:solidFill>
          <a:ln>
            <a:solidFill>
              <a:schemeClr val="bg2">
                <a:lumMod val="25000"/>
              </a:schemeClr>
            </a:solidFill>
          </a:ln>
        </p:spPr>
        <p:txBody>
          <a:bodyPr wrap="square">
            <a:spAutoFit/>
          </a:bodyPr>
          <a:lstStyle/>
          <a:p>
            <a:pPr algn="ctr"/>
            <a:r>
              <a:rPr lang="zh-CN" altLang="en-US" sz="2400" dirty="0"/>
              <a:t>无权图最短路问题</a:t>
            </a:r>
            <a:endParaRPr lang="en-US" altLang="zh-CN" sz="2400" dirty="0"/>
          </a:p>
          <a:p>
            <a:pPr algn="ctr"/>
            <a:r>
              <a:rPr lang="zh-CN" altLang="en-US" sz="2400" dirty="0"/>
              <a:t>用</a:t>
            </a:r>
            <a:r>
              <a:rPr lang="en-US" altLang="zh-CN" sz="2400" dirty="0"/>
              <a:t>BFS</a:t>
            </a:r>
            <a:r>
              <a:rPr lang="zh-CN" altLang="en-US" sz="2400" dirty="0"/>
              <a:t>求解</a:t>
            </a:r>
            <a:endParaRPr lang="zh-CN" altLang="zh-CN" sz="2400" dirty="0"/>
          </a:p>
        </p:txBody>
      </p:sp>
      <p:graphicFrame>
        <p:nvGraphicFramePr>
          <p:cNvPr id="12" name="表格 11"/>
          <p:cNvGraphicFramePr>
            <a:graphicFrameLocks noGrp="1"/>
          </p:cNvGraphicFramePr>
          <p:nvPr/>
        </p:nvGraphicFramePr>
        <p:xfrm>
          <a:off x="2170077" y="1687548"/>
          <a:ext cx="3421510" cy="3200400"/>
        </p:xfrm>
        <a:graphic>
          <a:graphicData uri="http://schemas.openxmlformats.org/drawingml/2006/table">
            <a:tbl>
              <a:tblPr firstRow="1" bandRow="1">
                <a:tableStyleId>{2D5ABB26-0587-4C30-8999-92F81FD0307C}</a:tableStyleId>
              </a:tblPr>
              <a:tblGrid>
                <a:gridCol w="684302">
                  <a:extLst>
                    <a:ext uri="{9D8B030D-6E8A-4147-A177-3AD203B41FA5}">
                      <a16:colId xmlns:a16="http://schemas.microsoft.com/office/drawing/2014/main" val="20000"/>
                    </a:ext>
                  </a:extLst>
                </a:gridCol>
                <a:gridCol w="684302">
                  <a:extLst>
                    <a:ext uri="{9D8B030D-6E8A-4147-A177-3AD203B41FA5}">
                      <a16:colId xmlns:a16="http://schemas.microsoft.com/office/drawing/2014/main" val="20001"/>
                    </a:ext>
                  </a:extLst>
                </a:gridCol>
                <a:gridCol w="684302">
                  <a:extLst>
                    <a:ext uri="{9D8B030D-6E8A-4147-A177-3AD203B41FA5}">
                      <a16:colId xmlns:a16="http://schemas.microsoft.com/office/drawing/2014/main" val="20002"/>
                    </a:ext>
                  </a:extLst>
                </a:gridCol>
                <a:gridCol w="684302">
                  <a:extLst>
                    <a:ext uri="{9D8B030D-6E8A-4147-A177-3AD203B41FA5}">
                      <a16:colId xmlns:a16="http://schemas.microsoft.com/office/drawing/2014/main" val="20003"/>
                    </a:ext>
                  </a:extLst>
                </a:gridCol>
                <a:gridCol w="684302">
                  <a:extLst>
                    <a:ext uri="{9D8B030D-6E8A-4147-A177-3AD203B41FA5}">
                      <a16:colId xmlns:a16="http://schemas.microsoft.com/office/drawing/2014/main" val="20004"/>
                    </a:ext>
                  </a:extLst>
                </a:gridCol>
              </a:tblGrid>
              <a:tr h="633670">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633670">
                <a:tc>
                  <a:txBody>
                    <a:bodyPr/>
                    <a:lstStyle/>
                    <a:p>
                      <a:pPr algn="ctr"/>
                      <a:r>
                        <a:rPr lang="en-US" altLang="zh-CN" sz="3600" dirty="0">
                          <a:latin typeface="Consolas" pitchFamily="49" charset="0"/>
                          <a:cs typeface="Consolas" pitchFamily="49" charset="0"/>
                        </a:rPr>
                        <a:t>J</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tc>
                  <a:txBody>
                    <a:bodyPr/>
                    <a:lstStyle/>
                    <a:p>
                      <a:pPr algn="ctr"/>
                      <a:r>
                        <a:rPr lang="en-US" altLang="zh-CN" sz="3600" dirty="0">
                          <a:latin typeface="Consolas" pitchFamily="49" charset="0"/>
                          <a:cs typeface="Consolas" pitchFamily="49" charset="0"/>
                        </a:rPr>
                        <a:t>#</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3600" dirty="0">
                          <a:latin typeface="Consolas" pitchFamily="49" charset="0"/>
                          <a:cs typeface="Consolas" pitchFamily="49" charset="0"/>
                        </a:rPr>
                        <a:t>#</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633670">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3600" dirty="0">
                          <a:latin typeface="Consolas" pitchFamily="49" charset="0"/>
                          <a:cs typeface="Consolas" pitchFamily="49" charset="0"/>
                        </a:rPr>
                        <a:t>#</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33670">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3600" dirty="0">
                          <a:latin typeface="Consolas" pitchFamily="49" charset="0"/>
                          <a:cs typeface="Consolas" pitchFamily="49" charset="0"/>
                        </a:rPr>
                        <a:t>#</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3600" dirty="0">
                          <a:latin typeface="Consolas" pitchFamily="49" charset="0"/>
                          <a:cs typeface="Consolas" pitchFamily="49" charset="0"/>
                        </a:rPr>
                        <a:t>R</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extLst>
                  <a:ext uri="{0D108BD9-81ED-4DB2-BD59-A6C34878D82A}">
                    <a16:rowId xmlns:a16="http://schemas.microsoft.com/office/drawing/2014/main" val="10003"/>
                  </a:ext>
                </a:extLst>
              </a:tr>
              <a:tr h="633670">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3600" dirty="0">
                          <a:latin typeface="Consolas" pitchFamily="49" charset="0"/>
                          <a:cs typeface="Consolas" pitchFamily="49" charset="0"/>
                        </a:rPr>
                        <a:t>#</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3" name="矩形 12"/>
          <p:cNvSpPr/>
          <p:nvPr/>
        </p:nvSpPr>
        <p:spPr>
          <a:xfrm>
            <a:off x="6384032" y="632617"/>
            <a:ext cx="3312368" cy="830997"/>
          </a:xfrm>
          <a:prstGeom prst="rect">
            <a:avLst/>
          </a:prstGeom>
          <a:noFill/>
          <a:ln>
            <a:solidFill>
              <a:schemeClr val="bg2">
                <a:lumMod val="25000"/>
              </a:schemeClr>
            </a:solidFill>
          </a:ln>
        </p:spPr>
        <p:txBody>
          <a:bodyPr wrap="square">
            <a:spAutoFit/>
          </a:bodyPr>
          <a:lstStyle/>
          <a:p>
            <a:pPr algn="ctr"/>
            <a:r>
              <a:rPr lang="en-US" altLang="zh-CN" sz="2400" dirty="0"/>
              <a:t>BFS</a:t>
            </a:r>
            <a:r>
              <a:rPr lang="zh-CN" altLang="en-US" sz="2400" dirty="0"/>
              <a:t>时第一次访问</a:t>
            </a:r>
            <a:endParaRPr lang="en-US" altLang="zh-CN" sz="2400" dirty="0"/>
          </a:p>
          <a:p>
            <a:pPr algn="ctr"/>
            <a:r>
              <a:rPr lang="zh-CN" altLang="en-US" sz="2400" dirty="0"/>
              <a:t>就能确定最短路结果</a:t>
            </a:r>
            <a:endParaRPr lang="zh-CN" altLang="zh-CN" sz="2400" dirty="0"/>
          </a:p>
        </p:txBody>
      </p:sp>
      <p:sp>
        <p:nvSpPr>
          <p:cNvPr id="10" name="矩形 9"/>
          <p:cNvSpPr/>
          <p:nvPr/>
        </p:nvSpPr>
        <p:spPr>
          <a:xfrm>
            <a:off x="6384032" y="5334308"/>
            <a:ext cx="3312368" cy="830997"/>
          </a:xfrm>
          <a:prstGeom prst="rect">
            <a:avLst/>
          </a:prstGeom>
          <a:noFill/>
          <a:ln>
            <a:solidFill>
              <a:schemeClr val="bg2">
                <a:lumMod val="25000"/>
              </a:schemeClr>
            </a:solidFill>
          </a:ln>
        </p:spPr>
        <p:txBody>
          <a:bodyPr wrap="square">
            <a:spAutoFit/>
          </a:bodyPr>
          <a:lstStyle/>
          <a:p>
            <a:pPr algn="ctr"/>
            <a:r>
              <a:rPr lang="en-US" altLang="zh-CN" sz="2400" dirty="0"/>
              <a:t>dst[x][y]</a:t>
            </a:r>
            <a:r>
              <a:rPr lang="zh-CN" altLang="en-US" sz="2400" dirty="0"/>
              <a:t>代表从起点到</a:t>
            </a:r>
            <a:r>
              <a:rPr lang="en-US" altLang="zh-CN" sz="2400" dirty="0"/>
              <a:t>(x,y)</a:t>
            </a:r>
            <a:r>
              <a:rPr lang="zh-CN" altLang="en-US" sz="2400" dirty="0"/>
              <a:t>的最短路长度</a:t>
            </a:r>
            <a:endParaRPr lang="zh-CN" altLang="zh-CN" sz="2400" dirty="0"/>
          </a:p>
        </p:txBody>
      </p:sp>
      <p:graphicFrame>
        <p:nvGraphicFramePr>
          <p:cNvPr id="11" name="表格 10"/>
          <p:cNvGraphicFramePr>
            <a:graphicFrameLocks noGrp="1"/>
          </p:cNvGraphicFramePr>
          <p:nvPr/>
        </p:nvGraphicFramePr>
        <p:xfrm>
          <a:off x="6416824" y="1700808"/>
          <a:ext cx="3421510" cy="3200400"/>
        </p:xfrm>
        <a:graphic>
          <a:graphicData uri="http://schemas.openxmlformats.org/drawingml/2006/table">
            <a:tbl>
              <a:tblPr firstRow="1" bandRow="1">
                <a:tableStyleId>{2D5ABB26-0587-4C30-8999-92F81FD0307C}</a:tableStyleId>
              </a:tblPr>
              <a:tblGrid>
                <a:gridCol w="684302">
                  <a:extLst>
                    <a:ext uri="{9D8B030D-6E8A-4147-A177-3AD203B41FA5}">
                      <a16:colId xmlns:a16="http://schemas.microsoft.com/office/drawing/2014/main" val="20000"/>
                    </a:ext>
                  </a:extLst>
                </a:gridCol>
                <a:gridCol w="684302">
                  <a:extLst>
                    <a:ext uri="{9D8B030D-6E8A-4147-A177-3AD203B41FA5}">
                      <a16:colId xmlns:a16="http://schemas.microsoft.com/office/drawing/2014/main" val="20001"/>
                    </a:ext>
                  </a:extLst>
                </a:gridCol>
                <a:gridCol w="684302">
                  <a:extLst>
                    <a:ext uri="{9D8B030D-6E8A-4147-A177-3AD203B41FA5}">
                      <a16:colId xmlns:a16="http://schemas.microsoft.com/office/drawing/2014/main" val="20002"/>
                    </a:ext>
                  </a:extLst>
                </a:gridCol>
                <a:gridCol w="684302">
                  <a:extLst>
                    <a:ext uri="{9D8B030D-6E8A-4147-A177-3AD203B41FA5}">
                      <a16:colId xmlns:a16="http://schemas.microsoft.com/office/drawing/2014/main" val="20003"/>
                    </a:ext>
                  </a:extLst>
                </a:gridCol>
                <a:gridCol w="684302">
                  <a:extLst>
                    <a:ext uri="{9D8B030D-6E8A-4147-A177-3AD203B41FA5}">
                      <a16:colId xmlns:a16="http://schemas.microsoft.com/office/drawing/2014/main" val="20004"/>
                    </a:ext>
                  </a:extLst>
                </a:gridCol>
              </a:tblGrid>
              <a:tr h="633670">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633670">
                <a:tc>
                  <a:txBody>
                    <a:bodyPr/>
                    <a:lstStyle/>
                    <a:p>
                      <a:pPr algn="ctr"/>
                      <a:r>
                        <a:rPr lang="en-US" altLang="zh-CN" sz="3600" dirty="0">
                          <a:latin typeface="Consolas" pitchFamily="49" charset="0"/>
                          <a:cs typeface="Consolas" pitchFamily="49" charset="0"/>
                        </a:rPr>
                        <a:t>0</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633670">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33670">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633670">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 name="灯片编号占位符 1">
            <a:extLst>
              <a:ext uri="{FF2B5EF4-FFF2-40B4-BE49-F238E27FC236}">
                <a16:creationId xmlns:a16="http://schemas.microsoft.com/office/drawing/2014/main" id="{AAB7F44B-ADEB-2911-72DC-C9C809760396}"/>
              </a:ext>
            </a:extLst>
          </p:cNvPr>
          <p:cNvSpPr>
            <a:spLocks noGrp="1"/>
          </p:cNvSpPr>
          <p:nvPr>
            <p:ph type="sldNum" sz="quarter" idx="12"/>
          </p:nvPr>
        </p:nvSpPr>
        <p:spPr/>
        <p:txBody>
          <a:bodyPr/>
          <a:lstStyle/>
          <a:p>
            <a:fld id="{0C913308-F349-4B6D-A68A-DD1791B4A57B}" type="slidenum">
              <a:rPr lang="zh-CN" altLang="en-US" smtClean="0"/>
              <a:t>46</a:t>
            </a:fld>
            <a:endParaRPr lang="zh-CN" altLang="en-US"/>
          </a:p>
        </p:txBody>
      </p:sp>
    </p:spTree>
    <p:extLst>
      <p:ext uri="{BB962C8B-B14F-4D97-AF65-F5344CB8AC3E}">
        <p14:creationId xmlns:p14="http://schemas.microsoft.com/office/powerpoint/2010/main" val="1434113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3" grpId="0" animBg="1"/>
      <p:bldP spid="10"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6384032" y="170952"/>
            <a:ext cx="3312368" cy="461665"/>
          </a:xfrm>
          <a:prstGeom prst="rect">
            <a:avLst/>
          </a:prstGeom>
          <a:noFill/>
          <a:ln>
            <a:solidFill>
              <a:schemeClr val="bg2">
                <a:lumMod val="25000"/>
              </a:schemeClr>
            </a:solidFill>
          </a:ln>
        </p:spPr>
        <p:txBody>
          <a:bodyPr wrap="square">
            <a:spAutoFit/>
          </a:bodyPr>
          <a:lstStyle/>
          <a:p>
            <a:pPr algn="ctr"/>
            <a:r>
              <a:rPr lang="zh-CN" altLang="en-US" sz="2400" dirty="0"/>
              <a:t>从</a:t>
            </a:r>
            <a:r>
              <a:rPr lang="en-US" altLang="zh-CN" sz="2400" dirty="0"/>
              <a:t>J</a:t>
            </a:r>
            <a:r>
              <a:rPr lang="zh-CN" altLang="en-US" sz="2400" dirty="0"/>
              <a:t>到</a:t>
            </a:r>
            <a:r>
              <a:rPr lang="en-US" altLang="zh-CN" sz="2400" dirty="0"/>
              <a:t>R</a:t>
            </a:r>
            <a:r>
              <a:rPr lang="zh-CN" altLang="en-US" sz="2400" dirty="0"/>
              <a:t>求最短路</a:t>
            </a:r>
            <a:endParaRPr lang="zh-CN" altLang="zh-CN" sz="2400" dirty="0"/>
          </a:p>
        </p:txBody>
      </p:sp>
      <p:sp>
        <p:nvSpPr>
          <p:cNvPr id="20" name="矩形 19"/>
          <p:cNvSpPr/>
          <p:nvPr/>
        </p:nvSpPr>
        <p:spPr>
          <a:xfrm>
            <a:off x="2161591" y="170953"/>
            <a:ext cx="3312368" cy="830997"/>
          </a:xfrm>
          <a:prstGeom prst="rect">
            <a:avLst/>
          </a:prstGeom>
          <a:solidFill>
            <a:srgbClr val="FFCCCC"/>
          </a:solidFill>
          <a:ln>
            <a:solidFill>
              <a:schemeClr val="bg2">
                <a:lumMod val="25000"/>
              </a:schemeClr>
            </a:solidFill>
          </a:ln>
        </p:spPr>
        <p:txBody>
          <a:bodyPr wrap="square">
            <a:spAutoFit/>
          </a:bodyPr>
          <a:lstStyle/>
          <a:p>
            <a:pPr algn="ctr"/>
            <a:r>
              <a:rPr lang="zh-CN" altLang="en-US" sz="2400" dirty="0"/>
              <a:t>无权图最短路问题</a:t>
            </a:r>
            <a:endParaRPr lang="en-US" altLang="zh-CN" sz="2400" dirty="0"/>
          </a:p>
          <a:p>
            <a:pPr algn="ctr"/>
            <a:r>
              <a:rPr lang="zh-CN" altLang="en-US" sz="2400" dirty="0"/>
              <a:t>用</a:t>
            </a:r>
            <a:r>
              <a:rPr lang="en-US" altLang="zh-CN" sz="2400" dirty="0"/>
              <a:t>BFS</a:t>
            </a:r>
            <a:r>
              <a:rPr lang="zh-CN" altLang="en-US" sz="2400" dirty="0"/>
              <a:t>求解</a:t>
            </a:r>
            <a:endParaRPr lang="zh-CN" altLang="zh-CN" sz="2400" dirty="0"/>
          </a:p>
        </p:txBody>
      </p:sp>
      <p:sp>
        <p:nvSpPr>
          <p:cNvPr id="13" name="矩形 12"/>
          <p:cNvSpPr/>
          <p:nvPr/>
        </p:nvSpPr>
        <p:spPr>
          <a:xfrm>
            <a:off x="6384032" y="632617"/>
            <a:ext cx="3312368" cy="830997"/>
          </a:xfrm>
          <a:prstGeom prst="rect">
            <a:avLst/>
          </a:prstGeom>
          <a:noFill/>
          <a:ln>
            <a:solidFill>
              <a:schemeClr val="bg2">
                <a:lumMod val="25000"/>
              </a:schemeClr>
            </a:solidFill>
          </a:ln>
        </p:spPr>
        <p:txBody>
          <a:bodyPr wrap="square">
            <a:spAutoFit/>
          </a:bodyPr>
          <a:lstStyle/>
          <a:p>
            <a:pPr algn="ctr"/>
            <a:r>
              <a:rPr lang="en-US" altLang="zh-CN" sz="2400" dirty="0"/>
              <a:t>BFS</a:t>
            </a:r>
            <a:r>
              <a:rPr lang="zh-CN" altLang="en-US" sz="2400" dirty="0"/>
              <a:t>时第一次访问</a:t>
            </a:r>
            <a:endParaRPr lang="en-US" altLang="zh-CN" sz="2400" dirty="0"/>
          </a:p>
          <a:p>
            <a:pPr algn="ctr"/>
            <a:r>
              <a:rPr lang="zh-CN" altLang="en-US" sz="2400" dirty="0"/>
              <a:t>就能确定最短路结果</a:t>
            </a:r>
            <a:endParaRPr lang="zh-CN" altLang="zh-CN" sz="2400" dirty="0"/>
          </a:p>
        </p:txBody>
      </p:sp>
      <p:sp>
        <p:nvSpPr>
          <p:cNvPr id="10" name="矩形 9"/>
          <p:cNvSpPr/>
          <p:nvPr/>
        </p:nvSpPr>
        <p:spPr>
          <a:xfrm>
            <a:off x="6384032" y="5334308"/>
            <a:ext cx="3312368" cy="830997"/>
          </a:xfrm>
          <a:prstGeom prst="rect">
            <a:avLst/>
          </a:prstGeom>
          <a:noFill/>
          <a:ln>
            <a:solidFill>
              <a:schemeClr val="bg2">
                <a:lumMod val="25000"/>
              </a:schemeClr>
            </a:solidFill>
          </a:ln>
        </p:spPr>
        <p:txBody>
          <a:bodyPr wrap="square">
            <a:spAutoFit/>
          </a:bodyPr>
          <a:lstStyle/>
          <a:p>
            <a:pPr algn="ctr"/>
            <a:r>
              <a:rPr lang="en-US" altLang="zh-CN" sz="2400" dirty="0"/>
              <a:t>dst[x][y]</a:t>
            </a:r>
            <a:r>
              <a:rPr lang="zh-CN" altLang="en-US" sz="2400" dirty="0"/>
              <a:t>代表从起点到</a:t>
            </a:r>
            <a:r>
              <a:rPr lang="en-US" altLang="zh-CN" sz="2400" dirty="0"/>
              <a:t>(x,y)</a:t>
            </a:r>
            <a:r>
              <a:rPr lang="zh-CN" altLang="en-US" sz="2400" dirty="0"/>
              <a:t>的最短路长度</a:t>
            </a:r>
            <a:endParaRPr lang="zh-CN" altLang="zh-CN" sz="2400" dirty="0"/>
          </a:p>
        </p:txBody>
      </p:sp>
      <p:graphicFrame>
        <p:nvGraphicFramePr>
          <p:cNvPr id="11" name="表格 10"/>
          <p:cNvGraphicFramePr>
            <a:graphicFrameLocks noGrp="1"/>
          </p:cNvGraphicFramePr>
          <p:nvPr/>
        </p:nvGraphicFramePr>
        <p:xfrm>
          <a:off x="6416824" y="1700808"/>
          <a:ext cx="3421510" cy="3200400"/>
        </p:xfrm>
        <a:graphic>
          <a:graphicData uri="http://schemas.openxmlformats.org/drawingml/2006/table">
            <a:tbl>
              <a:tblPr firstRow="1" bandRow="1">
                <a:tableStyleId>{2D5ABB26-0587-4C30-8999-92F81FD0307C}</a:tableStyleId>
              </a:tblPr>
              <a:tblGrid>
                <a:gridCol w="684302">
                  <a:extLst>
                    <a:ext uri="{9D8B030D-6E8A-4147-A177-3AD203B41FA5}">
                      <a16:colId xmlns:a16="http://schemas.microsoft.com/office/drawing/2014/main" val="20000"/>
                    </a:ext>
                  </a:extLst>
                </a:gridCol>
                <a:gridCol w="684302">
                  <a:extLst>
                    <a:ext uri="{9D8B030D-6E8A-4147-A177-3AD203B41FA5}">
                      <a16:colId xmlns:a16="http://schemas.microsoft.com/office/drawing/2014/main" val="20001"/>
                    </a:ext>
                  </a:extLst>
                </a:gridCol>
                <a:gridCol w="684302">
                  <a:extLst>
                    <a:ext uri="{9D8B030D-6E8A-4147-A177-3AD203B41FA5}">
                      <a16:colId xmlns:a16="http://schemas.microsoft.com/office/drawing/2014/main" val="20002"/>
                    </a:ext>
                  </a:extLst>
                </a:gridCol>
                <a:gridCol w="684302">
                  <a:extLst>
                    <a:ext uri="{9D8B030D-6E8A-4147-A177-3AD203B41FA5}">
                      <a16:colId xmlns:a16="http://schemas.microsoft.com/office/drawing/2014/main" val="20003"/>
                    </a:ext>
                  </a:extLst>
                </a:gridCol>
                <a:gridCol w="684302">
                  <a:extLst>
                    <a:ext uri="{9D8B030D-6E8A-4147-A177-3AD203B41FA5}">
                      <a16:colId xmlns:a16="http://schemas.microsoft.com/office/drawing/2014/main" val="20004"/>
                    </a:ext>
                  </a:extLst>
                </a:gridCol>
              </a:tblGrid>
              <a:tr h="633670">
                <a:tc>
                  <a:txBody>
                    <a:bodyPr/>
                    <a:lstStyle/>
                    <a:p>
                      <a:pPr algn="ctr"/>
                      <a:r>
                        <a:rPr lang="en-US" altLang="zh-CN" sz="3600" dirty="0">
                          <a:latin typeface="Consolas" pitchFamily="49" charset="0"/>
                          <a:cs typeface="Consolas" pitchFamily="49" charset="0"/>
                        </a:rPr>
                        <a:t>1</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633670">
                <a:tc>
                  <a:txBody>
                    <a:bodyPr/>
                    <a:lstStyle/>
                    <a:p>
                      <a:pPr algn="ctr"/>
                      <a:r>
                        <a:rPr lang="en-US" altLang="zh-CN" sz="3600" dirty="0">
                          <a:latin typeface="Consolas" pitchFamily="49" charset="0"/>
                          <a:cs typeface="Consolas" pitchFamily="49" charset="0"/>
                        </a:rPr>
                        <a:t>0</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633670">
                <a:tc>
                  <a:txBody>
                    <a:bodyPr/>
                    <a:lstStyle/>
                    <a:p>
                      <a:pPr algn="ctr"/>
                      <a:r>
                        <a:rPr lang="en-US" altLang="zh-CN" sz="3600" dirty="0">
                          <a:latin typeface="Consolas" pitchFamily="49" charset="0"/>
                          <a:cs typeface="Consolas" pitchFamily="49" charset="0"/>
                        </a:rPr>
                        <a:t>1</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33670">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633670">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aphicFrame>
        <p:nvGraphicFramePr>
          <p:cNvPr id="8" name="表格 7"/>
          <p:cNvGraphicFramePr>
            <a:graphicFrameLocks noGrp="1"/>
          </p:cNvGraphicFramePr>
          <p:nvPr/>
        </p:nvGraphicFramePr>
        <p:xfrm>
          <a:off x="2170434" y="1700808"/>
          <a:ext cx="3421510" cy="3200400"/>
        </p:xfrm>
        <a:graphic>
          <a:graphicData uri="http://schemas.openxmlformats.org/drawingml/2006/table">
            <a:tbl>
              <a:tblPr firstRow="1" bandRow="1">
                <a:tableStyleId>{2D5ABB26-0587-4C30-8999-92F81FD0307C}</a:tableStyleId>
              </a:tblPr>
              <a:tblGrid>
                <a:gridCol w="684302">
                  <a:extLst>
                    <a:ext uri="{9D8B030D-6E8A-4147-A177-3AD203B41FA5}">
                      <a16:colId xmlns:a16="http://schemas.microsoft.com/office/drawing/2014/main" val="20000"/>
                    </a:ext>
                  </a:extLst>
                </a:gridCol>
                <a:gridCol w="684302">
                  <a:extLst>
                    <a:ext uri="{9D8B030D-6E8A-4147-A177-3AD203B41FA5}">
                      <a16:colId xmlns:a16="http://schemas.microsoft.com/office/drawing/2014/main" val="20001"/>
                    </a:ext>
                  </a:extLst>
                </a:gridCol>
                <a:gridCol w="684302">
                  <a:extLst>
                    <a:ext uri="{9D8B030D-6E8A-4147-A177-3AD203B41FA5}">
                      <a16:colId xmlns:a16="http://schemas.microsoft.com/office/drawing/2014/main" val="20002"/>
                    </a:ext>
                  </a:extLst>
                </a:gridCol>
                <a:gridCol w="684302">
                  <a:extLst>
                    <a:ext uri="{9D8B030D-6E8A-4147-A177-3AD203B41FA5}">
                      <a16:colId xmlns:a16="http://schemas.microsoft.com/office/drawing/2014/main" val="20003"/>
                    </a:ext>
                  </a:extLst>
                </a:gridCol>
                <a:gridCol w="684302">
                  <a:extLst>
                    <a:ext uri="{9D8B030D-6E8A-4147-A177-3AD203B41FA5}">
                      <a16:colId xmlns:a16="http://schemas.microsoft.com/office/drawing/2014/main" val="20004"/>
                    </a:ext>
                  </a:extLst>
                </a:gridCol>
              </a:tblGrid>
              <a:tr h="633670">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633670">
                <a:tc>
                  <a:txBody>
                    <a:bodyPr/>
                    <a:lstStyle/>
                    <a:p>
                      <a:pPr algn="ctr"/>
                      <a:r>
                        <a:rPr lang="en-US" altLang="zh-CN" sz="3600" dirty="0">
                          <a:latin typeface="Consolas" pitchFamily="49" charset="0"/>
                          <a:cs typeface="Consolas" pitchFamily="49" charset="0"/>
                        </a:rPr>
                        <a:t>J</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tc>
                  <a:txBody>
                    <a:bodyPr/>
                    <a:lstStyle/>
                    <a:p>
                      <a:pPr algn="ctr"/>
                      <a:r>
                        <a:rPr lang="en-US" altLang="zh-CN" sz="3600" dirty="0">
                          <a:latin typeface="Consolas" pitchFamily="49" charset="0"/>
                          <a:cs typeface="Consolas" pitchFamily="49" charset="0"/>
                        </a:rPr>
                        <a:t>#</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3600" dirty="0">
                          <a:latin typeface="Consolas" pitchFamily="49" charset="0"/>
                          <a:cs typeface="Consolas" pitchFamily="49" charset="0"/>
                        </a:rPr>
                        <a:t>#</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633670">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3600" dirty="0">
                          <a:latin typeface="Consolas" pitchFamily="49" charset="0"/>
                          <a:cs typeface="Consolas" pitchFamily="49" charset="0"/>
                        </a:rPr>
                        <a:t>#</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33670">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3600" dirty="0">
                          <a:latin typeface="Consolas" pitchFamily="49" charset="0"/>
                          <a:cs typeface="Consolas" pitchFamily="49" charset="0"/>
                        </a:rPr>
                        <a:t>#</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3600" dirty="0">
                          <a:latin typeface="Consolas" pitchFamily="49" charset="0"/>
                          <a:cs typeface="Consolas" pitchFamily="49" charset="0"/>
                        </a:rPr>
                        <a:t>R</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extLst>
                  <a:ext uri="{0D108BD9-81ED-4DB2-BD59-A6C34878D82A}">
                    <a16:rowId xmlns:a16="http://schemas.microsoft.com/office/drawing/2014/main" val="10003"/>
                  </a:ext>
                </a:extLst>
              </a:tr>
              <a:tr h="633670">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3600" dirty="0">
                          <a:latin typeface="Consolas" pitchFamily="49" charset="0"/>
                          <a:cs typeface="Consolas" pitchFamily="49" charset="0"/>
                        </a:rPr>
                        <a:t>#</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 name="灯片编号占位符 1">
            <a:extLst>
              <a:ext uri="{FF2B5EF4-FFF2-40B4-BE49-F238E27FC236}">
                <a16:creationId xmlns:a16="http://schemas.microsoft.com/office/drawing/2014/main" id="{396B6A0E-C337-92CE-D135-E2EC0AF2421A}"/>
              </a:ext>
            </a:extLst>
          </p:cNvPr>
          <p:cNvSpPr>
            <a:spLocks noGrp="1"/>
          </p:cNvSpPr>
          <p:nvPr>
            <p:ph type="sldNum" sz="quarter" idx="12"/>
          </p:nvPr>
        </p:nvSpPr>
        <p:spPr/>
        <p:txBody>
          <a:bodyPr/>
          <a:lstStyle/>
          <a:p>
            <a:fld id="{0C913308-F349-4B6D-A68A-DD1791B4A57B}" type="slidenum">
              <a:rPr lang="zh-CN" altLang="en-US" smtClean="0"/>
              <a:t>47</a:t>
            </a:fld>
            <a:endParaRPr lang="zh-CN" altLang="en-US"/>
          </a:p>
        </p:txBody>
      </p:sp>
    </p:spTree>
    <p:extLst>
      <p:ext uri="{BB962C8B-B14F-4D97-AF65-F5344CB8AC3E}">
        <p14:creationId xmlns:p14="http://schemas.microsoft.com/office/powerpoint/2010/main" val="895688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6384032" y="170952"/>
            <a:ext cx="3312368" cy="461665"/>
          </a:xfrm>
          <a:prstGeom prst="rect">
            <a:avLst/>
          </a:prstGeom>
          <a:noFill/>
          <a:ln>
            <a:solidFill>
              <a:schemeClr val="bg2">
                <a:lumMod val="25000"/>
              </a:schemeClr>
            </a:solidFill>
          </a:ln>
        </p:spPr>
        <p:txBody>
          <a:bodyPr wrap="square">
            <a:spAutoFit/>
          </a:bodyPr>
          <a:lstStyle/>
          <a:p>
            <a:pPr algn="ctr"/>
            <a:r>
              <a:rPr lang="zh-CN" altLang="en-US" sz="2400" dirty="0"/>
              <a:t>从</a:t>
            </a:r>
            <a:r>
              <a:rPr lang="en-US" altLang="zh-CN" sz="2400" dirty="0"/>
              <a:t>J</a:t>
            </a:r>
            <a:r>
              <a:rPr lang="zh-CN" altLang="en-US" sz="2400" dirty="0"/>
              <a:t>到</a:t>
            </a:r>
            <a:r>
              <a:rPr lang="en-US" altLang="zh-CN" sz="2400" dirty="0"/>
              <a:t>R</a:t>
            </a:r>
            <a:r>
              <a:rPr lang="zh-CN" altLang="en-US" sz="2400" dirty="0"/>
              <a:t>求最短路</a:t>
            </a:r>
            <a:endParaRPr lang="zh-CN" altLang="zh-CN" sz="2400" dirty="0"/>
          </a:p>
        </p:txBody>
      </p:sp>
      <p:sp>
        <p:nvSpPr>
          <p:cNvPr id="20" name="矩形 19"/>
          <p:cNvSpPr/>
          <p:nvPr/>
        </p:nvSpPr>
        <p:spPr>
          <a:xfrm>
            <a:off x="2161591" y="170953"/>
            <a:ext cx="3312368" cy="830997"/>
          </a:xfrm>
          <a:prstGeom prst="rect">
            <a:avLst/>
          </a:prstGeom>
          <a:solidFill>
            <a:srgbClr val="FFCCCC"/>
          </a:solidFill>
          <a:ln>
            <a:solidFill>
              <a:schemeClr val="bg2">
                <a:lumMod val="25000"/>
              </a:schemeClr>
            </a:solidFill>
          </a:ln>
        </p:spPr>
        <p:txBody>
          <a:bodyPr wrap="square">
            <a:spAutoFit/>
          </a:bodyPr>
          <a:lstStyle/>
          <a:p>
            <a:pPr algn="ctr"/>
            <a:r>
              <a:rPr lang="zh-CN" altLang="en-US" sz="2400" dirty="0"/>
              <a:t>无权图最短路问题</a:t>
            </a:r>
            <a:endParaRPr lang="en-US" altLang="zh-CN" sz="2400" dirty="0"/>
          </a:p>
          <a:p>
            <a:pPr algn="ctr"/>
            <a:r>
              <a:rPr lang="zh-CN" altLang="en-US" sz="2400" dirty="0"/>
              <a:t>用</a:t>
            </a:r>
            <a:r>
              <a:rPr lang="en-US" altLang="zh-CN" sz="2400" dirty="0"/>
              <a:t>BFS</a:t>
            </a:r>
            <a:r>
              <a:rPr lang="zh-CN" altLang="en-US" sz="2400" dirty="0"/>
              <a:t>求解</a:t>
            </a:r>
            <a:endParaRPr lang="zh-CN" altLang="zh-CN" sz="2400" dirty="0"/>
          </a:p>
        </p:txBody>
      </p:sp>
      <p:sp>
        <p:nvSpPr>
          <p:cNvPr id="13" name="矩形 12"/>
          <p:cNvSpPr/>
          <p:nvPr/>
        </p:nvSpPr>
        <p:spPr>
          <a:xfrm>
            <a:off x="6384032" y="632617"/>
            <a:ext cx="3312368" cy="830997"/>
          </a:xfrm>
          <a:prstGeom prst="rect">
            <a:avLst/>
          </a:prstGeom>
          <a:noFill/>
          <a:ln>
            <a:solidFill>
              <a:schemeClr val="bg2">
                <a:lumMod val="25000"/>
              </a:schemeClr>
            </a:solidFill>
          </a:ln>
        </p:spPr>
        <p:txBody>
          <a:bodyPr wrap="square">
            <a:spAutoFit/>
          </a:bodyPr>
          <a:lstStyle/>
          <a:p>
            <a:pPr algn="ctr"/>
            <a:r>
              <a:rPr lang="en-US" altLang="zh-CN" sz="2400" dirty="0"/>
              <a:t>BFS</a:t>
            </a:r>
            <a:r>
              <a:rPr lang="zh-CN" altLang="en-US" sz="2400" dirty="0"/>
              <a:t>时第一次访问</a:t>
            </a:r>
            <a:endParaRPr lang="en-US" altLang="zh-CN" sz="2400" dirty="0"/>
          </a:p>
          <a:p>
            <a:pPr algn="ctr"/>
            <a:r>
              <a:rPr lang="zh-CN" altLang="en-US" sz="2400" dirty="0"/>
              <a:t>就能确定最短路结果</a:t>
            </a:r>
            <a:endParaRPr lang="zh-CN" altLang="zh-CN" sz="2400" dirty="0"/>
          </a:p>
        </p:txBody>
      </p:sp>
      <p:sp>
        <p:nvSpPr>
          <p:cNvPr id="10" name="矩形 9"/>
          <p:cNvSpPr/>
          <p:nvPr/>
        </p:nvSpPr>
        <p:spPr>
          <a:xfrm>
            <a:off x="6384032" y="5334308"/>
            <a:ext cx="3312368" cy="830997"/>
          </a:xfrm>
          <a:prstGeom prst="rect">
            <a:avLst/>
          </a:prstGeom>
          <a:noFill/>
          <a:ln>
            <a:solidFill>
              <a:schemeClr val="bg2">
                <a:lumMod val="25000"/>
              </a:schemeClr>
            </a:solidFill>
          </a:ln>
        </p:spPr>
        <p:txBody>
          <a:bodyPr wrap="square">
            <a:spAutoFit/>
          </a:bodyPr>
          <a:lstStyle/>
          <a:p>
            <a:pPr algn="ctr"/>
            <a:r>
              <a:rPr lang="en-US" altLang="zh-CN" sz="2400" dirty="0"/>
              <a:t>dst[x][y]</a:t>
            </a:r>
            <a:r>
              <a:rPr lang="zh-CN" altLang="en-US" sz="2400" dirty="0"/>
              <a:t>代表从起点到</a:t>
            </a:r>
            <a:r>
              <a:rPr lang="en-US" altLang="zh-CN" sz="2400" dirty="0"/>
              <a:t>(x,y)</a:t>
            </a:r>
            <a:r>
              <a:rPr lang="zh-CN" altLang="en-US" sz="2400" dirty="0"/>
              <a:t>的最短路长度</a:t>
            </a:r>
            <a:endParaRPr lang="zh-CN" altLang="zh-CN" sz="2400" dirty="0"/>
          </a:p>
        </p:txBody>
      </p:sp>
      <p:graphicFrame>
        <p:nvGraphicFramePr>
          <p:cNvPr id="9" name="表格 8"/>
          <p:cNvGraphicFramePr>
            <a:graphicFrameLocks noGrp="1"/>
          </p:cNvGraphicFramePr>
          <p:nvPr/>
        </p:nvGraphicFramePr>
        <p:xfrm>
          <a:off x="2161591" y="1700808"/>
          <a:ext cx="3421510" cy="3200400"/>
        </p:xfrm>
        <a:graphic>
          <a:graphicData uri="http://schemas.openxmlformats.org/drawingml/2006/table">
            <a:tbl>
              <a:tblPr firstRow="1" bandRow="1">
                <a:tableStyleId>{2D5ABB26-0587-4C30-8999-92F81FD0307C}</a:tableStyleId>
              </a:tblPr>
              <a:tblGrid>
                <a:gridCol w="684302">
                  <a:extLst>
                    <a:ext uri="{9D8B030D-6E8A-4147-A177-3AD203B41FA5}">
                      <a16:colId xmlns:a16="http://schemas.microsoft.com/office/drawing/2014/main" val="20000"/>
                    </a:ext>
                  </a:extLst>
                </a:gridCol>
                <a:gridCol w="684302">
                  <a:extLst>
                    <a:ext uri="{9D8B030D-6E8A-4147-A177-3AD203B41FA5}">
                      <a16:colId xmlns:a16="http://schemas.microsoft.com/office/drawing/2014/main" val="20001"/>
                    </a:ext>
                  </a:extLst>
                </a:gridCol>
                <a:gridCol w="684302">
                  <a:extLst>
                    <a:ext uri="{9D8B030D-6E8A-4147-A177-3AD203B41FA5}">
                      <a16:colId xmlns:a16="http://schemas.microsoft.com/office/drawing/2014/main" val="20002"/>
                    </a:ext>
                  </a:extLst>
                </a:gridCol>
                <a:gridCol w="684302">
                  <a:extLst>
                    <a:ext uri="{9D8B030D-6E8A-4147-A177-3AD203B41FA5}">
                      <a16:colId xmlns:a16="http://schemas.microsoft.com/office/drawing/2014/main" val="20003"/>
                    </a:ext>
                  </a:extLst>
                </a:gridCol>
                <a:gridCol w="684302">
                  <a:extLst>
                    <a:ext uri="{9D8B030D-6E8A-4147-A177-3AD203B41FA5}">
                      <a16:colId xmlns:a16="http://schemas.microsoft.com/office/drawing/2014/main" val="20004"/>
                    </a:ext>
                  </a:extLst>
                </a:gridCol>
              </a:tblGrid>
              <a:tr h="633670">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633670">
                <a:tc>
                  <a:txBody>
                    <a:bodyPr/>
                    <a:lstStyle/>
                    <a:p>
                      <a:pPr algn="ctr"/>
                      <a:r>
                        <a:rPr lang="en-US" altLang="zh-CN" sz="3600" dirty="0">
                          <a:latin typeface="Consolas" pitchFamily="49" charset="0"/>
                          <a:cs typeface="Consolas" pitchFamily="49" charset="0"/>
                        </a:rPr>
                        <a:t>J</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tc>
                  <a:txBody>
                    <a:bodyPr/>
                    <a:lstStyle/>
                    <a:p>
                      <a:pPr algn="ctr"/>
                      <a:r>
                        <a:rPr lang="en-US" altLang="zh-CN" sz="3600" dirty="0">
                          <a:latin typeface="Consolas" pitchFamily="49" charset="0"/>
                          <a:cs typeface="Consolas" pitchFamily="49" charset="0"/>
                        </a:rPr>
                        <a:t>#</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3600" dirty="0">
                          <a:latin typeface="Consolas" pitchFamily="49" charset="0"/>
                          <a:cs typeface="Consolas" pitchFamily="49" charset="0"/>
                        </a:rPr>
                        <a:t>#</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633670">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3600" dirty="0">
                          <a:latin typeface="Consolas" pitchFamily="49" charset="0"/>
                          <a:cs typeface="Consolas" pitchFamily="49" charset="0"/>
                        </a:rPr>
                        <a:t>#</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33670">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altLang="zh-CN" sz="3600" dirty="0">
                          <a:latin typeface="Consolas" pitchFamily="49" charset="0"/>
                          <a:cs typeface="Consolas" pitchFamily="49" charset="0"/>
                        </a:rPr>
                        <a:t>#</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3600" dirty="0">
                          <a:latin typeface="Consolas" pitchFamily="49" charset="0"/>
                          <a:cs typeface="Consolas" pitchFamily="49" charset="0"/>
                        </a:rPr>
                        <a:t>R</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extLst>
                  <a:ext uri="{0D108BD9-81ED-4DB2-BD59-A6C34878D82A}">
                    <a16:rowId xmlns:a16="http://schemas.microsoft.com/office/drawing/2014/main" val="10003"/>
                  </a:ext>
                </a:extLst>
              </a:tr>
              <a:tr h="633670">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3600" dirty="0">
                          <a:latin typeface="Consolas" pitchFamily="49" charset="0"/>
                          <a:cs typeface="Consolas" pitchFamily="49" charset="0"/>
                        </a:rPr>
                        <a:t>#</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aphicFrame>
        <p:nvGraphicFramePr>
          <p:cNvPr id="12" name="表格 11"/>
          <p:cNvGraphicFramePr>
            <a:graphicFrameLocks noGrp="1"/>
          </p:cNvGraphicFramePr>
          <p:nvPr/>
        </p:nvGraphicFramePr>
        <p:xfrm>
          <a:off x="6416824" y="1700808"/>
          <a:ext cx="3421510" cy="3200400"/>
        </p:xfrm>
        <a:graphic>
          <a:graphicData uri="http://schemas.openxmlformats.org/drawingml/2006/table">
            <a:tbl>
              <a:tblPr firstRow="1" bandRow="1">
                <a:tableStyleId>{2D5ABB26-0587-4C30-8999-92F81FD0307C}</a:tableStyleId>
              </a:tblPr>
              <a:tblGrid>
                <a:gridCol w="684302">
                  <a:extLst>
                    <a:ext uri="{9D8B030D-6E8A-4147-A177-3AD203B41FA5}">
                      <a16:colId xmlns:a16="http://schemas.microsoft.com/office/drawing/2014/main" val="20000"/>
                    </a:ext>
                  </a:extLst>
                </a:gridCol>
                <a:gridCol w="684302">
                  <a:extLst>
                    <a:ext uri="{9D8B030D-6E8A-4147-A177-3AD203B41FA5}">
                      <a16:colId xmlns:a16="http://schemas.microsoft.com/office/drawing/2014/main" val="20001"/>
                    </a:ext>
                  </a:extLst>
                </a:gridCol>
                <a:gridCol w="684302">
                  <a:extLst>
                    <a:ext uri="{9D8B030D-6E8A-4147-A177-3AD203B41FA5}">
                      <a16:colId xmlns:a16="http://schemas.microsoft.com/office/drawing/2014/main" val="20002"/>
                    </a:ext>
                  </a:extLst>
                </a:gridCol>
                <a:gridCol w="684302">
                  <a:extLst>
                    <a:ext uri="{9D8B030D-6E8A-4147-A177-3AD203B41FA5}">
                      <a16:colId xmlns:a16="http://schemas.microsoft.com/office/drawing/2014/main" val="20003"/>
                    </a:ext>
                  </a:extLst>
                </a:gridCol>
                <a:gridCol w="684302">
                  <a:extLst>
                    <a:ext uri="{9D8B030D-6E8A-4147-A177-3AD203B41FA5}">
                      <a16:colId xmlns:a16="http://schemas.microsoft.com/office/drawing/2014/main" val="20004"/>
                    </a:ext>
                  </a:extLst>
                </a:gridCol>
              </a:tblGrid>
              <a:tr h="633670">
                <a:tc>
                  <a:txBody>
                    <a:bodyPr/>
                    <a:lstStyle/>
                    <a:p>
                      <a:pPr algn="ctr"/>
                      <a:r>
                        <a:rPr lang="en-US" altLang="zh-CN" sz="3600" dirty="0">
                          <a:latin typeface="Consolas" pitchFamily="49" charset="0"/>
                          <a:cs typeface="Consolas" pitchFamily="49" charset="0"/>
                        </a:rPr>
                        <a:t>1</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3600" dirty="0">
                          <a:latin typeface="Consolas" pitchFamily="49" charset="0"/>
                          <a:cs typeface="Consolas" pitchFamily="49" charset="0"/>
                        </a:rPr>
                        <a:t>2</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633670">
                <a:tc>
                  <a:txBody>
                    <a:bodyPr/>
                    <a:lstStyle/>
                    <a:p>
                      <a:pPr algn="ctr"/>
                      <a:r>
                        <a:rPr lang="en-US" altLang="zh-CN" sz="3600" dirty="0">
                          <a:latin typeface="Consolas" pitchFamily="49" charset="0"/>
                          <a:cs typeface="Consolas" pitchFamily="49" charset="0"/>
                        </a:rPr>
                        <a:t>0</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633670">
                <a:tc>
                  <a:txBody>
                    <a:bodyPr/>
                    <a:lstStyle/>
                    <a:p>
                      <a:pPr algn="ctr"/>
                      <a:r>
                        <a:rPr lang="en-US" altLang="zh-CN" sz="3600" dirty="0">
                          <a:latin typeface="Consolas" pitchFamily="49" charset="0"/>
                          <a:cs typeface="Consolas" pitchFamily="49" charset="0"/>
                        </a:rPr>
                        <a:t>1</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3600" dirty="0">
                          <a:latin typeface="Consolas" pitchFamily="49" charset="0"/>
                          <a:cs typeface="Consolas" pitchFamily="49" charset="0"/>
                        </a:rPr>
                        <a:t>2</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33670">
                <a:tc>
                  <a:txBody>
                    <a:bodyPr/>
                    <a:lstStyle/>
                    <a:p>
                      <a:pPr algn="ctr"/>
                      <a:r>
                        <a:rPr lang="en-US" altLang="zh-CN" sz="3600" dirty="0">
                          <a:latin typeface="Consolas" pitchFamily="49" charset="0"/>
                          <a:cs typeface="Consolas" pitchFamily="49" charset="0"/>
                        </a:rPr>
                        <a:t>2</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633670">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 name="灯片编号占位符 1">
            <a:extLst>
              <a:ext uri="{FF2B5EF4-FFF2-40B4-BE49-F238E27FC236}">
                <a16:creationId xmlns:a16="http://schemas.microsoft.com/office/drawing/2014/main" id="{061B7CB2-E8F2-24F8-2BF1-37B397D61663}"/>
              </a:ext>
            </a:extLst>
          </p:cNvPr>
          <p:cNvSpPr>
            <a:spLocks noGrp="1"/>
          </p:cNvSpPr>
          <p:nvPr>
            <p:ph type="sldNum" sz="quarter" idx="12"/>
          </p:nvPr>
        </p:nvSpPr>
        <p:spPr/>
        <p:txBody>
          <a:bodyPr/>
          <a:lstStyle/>
          <a:p>
            <a:fld id="{0C913308-F349-4B6D-A68A-DD1791B4A57B}" type="slidenum">
              <a:rPr lang="zh-CN" altLang="en-US" smtClean="0"/>
              <a:t>48</a:t>
            </a:fld>
            <a:endParaRPr lang="zh-CN" altLang="en-US"/>
          </a:p>
        </p:txBody>
      </p:sp>
    </p:spTree>
    <p:extLst>
      <p:ext uri="{BB962C8B-B14F-4D97-AF65-F5344CB8AC3E}">
        <p14:creationId xmlns:p14="http://schemas.microsoft.com/office/powerpoint/2010/main" val="181834638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6384032" y="170952"/>
            <a:ext cx="3312368" cy="461665"/>
          </a:xfrm>
          <a:prstGeom prst="rect">
            <a:avLst/>
          </a:prstGeom>
          <a:noFill/>
          <a:ln>
            <a:solidFill>
              <a:schemeClr val="bg2">
                <a:lumMod val="25000"/>
              </a:schemeClr>
            </a:solidFill>
          </a:ln>
        </p:spPr>
        <p:txBody>
          <a:bodyPr wrap="square">
            <a:spAutoFit/>
          </a:bodyPr>
          <a:lstStyle/>
          <a:p>
            <a:pPr algn="ctr"/>
            <a:r>
              <a:rPr lang="zh-CN" altLang="en-US" sz="2400" dirty="0"/>
              <a:t>从</a:t>
            </a:r>
            <a:r>
              <a:rPr lang="en-US" altLang="zh-CN" sz="2400" dirty="0"/>
              <a:t>J</a:t>
            </a:r>
            <a:r>
              <a:rPr lang="zh-CN" altLang="en-US" sz="2400" dirty="0"/>
              <a:t>到</a:t>
            </a:r>
            <a:r>
              <a:rPr lang="en-US" altLang="zh-CN" sz="2400" dirty="0"/>
              <a:t>R</a:t>
            </a:r>
            <a:r>
              <a:rPr lang="zh-CN" altLang="en-US" sz="2400" dirty="0"/>
              <a:t>求最短路</a:t>
            </a:r>
            <a:endParaRPr lang="zh-CN" altLang="zh-CN" sz="2400" dirty="0"/>
          </a:p>
        </p:txBody>
      </p:sp>
      <p:sp>
        <p:nvSpPr>
          <p:cNvPr id="20" name="矩形 19"/>
          <p:cNvSpPr/>
          <p:nvPr/>
        </p:nvSpPr>
        <p:spPr>
          <a:xfrm>
            <a:off x="2161591" y="170953"/>
            <a:ext cx="3312368" cy="830997"/>
          </a:xfrm>
          <a:prstGeom prst="rect">
            <a:avLst/>
          </a:prstGeom>
          <a:solidFill>
            <a:srgbClr val="FFCCCC"/>
          </a:solidFill>
          <a:ln>
            <a:solidFill>
              <a:schemeClr val="bg2">
                <a:lumMod val="25000"/>
              </a:schemeClr>
            </a:solidFill>
          </a:ln>
        </p:spPr>
        <p:txBody>
          <a:bodyPr wrap="square">
            <a:spAutoFit/>
          </a:bodyPr>
          <a:lstStyle/>
          <a:p>
            <a:pPr algn="ctr"/>
            <a:r>
              <a:rPr lang="zh-CN" altLang="en-US" sz="2400" dirty="0"/>
              <a:t>无权图最短路问题</a:t>
            </a:r>
            <a:endParaRPr lang="en-US" altLang="zh-CN" sz="2400" dirty="0"/>
          </a:p>
          <a:p>
            <a:pPr algn="ctr"/>
            <a:r>
              <a:rPr lang="zh-CN" altLang="en-US" sz="2400" dirty="0"/>
              <a:t>用</a:t>
            </a:r>
            <a:r>
              <a:rPr lang="en-US" altLang="zh-CN" sz="2400" dirty="0"/>
              <a:t>BFS</a:t>
            </a:r>
            <a:r>
              <a:rPr lang="zh-CN" altLang="en-US" sz="2400" dirty="0"/>
              <a:t>求解</a:t>
            </a:r>
            <a:endParaRPr lang="zh-CN" altLang="zh-CN" sz="2400" dirty="0"/>
          </a:p>
        </p:txBody>
      </p:sp>
      <p:sp>
        <p:nvSpPr>
          <p:cNvPr id="13" name="矩形 12"/>
          <p:cNvSpPr/>
          <p:nvPr/>
        </p:nvSpPr>
        <p:spPr>
          <a:xfrm>
            <a:off x="6384032" y="632617"/>
            <a:ext cx="3312368" cy="830997"/>
          </a:xfrm>
          <a:prstGeom prst="rect">
            <a:avLst/>
          </a:prstGeom>
          <a:noFill/>
          <a:ln>
            <a:solidFill>
              <a:schemeClr val="bg2">
                <a:lumMod val="25000"/>
              </a:schemeClr>
            </a:solidFill>
          </a:ln>
        </p:spPr>
        <p:txBody>
          <a:bodyPr wrap="square">
            <a:spAutoFit/>
          </a:bodyPr>
          <a:lstStyle/>
          <a:p>
            <a:pPr algn="ctr"/>
            <a:r>
              <a:rPr lang="en-US" altLang="zh-CN" sz="2400" dirty="0"/>
              <a:t>BFS</a:t>
            </a:r>
            <a:r>
              <a:rPr lang="zh-CN" altLang="en-US" sz="2400" dirty="0"/>
              <a:t>时第一次访问</a:t>
            </a:r>
            <a:endParaRPr lang="en-US" altLang="zh-CN" sz="2400" dirty="0"/>
          </a:p>
          <a:p>
            <a:pPr algn="ctr"/>
            <a:r>
              <a:rPr lang="zh-CN" altLang="en-US" sz="2400" dirty="0"/>
              <a:t>就能确定最短路结果</a:t>
            </a:r>
            <a:endParaRPr lang="zh-CN" altLang="zh-CN" sz="2400" dirty="0"/>
          </a:p>
        </p:txBody>
      </p:sp>
      <p:sp>
        <p:nvSpPr>
          <p:cNvPr id="10" name="矩形 9"/>
          <p:cNvSpPr/>
          <p:nvPr/>
        </p:nvSpPr>
        <p:spPr>
          <a:xfrm>
            <a:off x="6384032" y="5334308"/>
            <a:ext cx="3312368" cy="830997"/>
          </a:xfrm>
          <a:prstGeom prst="rect">
            <a:avLst/>
          </a:prstGeom>
          <a:noFill/>
          <a:ln>
            <a:solidFill>
              <a:schemeClr val="bg2">
                <a:lumMod val="25000"/>
              </a:schemeClr>
            </a:solidFill>
          </a:ln>
        </p:spPr>
        <p:txBody>
          <a:bodyPr wrap="square">
            <a:spAutoFit/>
          </a:bodyPr>
          <a:lstStyle/>
          <a:p>
            <a:pPr algn="ctr"/>
            <a:r>
              <a:rPr lang="en-US" altLang="zh-CN" sz="2400" dirty="0"/>
              <a:t>dst[x][y]</a:t>
            </a:r>
            <a:r>
              <a:rPr lang="zh-CN" altLang="en-US" sz="2400" dirty="0"/>
              <a:t>代表从起点到</a:t>
            </a:r>
            <a:r>
              <a:rPr lang="en-US" altLang="zh-CN" sz="2400" dirty="0"/>
              <a:t>(x,y)</a:t>
            </a:r>
            <a:r>
              <a:rPr lang="zh-CN" altLang="en-US" sz="2400" dirty="0"/>
              <a:t>的最短路长度</a:t>
            </a:r>
            <a:endParaRPr lang="zh-CN" altLang="zh-CN" sz="2400" dirty="0"/>
          </a:p>
        </p:txBody>
      </p:sp>
      <p:graphicFrame>
        <p:nvGraphicFramePr>
          <p:cNvPr id="8" name="表格 7"/>
          <p:cNvGraphicFramePr>
            <a:graphicFrameLocks noGrp="1"/>
          </p:cNvGraphicFramePr>
          <p:nvPr/>
        </p:nvGraphicFramePr>
        <p:xfrm>
          <a:off x="2179170" y="1700808"/>
          <a:ext cx="3421510" cy="3200400"/>
        </p:xfrm>
        <a:graphic>
          <a:graphicData uri="http://schemas.openxmlformats.org/drawingml/2006/table">
            <a:tbl>
              <a:tblPr firstRow="1" bandRow="1">
                <a:tableStyleId>{2D5ABB26-0587-4C30-8999-92F81FD0307C}</a:tableStyleId>
              </a:tblPr>
              <a:tblGrid>
                <a:gridCol w="684302">
                  <a:extLst>
                    <a:ext uri="{9D8B030D-6E8A-4147-A177-3AD203B41FA5}">
                      <a16:colId xmlns:a16="http://schemas.microsoft.com/office/drawing/2014/main" val="20000"/>
                    </a:ext>
                  </a:extLst>
                </a:gridCol>
                <a:gridCol w="684302">
                  <a:extLst>
                    <a:ext uri="{9D8B030D-6E8A-4147-A177-3AD203B41FA5}">
                      <a16:colId xmlns:a16="http://schemas.microsoft.com/office/drawing/2014/main" val="20001"/>
                    </a:ext>
                  </a:extLst>
                </a:gridCol>
                <a:gridCol w="684302">
                  <a:extLst>
                    <a:ext uri="{9D8B030D-6E8A-4147-A177-3AD203B41FA5}">
                      <a16:colId xmlns:a16="http://schemas.microsoft.com/office/drawing/2014/main" val="20002"/>
                    </a:ext>
                  </a:extLst>
                </a:gridCol>
                <a:gridCol w="684302">
                  <a:extLst>
                    <a:ext uri="{9D8B030D-6E8A-4147-A177-3AD203B41FA5}">
                      <a16:colId xmlns:a16="http://schemas.microsoft.com/office/drawing/2014/main" val="20003"/>
                    </a:ext>
                  </a:extLst>
                </a:gridCol>
                <a:gridCol w="684302">
                  <a:extLst>
                    <a:ext uri="{9D8B030D-6E8A-4147-A177-3AD203B41FA5}">
                      <a16:colId xmlns:a16="http://schemas.microsoft.com/office/drawing/2014/main" val="20004"/>
                    </a:ext>
                  </a:extLst>
                </a:gridCol>
              </a:tblGrid>
              <a:tr h="633670">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633670">
                <a:tc>
                  <a:txBody>
                    <a:bodyPr/>
                    <a:lstStyle/>
                    <a:p>
                      <a:pPr algn="ctr"/>
                      <a:r>
                        <a:rPr lang="en-US" altLang="zh-CN" sz="3600" dirty="0">
                          <a:latin typeface="Consolas" pitchFamily="49" charset="0"/>
                          <a:cs typeface="Consolas" pitchFamily="49" charset="0"/>
                        </a:rPr>
                        <a:t>J</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tc>
                  <a:txBody>
                    <a:bodyPr/>
                    <a:lstStyle/>
                    <a:p>
                      <a:pPr algn="ctr"/>
                      <a:r>
                        <a:rPr lang="en-US" altLang="zh-CN" sz="3600" dirty="0">
                          <a:latin typeface="Consolas" pitchFamily="49" charset="0"/>
                          <a:cs typeface="Consolas" pitchFamily="49" charset="0"/>
                        </a:rPr>
                        <a:t>#</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3600" dirty="0">
                          <a:latin typeface="Consolas" pitchFamily="49" charset="0"/>
                          <a:cs typeface="Consolas" pitchFamily="49" charset="0"/>
                        </a:rPr>
                        <a:t>#</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633670">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r>
                        <a:rPr lang="en-US" altLang="zh-CN" sz="3600" dirty="0">
                          <a:latin typeface="Consolas" pitchFamily="49" charset="0"/>
                          <a:cs typeface="Consolas" pitchFamily="49" charset="0"/>
                        </a:rPr>
                        <a:t>#</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33670">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altLang="zh-CN" sz="3600" dirty="0">
                          <a:latin typeface="Consolas" pitchFamily="49" charset="0"/>
                          <a:cs typeface="Consolas" pitchFamily="49" charset="0"/>
                        </a:rPr>
                        <a:t>#</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3600" dirty="0">
                          <a:latin typeface="Consolas" pitchFamily="49" charset="0"/>
                          <a:cs typeface="Consolas" pitchFamily="49" charset="0"/>
                        </a:rPr>
                        <a:t>R</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extLst>
                  <a:ext uri="{0D108BD9-81ED-4DB2-BD59-A6C34878D82A}">
                    <a16:rowId xmlns:a16="http://schemas.microsoft.com/office/drawing/2014/main" val="10003"/>
                  </a:ext>
                </a:extLst>
              </a:tr>
              <a:tr h="633670">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3600" dirty="0">
                          <a:latin typeface="Consolas" pitchFamily="49" charset="0"/>
                          <a:cs typeface="Consolas" pitchFamily="49" charset="0"/>
                        </a:rPr>
                        <a:t>#</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aphicFrame>
        <p:nvGraphicFramePr>
          <p:cNvPr id="12" name="表格 11"/>
          <p:cNvGraphicFramePr>
            <a:graphicFrameLocks noGrp="1"/>
          </p:cNvGraphicFramePr>
          <p:nvPr/>
        </p:nvGraphicFramePr>
        <p:xfrm>
          <a:off x="6416824" y="1700808"/>
          <a:ext cx="3421510" cy="3200400"/>
        </p:xfrm>
        <a:graphic>
          <a:graphicData uri="http://schemas.openxmlformats.org/drawingml/2006/table">
            <a:tbl>
              <a:tblPr firstRow="1" bandRow="1">
                <a:tableStyleId>{2D5ABB26-0587-4C30-8999-92F81FD0307C}</a:tableStyleId>
              </a:tblPr>
              <a:tblGrid>
                <a:gridCol w="684302">
                  <a:extLst>
                    <a:ext uri="{9D8B030D-6E8A-4147-A177-3AD203B41FA5}">
                      <a16:colId xmlns:a16="http://schemas.microsoft.com/office/drawing/2014/main" val="20000"/>
                    </a:ext>
                  </a:extLst>
                </a:gridCol>
                <a:gridCol w="684302">
                  <a:extLst>
                    <a:ext uri="{9D8B030D-6E8A-4147-A177-3AD203B41FA5}">
                      <a16:colId xmlns:a16="http://schemas.microsoft.com/office/drawing/2014/main" val="20001"/>
                    </a:ext>
                  </a:extLst>
                </a:gridCol>
                <a:gridCol w="684302">
                  <a:extLst>
                    <a:ext uri="{9D8B030D-6E8A-4147-A177-3AD203B41FA5}">
                      <a16:colId xmlns:a16="http://schemas.microsoft.com/office/drawing/2014/main" val="20002"/>
                    </a:ext>
                  </a:extLst>
                </a:gridCol>
                <a:gridCol w="684302">
                  <a:extLst>
                    <a:ext uri="{9D8B030D-6E8A-4147-A177-3AD203B41FA5}">
                      <a16:colId xmlns:a16="http://schemas.microsoft.com/office/drawing/2014/main" val="20003"/>
                    </a:ext>
                  </a:extLst>
                </a:gridCol>
                <a:gridCol w="684302">
                  <a:extLst>
                    <a:ext uri="{9D8B030D-6E8A-4147-A177-3AD203B41FA5}">
                      <a16:colId xmlns:a16="http://schemas.microsoft.com/office/drawing/2014/main" val="20004"/>
                    </a:ext>
                  </a:extLst>
                </a:gridCol>
              </a:tblGrid>
              <a:tr h="633670">
                <a:tc>
                  <a:txBody>
                    <a:bodyPr/>
                    <a:lstStyle/>
                    <a:p>
                      <a:pPr algn="ctr"/>
                      <a:r>
                        <a:rPr lang="en-US" altLang="zh-CN" sz="3600" dirty="0">
                          <a:latin typeface="Consolas" pitchFamily="49" charset="0"/>
                          <a:cs typeface="Consolas" pitchFamily="49" charset="0"/>
                        </a:rPr>
                        <a:t>1</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3600" dirty="0">
                          <a:latin typeface="Consolas" pitchFamily="49" charset="0"/>
                          <a:cs typeface="Consolas" pitchFamily="49" charset="0"/>
                        </a:rPr>
                        <a:t>2</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3600" dirty="0">
                          <a:latin typeface="Consolas" pitchFamily="49" charset="0"/>
                          <a:cs typeface="Consolas" pitchFamily="49" charset="0"/>
                        </a:rPr>
                        <a:t>3</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633670">
                <a:tc>
                  <a:txBody>
                    <a:bodyPr/>
                    <a:lstStyle/>
                    <a:p>
                      <a:pPr algn="ctr"/>
                      <a:r>
                        <a:rPr lang="en-US" altLang="zh-CN" sz="3600" dirty="0">
                          <a:latin typeface="Consolas" pitchFamily="49" charset="0"/>
                          <a:cs typeface="Consolas" pitchFamily="49" charset="0"/>
                        </a:rPr>
                        <a:t>0</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633670">
                <a:tc>
                  <a:txBody>
                    <a:bodyPr/>
                    <a:lstStyle/>
                    <a:p>
                      <a:pPr algn="ctr"/>
                      <a:r>
                        <a:rPr lang="en-US" altLang="zh-CN" sz="3600" dirty="0">
                          <a:latin typeface="Consolas" pitchFamily="49" charset="0"/>
                          <a:cs typeface="Consolas" pitchFamily="49" charset="0"/>
                        </a:rPr>
                        <a:t>1</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3600" dirty="0">
                          <a:latin typeface="Consolas" pitchFamily="49" charset="0"/>
                          <a:cs typeface="Consolas" pitchFamily="49" charset="0"/>
                        </a:rPr>
                        <a:t>2</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3600" dirty="0">
                          <a:latin typeface="Consolas" pitchFamily="49" charset="0"/>
                          <a:cs typeface="Consolas" pitchFamily="49" charset="0"/>
                        </a:rPr>
                        <a:t>3</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33670">
                <a:tc>
                  <a:txBody>
                    <a:bodyPr/>
                    <a:lstStyle/>
                    <a:p>
                      <a:pPr algn="ctr"/>
                      <a:r>
                        <a:rPr lang="en-US" altLang="zh-CN" sz="3600" dirty="0">
                          <a:latin typeface="Consolas" pitchFamily="49" charset="0"/>
                          <a:cs typeface="Consolas" pitchFamily="49" charset="0"/>
                        </a:rPr>
                        <a:t>2</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633670">
                <a:tc>
                  <a:txBody>
                    <a:bodyPr/>
                    <a:lstStyle/>
                    <a:p>
                      <a:pPr algn="ctr"/>
                      <a:r>
                        <a:rPr lang="en-US" altLang="zh-CN" sz="3600" dirty="0">
                          <a:latin typeface="Consolas" pitchFamily="49" charset="0"/>
                          <a:cs typeface="Consolas" pitchFamily="49" charset="0"/>
                        </a:rPr>
                        <a:t>3</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 name="灯片编号占位符 1">
            <a:extLst>
              <a:ext uri="{FF2B5EF4-FFF2-40B4-BE49-F238E27FC236}">
                <a16:creationId xmlns:a16="http://schemas.microsoft.com/office/drawing/2014/main" id="{20502D34-757F-AD27-C9B2-4F9ABCB24439}"/>
              </a:ext>
            </a:extLst>
          </p:cNvPr>
          <p:cNvSpPr>
            <a:spLocks noGrp="1"/>
          </p:cNvSpPr>
          <p:nvPr>
            <p:ph type="sldNum" sz="quarter" idx="12"/>
          </p:nvPr>
        </p:nvSpPr>
        <p:spPr/>
        <p:txBody>
          <a:bodyPr/>
          <a:lstStyle/>
          <a:p>
            <a:fld id="{0C913308-F349-4B6D-A68A-DD1791B4A57B}" type="slidenum">
              <a:rPr lang="zh-CN" altLang="en-US" smtClean="0"/>
              <a:t>49</a:t>
            </a:fld>
            <a:endParaRPr lang="zh-CN" altLang="en-US"/>
          </a:p>
        </p:txBody>
      </p:sp>
    </p:spTree>
    <p:extLst>
      <p:ext uri="{BB962C8B-B14F-4D97-AF65-F5344CB8AC3E}">
        <p14:creationId xmlns:p14="http://schemas.microsoft.com/office/powerpoint/2010/main" val="446938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6384032" y="170952"/>
            <a:ext cx="3312368" cy="461665"/>
          </a:xfrm>
          <a:prstGeom prst="rect">
            <a:avLst/>
          </a:prstGeom>
          <a:noFill/>
          <a:ln>
            <a:solidFill>
              <a:schemeClr val="bg2">
                <a:lumMod val="25000"/>
              </a:schemeClr>
            </a:solidFill>
          </a:ln>
        </p:spPr>
        <p:txBody>
          <a:bodyPr wrap="square">
            <a:spAutoFit/>
          </a:bodyPr>
          <a:lstStyle/>
          <a:p>
            <a:pPr algn="ctr"/>
            <a:r>
              <a:rPr lang="zh-CN" altLang="en-US" sz="2400" dirty="0"/>
              <a:t>从</a:t>
            </a:r>
            <a:r>
              <a:rPr lang="en-US" altLang="zh-CN" sz="2400" dirty="0"/>
              <a:t>J</a:t>
            </a:r>
            <a:r>
              <a:rPr lang="zh-CN" altLang="en-US" sz="2400" dirty="0"/>
              <a:t>到</a:t>
            </a:r>
            <a:r>
              <a:rPr lang="en-US" altLang="zh-CN" sz="2400" dirty="0"/>
              <a:t>R</a:t>
            </a:r>
            <a:r>
              <a:rPr lang="zh-CN" altLang="en-US" sz="2400" dirty="0"/>
              <a:t>求最短路</a:t>
            </a:r>
            <a:endParaRPr lang="zh-CN" altLang="zh-CN" sz="2400" dirty="0"/>
          </a:p>
        </p:txBody>
      </p:sp>
      <p:sp>
        <p:nvSpPr>
          <p:cNvPr id="20" name="矩形 19"/>
          <p:cNvSpPr/>
          <p:nvPr/>
        </p:nvSpPr>
        <p:spPr>
          <a:xfrm>
            <a:off x="2161591" y="170953"/>
            <a:ext cx="3312368" cy="830997"/>
          </a:xfrm>
          <a:prstGeom prst="rect">
            <a:avLst/>
          </a:prstGeom>
          <a:solidFill>
            <a:srgbClr val="FFCCCC"/>
          </a:solidFill>
          <a:ln>
            <a:solidFill>
              <a:schemeClr val="bg2">
                <a:lumMod val="25000"/>
              </a:schemeClr>
            </a:solidFill>
          </a:ln>
        </p:spPr>
        <p:txBody>
          <a:bodyPr wrap="square">
            <a:spAutoFit/>
          </a:bodyPr>
          <a:lstStyle/>
          <a:p>
            <a:pPr algn="ctr"/>
            <a:r>
              <a:rPr lang="zh-CN" altLang="en-US" sz="2400" dirty="0"/>
              <a:t>无权图最短路问题</a:t>
            </a:r>
            <a:endParaRPr lang="en-US" altLang="zh-CN" sz="2400" dirty="0"/>
          </a:p>
          <a:p>
            <a:pPr algn="ctr"/>
            <a:r>
              <a:rPr lang="zh-CN" altLang="en-US" sz="2400" dirty="0"/>
              <a:t>用</a:t>
            </a:r>
            <a:r>
              <a:rPr lang="en-US" altLang="zh-CN" sz="2400" dirty="0"/>
              <a:t>BFS</a:t>
            </a:r>
            <a:r>
              <a:rPr lang="zh-CN" altLang="en-US" sz="2400" dirty="0"/>
              <a:t>求解</a:t>
            </a:r>
            <a:endParaRPr lang="zh-CN" altLang="zh-CN" sz="2400" dirty="0"/>
          </a:p>
        </p:txBody>
      </p:sp>
      <p:sp>
        <p:nvSpPr>
          <p:cNvPr id="13" name="矩形 12"/>
          <p:cNvSpPr/>
          <p:nvPr/>
        </p:nvSpPr>
        <p:spPr>
          <a:xfrm>
            <a:off x="6384032" y="632617"/>
            <a:ext cx="3312368" cy="830997"/>
          </a:xfrm>
          <a:prstGeom prst="rect">
            <a:avLst/>
          </a:prstGeom>
          <a:noFill/>
          <a:ln>
            <a:solidFill>
              <a:schemeClr val="bg2">
                <a:lumMod val="25000"/>
              </a:schemeClr>
            </a:solidFill>
          </a:ln>
        </p:spPr>
        <p:txBody>
          <a:bodyPr wrap="square">
            <a:spAutoFit/>
          </a:bodyPr>
          <a:lstStyle/>
          <a:p>
            <a:pPr algn="ctr"/>
            <a:r>
              <a:rPr lang="en-US" altLang="zh-CN" sz="2400" dirty="0"/>
              <a:t>BFS</a:t>
            </a:r>
            <a:r>
              <a:rPr lang="zh-CN" altLang="en-US" sz="2400" dirty="0"/>
              <a:t>时第一次访问</a:t>
            </a:r>
            <a:endParaRPr lang="en-US" altLang="zh-CN" sz="2400" dirty="0"/>
          </a:p>
          <a:p>
            <a:pPr algn="ctr"/>
            <a:r>
              <a:rPr lang="zh-CN" altLang="en-US" sz="2400" dirty="0"/>
              <a:t>就能确定最短路结果</a:t>
            </a:r>
            <a:endParaRPr lang="zh-CN" altLang="zh-CN" sz="2400" dirty="0"/>
          </a:p>
        </p:txBody>
      </p:sp>
      <p:sp>
        <p:nvSpPr>
          <p:cNvPr id="10" name="矩形 9"/>
          <p:cNvSpPr/>
          <p:nvPr/>
        </p:nvSpPr>
        <p:spPr>
          <a:xfrm>
            <a:off x="6384032" y="5334308"/>
            <a:ext cx="3312368" cy="830997"/>
          </a:xfrm>
          <a:prstGeom prst="rect">
            <a:avLst/>
          </a:prstGeom>
          <a:noFill/>
          <a:ln>
            <a:solidFill>
              <a:schemeClr val="bg2">
                <a:lumMod val="25000"/>
              </a:schemeClr>
            </a:solidFill>
          </a:ln>
        </p:spPr>
        <p:txBody>
          <a:bodyPr wrap="square">
            <a:spAutoFit/>
          </a:bodyPr>
          <a:lstStyle/>
          <a:p>
            <a:pPr algn="ctr"/>
            <a:r>
              <a:rPr lang="en-US" altLang="zh-CN" sz="2400" dirty="0"/>
              <a:t>dst[x][y]</a:t>
            </a:r>
            <a:r>
              <a:rPr lang="zh-CN" altLang="en-US" sz="2400" dirty="0"/>
              <a:t>代表从起点到</a:t>
            </a:r>
            <a:r>
              <a:rPr lang="en-US" altLang="zh-CN" sz="2400" dirty="0"/>
              <a:t>(x,y)</a:t>
            </a:r>
            <a:r>
              <a:rPr lang="zh-CN" altLang="en-US" sz="2400" dirty="0"/>
              <a:t>的最短路长度</a:t>
            </a:r>
            <a:endParaRPr lang="zh-CN" altLang="zh-CN" sz="2400" dirty="0"/>
          </a:p>
        </p:txBody>
      </p:sp>
      <p:graphicFrame>
        <p:nvGraphicFramePr>
          <p:cNvPr id="9" name="表格 8"/>
          <p:cNvGraphicFramePr>
            <a:graphicFrameLocks noGrp="1"/>
          </p:cNvGraphicFramePr>
          <p:nvPr/>
        </p:nvGraphicFramePr>
        <p:xfrm>
          <a:off x="2161591" y="1700808"/>
          <a:ext cx="3421510" cy="3200400"/>
        </p:xfrm>
        <a:graphic>
          <a:graphicData uri="http://schemas.openxmlformats.org/drawingml/2006/table">
            <a:tbl>
              <a:tblPr firstRow="1" bandRow="1">
                <a:tableStyleId>{2D5ABB26-0587-4C30-8999-92F81FD0307C}</a:tableStyleId>
              </a:tblPr>
              <a:tblGrid>
                <a:gridCol w="684302">
                  <a:extLst>
                    <a:ext uri="{9D8B030D-6E8A-4147-A177-3AD203B41FA5}">
                      <a16:colId xmlns:a16="http://schemas.microsoft.com/office/drawing/2014/main" val="20000"/>
                    </a:ext>
                  </a:extLst>
                </a:gridCol>
                <a:gridCol w="684302">
                  <a:extLst>
                    <a:ext uri="{9D8B030D-6E8A-4147-A177-3AD203B41FA5}">
                      <a16:colId xmlns:a16="http://schemas.microsoft.com/office/drawing/2014/main" val="20001"/>
                    </a:ext>
                  </a:extLst>
                </a:gridCol>
                <a:gridCol w="684302">
                  <a:extLst>
                    <a:ext uri="{9D8B030D-6E8A-4147-A177-3AD203B41FA5}">
                      <a16:colId xmlns:a16="http://schemas.microsoft.com/office/drawing/2014/main" val="20002"/>
                    </a:ext>
                  </a:extLst>
                </a:gridCol>
                <a:gridCol w="684302">
                  <a:extLst>
                    <a:ext uri="{9D8B030D-6E8A-4147-A177-3AD203B41FA5}">
                      <a16:colId xmlns:a16="http://schemas.microsoft.com/office/drawing/2014/main" val="20003"/>
                    </a:ext>
                  </a:extLst>
                </a:gridCol>
                <a:gridCol w="684302">
                  <a:extLst>
                    <a:ext uri="{9D8B030D-6E8A-4147-A177-3AD203B41FA5}">
                      <a16:colId xmlns:a16="http://schemas.microsoft.com/office/drawing/2014/main" val="20004"/>
                    </a:ext>
                  </a:extLst>
                </a:gridCol>
              </a:tblGrid>
              <a:tr h="633670">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633670">
                <a:tc>
                  <a:txBody>
                    <a:bodyPr/>
                    <a:lstStyle/>
                    <a:p>
                      <a:pPr algn="ctr"/>
                      <a:r>
                        <a:rPr lang="en-US" altLang="zh-CN" sz="3600" dirty="0">
                          <a:latin typeface="Consolas" pitchFamily="49" charset="0"/>
                          <a:cs typeface="Consolas" pitchFamily="49" charset="0"/>
                        </a:rPr>
                        <a:t>J</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tc>
                  <a:txBody>
                    <a:bodyPr/>
                    <a:lstStyle/>
                    <a:p>
                      <a:pPr algn="ctr"/>
                      <a:r>
                        <a:rPr lang="en-US" altLang="zh-CN" sz="3600" dirty="0">
                          <a:latin typeface="Consolas" pitchFamily="49" charset="0"/>
                          <a:cs typeface="Consolas" pitchFamily="49" charset="0"/>
                        </a:rPr>
                        <a:t>#</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zh-CN" sz="3600" dirty="0">
                          <a:latin typeface="Consolas" pitchFamily="49" charset="0"/>
                          <a:cs typeface="Consolas" pitchFamily="49" charset="0"/>
                        </a:rPr>
                        <a:t>#</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633670">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r>
                        <a:rPr lang="en-US" altLang="zh-CN" sz="3600" dirty="0">
                          <a:latin typeface="Consolas" pitchFamily="49" charset="0"/>
                          <a:cs typeface="Consolas" pitchFamily="49" charset="0"/>
                        </a:rPr>
                        <a:t>#</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33670">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altLang="zh-CN" sz="3600" dirty="0">
                          <a:latin typeface="Consolas" pitchFamily="49" charset="0"/>
                          <a:cs typeface="Consolas" pitchFamily="49" charset="0"/>
                        </a:rPr>
                        <a:t>#</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3600" dirty="0">
                          <a:latin typeface="Consolas" pitchFamily="49" charset="0"/>
                          <a:cs typeface="Consolas" pitchFamily="49" charset="0"/>
                        </a:rPr>
                        <a:t>R</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extLst>
                  <a:ext uri="{0D108BD9-81ED-4DB2-BD59-A6C34878D82A}">
                    <a16:rowId xmlns:a16="http://schemas.microsoft.com/office/drawing/2014/main" val="10003"/>
                  </a:ext>
                </a:extLst>
              </a:tr>
              <a:tr h="633670">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3600" dirty="0">
                          <a:latin typeface="Consolas" pitchFamily="49" charset="0"/>
                          <a:cs typeface="Consolas" pitchFamily="49" charset="0"/>
                        </a:rPr>
                        <a:t>#</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aphicFrame>
        <p:nvGraphicFramePr>
          <p:cNvPr id="12" name="表格 11"/>
          <p:cNvGraphicFramePr>
            <a:graphicFrameLocks noGrp="1"/>
          </p:cNvGraphicFramePr>
          <p:nvPr/>
        </p:nvGraphicFramePr>
        <p:xfrm>
          <a:off x="6416824" y="1700808"/>
          <a:ext cx="3421510" cy="3200400"/>
        </p:xfrm>
        <a:graphic>
          <a:graphicData uri="http://schemas.openxmlformats.org/drawingml/2006/table">
            <a:tbl>
              <a:tblPr firstRow="1" bandRow="1">
                <a:tableStyleId>{2D5ABB26-0587-4C30-8999-92F81FD0307C}</a:tableStyleId>
              </a:tblPr>
              <a:tblGrid>
                <a:gridCol w="684302">
                  <a:extLst>
                    <a:ext uri="{9D8B030D-6E8A-4147-A177-3AD203B41FA5}">
                      <a16:colId xmlns:a16="http://schemas.microsoft.com/office/drawing/2014/main" val="20000"/>
                    </a:ext>
                  </a:extLst>
                </a:gridCol>
                <a:gridCol w="684302">
                  <a:extLst>
                    <a:ext uri="{9D8B030D-6E8A-4147-A177-3AD203B41FA5}">
                      <a16:colId xmlns:a16="http://schemas.microsoft.com/office/drawing/2014/main" val="20001"/>
                    </a:ext>
                  </a:extLst>
                </a:gridCol>
                <a:gridCol w="684302">
                  <a:extLst>
                    <a:ext uri="{9D8B030D-6E8A-4147-A177-3AD203B41FA5}">
                      <a16:colId xmlns:a16="http://schemas.microsoft.com/office/drawing/2014/main" val="20002"/>
                    </a:ext>
                  </a:extLst>
                </a:gridCol>
                <a:gridCol w="684302">
                  <a:extLst>
                    <a:ext uri="{9D8B030D-6E8A-4147-A177-3AD203B41FA5}">
                      <a16:colId xmlns:a16="http://schemas.microsoft.com/office/drawing/2014/main" val="20003"/>
                    </a:ext>
                  </a:extLst>
                </a:gridCol>
                <a:gridCol w="684302">
                  <a:extLst>
                    <a:ext uri="{9D8B030D-6E8A-4147-A177-3AD203B41FA5}">
                      <a16:colId xmlns:a16="http://schemas.microsoft.com/office/drawing/2014/main" val="20004"/>
                    </a:ext>
                  </a:extLst>
                </a:gridCol>
              </a:tblGrid>
              <a:tr h="633670">
                <a:tc>
                  <a:txBody>
                    <a:bodyPr/>
                    <a:lstStyle/>
                    <a:p>
                      <a:pPr algn="ctr"/>
                      <a:r>
                        <a:rPr lang="en-US" altLang="zh-CN" sz="3600" dirty="0">
                          <a:latin typeface="Consolas" pitchFamily="49" charset="0"/>
                          <a:cs typeface="Consolas" pitchFamily="49" charset="0"/>
                        </a:rPr>
                        <a:t>1</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3600" dirty="0">
                          <a:latin typeface="Consolas" pitchFamily="49" charset="0"/>
                          <a:cs typeface="Consolas" pitchFamily="49" charset="0"/>
                        </a:rPr>
                        <a:t>2</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3600" dirty="0">
                          <a:latin typeface="Consolas" pitchFamily="49" charset="0"/>
                          <a:cs typeface="Consolas" pitchFamily="49" charset="0"/>
                        </a:rPr>
                        <a:t>3</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3600" dirty="0">
                          <a:latin typeface="Consolas" pitchFamily="49" charset="0"/>
                          <a:cs typeface="Consolas" pitchFamily="49" charset="0"/>
                        </a:rPr>
                        <a:t>4</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633670">
                <a:tc>
                  <a:txBody>
                    <a:bodyPr/>
                    <a:lstStyle/>
                    <a:p>
                      <a:pPr algn="ctr"/>
                      <a:r>
                        <a:rPr lang="en-US" altLang="zh-CN" sz="3600" dirty="0">
                          <a:latin typeface="Consolas" pitchFamily="49" charset="0"/>
                          <a:cs typeface="Consolas" pitchFamily="49" charset="0"/>
                        </a:rPr>
                        <a:t>0</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3600" dirty="0">
                          <a:latin typeface="Consolas" pitchFamily="49" charset="0"/>
                          <a:cs typeface="Consolas" pitchFamily="49" charset="0"/>
                        </a:rPr>
                        <a:t>4</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633670">
                <a:tc>
                  <a:txBody>
                    <a:bodyPr/>
                    <a:lstStyle/>
                    <a:p>
                      <a:pPr algn="ctr"/>
                      <a:r>
                        <a:rPr lang="en-US" altLang="zh-CN" sz="3600" dirty="0">
                          <a:latin typeface="Consolas" pitchFamily="49" charset="0"/>
                          <a:cs typeface="Consolas" pitchFamily="49" charset="0"/>
                        </a:rPr>
                        <a:t>1</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3600" dirty="0">
                          <a:latin typeface="Consolas" pitchFamily="49" charset="0"/>
                          <a:cs typeface="Consolas" pitchFamily="49" charset="0"/>
                        </a:rPr>
                        <a:t>2</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3600" dirty="0">
                          <a:latin typeface="Consolas" pitchFamily="49" charset="0"/>
                          <a:cs typeface="Consolas" pitchFamily="49" charset="0"/>
                        </a:rPr>
                        <a:t>3</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33670">
                <a:tc>
                  <a:txBody>
                    <a:bodyPr/>
                    <a:lstStyle/>
                    <a:p>
                      <a:pPr algn="ctr"/>
                      <a:r>
                        <a:rPr lang="en-US" altLang="zh-CN" sz="3600" dirty="0">
                          <a:latin typeface="Consolas" pitchFamily="49" charset="0"/>
                          <a:cs typeface="Consolas" pitchFamily="49" charset="0"/>
                        </a:rPr>
                        <a:t>2</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3600" dirty="0">
                          <a:latin typeface="Consolas" pitchFamily="49" charset="0"/>
                          <a:cs typeface="Consolas" pitchFamily="49" charset="0"/>
                        </a:rPr>
                        <a:t>4</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633670">
                <a:tc>
                  <a:txBody>
                    <a:bodyPr/>
                    <a:lstStyle/>
                    <a:p>
                      <a:pPr algn="ctr"/>
                      <a:r>
                        <a:rPr lang="en-US" altLang="zh-CN" sz="3600" dirty="0">
                          <a:latin typeface="Consolas" pitchFamily="49" charset="0"/>
                          <a:cs typeface="Consolas" pitchFamily="49" charset="0"/>
                        </a:rPr>
                        <a:t>3</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3600" dirty="0">
                          <a:latin typeface="Consolas" pitchFamily="49" charset="0"/>
                          <a:cs typeface="Consolas" pitchFamily="49" charset="0"/>
                        </a:rPr>
                        <a:t>4</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 name="灯片编号占位符 1">
            <a:extLst>
              <a:ext uri="{FF2B5EF4-FFF2-40B4-BE49-F238E27FC236}">
                <a16:creationId xmlns:a16="http://schemas.microsoft.com/office/drawing/2014/main" id="{BDC4D8AB-2317-FD99-6F2E-3BC6E018F8DE}"/>
              </a:ext>
            </a:extLst>
          </p:cNvPr>
          <p:cNvSpPr>
            <a:spLocks noGrp="1"/>
          </p:cNvSpPr>
          <p:nvPr>
            <p:ph type="sldNum" sz="quarter" idx="12"/>
          </p:nvPr>
        </p:nvSpPr>
        <p:spPr/>
        <p:txBody>
          <a:bodyPr/>
          <a:lstStyle/>
          <a:p>
            <a:fld id="{0C913308-F349-4B6D-A68A-DD1791B4A57B}" type="slidenum">
              <a:rPr lang="zh-CN" altLang="en-US" smtClean="0"/>
              <a:t>50</a:t>
            </a:fld>
            <a:endParaRPr lang="zh-CN" altLang="en-US"/>
          </a:p>
        </p:txBody>
      </p:sp>
    </p:spTree>
    <p:extLst>
      <p:ext uri="{BB962C8B-B14F-4D97-AF65-F5344CB8AC3E}">
        <p14:creationId xmlns:p14="http://schemas.microsoft.com/office/powerpoint/2010/main" val="212008903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6384032" y="170952"/>
            <a:ext cx="3312368" cy="461665"/>
          </a:xfrm>
          <a:prstGeom prst="rect">
            <a:avLst/>
          </a:prstGeom>
          <a:noFill/>
          <a:ln>
            <a:solidFill>
              <a:schemeClr val="bg2">
                <a:lumMod val="25000"/>
              </a:schemeClr>
            </a:solidFill>
          </a:ln>
        </p:spPr>
        <p:txBody>
          <a:bodyPr wrap="square">
            <a:spAutoFit/>
          </a:bodyPr>
          <a:lstStyle/>
          <a:p>
            <a:pPr algn="ctr"/>
            <a:r>
              <a:rPr lang="zh-CN" altLang="en-US" sz="2400" dirty="0"/>
              <a:t>从</a:t>
            </a:r>
            <a:r>
              <a:rPr lang="en-US" altLang="zh-CN" sz="2400" dirty="0"/>
              <a:t>J</a:t>
            </a:r>
            <a:r>
              <a:rPr lang="zh-CN" altLang="en-US" sz="2400" dirty="0"/>
              <a:t>到</a:t>
            </a:r>
            <a:r>
              <a:rPr lang="en-US" altLang="zh-CN" sz="2400" dirty="0"/>
              <a:t>R</a:t>
            </a:r>
            <a:r>
              <a:rPr lang="zh-CN" altLang="en-US" sz="2400" dirty="0"/>
              <a:t>求最短路</a:t>
            </a:r>
            <a:endParaRPr lang="zh-CN" altLang="zh-CN" sz="2400" dirty="0"/>
          </a:p>
        </p:txBody>
      </p:sp>
      <p:sp>
        <p:nvSpPr>
          <p:cNvPr id="20" name="矩形 19"/>
          <p:cNvSpPr/>
          <p:nvPr/>
        </p:nvSpPr>
        <p:spPr>
          <a:xfrm>
            <a:off x="2161591" y="170953"/>
            <a:ext cx="3312368" cy="830997"/>
          </a:xfrm>
          <a:prstGeom prst="rect">
            <a:avLst/>
          </a:prstGeom>
          <a:solidFill>
            <a:srgbClr val="FFCCCC"/>
          </a:solidFill>
          <a:ln>
            <a:solidFill>
              <a:schemeClr val="bg2">
                <a:lumMod val="25000"/>
              </a:schemeClr>
            </a:solidFill>
          </a:ln>
        </p:spPr>
        <p:txBody>
          <a:bodyPr wrap="square">
            <a:spAutoFit/>
          </a:bodyPr>
          <a:lstStyle/>
          <a:p>
            <a:pPr algn="ctr"/>
            <a:r>
              <a:rPr lang="zh-CN" altLang="en-US" sz="2400" dirty="0"/>
              <a:t>无权图最短路问题</a:t>
            </a:r>
            <a:endParaRPr lang="en-US" altLang="zh-CN" sz="2400" dirty="0"/>
          </a:p>
          <a:p>
            <a:pPr algn="ctr"/>
            <a:r>
              <a:rPr lang="zh-CN" altLang="en-US" sz="2400" dirty="0"/>
              <a:t>用</a:t>
            </a:r>
            <a:r>
              <a:rPr lang="en-US" altLang="zh-CN" sz="2400" dirty="0"/>
              <a:t>BFS</a:t>
            </a:r>
            <a:r>
              <a:rPr lang="zh-CN" altLang="en-US" sz="2400" dirty="0"/>
              <a:t>求解</a:t>
            </a:r>
            <a:endParaRPr lang="zh-CN" altLang="zh-CN" sz="2400" dirty="0"/>
          </a:p>
        </p:txBody>
      </p:sp>
      <p:sp>
        <p:nvSpPr>
          <p:cNvPr id="13" name="矩形 12"/>
          <p:cNvSpPr/>
          <p:nvPr/>
        </p:nvSpPr>
        <p:spPr>
          <a:xfrm>
            <a:off x="6384032" y="632617"/>
            <a:ext cx="3312368" cy="830997"/>
          </a:xfrm>
          <a:prstGeom prst="rect">
            <a:avLst/>
          </a:prstGeom>
          <a:noFill/>
          <a:ln>
            <a:solidFill>
              <a:schemeClr val="bg2">
                <a:lumMod val="25000"/>
              </a:schemeClr>
            </a:solidFill>
          </a:ln>
        </p:spPr>
        <p:txBody>
          <a:bodyPr wrap="square">
            <a:spAutoFit/>
          </a:bodyPr>
          <a:lstStyle/>
          <a:p>
            <a:pPr algn="ctr"/>
            <a:r>
              <a:rPr lang="en-US" altLang="zh-CN" sz="2400" dirty="0"/>
              <a:t>BFS</a:t>
            </a:r>
            <a:r>
              <a:rPr lang="zh-CN" altLang="en-US" sz="2400" dirty="0"/>
              <a:t>时第一次访问</a:t>
            </a:r>
            <a:endParaRPr lang="en-US" altLang="zh-CN" sz="2400" dirty="0"/>
          </a:p>
          <a:p>
            <a:pPr algn="ctr"/>
            <a:r>
              <a:rPr lang="zh-CN" altLang="en-US" sz="2400" dirty="0"/>
              <a:t>就能确定最短路结果</a:t>
            </a:r>
            <a:endParaRPr lang="zh-CN" altLang="zh-CN" sz="2400" dirty="0"/>
          </a:p>
        </p:txBody>
      </p:sp>
      <p:sp>
        <p:nvSpPr>
          <p:cNvPr id="10" name="矩形 9"/>
          <p:cNvSpPr/>
          <p:nvPr/>
        </p:nvSpPr>
        <p:spPr>
          <a:xfrm>
            <a:off x="6384032" y="5334308"/>
            <a:ext cx="3312368" cy="830997"/>
          </a:xfrm>
          <a:prstGeom prst="rect">
            <a:avLst/>
          </a:prstGeom>
          <a:noFill/>
          <a:ln>
            <a:solidFill>
              <a:schemeClr val="bg2">
                <a:lumMod val="25000"/>
              </a:schemeClr>
            </a:solidFill>
          </a:ln>
        </p:spPr>
        <p:txBody>
          <a:bodyPr wrap="square">
            <a:spAutoFit/>
          </a:bodyPr>
          <a:lstStyle/>
          <a:p>
            <a:pPr algn="ctr"/>
            <a:r>
              <a:rPr lang="en-US" altLang="zh-CN" sz="2400" dirty="0"/>
              <a:t>dst[x][y]</a:t>
            </a:r>
            <a:r>
              <a:rPr lang="zh-CN" altLang="en-US" sz="2400" dirty="0"/>
              <a:t>代表从起点到</a:t>
            </a:r>
            <a:r>
              <a:rPr lang="en-US" altLang="zh-CN" sz="2400" dirty="0"/>
              <a:t>(x,y)</a:t>
            </a:r>
            <a:r>
              <a:rPr lang="zh-CN" altLang="en-US" sz="2400" dirty="0"/>
              <a:t>的最短路长度</a:t>
            </a:r>
            <a:endParaRPr lang="zh-CN" altLang="zh-CN" sz="2400" dirty="0"/>
          </a:p>
        </p:txBody>
      </p:sp>
      <p:graphicFrame>
        <p:nvGraphicFramePr>
          <p:cNvPr id="11" name="表格 10"/>
          <p:cNvGraphicFramePr>
            <a:graphicFrameLocks noGrp="1"/>
          </p:cNvGraphicFramePr>
          <p:nvPr/>
        </p:nvGraphicFramePr>
        <p:xfrm>
          <a:off x="6416824" y="1700808"/>
          <a:ext cx="3421510" cy="3200400"/>
        </p:xfrm>
        <a:graphic>
          <a:graphicData uri="http://schemas.openxmlformats.org/drawingml/2006/table">
            <a:tbl>
              <a:tblPr firstRow="1" bandRow="1">
                <a:tableStyleId>{2D5ABB26-0587-4C30-8999-92F81FD0307C}</a:tableStyleId>
              </a:tblPr>
              <a:tblGrid>
                <a:gridCol w="684302">
                  <a:extLst>
                    <a:ext uri="{9D8B030D-6E8A-4147-A177-3AD203B41FA5}">
                      <a16:colId xmlns:a16="http://schemas.microsoft.com/office/drawing/2014/main" val="20000"/>
                    </a:ext>
                  </a:extLst>
                </a:gridCol>
                <a:gridCol w="684302">
                  <a:extLst>
                    <a:ext uri="{9D8B030D-6E8A-4147-A177-3AD203B41FA5}">
                      <a16:colId xmlns:a16="http://schemas.microsoft.com/office/drawing/2014/main" val="20001"/>
                    </a:ext>
                  </a:extLst>
                </a:gridCol>
                <a:gridCol w="684302">
                  <a:extLst>
                    <a:ext uri="{9D8B030D-6E8A-4147-A177-3AD203B41FA5}">
                      <a16:colId xmlns:a16="http://schemas.microsoft.com/office/drawing/2014/main" val="20002"/>
                    </a:ext>
                  </a:extLst>
                </a:gridCol>
                <a:gridCol w="684302">
                  <a:extLst>
                    <a:ext uri="{9D8B030D-6E8A-4147-A177-3AD203B41FA5}">
                      <a16:colId xmlns:a16="http://schemas.microsoft.com/office/drawing/2014/main" val="20003"/>
                    </a:ext>
                  </a:extLst>
                </a:gridCol>
                <a:gridCol w="684302">
                  <a:extLst>
                    <a:ext uri="{9D8B030D-6E8A-4147-A177-3AD203B41FA5}">
                      <a16:colId xmlns:a16="http://schemas.microsoft.com/office/drawing/2014/main" val="20004"/>
                    </a:ext>
                  </a:extLst>
                </a:gridCol>
              </a:tblGrid>
              <a:tr h="633670">
                <a:tc>
                  <a:txBody>
                    <a:bodyPr/>
                    <a:lstStyle/>
                    <a:p>
                      <a:pPr algn="ctr"/>
                      <a:r>
                        <a:rPr lang="en-US" altLang="zh-CN" sz="3600" dirty="0">
                          <a:latin typeface="Consolas" pitchFamily="49" charset="0"/>
                          <a:cs typeface="Consolas" pitchFamily="49" charset="0"/>
                        </a:rPr>
                        <a:t>1</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3600" dirty="0">
                          <a:latin typeface="Consolas" pitchFamily="49" charset="0"/>
                          <a:cs typeface="Consolas" pitchFamily="49" charset="0"/>
                        </a:rPr>
                        <a:t>2</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3600" dirty="0">
                          <a:latin typeface="Consolas" pitchFamily="49" charset="0"/>
                          <a:cs typeface="Consolas" pitchFamily="49" charset="0"/>
                        </a:rPr>
                        <a:t>3</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3600" dirty="0">
                          <a:latin typeface="Consolas" pitchFamily="49" charset="0"/>
                          <a:cs typeface="Consolas" pitchFamily="49" charset="0"/>
                        </a:rPr>
                        <a:t>4</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3600" dirty="0">
                          <a:latin typeface="Consolas" pitchFamily="49" charset="0"/>
                          <a:cs typeface="Consolas" pitchFamily="49" charset="0"/>
                        </a:rPr>
                        <a:t>5</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633670">
                <a:tc>
                  <a:txBody>
                    <a:bodyPr/>
                    <a:lstStyle/>
                    <a:p>
                      <a:pPr algn="ctr"/>
                      <a:r>
                        <a:rPr lang="en-US" altLang="zh-CN" sz="3600" dirty="0">
                          <a:latin typeface="Consolas" pitchFamily="49" charset="0"/>
                          <a:cs typeface="Consolas" pitchFamily="49" charset="0"/>
                        </a:rPr>
                        <a:t>0</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3600" dirty="0">
                          <a:latin typeface="Consolas" pitchFamily="49" charset="0"/>
                          <a:cs typeface="Consolas" pitchFamily="49" charset="0"/>
                        </a:rPr>
                        <a:t>4</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633670">
                <a:tc>
                  <a:txBody>
                    <a:bodyPr/>
                    <a:lstStyle/>
                    <a:p>
                      <a:pPr algn="ctr"/>
                      <a:r>
                        <a:rPr lang="en-US" altLang="zh-CN" sz="3600" dirty="0">
                          <a:latin typeface="Consolas" pitchFamily="49" charset="0"/>
                          <a:cs typeface="Consolas" pitchFamily="49" charset="0"/>
                        </a:rPr>
                        <a:t>1</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3600" dirty="0">
                          <a:latin typeface="Consolas" pitchFamily="49" charset="0"/>
                          <a:cs typeface="Consolas" pitchFamily="49" charset="0"/>
                        </a:rPr>
                        <a:t>2</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3600" dirty="0">
                          <a:latin typeface="Consolas" pitchFamily="49" charset="0"/>
                          <a:cs typeface="Consolas" pitchFamily="49" charset="0"/>
                        </a:rPr>
                        <a:t>3</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33670">
                <a:tc>
                  <a:txBody>
                    <a:bodyPr/>
                    <a:lstStyle/>
                    <a:p>
                      <a:pPr algn="ctr"/>
                      <a:r>
                        <a:rPr lang="en-US" altLang="zh-CN" sz="3600" dirty="0">
                          <a:latin typeface="Consolas" pitchFamily="49" charset="0"/>
                          <a:cs typeface="Consolas" pitchFamily="49" charset="0"/>
                        </a:rPr>
                        <a:t>2</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3600" dirty="0">
                          <a:latin typeface="Consolas" pitchFamily="49" charset="0"/>
                          <a:cs typeface="Consolas" pitchFamily="49" charset="0"/>
                        </a:rPr>
                        <a:t>4</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3600" dirty="0">
                          <a:latin typeface="Consolas" pitchFamily="49" charset="0"/>
                          <a:cs typeface="Consolas" pitchFamily="49" charset="0"/>
                        </a:rPr>
                        <a:t>5</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633670">
                <a:tc>
                  <a:txBody>
                    <a:bodyPr/>
                    <a:lstStyle/>
                    <a:p>
                      <a:pPr algn="ctr"/>
                      <a:r>
                        <a:rPr lang="en-US" altLang="zh-CN" sz="3600" dirty="0">
                          <a:latin typeface="Consolas" pitchFamily="49" charset="0"/>
                          <a:cs typeface="Consolas" pitchFamily="49" charset="0"/>
                        </a:rPr>
                        <a:t>3</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3600" dirty="0">
                          <a:latin typeface="Consolas" pitchFamily="49" charset="0"/>
                          <a:cs typeface="Consolas" pitchFamily="49" charset="0"/>
                        </a:rPr>
                        <a:t>4</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3600" dirty="0">
                          <a:latin typeface="Consolas" pitchFamily="49" charset="0"/>
                          <a:cs typeface="Consolas" pitchFamily="49" charset="0"/>
                        </a:rPr>
                        <a:t>5</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aphicFrame>
        <p:nvGraphicFramePr>
          <p:cNvPr id="8" name="表格 7"/>
          <p:cNvGraphicFramePr>
            <a:graphicFrameLocks noGrp="1"/>
          </p:cNvGraphicFramePr>
          <p:nvPr/>
        </p:nvGraphicFramePr>
        <p:xfrm>
          <a:off x="2170786" y="1700808"/>
          <a:ext cx="3421510" cy="3200400"/>
        </p:xfrm>
        <a:graphic>
          <a:graphicData uri="http://schemas.openxmlformats.org/drawingml/2006/table">
            <a:tbl>
              <a:tblPr firstRow="1" bandRow="1">
                <a:tableStyleId>{2D5ABB26-0587-4C30-8999-92F81FD0307C}</a:tableStyleId>
              </a:tblPr>
              <a:tblGrid>
                <a:gridCol w="684302">
                  <a:extLst>
                    <a:ext uri="{9D8B030D-6E8A-4147-A177-3AD203B41FA5}">
                      <a16:colId xmlns:a16="http://schemas.microsoft.com/office/drawing/2014/main" val="20000"/>
                    </a:ext>
                  </a:extLst>
                </a:gridCol>
                <a:gridCol w="684302">
                  <a:extLst>
                    <a:ext uri="{9D8B030D-6E8A-4147-A177-3AD203B41FA5}">
                      <a16:colId xmlns:a16="http://schemas.microsoft.com/office/drawing/2014/main" val="20001"/>
                    </a:ext>
                  </a:extLst>
                </a:gridCol>
                <a:gridCol w="684302">
                  <a:extLst>
                    <a:ext uri="{9D8B030D-6E8A-4147-A177-3AD203B41FA5}">
                      <a16:colId xmlns:a16="http://schemas.microsoft.com/office/drawing/2014/main" val="20002"/>
                    </a:ext>
                  </a:extLst>
                </a:gridCol>
                <a:gridCol w="684302">
                  <a:extLst>
                    <a:ext uri="{9D8B030D-6E8A-4147-A177-3AD203B41FA5}">
                      <a16:colId xmlns:a16="http://schemas.microsoft.com/office/drawing/2014/main" val="20003"/>
                    </a:ext>
                  </a:extLst>
                </a:gridCol>
                <a:gridCol w="684302">
                  <a:extLst>
                    <a:ext uri="{9D8B030D-6E8A-4147-A177-3AD203B41FA5}">
                      <a16:colId xmlns:a16="http://schemas.microsoft.com/office/drawing/2014/main" val="20004"/>
                    </a:ext>
                  </a:extLst>
                </a:gridCol>
              </a:tblGrid>
              <a:tr h="633670">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extLst>
                  <a:ext uri="{0D108BD9-81ED-4DB2-BD59-A6C34878D82A}">
                    <a16:rowId xmlns:a16="http://schemas.microsoft.com/office/drawing/2014/main" val="10000"/>
                  </a:ext>
                </a:extLst>
              </a:tr>
              <a:tr h="633670">
                <a:tc>
                  <a:txBody>
                    <a:bodyPr/>
                    <a:lstStyle/>
                    <a:p>
                      <a:pPr algn="ctr"/>
                      <a:r>
                        <a:rPr lang="en-US" altLang="zh-CN" sz="3600" dirty="0">
                          <a:latin typeface="Consolas" pitchFamily="49" charset="0"/>
                          <a:cs typeface="Consolas" pitchFamily="49" charset="0"/>
                        </a:rPr>
                        <a:t>J</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tc>
                  <a:txBody>
                    <a:bodyPr/>
                    <a:lstStyle/>
                    <a:p>
                      <a:pPr algn="ctr"/>
                      <a:r>
                        <a:rPr lang="en-US" altLang="zh-CN" sz="3600" dirty="0">
                          <a:latin typeface="Consolas" pitchFamily="49" charset="0"/>
                          <a:cs typeface="Consolas" pitchFamily="49" charset="0"/>
                        </a:rPr>
                        <a:t>#</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zh-CN" sz="3600" dirty="0">
                          <a:latin typeface="Consolas" pitchFamily="49" charset="0"/>
                          <a:cs typeface="Consolas" pitchFamily="49" charset="0"/>
                        </a:rPr>
                        <a:t>#</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633670">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r>
                        <a:rPr lang="en-US" altLang="zh-CN" sz="3600" dirty="0">
                          <a:latin typeface="Consolas" pitchFamily="49" charset="0"/>
                          <a:cs typeface="Consolas" pitchFamily="49" charset="0"/>
                        </a:rPr>
                        <a:t>#</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33670">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altLang="zh-CN" sz="3600" dirty="0">
                          <a:latin typeface="Consolas" pitchFamily="49" charset="0"/>
                          <a:cs typeface="Consolas" pitchFamily="49" charset="0"/>
                        </a:rPr>
                        <a:t>#</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a:txBody>
                    <a:bodyPr/>
                    <a:lstStyle/>
                    <a:p>
                      <a:pPr algn="ctr"/>
                      <a:r>
                        <a:rPr lang="en-US" altLang="zh-CN" sz="3600" dirty="0">
                          <a:latin typeface="Consolas" pitchFamily="49" charset="0"/>
                          <a:cs typeface="Consolas" pitchFamily="49" charset="0"/>
                        </a:rPr>
                        <a:t>R</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extLst>
                  <a:ext uri="{0D108BD9-81ED-4DB2-BD59-A6C34878D82A}">
                    <a16:rowId xmlns:a16="http://schemas.microsoft.com/office/drawing/2014/main" val="10003"/>
                  </a:ext>
                </a:extLst>
              </a:tr>
              <a:tr h="633670">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a:txBody>
                    <a:bodyPr/>
                    <a:lstStyle/>
                    <a:p>
                      <a:pPr algn="ctr"/>
                      <a:r>
                        <a:rPr lang="en-US" altLang="zh-CN" sz="3600" dirty="0">
                          <a:latin typeface="Consolas" pitchFamily="49" charset="0"/>
                          <a:cs typeface="Consolas" pitchFamily="49" charset="0"/>
                        </a:rPr>
                        <a:t>#</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 name="灯片编号占位符 1">
            <a:extLst>
              <a:ext uri="{FF2B5EF4-FFF2-40B4-BE49-F238E27FC236}">
                <a16:creationId xmlns:a16="http://schemas.microsoft.com/office/drawing/2014/main" id="{007EE43A-9D38-7597-0460-C29CB2B0745E}"/>
              </a:ext>
            </a:extLst>
          </p:cNvPr>
          <p:cNvSpPr>
            <a:spLocks noGrp="1"/>
          </p:cNvSpPr>
          <p:nvPr>
            <p:ph type="sldNum" sz="quarter" idx="12"/>
          </p:nvPr>
        </p:nvSpPr>
        <p:spPr/>
        <p:txBody>
          <a:bodyPr/>
          <a:lstStyle/>
          <a:p>
            <a:fld id="{0C913308-F349-4B6D-A68A-DD1791B4A57B}" type="slidenum">
              <a:rPr lang="zh-CN" altLang="en-US" smtClean="0"/>
              <a:t>51</a:t>
            </a:fld>
            <a:endParaRPr lang="zh-CN" altLang="en-US"/>
          </a:p>
        </p:txBody>
      </p:sp>
    </p:spTree>
    <p:extLst>
      <p:ext uri="{BB962C8B-B14F-4D97-AF65-F5344CB8AC3E}">
        <p14:creationId xmlns:p14="http://schemas.microsoft.com/office/powerpoint/2010/main" val="411051718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6384032" y="170952"/>
            <a:ext cx="3312368" cy="461665"/>
          </a:xfrm>
          <a:prstGeom prst="rect">
            <a:avLst/>
          </a:prstGeom>
          <a:noFill/>
          <a:ln>
            <a:solidFill>
              <a:schemeClr val="bg2">
                <a:lumMod val="25000"/>
              </a:schemeClr>
            </a:solidFill>
          </a:ln>
        </p:spPr>
        <p:txBody>
          <a:bodyPr wrap="square">
            <a:spAutoFit/>
          </a:bodyPr>
          <a:lstStyle/>
          <a:p>
            <a:pPr algn="ctr"/>
            <a:r>
              <a:rPr lang="zh-CN" altLang="en-US" sz="2400" dirty="0"/>
              <a:t>从</a:t>
            </a:r>
            <a:r>
              <a:rPr lang="en-US" altLang="zh-CN" sz="2400" dirty="0"/>
              <a:t>J</a:t>
            </a:r>
            <a:r>
              <a:rPr lang="zh-CN" altLang="en-US" sz="2400" dirty="0"/>
              <a:t>到</a:t>
            </a:r>
            <a:r>
              <a:rPr lang="en-US" altLang="zh-CN" sz="2400" dirty="0"/>
              <a:t>R</a:t>
            </a:r>
            <a:r>
              <a:rPr lang="zh-CN" altLang="en-US" sz="2400" dirty="0"/>
              <a:t>求最短路</a:t>
            </a:r>
            <a:endParaRPr lang="zh-CN" altLang="zh-CN" sz="2400" dirty="0"/>
          </a:p>
        </p:txBody>
      </p:sp>
      <p:sp>
        <p:nvSpPr>
          <p:cNvPr id="20" name="矩形 19"/>
          <p:cNvSpPr/>
          <p:nvPr/>
        </p:nvSpPr>
        <p:spPr>
          <a:xfrm>
            <a:off x="2161591" y="170953"/>
            <a:ext cx="3312368" cy="830997"/>
          </a:xfrm>
          <a:prstGeom prst="rect">
            <a:avLst/>
          </a:prstGeom>
          <a:solidFill>
            <a:srgbClr val="FFCCCC"/>
          </a:solidFill>
          <a:ln>
            <a:solidFill>
              <a:schemeClr val="bg2">
                <a:lumMod val="25000"/>
              </a:schemeClr>
            </a:solidFill>
          </a:ln>
        </p:spPr>
        <p:txBody>
          <a:bodyPr wrap="square">
            <a:spAutoFit/>
          </a:bodyPr>
          <a:lstStyle/>
          <a:p>
            <a:pPr algn="ctr"/>
            <a:r>
              <a:rPr lang="zh-CN" altLang="en-US" sz="2400" dirty="0"/>
              <a:t>无权图最短路问题</a:t>
            </a:r>
            <a:endParaRPr lang="en-US" altLang="zh-CN" sz="2400" dirty="0"/>
          </a:p>
          <a:p>
            <a:pPr algn="ctr"/>
            <a:r>
              <a:rPr lang="zh-CN" altLang="en-US" sz="2400" dirty="0"/>
              <a:t>用</a:t>
            </a:r>
            <a:r>
              <a:rPr lang="en-US" altLang="zh-CN" sz="2400" dirty="0"/>
              <a:t>BFS</a:t>
            </a:r>
            <a:r>
              <a:rPr lang="zh-CN" altLang="en-US" sz="2400" dirty="0"/>
              <a:t>求解</a:t>
            </a:r>
            <a:endParaRPr lang="zh-CN" altLang="zh-CN" sz="2400" dirty="0"/>
          </a:p>
        </p:txBody>
      </p:sp>
      <p:sp>
        <p:nvSpPr>
          <p:cNvPr id="13" name="矩形 12"/>
          <p:cNvSpPr/>
          <p:nvPr/>
        </p:nvSpPr>
        <p:spPr>
          <a:xfrm>
            <a:off x="6384032" y="632617"/>
            <a:ext cx="3312368" cy="830997"/>
          </a:xfrm>
          <a:prstGeom prst="rect">
            <a:avLst/>
          </a:prstGeom>
          <a:noFill/>
          <a:ln>
            <a:solidFill>
              <a:schemeClr val="bg2">
                <a:lumMod val="25000"/>
              </a:schemeClr>
            </a:solidFill>
          </a:ln>
        </p:spPr>
        <p:txBody>
          <a:bodyPr wrap="square">
            <a:spAutoFit/>
          </a:bodyPr>
          <a:lstStyle/>
          <a:p>
            <a:pPr algn="ctr"/>
            <a:r>
              <a:rPr lang="en-US" altLang="zh-CN" sz="2400" dirty="0"/>
              <a:t>BFS</a:t>
            </a:r>
            <a:r>
              <a:rPr lang="zh-CN" altLang="en-US" sz="2400" dirty="0"/>
              <a:t>时第一次访问</a:t>
            </a:r>
            <a:endParaRPr lang="en-US" altLang="zh-CN" sz="2400" dirty="0"/>
          </a:p>
          <a:p>
            <a:pPr algn="ctr"/>
            <a:r>
              <a:rPr lang="zh-CN" altLang="en-US" sz="2400" dirty="0"/>
              <a:t>就能确定最短路结果</a:t>
            </a:r>
            <a:endParaRPr lang="zh-CN" altLang="zh-CN" sz="2400" dirty="0"/>
          </a:p>
        </p:txBody>
      </p:sp>
      <p:sp>
        <p:nvSpPr>
          <p:cNvPr id="10" name="矩形 9"/>
          <p:cNvSpPr/>
          <p:nvPr/>
        </p:nvSpPr>
        <p:spPr>
          <a:xfrm>
            <a:off x="6384032" y="5334308"/>
            <a:ext cx="3312368" cy="830997"/>
          </a:xfrm>
          <a:prstGeom prst="rect">
            <a:avLst/>
          </a:prstGeom>
          <a:noFill/>
          <a:ln>
            <a:solidFill>
              <a:schemeClr val="bg2">
                <a:lumMod val="25000"/>
              </a:schemeClr>
            </a:solidFill>
          </a:ln>
        </p:spPr>
        <p:txBody>
          <a:bodyPr wrap="square">
            <a:spAutoFit/>
          </a:bodyPr>
          <a:lstStyle/>
          <a:p>
            <a:pPr algn="ctr"/>
            <a:r>
              <a:rPr lang="en-US" altLang="zh-CN" sz="2400" dirty="0"/>
              <a:t>dst[x][y]</a:t>
            </a:r>
            <a:r>
              <a:rPr lang="zh-CN" altLang="en-US" sz="2400" dirty="0"/>
              <a:t>代表从起点到</a:t>
            </a:r>
            <a:r>
              <a:rPr lang="en-US" altLang="zh-CN" sz="2400" dirty="0"/>
              <a:t>(x,y)</a:t>
            </a:r>
            <a:r>
              <a:rPr lang="zh-CN" altLang="en-US" sz="2400" dirty="0"/>
              <a:t>的最短路长度</a:t>
            </a:r>
            <a:endParaRPr lang="zh-CN" altLang="zh-CN" sz="2400" dirty="0"/>
          </a:p>
        </p:txBody>
      </p:sp>
      <p:graphicFrame>
        <p:nvGraphicFramePr>
          <p:cNvPr id="9" name="表格 8"/>
          <p:cNvGraphicFramePr>
            <a:graphicFrameLocks noGrp="1"/>
          </p:cNvGraphicFramePr>
          <p:nvPr/>
        </p:nvGraphicFramePr>
        <p:xfrm>
          <a:off x="2161591" y="1700808"/>
          <a:ext cx="3421510" cy="3200400"/>
        </p:xfrm>
        <a:graphic>
          <a:graphicData uri="http://schemas.openxmlformats.org/drawingml/2006/table">
            <a:tbl>
              <a:tblPr firstRow="1" bandRow="1">
                <a:tableStyleId>{2D5ABB26-0587-4C30-8999-92F81FD0307C}</a:tableStyleId>
              </a:tblPr>
              <a:tblGrid>
                <a:gridCol w="684302">
                  <a:extLst>
                    <a:ext uri="{9D8B030D-6E8A-4147-A177-3AD203B41FA5}">
                      <a16:colId xmlns:a16="http://schemas.microsoft.com/office/drawing/2014/main" val="20000"/>
                    </a:ext>
                  </a:extLst>
                </a:gridCol>
                <a:gridCol w="684302">
                  <a:extLst>
                    <a:ext uri="{9D8B030D-6E8A-4147-A177-3AD203B41FA5}">
                      <a16:colId xmlns:a16="http://schemas.microsoft.com/office/drawing/2014/main" val="20001"/>
                    </a:ext>
                  </a:extLst>
                </a:gridCol>
                <a:gridCol w="684302">
                  <a:extLst>
                    <a:ext uri="{9D8B030D-6E8A-4147-A177-3AD203B41FA5}">
                      <a16:colId xmlns:a16="http://schemas.microsoft.com/office/drawing/2014/main" val="20002"/>
                    </a:ext>
                  </a:extLst>
                </a:gridCol>
                <a:gridCol w="684302">
                  <a:extLst>
                    <a:ext uri="{9D8B030D-6E8A-4147-A177-3AD203B41FA5}">
                      <a16:colId xmlns:a16="http://schemas.microsoft.com/office/drawing/2014/main" val="20003"/>
                    </a:ext>
                  </a:extLst>
                </a:gridCol>
                <a:gridCol w="684302">
                  <a:extLst>
                    <a:ext uri="{9D8B030D-6E8A-4147-A177-3AD203B41FA5}">
                      <a16:colId xmlns:a16="http://schemas.microsoft.com/office/drawing/2014/main" val="20004"/>
                    </a:ext>
                  </a:extLst>
                </a:gridCol>
              </a:tblGrid>
              <a:tr h="633670">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extLst>
                  <a:ext uri="{0D108BD9-81ED-4DB2-BD59-A6C34878D82A}">
                    <a16:rowId xmlns:a16="http://schemas.microsoft.com/office/drawing/2014/main" val="10000"/>
                  </a:ext>
                </a:extLst>
              </a:tr>
              <a:tr h="633670">
                <a:tc>
                  <a:txBody>
                    <a:bodyPr/>
                    <a:lstStyle/>
                    <a:p>
                      <a:pPr algn="ctr"/>
                      <a:r>
                        <a:rPr lang="en-US" altLang="zh-CN" sz="3600" dirty="0">
                          <a:latin typeface="Consolas" pitchFamily="49" charset="0"/>
                          <a:cs typeface="Consolas" pitchFamily="49" charset="0"/>
                        </a:rPr>
                        <a:t>J</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tc>
                  <a:txBody>
                    <a:bodyPr/>
                    <a:lstStyle/>
                    <a:p>
                      <a:pPr algn="ctr"/>
                      <a:r>
                        <a:rPr lang="en-US" altLang="zh-CN" sz="3600" dirty="0">
                          <a:latin typeface="Consolas" pitchFamily="49" charset="0"/>
                          <a:cs typeface="Consolas" pitchFamily="49" charset="0"/>
                        </a:rPr>
                        <a:t>#</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zh-CN" sz="3600" dirty="0">
                          <a:latin typeface="Consolas" pitchFamily="49" charset="0"/>
                          <a:cs typeface="Consolas" pitchFamily="49" charset="0"/>
                        </a:rPr>
                        <a:t>#</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66"/>
                    </a:solidFill>
                  </a:tcPr>
                </a:tc>
                <a:extLst>
                  <a:ext uri="{0D108BD9-81ED-4DB2-BD59-A6C34878D82A}">
                    <a16:rowId xmlns:a16="http://schemas.microsoft.com/office/drawing/2014/main" val="10001"/>
                  </a:ext>
                </a:extLst>
              </a:tr>
              <a:tr h="633670">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r>
                        <a:rPr lang="en-US" altLang="zh-CN" sz="3600" dirty="0">
                          <a:latin typeface="Consolas" pitchFamily="49" charset="0"/>
                          <a:cs typeface="Consolas" pitchFamily="49" charset="0"/>
                        </a:rPr>
                        <a:t>#</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33670">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altLang="zh-CN" sz="3600" dirty="0">
                          <a:latin typeface="Consolas" pitchFamily="49" charset="0"/>
                          <a:cs typeface="Consolas" pitchFamily="49" charset="0"/>
                        </a:rPr>
                        <a:t>#</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a:txBody>
                    <a:bodyPr/>
                    <a:lstStyle/>
                    <a:p>
                      <a:pPr algn="ctr"/>
                      <a:r>
                        <a:rPr lang="en-US" altLang="zh-CN" sz="3600" dirty="0">
                          <a:latin typeface="Consolas" pitchFamily="49" charset="0"/>
                          <a:cs typeface="Consolas" pitchFamily="49" charset="0"/>
                        </a:rPr>
                        <a:t>R</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66"/>
                    </a:solidFill>
                  </a:tcPr>
                </a:tc>
                <a:extLst>
                  <a:ext uri="{0D108BD9-81ED-4DB2-BD59-A6C34878D82A}">
                    <a16:rowId xmlns:a16="http://schemas.microsoft.com/office/drawing/2014/main" val="10003"/>
                  </a:ext>
                </a:extLst>
              </a:tr>
              <a:tr h="633670">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a:txBody>
                    <a:bodyPr/>
                    <a:lstStyle/>
                    <a:p>
                      <a:pPr algn="ctr"/>
                      <a:r>
                        <a:rPr lang="en-US" altLang="zh-CN" sz="3600" dirty="0">
                          <a:latin typeface="Consolas" pitchFamily="49" charset="0"/>
                          <a:cs typeface="Consolas" pitchFamily="49" charset="0"/>
                        </a:rPr>
                        <a:t>#</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3600" dirty="0">
                          <a:latin typeface="Consolas" pitchFamily="49" charset="0"/>
                          <a:cs typeface="Consolas" pitchFamily="49" charset="0"/>
                        </a:rPr>
                        <a:t>o</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aphicFrame>
        <p:nvGraphicFramePr>
          <p:cNvPr id="12" name="表格 11"/>
          <p:cNvGraphicFramePr>
            <a:graphicFrameLocks noGrp="1"/>
          </p:cNvGraphicFramePr>
          <p:nvPr/>
        </p:nvGraphicFramePr>
        <p:xfrm>
          <a:off x="6416824" y="1700808"/>
          <a:ext cx="3421510" cy="3200400"/>
        </p:xfrm>
        <a:graphic>
          <a:graphicData uri="http://schemas.openxmlformats.org/drawingml/2006/table">
            <a:tbl>
              <a:tblPr firstRow="1" bandRow="1">
                <a:tableStyleId>{2D5ABB26-0587-4C30-8999-92F81FD0307C}</a:tableStyleId>
              </a:tblPr>
              <a:tblGrid>
                <a:gridCol w="684302">
                  <a:extLst>
                    <a:ext uri="{9D8B030D-6E8A-4147-A177-3AD203B41FA5}">
                      <a16:colId xmlns:a16="http://schemas.microsoft.com/office/drawing/2014/main" val="20000"/>
                    </a:ext>
                  </a:extLst>
                </a:gridCol>
                <a:gridCol w="684302">
                  <a:extLst>
                    <a:ext uri="{9D8B030D-6E8A-4147-A177-3AD203B41FA5}">
                      <a16:colId xmlns:a16="http://schemas.microsoft.com/office/drawing/2014/main" val="20001"/>
                    </a:ext>
                  </a:extLst>
                </a:gridCol>
                <a:gridCol w="684302">
                  <a:extLst>
                    <a:ext uri="{9D8B030D-6E8A-4147-A177-3AD203B41FA5}">
                      <a16:colId xmlns:a16="http://schemas.microsoft.com/office/drawing/2014/main" val="20002"/>
                    </a:ext>
                  </a:extLst>
                </a:gridCol>
                <a:gridCol w="684302">
                  <a:extLst>
                    <a:ext uri="{9D8B030D-6E8A-4147-A177-3AD203B41FA5}">
                      <a16:colId xmlns:a16="http://schemas.microsoft.com/office/drawing/2014/main" val="20003"/>
                    </a:ext>
                  </a:extLst>
                </a:gridCol>
                <a:gridCol w="684302">
                  <a:extLst>
                    <a:ext uri="{9D8B030D-6E8A-4147-A177-3AD203B41FA5}">
                      <a16:colId xmlns:a16="http://schemas.microsoft.com/office/drawing/2014/main" val="20004"/>
                    </a:ext>
                  </a:extLst>
                </a:gridCol>
              </a:tblGrid>
              <a:tr h="633670">
                <a:tc>
                  <a:txBody>
                    <a:bodyPr/>
                    <a:lstStyle/>
                    <a:p>
                      <a:pPr algn="ctr"/>
                      <a:r>
                        <a:rPr lang="en-US" altLang="zh-CN" sz="3600" dirty="0">
                          <a:latin typeface="Consolas" pitchFamily="49" charset="0"/>
                          <a:cs typeface="Consolas" pitchFamily="49" charset="0"/>
                        </a:rPr>
                        <a:t>1</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3600" dirty="0">
                          <a:latin typeface="Consolas" pitchFamily="49" charset="0"/>
                          <a:cs typeface="Consolas" pitchFamily="49" charset="0"/>
                        </a:rPr>
                        <a:t>2</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3600" dirty="0">
                          <a:latin typeface="Consolas" pitchFamily="49" charset="0"/>
                          <a:cs typeface="Consolas" pitchFamily="49" charset="0"/>
                        </a:rPr>
                        <a:t>3</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3600" dirty="0">
                          <a:latin typeface="Consolas" pitchFamily="49" charset="0"/>
                          <a:cs typeface="Consolas" pitchFamily="49" charset="0"/>
                        </a:rPr>
                        <a:t>4</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3600" dirty="0">
                          <a:latin typeface="Consolas" pitchFamily="49" charset="0"/>
                          <a:cs typeface="Consolas" pitchFamily="49" charset="0"/>
                        </a:rPr>
                        <a:t>5</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633670">
                <a:tc>
                  <a:txBody>
                    <a:bodyPr/>
                    <a:lstStyle/>
                    <a:p>
                      <a:pPr algn="ctr"/>
                      <a:r>
                        <a:rPr lang="en-US" altLang="zh-CN" sz="3600" dirty="0">
                          <a:latin typeface="Consolas" pitchFamily="49" charset="0"/>
                          <a:cs typeface="Consolas" pitchFamily="49" charset="0"/>
                        </a:rPr>
                        <a:t>0</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3600" dirty="0">
                          <a:latin typeface="Consolas" pitchFamily="49" charset="0"/>
                          <a:cs typeface="Consolas" pitchFamily="49" charset="0"/>
                        </a:rPr>
                        <a:t>4</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3600" dirty="0">
                          <a:latin typeface="Consolas" pitchFamily="49" charset="0"/>
                          <a:cs typeface="Consolas" pitchFamily="49" charset="0"/>
                        </a:rPr>
                        <a:t>6</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633670">
                <a:tc>
                  <a:txBody>
                    <a:bodyPr/>
                    <a:lstStyle/>
                    <a:p>
                      <a:pPr algn="ctr"/>
                      <a:r>
                        <a:rPr lang="en-US" altLang="zh-CN" sz="3600" dirty="0">
                          <a:latin typeface="Consolas" pitchFamily="49" charset="0"/>
                          <a:cs typeface="Consolas" pitchFamily="49" charset="0"/>
                        </a:rPr>
                        <a:t>1</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3600" dirty="0">
                          <a:latin typeface="Consolas" pitchFamily="49" charset="0"/>
                          <a:cs typeface="Consolas" pitchFamily="49" charset="0"/>
                        </a:rPr>
                        <a:t>2</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3600" dirty="0">
                          <a:latin typeface="Consolas" pitchFamily="49" charset="0"/>
                          <a:cs typeface="Consolas" pitchFamily="49" charset="0"/>
                        </a:rPr>
                        <a:t>3</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33670">
                <a:tc>
                  <a:txBody>
                    <a:bodyPr/>
                    <a:lstStyle/>
                    <a:p>
                      <a:pPr algn="ctr"/>
                      <a:r>
                        <a:rPr lang="en-US" altLang="zh-CN" sz="3600" dirty="0">
                          <a:latin typeface="Consolas" pitchFamily="49" charset="0"/>
                          <a:cs typeface="Consolas" pitchFamily="49" charset="0"/>
                        </a:rPr>
                        <a:t>2</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3600" dirty="0">
                          <a:latin typeface="Consolas" pitchFamily="49" charset="0"/>
                          <a:cs typeface="Consolas" pitchFamily="49" charset="0"/>
                        </a:rPr>
                        <a:t>4</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3600" dirty="0">
                          <a:latin typeface="Consolas" pitchFamily="49" charset="0"/>
                          <a:cs typeface="Consolas" pitchFamily="49" charset="0"/>
                        </a:rPr>
                        <a:t>5</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3600" dirty="0">
                          <a:latin typeface="Consolas" pitchFamily="49" charset="0"/>
                          <a:cs typeface="Consolas" pitchFamily="49" charset="0"/>
                        </a:rPr>
                        <a:t>6</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633670">
                <a:tc>
                  <a:txBody>
                    <a:bodyPr/>
                    <a:lstStyle/>
                    <a:p>
                      <a:pPr algn="ctr"/>
                      <a:r>
                        <a:rPr lang="en-US" altLang="zh-CN" sz="3600" dirty="0">
                          <a:latin typeface="Consolas" pitchFamily="49" charset="0"/>
                          <a:cs typeface="Consolas" pitchFamily="49" charset="0"/>
                        </a:rPr>
                        <a:t>3</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3600" dirty="0">
                          <a:latin typeface="Consolas" pitchFamily="49" charset="0"/>
                          <a:cs typeface="Consolas" pitchFamily="49" charset="0"/>
                        </a:rPr>
                        <a:t>4</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3600" dirty="0">
                          <a:latin typeface="Consolas" pitchFamily="49" charset="0"/>
                          <a:cs typeface="Consolas" pitchFamily="49" charset="0"/>
                        </a:rPr>
                        <a:t>5</a:t>
                      </a: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CN" altLang="en-US" sz="3600" dirty="0">
                        <a:latin typeface="Consolas" pitchFamily="49" charset="0"/>
                        <a:cs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 name="灯片编号占位符 1">
            <a:extLst>
              <a:ext uri="{FF2B5EF4-FFF2-40B4-BE49-F238E27FC236}">
                <a16:creationId xmlns:a16="http://schemas.microsoft.com/office/drawing/2014/main" id="{CE6EF188-6B66-458A-15A0-FCBA0C7F9537}"/>
              </a:ext>
            </a:extLst>
          </p:cNvPr>
          <p:cNvSpPr>
            <a:spLocks noGrp="1"/>
          </p:cNvSpPr>
          <p:nvPr>
            <p:ph type="sldNum" sz="quarter" idx="12"/>
          </p:nvPr>
        </p:nvSpPr>
        <p:spPr/>
        <p:txBody>
          <a:bodyPr/>
          <a:lstStyle/>
          <a:p>
            <a:fld id="{0C913308-F349-4B6D-A68A-DD1791B4A57B}" type="slidenum">
              <a:rPr lang="zh-CN" altLang="en-US" smtClean="0"/>
              <a:t>52</a:t>
            </a:fld>
            <a:endParaRPr lang="zh-CN" altLang="en-US"/>
          </a:p>
        </p:txBody>
      </p:sp>
    </p:spTree>
    <p:extLst>
      <p:ext uri="{BB962C8B-B14F-4D97-AF65-F5344CB8AC3E}">
        <p14:creationId xmlns:p14="http://schemas.microsoft.com/office/powerpoint/2010/main" val="124392732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1" y="1340769"/>
            <a:ext cx="9040040" cy="33588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灯片编号占位符 1">
            <a:extLst>
              <a:ext uri="{FF2B5EF4-FFF2-40B4-BE49-F238E27FC236}">
                <a16:creationId xmlns:a16="http://schemas.microsoft.com/office/drawing/2014/main" id="{D5DAF755-AA01-9818-1D06-86CD0737CDBC}"/>
              </a:ext>
            </a:extLst>
          </p:cNvPr>
          <p:cNvSpPr>
            <a:spLocks noGrp="1"/>
          </p:cNvSpPr>
          <p:nvPr>
            <p:ph type="sldNum" sz="quarter" idx="12"/>
          </p:nvPr>
        </p:nvSpPr>
        <p:spPr/>
        <p:txBody>
          <a:bodyPr/>
          <a:lstStyle/>
          <a:p>
            <a:fld id="{0C913308-F349-4B6D-A68A-DD1791B4A57B}" type="slidenum">
              <a:rPr lang="zh-CN" altLang="en-US" smtClean="0"/>
              <a:t>53</a:t>
            </a:fld>
            <a:endParaRPr lang="zh-CN" altLang="en-US"/>
          </a:p>
        </p:txBody>
      </p:sp>
    </p:spTree>
    <p:extLst>
      <p:ext uri="{BB962C8B-B14F-4D97-AF65-F5344CB8AC3E}">
        <p14:creationId xmlns:p14="http://schemas.microsoft.com/office/powerpoint/2010/main" val="358009349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836713"/>
            <a:ext cx="9129187" cy="46537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矩形 3"/>
          <p:cNvSpPr/>
          <p:nvPr/>
        </p:nvSpPr>
        <p:spPr>
          <a:xfrm>
            <a:off x="5294387" y="3537012"/>
            <a:ext cx="2448272" cy="252028"/>
          </a:xfrm>
          <a:prstGeom prst="rect">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5" name="矩形 4"/>
          <p:cNvSpPr/>
          <p:nvPr/>
        </p:nvSpPr>
        <p:spPr>
          <a:xfrm>
            <a:off x="6816080" y="4005064"/>
            <a:ext cx="1368152" cy="252028"/>
          </a:xfrm>
          <a:prstGeom prst="rect">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6" name="矩形 5"/>
          <p:cNvSpPr/>
          <p:nvPr/>
        </p:nvSpPr>
        <p:spPr>
          <a:xfrm>
            <a:off x="2423592" y="1844824"/>
            <a:ext cx="2736304" cy="252028"/>
          </a:xfrm>
          <a:prstGeom prst="rect">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9" name="矩形 8">
            <a:extLst>
              <a:ext uri="{FF2B5EF4-FFF2-40B4-BE49-F238E27FC236}">
                <a16:creationId xmlns:a16="http://schemas.microsoft.com/office/drawing/2014/main" id="{29269713-3B72-4E70-9C3B-59AAEF8C6125}"/>
              </a:ext>
            </a:extLst>
          </p:cNvPr>
          <p:cNvSpPr/>
          <p:nvPr/>
        </p:nvSpPr>
        <p:spPr>
          <a:xfrm>
            <a:off x="5591945" y="373884"/>
            <a:ext cx="4924157" cy="461665"/>
          </a:xfrm>
          <a:prstGeom prst="rect">
            <a:avLst/>
          </a:prstGeom>
          <a:solidFill>
            <a:schemeClr val="bg1"/>
          </a:solidFill>
          <a:ln>
            <a:solidFill>
              <a:schemeClr val="bg2">
                <a:lumMod val="25000"/>
              </a:schemeClr>
            </a:solidFill>
          </a:ln>
        </p:spPr>
        <p:txBody>
          <a:bodyPr wrap="square">
            <a:spAutoFit/>
          </a:bodyPr>
          <a:lstStyle/>
          <a:p>
            <a:pPr algn="ctr"/>
            <a:r>
              <a:rPr lang="en-US" altLang="zh-CN" sz="2400" dirty="0"/>
              <a:t>vst[x][y]</a:t>
            </a:r>
            <a:r>
              <a:rPr lang="zh-CN" altLang="en-US" sz="2400" dirty="0"/>
              <a:t>代表第</a:t>
            </a:r>
            <a:r>
              <a:rPr lang="en-US" altLang="zh-CN" sz="2400" dirty="0"/>
              <a:t>x</a:t>
            </a:r>
            <a:r>
              <a:rPr lang="zh-CN" altLang="en-US" sz="2400" dirty="0"/>
              <a:t>行第</a:t>
            </a:r>
            <a:r>
              <a:rPr lang="en-US" altLang="zh-CN" sz="2400" dirty="0"/>
              <a:t>y</a:t>
            </a:r>
            <a:r>
              <a:rPr lang="zh-CN" altLang="en-US" sz="2400" dirty="0"/>
              <a:t>列是否访问过</a:t>
            </a:r>
          </a:p>
        </p:txBody>
      </p:sp>
      <p:sp>
        <p:nvSpPr>
          <p:cNvPr id="10" name="矩形 9">
            <a:extLst>
              <a:ext uri="{FF2B5EF4-FFF2-40B4-BE49-F238E27FC236}">
                <a16:creationId xmlns:a16="http://schemas.microsoft.com/office/drawing/2014/main" id="{520A7339-4B6A-49B7-95A4-72917CA7BC02}"/>
              </a:ext>
            </a:extLst>
          </p:cNvPr>
          <p:cNvSpPr/>
          <p:nvPr/>
        </p:nvSpPr>
        <p:spPr>
          <a:xfrm>
            <a:off x="5591945" y="835549"/>
            <a:ext cx="4924157" cy="830997"/>
          </a:xfrm>
          <a:prstGeom prst="rect">
            <a:avLst/>
          </a:prstGeom>
          <a:solidFill>
            <a:srgbClr val="FDFDFD"/>
          </a:solidFill>
          <a:ln>
            <a:solidFill>
              <a:schemeClr val="bg2">
                <a:lumMod val="25000"/>
              </a:schemeClr>
            </a:solidFill>
          </a:ln>
        </p:spPr>
        <p:txBody>
          <a:bodyPr wrap="square">
            <a:spAutoFit/>
          </a:bodyPr>
          <a:lstStyle/>
          <a:p>
            <a:pPr algn="ctr"/>
            <a:r>
              <a:rPr lang="en-US" altLang="zh-CN" sz="2400" dirty="0"/>
              <a:t>dst[x][y]</a:t>
            </a:r>
            <a:r>
              <a:rPr lang="zh-CN" altLang="en-US" sz="2400" dirty="0"/>
              <a:t>代表从起点到第</a:t>
            </a:r>
            <a:r>
              <a:rPr lang="en-US" altLang="zh-CN" sz="2400" dirty="0"/>
              <a:t>x</a:t>
            </a:r>
            <a:r>
              <a:rPr lang="zh-CN" altLang="en-US" sz="2400" dirty="0"/>
              <a:t>行第</a:t>
            </a:r>
            <a:r>
              <a:rPr lang="en-US" altLang="zh-CN" sz="2400" dirty="0"/>
              <a:t>y</a:t>
            </a:r>
            <a:r>
              <a:rPr lang="zh-CN" altLang="en-US" sz="2400" dirty="0"/>
              <a:t>列的最短路长度</a:t>
            </a:r>
          </a:p>
        </p:txBody>
      </p:sp>
      <p:sp>
        <p:nvSpPr>
          <p:cNvPr id="2" name="灯片编号占位符 1">
            <a:extLst>
              <a:ext uri="{FF2B5EF4-FFF2-40B4-BE49-F238E27FC236}">
                <a16:creationId xmlns:a16="http://schemas.microsoft.com/office/drawing/2014/main" id="{183506BD-8E1D-8EAA-2B5A-4C78E9D164C8}"/>
              </a:ext>
            </a:extLst>
          </p:cNvPr>
          <p:cNvSpPr>
            <a:spLocks noGrp="1"/>
          </p:cNvSpPr>
          <p:nvPr>
            <p:ph type="sldNum" sz="quarter" idx="12"/>
          </p:nvPr>
        </p:nvSpPr>
        <p:spPr/>
        <p:txBody>
          <a:bodyPr/>
          <a:lstStyle/>
          <a:p>
            <a:fld id="{0C913308-F349-4B6D-A68A-DD1791B4A57B}" type="slidenum">
              <a:rPr lang="zh-CN" altLang="en-US" smtClean="0"/>
              <a:t>54</a:t>
            </a:fld>
            <a:endParaRPr lang="zh-CN" altLang="en-US"/>
          </a:p>
        </p:txBody>
      </p:sp>
    </p:spTree>
    <p:extLst>
      <p:ext uri="{BB962C8B-B14F-4D97-AF65-F5344CB8AC3E}">
        <p14:creationId xmlns:p14="http://schemas.microsoft.com/office/powerpoint/2010/main" val="848373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9" grpId="0" animBg="1"/>
      <p:bldP spid="10"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29757" y="0"/>
            <a:ext cx="8938243" cy="1143000"/>
          </a:xfrm>
        </p:spPr>
        <p:txBody>
          <a:bodyPr/>
          <a:lstStyle/>
          <a:p>
            <a:r>
              <a:rPr lang="zh-CN" altLang="en-US" dirty="0"/>
              <a:t>双向</a:t>
            </a:r>
            <a:r>
              <a:rPr lang="en-US" altLang="zh-CN" dirty="0"/>
              <a:t>BFS</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858" y="1052736"/>
            <a:ext cx="9972600" cy="5616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灯片编号占位符 2">
            <a:extLst>
              <a:ext uri="{FF2B5EF4-FFF2-40B4-BE49-F238E27FC236}">
                <a16:creationId xmlns:a16="http://schemas.microsoft.com/office/drawing/2014/main" id="{01D4AD6F-4A53-1E09-F243-3532CA574BAC}"/>
              </a:ext>
            </a:extLst>
          </p:cNvPr>
          <p:cNvSpPr>
            <a:spLocks noGrp="1"/>
          </p:cNvSpPr>
          <p:nvPr>
            <p:ph type="sldNum" sz="quarter" idx="12"/>
          </p:nvPr>
        </p:nvSpPr>
        <p:spPr/>
        <p:txBody>
          <a:bodyPr/>
          <a:lstStyle/>
          <a:p>
            <a:fld id="{0C913308-F349-4B6D-A68A-DD1791B4A57B}" type="slidenum">
              <a:rPr lang="zh-CN" altLang="en-US" smtClean="0"/>
              <a:t>55</a:t>
            </a:fld>
            <a:endParaRPr lang="zh-CN" altLang="en-US"/>
          </a:p>
        </p:txBody>
      </p:sp>
    </p:spTree>
    <p:extLst>
      <p:ext uri="{BB962C8B-B14F-4D97-AF65-F5344CB8AC3E}">
        <p14:creationId xmlns:p14="http://schemas.microsoft.com/office/powerpoint/2010/main" val="35942462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1E976-E7D6-8426-B05A-DB40C48F6393}"/>
            </a:ext>
          </a:extLst>
        </p:cNvPr>
        <p:cNvGrpSpPr/>
        <p:nvPr/>
      </p:nvGrpSpPr>
      <p:grpSpPr>
        <a:xfrm>
          <a:off x="0" y="0"/>
          <a:ext cx="0" cy="0"/>
          <a:chOff x="0" y="0"/>
          <a:chExt cx="0" cy="0"/>
        </a:xfrm>
      </p:grpSpPr>
      <p:sp>
        <p:nvSpPr>
          <p:cNvPr id="2" name="TextBox 3">
            <a:extLst>
              <a:ext uri="{FF2B5EF4-FFF2-40B4-BE49-F238E27FC236}">
                <a16:creationId xmlns:a16="http://schemas.microsoft.com/office/drawing/2014/main" id="{58AF0DB1-FA76-B53F-770F-A54555503574}"/>
              </a:ext>
            </a:extLst>
          </p:cNvPr>
          <p:cNvSpPr txBox="1"/>
          <p:nvPr/>
        </p:nvSpPr>
        <p:spPr>
          <a:xfrm>
            <a:off x="-210616" y="2636912"/>
            <a:ext cx="12613232" cy="1015659"/>
          </a:xfrm>
          <a:prstGeom prst="rect">
            <a:avLst/>
          </a:prstGeom>
          <a:solidFill>
            <a:srgbClr val="F2F2F2"/>
          </a:solidFill>
          <a:ln w="12700">
            <a:solidFill>
              <a:srgbClr val="4A452A"/>
            </a:solidFill>
          </a:ln>
        </p:spPr>
        <p:txBody>
          <a:bodyPr wrap="square" lIns="45718" tIns="45718" rIns="45718" bIns="45718">
            <a:spAutoFit/>
          </a:bodyPr>
          <a:lstStyle>
            <a:defPPr>
              <a:defRPr lang="zh-CN"/>
            </a:defPPr>
            <a:lvl1pPr algn="ctr" defTabSz="914367">
              <a:defRPr sz="3937">
                <a:latin typeface="Calibri"/>
                <a:ea typeface="Calibri"/>
                <a:cs typeface="Calibri"/>
              </a:defRPr>
            </a:lvl1pPr>
          </a:lstStyle>
          <a:p>
            <a:pPr>
              <a:defRPr sz="5600">
                <a:latin typeface="Calibri"/>
                <a:ea typeface="Calibri"/>
                <a:cs typeface="Calibri"/>
                <a:sym typeface="Calibri"/>
              </a:defRPr>
            </a:pPr>
            <a:r>
              <a:rPr lang="en-US" altLang="zh-CN" sz="6000" dirty="0"/>
              <a:t>T5 </a:t>
            </a:r>
            <a:r>
              <a:rPr lang="zh-CN" altLang="en-US" sz="6000"/>
              <a:t>杂草种子</a:t>
            </a:r>
            <a:endParaRPr lang="zh-CN" altLang="en-US" sz="6000" dirty="0"/>
          </a:p>
        </p:txBody>
      </p:sp>
      <p:sp>
        <p:nvSpPr>
          <p:cNvPr id="4" name="灯片编号占位符 3">
            <a:extLst>
              <a:ext uri="{FF2B5EF4-FFF2-40B4-BE49-F238E27FC236}">
                <a16:creationId xmlns:a16="http://schemas.microsoft.com/office/drawing/2014/main" id="{59D79162-2E5E-2A96-CC9E-D0A2FD574880}"/>
              </a:ext>
            </a:extLst>
          </p:cNvPr>
          <p:cNvSpPr>
            <a:spLocks noGrp="1"/>
          </p:cNvSpPr>
          <p:nvPr>
            <p:ph type="sldNum" sz="quarter" idx="2"/>
          </p:nvPr>
        </p:nvSpPr>
        <p:spPr/>
        <p:txBody>
          <a:bodyPr/>
          <a:lstStyle/>
          <a:p>
            <a:fld id="{86CB4B4D-7CA3-9044-876B-883B54F8677D}" type="slidenum">
              <a:rPr lang="en-US" altLang="zh-CN" smtClean="0"/>
              <a:t>56</a:t>
            </a:fld>
            <a:endParaRPr lang="en-US" altLang="zh-CN" dirty="0"/>
          </a:p>
        </p:txBody>
      </p:sp>
    </p:spTree>
    <p:extLst>
      <p:ext uri="{BB962C8B-B14F-4D97-AF65-F5344CB8AC3E}">
        <p14:creationId xmlns:p14="http://schemas.microsoft.com/office/powerpoint/2010/main" val="356184930"/>
      </p:ext>
    </p:extLst>
  </p:cSld>
  <p:clrMapOvr>
    <a:masterClrMapping/>
  </p:clrMapOvr>
  <p:transition spd="slow"/>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503712" y="980729"/>
            <a:ext cx="5330452" cy="830997"/>
          </a:xfrm>
          <a:prstGeom prst="rect">
            <a:avLst/>
          </a:prstGeom>
          <a:solidFill>
            <a:schemeClr val="bg1">
              <a:lumMod val="95000"/>
            </a:schemeClr>
          </a:solidFill>
          <a:ln>
            <a:solidFill>
              <a:schemeClr val="bg2">
                <a:lumMod val="25000"/>
              </a:schemeClr>
            </a:solidFill>
          </a:ln>
        </p:spPr>
        <p:txBody>
          <a:bodyPr wrap="square">
            <a:spAutoFit/>
          </a:bodyPr>
          <a:lstStyle/>
          <a:p>
            <a:pPr algn="ctr"/>
            <a:r>
              <a:rPr lang="zh-CN" altLang="en-US" sz="2400" dirty="0">
                <a:latin typeface="Consolas" pitchFamily="49" charset="0"/>
                <a:cs typeface="Consolas" pitchFamily="49" charset="0"/>
              </a:rPr>
              <a:t>请同学写出题目大意</a:t>
            </a:r>
            <a:endParaRPr lang="en-US" altLang="zh-CN" sz="2400" dirty="0">
              <a:latin typeface="Consolas" pitchFamily="49" charset="0"/>
              <a:cs typeface="Consolas" pitchFamily="49" charset="0"/>
            </a:endParaRPr>
          </a:p>
          <a:p>
            <a:pPr algn="ctr"/>
            <a:r>
              <a:rPr lang="zh-CN" altLang="en-US" sz="2400" dirty="0">
                <a:latin typeface="Consolas" pitchFamily="49" charset="0"/>
                <a:cs typeface="Consolas" pitchFamily="49" charset="0"/>
              </a:rPr>
              <a:t>已知什么求什么</a:t>
            </a:r>
          </a:p>
        </p:txBody>
      </p:sp>
      <p:sp>
        <p:nvSpPr>
          <p:cNvPr id="7" name="矩形 6"/>
          <p:cNvSpPr/>
          <p:nvPr/>
        </p:nvSpPr>
        <p:spPr>
          <a:xfrm>
            <a:off x="3503712" y="1938708"/>
            <a:ext cx="5330452" cy="646331"/>
          </a:xfrm>
          <a:prstGeom prst="rect">
            <a:avLst/>
          </a:prstGeom>
          <a:solidFill>
            <a:schemeClr val="bg1"/>
          </a:solidFill>
          <a:ln>
            <a:solidFill>
              <a:schemeClr val="bg2">
                <a:lumMod val="25000"/>
              </a:schemeClr>
            </a:solidFill>
          </a:ln>
        </p:spPr>
        <p:txBody>
          <a:bodyPr wrap="square">
            <a:spAutoFit/>
          </a:bodyPr>
          <a:lstStyle/>
          <a:p>
            <a:pPr algn="ctr"/>
            <a:r>
              <a:rPr lang="en-US" altLang="zh-CN" dirty="0"/>
              <a:t>01</a:t>
            </a:r>
            <a:r>
              <a:rPr lang="zh-CN" altLang="en-US" dirty="0"/>
              <a:t>二维表格里</a:t>
            </a:r>
            <a:r>
              <a:rPr lang="en-US" altLang="zh-CN" dirty="0"/>
              <a:t>,</a:t>
            </a:r>
            <a:r>
              <a:rPr lang="zh-CN" altLang="en-US" dirty="0"/>
              <a:t>若矩形</a:t>
            </a:r>
            <a:r>
              <a:rPr lang="en-US" altLang="zh-CN" dirty="0"/>
              <a:t>3</a:t>
            </a:r>
            <a:r>
              <a:rPr lang="zh-CN" altLang="en-US" dirty="0"/>
              <a:t>个角已有</a:t>
            </a:r>
            <a:r>
              <a:rPr lang="en-US" altLang="zh-CN" dirty="0"/>
              <a:t>1,</a:t>
            </a:r>
            <a:r>
              <a:rPr lang="zh-CN" altLang="en-US" dirty="0"/>
              <a:t>剩下角会自动补</a:t>
            </a:r>
            <a:r>
              <a:rPr lang="en-US" altLang="zh-CN" dirty="0"/>
              <a:t>1,</a:t>
            </a:r>
            <a:r>
              <a:rPr lang="zh-CN" altLang="en-US" dirty="0"/>
              <a:t>求人工加几个</a:t>
            </a:r>
            <a:r>
              <a:rPr lang="en-US" altLang="zh-CN" dirty="0"/>
              <a:t>1</a:t>
            </a:r>
            <a:r>
              <a:rPr lang="zh-CN" altLang="en-US" dirty="0"/>
              <a:t>可以自动填满表格</a:t>
            </a:r>
            <a:endParaRPr lang="zh-CN" altLang="zh-CN" sz="3200" dirty="0">
              <a:latin typeface="Consolas" pitchFamily="49" charset="0"/>
              <a:cs typeface="Consolas" pitchFamily="49" charset="0"/>
            </a:endParaRPr>
          </a:p>
        </p:txBody>
      </p:sp>
      <p:sp>
        <p:nvSpPr>
          <p:cNvPr id="4" name="矩形 3"/>
          <p:cNvSpPr/>
          <p:nvPr/>
        </p:nvSpPr>
        <p:spPr>
          <a:xfrm>
            <a:off x="3504335" y="4053475"/>
            <a:ext cx="5330452" cy="1200329"/>
          </a:xfrm>
          <a:prstGeom prst="rect">
            <a:avLst/>
          </a:prstGeom>
          <a:noFill/>
          <a:ln>
            <a:solidFill>
              <a:schemeClr val="bg2">
                <a:lumMod val="25000"/>
              </a:schemeClr>
            </a:solidFill>
          </a:ln>
        </p:spPr>
        <p:txBody>
          <a:bodyPr wrap="square">
            <a:spAutoFit/>
          </a:bodyPr>
          <a:lstStyle/>
          <a:p>
            <a:r>
              <a:rPr lang="zh-CN" altLang="zh-CN" dirty="0">
                <a:latin typeface="Consolas" panose="020B0609020204030204" pitchFamily="49" charset="0"/>
              </a:rPr>
              <a:t>【数据规模与约定】</a:t>
            </a:r>
          </a:p>
          <a:p>
            <a:r>
              <a:rPr lang="en-US" altLang="zh-CN" dirty="0"/>
              <a:t>10%</a:t>
            </a:r>
            <a:r>
              <a:rPr lang="zh-CN" altLang="zh-CN" dirty="0"/>
              <a:t>数据：</a:t>
            </a:r>
            <a:r>
              <a:rPr lang="en-US" altLang="zh-CN" dirty="0"/>
              <a:t>n&lt;=2,m&lt;=2</a:t>
            </a:r>
            <a:endParaRPr lang="zh-CN" altLang="zh-CN" dirty="0"/>
          </a:p>
          <a:p>
            <a:r>
              <a:rPr lang="en-US" altLang="zh-CN" dirty="0"/>
              <a:t>50%</a:t>
            </a:r>
            <a:r>
              <a:rPr lang="zh-CN" altLang="zh-CN" dirty="0"/>
              <a:t>数据：</a:t>
            </a:r>
            <a:r>
              <a:rPr lang="en-US" altLang="zh-CN" dirty="0"/>
              <a:t>n&lt;=20, m&lt;=20</a:t>
            </a:r>
            <a:endParaRPr lang="zh-CN" altLang="zh-CN" dirty="0"/>
          </a:p>
          <a:p>
            <a:r>
              <a:rPr lang="zh-CN" altLang="zh-CN" dirty="0"/>
              <a:t>所有数据：保证</a:t>
            </a:r>
            <a:r>
              <a:rPr lang="en-US" altLang="zh-CN" dirty="0"/>
              <a:t>n,m,q&lt;=200000</a:t>
            </a:r>
            <a:r>
              <a:rPr lang="zh-CN" altLang="zh-CN" dirty="0"/>
              <a:t>。</a:t>
            </a:r>
          </a:p>
        </p:txBody>
      </p:sp>
      <p:sp>
        <p:nvSpPr>
          <p:cNvPr id="8" name="矩形 7">
            <a:extLst>
              <a:ext uri="{FF2B5EF4-FFF2-40B4-BE49-F238E27FC236}">
                <a16:creationId xmlns:a16="http://schemas.microsoft.com/office/drawing/2014/main" id="{2363DB74-201B-4606-8BBB-78854042BD4D}"/>
              </a:ext>
            </a:extLst>
          </p:cNvPr>
          <p:cNvSpPr/>
          <p:nvPr/>
        </p:nvSpPr>
        <p:spPr>
          <a:xfrm>
            <a:off x="3503712" y="3068961"/>
            <a:ext cx="5330452" cy="830997"/>
          </a:xfrm>
          <a:prstGeom prst="rect">
            <a:avLst/>
          </a:prstGeom>
          <a:solidFill>
            <a:schemeClr val="bg1">
              <a:lumMod val="95000"/>
            </a:schemeClr>
          </a:solidFill>
          <a:ln>
            <a:solidFill>
              <a:schemeClr val="bg2">
                <a:lumMod val="25000"/>
              </a:schemeClr>
            </a:solidFill>
          </a:ln>
        </p:spPr>
        <p:txBody>
          <a:bodyPr wrap="square">
            <a:spAutoFit/>
          </a:bodyPr>
          <a:lstStyle/>
          <a:p>
            <a:pPr algn="ctr"/>
            <a:r>
              <a:rPr lang="zh-CN" altLang="en-US" sz="2400" dirty="0">
                <a:latin typeface="Consolas" pitchFamily="49" charset="0"/>
                <a:cs typeface="Consolas" pitchFamily="49" charset="0"/>
              </a:rPr>
              <a:t>请同学阅读</a:t>
            </a:r>
            <a:r>
              <a:rPr lang="en-US" altLang="zh-CN" sz="2400" dirty="0">
                <a:latin typeface="Consolas" pitchFamily="49" charset="0"/>
                <a:cs typeface="Consolas" pitchFamily="49" charset="0"/>
              </a:rPr>
              <a:t>[</a:t>
            </a:r>
            <a:r>
              <a:rPr lang="zh-CN" altLang="en-US" sz="2400" dirty="0">
                <a:latin typeface="Consolas" pitchFamily="49" charset="0"/>
                <a:cs typeface="Consolas" pitchFamily="49" charset="0"/>
              </a:rPr>
              <a:t>数据规模和约定</a:t>
            </a:r>
            <a:r>
              <a:rPr lang="en-US" altLang="zh-CN" sz="2400" dirty="0">
                <a:latin typeface="Consolas" pitchFamily="49" charset="0"/>
                <a:cs typeface="Consolas" pitchFamily="49" charset="0"/>
              </a:rPr>
              <a:t>]</a:t>
            </a:r>
          </a:p>
          <a:p>
            <a:pPr algn="ctr"/>
            <a:r>
              <a:rPr lang="zh-CN" altLang="en-US" sz="2400" dirty="0">
                <a:latin typeface="Consolas" pitchFamily="49" charset="0"/>
                <a:cs typeface="Consolas" pitchFamily="49" charset="0"/>
              </a:rPr>
              <a:t>识别部分得分点</a:t>
            </a:r>
          </a:p>
        </p:txBody>
      </p:sp>
      <p:sp>
        <p:nvSpPr>
          <p:cNvPr id="2" name="灯片编号占位符 1">
            <a:extLst>
              <a:ext uri="{FF2B5EF4-FFF2-40B4-BE49-F238E27FC236}">
                <a16:creationId xmlns:a16="http://schemas.microsoft.com/office/drawing/2014/main" id="{FF0A0667-2983-4A3A-AD60-484B9011BE68}"/>
              </a:ext>
            </a:extLst>
          </p:cNvPr>
          <p:cNvSpPr>
            <a:spLocks noGrp="1"/>
          </p:cNvSpPr>
          <p:nvPr>
            <p:ph type="sldNum" sz="quarter" idx="12"/>
          </p:nvPr>
        </p:nvSpPr>
        <p:spPr/>
        <p:txBody>
          <a:bodyPr/>
          <a:lstStyle/>
          <a:p>
            <a:fld id="{0C913308-F349-4B6D-A68A-DD1791B4A57B}" type="slidenum">
              <a:rPr lang="zh-CN" altLang="en-US" smtClean="0"/>
              <a:t>57</a:t>
            </a:fld>
            <a:endParaRPr lang="zh-CN" altLang="en-US"/>
          </a:p>
        </p:txBody>
      </p:sp>
    </p:spTree>
    <p:extLst>
      <p:ext uri="{BB962C8B-B14F-4D97-AF65-F5344CB8AC3E}">
        <p14:creationId xmlns:p14="http://schemas.microsoft.com/office/powerpoint/2010/main" val="726485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4" grpId="0" animBg="1"/>
      <p:bldP spid="8"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215680" y="1822950"/>
            <a:ext cx="2520280" cy="461665"/>
          </a:xfrm>
          <a:prstGeom prst="rect">
            <a:avLst/>
          </a:prstGeom>
          <a:solidFill>
            <a:schemeClr val="bg1">
              <a:lumMod val="95000"/>
            </a:schemeClr>
          </a:solidFill>
          <a:ln>
            <a:solidFill>
              <a:schemeClr val="bg2">
                <a:lumMod val="25000"/>
              </a:schemeClr>
            </a:solidFill>
          </a:ln>
        </p:spPr>
        <p:txBody>
          <a:bodyPr wrap="square">
            <a:spAutoFit/>
          </a:bodyPr>
          <a:lstStyle/>
          <a:p>
            <a:pPr algn="ctr"/>
            <a:r>
              <a:rPr lang="zh-CN" altLang="en-US" sz="2400" dirty="0">
                <a:latin typeface="Consolas" pitchFamily="49" charset="0"/>
                <a:cs typeface="Consolas" pitchFamily="49" charset="0"/>
              </a:rPr>
              <a:t>输入</a:t>
            </a:r>
          </a:p>
        </p:txBody>
      </p:sp>
      <p:sp>
        <p:nvSpPr>
          <p:cNvPr id="7" name="矩形 6"/>
          <p:cNvSpPr/>
          <p:nvPr/>
        </p:nvSpPr>
        <p:spPr>
          <a:xfrm>
            <a:off x="3215680" y="2780929"/>
            <a:ext cx="2520280" cy="1015663"/>
          </a:xfrm>
          <a:prstGeom prst="rect">
            <a:avLst/>
          </a:prstGeom>
          <a:solidFill>
            <a:schemeClr val="bg1"/>
          </a:solidFill>
          <a:ln>
            <a:solidFill>
              <a:schemeClr val="bg2">
                <a:lumMod val="25000"/>
              </a:schemeClr>
            </a:solidFill>
          </a:ln>
        </p:spPr>
        <p:txBody>
          <a:bodyPr wrap="square">
            <a:spAutoFit/>
          </a:bodyPr>
          <a:lstStyle/>
          <a:p>
            <a:pPr>
              <a:tabLst>
                <a:tab pos="266700" algn="l"/>
                <a:tab pos="533400" algn="l"/>
                <a:tab pos="800100" algn="l"/>
                <a:tab pos="1066800" algn="l"/>
                <a:tab pos="1333500" algn="l"/>
                <a:tab pos="1600200" algn="l"/>
                <a:tab pos="1866900" algn="l"/>
                <a:tab pos="2133600" algn="l"/>
                <a:tab pos="2400300" algn="l"/>
                <a:tab pos="2667000" algn="l"/>
                <a:tab pos="2933700" algn="l"/>
              </a:tabLst>
            </a:pPr>
            <a:r>
              <a:rPr lang="en-US" altLang="zh-CN" sz="2000" dirty="0"/>
              <a:t>2 3 2 </a:t>
            </a:r>
          </a:p>
          <a:p>
            <a:pPr>
              <a:tabLst>
                <a:tab pos="266700" algn="l"/>
                <a:tab pos="533400" algn="l"/>
                <a:tab pos="800100" algn="l"/>
                <a:tab pos="1066800" algn="l"/>
                <a:tab pos="1333500" algn="l"/>
                <a:tab pos="1600200" algn="l"/>
                <a:tab pos="1866900" algn="l"/>
                <a:tab pos="2133600" algn="l"/>
                <a:tab pos="2400300" algn="l"/>
                <a:tab pos="2667000" algn="l"/>
                <a:tab pos="2933700" algn="l"/>
              </a:tabLst>
            </a:pPr>
            <a:r>
              <a:rPr lang="en-US" altLang="zh-CN" sz="2000" dirty="0"/>
              <a:t>1 1</a:t>
            </a:r>
          </a:p>
          <a:p>
            <a:pPr>
              <a:tabLst>
                <a:tab pos="266700" algn="l"/>
                <a:tab pos="533400" algn="l"/>
                <a:tab pos="800100" algn="l"/>
                <a:tab pos="1066800" algn="l"/>
                <a:tab pos="1333500" algn="l"/>
                <a:tab pos="1600200" algn="l"/>
                <a:tab pos="1866900" algn="l"/>
                <a:tab pos="2133600" algn="l"/>
                <a:tab pos="2400300" algn="l"/>
                <a:tab pos="2667000" algn="l"/>
                <a:tab pos="2933700" algn="l"/>
              </a:tabLst>
            </a:pPr>
            <a:r>
              <a:rPr lang="en-US" altLang="zh-CN" sz="2000" dirty="0"/>
              <a:t>2 1</a:t>
            </a:r>
          </a:p>
        </p:txBody>
      </p:sp>
      <p:sp>
        <p:nvSpPr>
          <p:cNvPr id="8" name="矩形 7">
            <a:extLst>
              <a:ext uri="{FF2B5EF4-FFF2-40B4-BE49-F238E27FC236}">
                <a16:creationId xmlns:a16="http://schemas.microsoft.com/office/drawing/2014/main" id="{2363DB74-201B-4606-8BBB-78854042BD4D}"/>
              </a:ext>
            </a:extLst>
          </p:cNvPr>
          <p:cNvSpPr/>
          <p:nvPr/>
        </p:nvSpPr>
        <p:spPr>
          <a:xfrm>
            <a:off x="6456040" y="1822949"/>
            <a:ext cx="2520280" cy="461665"/>
          </a:xfrm>
          <a:prstGeom prst="rect">
            <a:avLst/>
          </a:prstGeom>
          <a:solidFill>
            <a:schemeClr val="bg1">
              <a:lumMod val="95000"/>
            </a:schemeClr>
          </a:solidFill>
          <a:ln>
            <a:solidFill>
              <a:schemeClr val="bg2">
                <a:lumMod val="25000"/>
              </a:schemeClr>
            </a:solidFill>
          </a:ln>
        </p:spPr>
        <p:txBody>
          <a:bodyPr wrap="square">
            <a:spAutoFit/>
          </a:bodyPr>
          <a:lstStyle/>
          <a:p>
            <a:pPr algn="ctr"/>
            <a:r>
              <a:rPr lang="zh-CN" altLang="en-US" sz="2400" dirty="0">
                <a:latin typeface="Consolas" pitchFamily="49" charset="0"/>
                <a:cs typeface="Consolas" pitchFamily="49" charset="0"/>
              </a:rPr>
              <a:t>输出</a:t>
            </a:r>
            <a:r>
              <a:rPr lang="en-US" altLang="zh-CN" sz="2400" dirty="0">
                <a:latin typeface="Consolas" pitchFamily="49" charset="0"/>
                <a:cs typeface="Consolas" pitchFamily="49" charset="0"/>
              </a:rPr>
              <a:t>?</a:t>
            </a:r>
            <a:endParaRPr lang="zh-CN" altLang="en-US" sz="2400" dirty="0">
              <a:latin typeface="Consolas" pitchFamily="49" charset="0"/>
              <a:cs typeface="Consolas" pitchFamily="49" charset="0"/>
            </a:endParaRPr>
          </a:p>
        </p:txBody>
      </p:sp>
      <p:sp>
        <p:nvSpPr>
          <p:cNvPr id="10" name="矩形 9">
            <a:extLst>
              <a:ext uri="{FF2B5EF4-FFF2-40B4-BE49-F238E27FC236}">
                <a16:creationId xmlns:a16="http://schemas.microsoft.com/office/drawing/2014/main" id="{72C08569-477C-4D8D-AA3D-37D74906637F}"/>
              </a:ext>
            </a:extLst>
          </p:cNvPr>
          <p:cNvSpPr/>
          <p:nvPr/>
        </p:nvSpPr>
        <p:spPr>
          <a:xfrm>
            <a:off x="6456040" y="2780929"/>
            <a:ext cx="2520280" cy="461665"/>
          </a:xfrm>
          <a:prstGeom prst="rect">
            <a:avLst/>
          </a:prstGeom>
          <a:solidFill>
            <a:schemeClr val="bg1"/>
          </a:solidFill>
          <a:ln>
            <a:solidFill>
              <a:schemeClr val="bg2">
                <a:lumMod val="25000"/>
              </a:schemeClr>
            </a:solidFill>
          </a:ln>
        </p:spPr>
        <p:txBody>
          <a:bodyPr wrap="square">
            <a:spAutoFit/>
          </a:bodyPr>
          <a:lstStyle/>
          <a:p>
            <a:pPr algn="just"/>
            <a:r>
              <a:rPr lang="en-US" altLang="zh-CN" sz="2400" dirty="0">
                <a:latin typeface="Consolas" pitchFamily="49" charset="0"/>
                <a:cs typeface="Consolas" pitchFamily="49" charset="0"/>
              </a:rPr>
              <a:t>3</a:t>
            </a:r>
            <a:endParaRPr lang="zh-CN" altLang="zh-CN" sz="2400" dirty="0">
              <a:latin typeface="Consolas" pitchFamily="49" charset="0"/>
              <a:cs typeface="Consolas" pitchFamily="49" charset="0"/>
            </a:endParaRPr>
          </a:p>
        </p:txBody>
      </p:sp>
      <p:sp>
        <p:nvSpPr>
          <p:cNvPr id="11" name="TextBox 10">
            <a:extLst>
              <a:ext uri="{FF2B5EF4-FFF2-40B4-BE49-F238E27FC236}">
                <a16:creationId xmlns:a16="http://schemas.microsoft.com/office/drawing/2014/main" id="{8665883A-C5DE-41E8-B978-D746B73C0C76}"/>
              </a:ext>
            </a:extLst>
          </p:cNvPr>
          <p:cNvSpPr txBox="1"/>
          <p:nvPr/>
        </p:nvSpPr>
        <p:spPr>
          <a:xfrm>
            <a:off x="1524001" y="-14238"/>
            <a:ext cx="899592" cy="461665"/>
          </a:xfrm>
          <a:prstGeom prst="rect">
            <a:avLst/>
          </a:prstGeom>
          <a:solidFill>
            <a:schemeClr val="bg1"/>
          </a:solidFill>
          <a:ln>
            <a:solidFill>
              <a:schemeClr val="tx1">
                <a:lumMod val="50000"/>
                <a:lumOff val="50000"/>
              </a:schemeClr>
            </a:solidFill>
          </a:ln>
        </p:spPr>
        <p:txBody>
          <a:bodyPr wrap="square" rtlCol="0">
            <a:spAutoFit/>
          </a:bodyPr>
          <a:lstStyle/>
          <a:p>
            <a:pPr algn="ctr"/>
            <a:r>
              <a:rPr lang="zh-CN" altLang="en-US" sz="2400" dirty="0">
                <a:latin typeface="Consolas" pitchFamily="49" charset="0"/>
                <a:ea typeface="宋体" pitchFamily="2" charset="-122"/>
                <a:cs typeface="Consolas" pitchFamily="49" charset="0"/>
              </a:rPr>
              <a:t>手算</a:t>
            </a:r>
            <a:endParaRPr lang="zh-CN" altLang="zh-CN" sz="2400" dirty="0">
              <a:latin typeface="Consolas" pitchFamily="49" charset="0"/>
              <a:ea typeface="宋体" pitchFamily="2" charset="-122"/>
              <a:cs typeface="Consolas" pitchFamily="49" charset="0"/>
            </a:endParaRPr>
          </a:p>
        </p:txBody>
      </p:sp>
      <p:sp>
        <p:nvSpPr>
          <p:cNvPr id="2" name="灯片编号占位符 1">
            <a:extLst>
              <a:ext uri="{FF2B5EF4-FFF2-40B4-BE49-F238E27FC236}">
                <a16:creationId xmlns:a16="http://schemas.microsoft.com/office/drawing/2014/main" id="{27AB3ACF-6009-439A-9A9E-6EA41114C6D4}"/>
              </a:ext>
            </a:extLst>
          </p:cNvPr>
          <p:cNvSpPr>
            <a:spLocks noGrp="1"/>
          </p:cNvSpPr>
          <p:nvPr>
            <p:ph type="sldNum" sz="quarter" idx="12"/>
          </p:nvPr>
        </p:nvSpPr>
        <p:spPr/>
        <p:txBody>
          <a:bodyPr/>
          <a:lstStyle/>
          <a:p>
            <a:fld id="{0C913308-F349-4B6D-A68A-DD1791B4A57B}" type="slidenum">
              <a:rPr lang="zh-CN" altLang="en-US" smtClean="0"/>
              <a:t>58</a:t>
            </a:fld>
            <a:endParaRPr lang="zh-CN" altLang="en-US"/>
          </a:p>
        </p:txBody>
      </p:sp>
    </p:spTree>
    <p:extLst>
      <p:ext uri="{BB962C8B-B14F-4D97-AF65-F5344CB8AC3E}">
        <p14:creationId xmlns:p14="http://schemas.microsoft.com/office/powerpoint/2010/main" val="2801753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503712" y="1646934"/>
            <a:ext cx="5330452" cy="830997"/>
          </a:xfrm>
          <a:prstGeom prst="rect">
            <a:avLst/>
          </a:prstGeom>
          <a:noFill/>
          <a:ln>
            <a:solidFill>
              <a:schemeClr val="bg2">
                <a:lumMod val="25000"/>
              </a:schemeClr>
            </a:solidFill>
          </a:ln>
        </p:spPr>
        <p:txBody>
          <a:bodyPr wrap="square">
            <a:spAutoFit/>
          </a:bodyPr>
          <a:lstStyle/>
          <a:p>
            <a:pPr algn="ctr"/>
            <a:r>
              <a:rPr lang="zh-CN" altLang="en-US" sz="2400" dirty="0">
                <a:latin typeface="Consolas" pitchFamily="49" charset="0"/>
                <a:cs typeface="Consolas" pitchFamily="49" charset="0"/>
              </a:rPr>
              <a:t>自动填充完毕后</a:t>
            </a:r>
            <a:endParaRPr lang="en-US" altLang="zh-CN" sz="2400" dirty="0">
              <a:latin typeface="Consolas" pitchFamily="49" charset="0"/>
              <a:cs typeface="Consolas" pitchFamily="49" charset="0"/>
            </a:endParaRPr>
          </a:p>
          <a:p>
            <a:pPr algn="ctr"/>
            <a:r>
              <a:rPr lang="en-US" altLang="zh-CN" sz="2400" dirty="0">
                <a:latin typeface="Consolas" pitchFamily="49" charset="0"/>
                <a:cs typeface="Consolas" pitchFamily="49" charset="0"/>
              </a:rPr>
              <a:t>0</a:t>
            </a:r>
            <a:r>
              <a:rPr lang="zh-CN" altLang="en-US" sz="2400" dirty="0">
                <a:latin typeface="Consolas" pitchFamily="49" charset="0"/>
                <a:cs typeface="Consolas" pitchFamily="49" charset="0"/>
              </a:rPr>
              <a:t>格必须花费</a:t>
            </a:r>
            <a:r>
              <a:rPr lang="en-US" altLang="zh-CN" sz="2400" dirty="0">
                <a:latin typeface="Consolas" pitchFamily="49" charset="0"/>
                <a:cs typeface="Consolas" pitchFamily="49" charset="0"/>
              </a:rPr>
              <a:t>1</a:t>
            </a:r>
            <a:r>
              <a:rPr lang="zh-CN" altLang="en-US" sz="2400" dirty="0">
                <a:latin typeface="Consolas" pitchFamily="49" charset="0"/>
                <a:cs typeface="Consolas" pitchFamily="49" charset="0"/>
              </a:rPr>
              <a:t>次人工填充</a:t>
            </a:r>
          </a:p>
        </p:txBody>
      </p:sp>
      <p:sp>
        <p:nvSpPr>
          <p:cNvPr id="10" name="矩形 9">
            <a:extLst>
              <a:ext uri="{FF2B5EF4-FFF2-40B4-BE49-F238E27FC236}">
                <a16:creationId xmlns:a16="http://schemas.microsoft.com/office/drawing/2014/main" id="{938CFB30-1B42-4030-8C1B-2EA74B5D6290}"/>
              </a:ext>
            </a:extLst>
          </p:cNvPr>
          <p:cNvSpPr/>
          <p:nvPr/>
        </p:nvSpPr>
        <p:spPr>
          <a:xfrm>
            <a:off x="3503712" y="690040"/>
            <a:ext cx="5330452" cy="461665"/>
          </a:xfrm>
          <a:prstGeom prst="rect">
            <a:avLst/>
          </a:prstGeom>
          <a:solidFill>
            <a:schemeClr val="bg1">
              <a:lumMod val="95000"/>
            </a:schemeClr>
          </a:solidFill>
          <a:ln>
            <a:solidFill>
              <a:schemeClr val="bg2">
                <a:lumMod val="25000"/>
              </a:schemeClr>
            </a:solidFill>
          </a:ln>
        </p:spPr>
        <p:txBody>
          <a:bodyPr wrap="square">
            <a:spAutoFit/>
          </a:bodyPr>
          <a:lstStyle/>
          <a:p>
            <a:pPr algn="ctr"/>
            <a:r>
              <a:rPr lang="zh-CN" altLang="en-US" sz="2400" dirty="0">
                <a:latin typeface="Consolas" pitchFamily="49" charset="0"/>
                <a:cs typeface="Consolas" pitchFamily="49" charset="0"/>
              </a:rPr>
              <a:t>发现</a:t>
            </a:r>
            <a:r>
              <a:rPr lang="en-US" altLang="zh-CN" sz="2400" dirty="0">
                <a:latin typeface="Consolas" pitchFamily="49" charset="0"/>
                <a:cs typeface="Consolas" pitchFamily="49" charset="0"/>
              </a:rPr>
              <a:t>+</a:t>
            </a:r>
            <a:r>
              <a:rPr lang="zh-CN" altLang="en-US" sz="2400" dirty="0">
                <a:latin typeface="Consolas" pitchFamily="49" charset="0"/>
                <a:cs typeface="Consolas" pitchFamily="49" charset="0"/>
              </a:rPr>
              <a:t>猜想</a:t>
            </a:r>
          </a:p>
        </p:txBody>
      </p:sp>
      <p:sp>
        <p:nvSpPr>
          <p:cNvPr id="12" name="矩形 11">
            <a:extLst>
              <a:ext uri="{FF2B5EF4-FFF2-40B4-BE49-F238E27FC236}">
                <a16:creationId xmlns:a16="http://schemas.microsoft.com/office/drawing/2014/main" id="{B9177CC8-5E2A-42D9-B51A-7E67CAA18C92}"/>
              </a:ext>
            </a:extLst>
          </p:cNvPr>
          <p:cNvSpPr/>
          <p:nvPr/>
        </p:nvSpPr>
        <p:spPr>
          <a:xfrm>
            <a:off x="3503712" y="2923849"/>
            <a:ext cx="5330452" cy="461665"/>
          </a:xfrm>
          <a:prstGeom prst="rect">
            <a:avLst/>
          </a:prstGeom>
          <a:solidFill>
            <a:schemeClr val="bg1"/>
          </a:solidFill>
          <a:ln>
            <a:solidFill>
              <a:schemeClr val="bg2">
                <a:lumMod val="25000"/>
              </a:schemeClr>
            </a:solidFill>
          </a:ln>
        </p:spPr>
        <p:txBody>
          <a:bodyPr wrap="square">
            <a:spAutoFit/>
          </a:bodyPr>
          <a:lstStyle/>
          <a:p>
            <a:pPr algn="ctr"/>
            <a:r>
              <a:rPr lang="zh-CN" altLang="en-US" sz="2400" dirty="0">
                <a:latin typeface="Consolas" pitchFamily="49" charset="0"/>
                <a:cs typeface="Consolas" pitchFamily="49" charset="0"/>
              </a:rPr>
              <a:t>人工填充后再自动填充</a:t>
            </a:r>
            <a:r>
              <a:rPr lang="en-US" altLang="zh-CN" sz="2400" dirty="0">
                <a:latin typeface="Consolas" pitchFamily="49" charset="0"/>
                <a:cs typeface="Consolas" pitchFamily="49" charset="0"/>
              </a:rPr>
              <a:t>,</a:t>
            </a:r>
            <a:r>
              <a:rPr lang="zh-CN" altLang="en-US" sz="2400" dirty="0">
                <a:latin typeface="Consolas" pitchFamily="49" charset="0"/>
                <a:cs typeface="Consolas" pitchFamily="49" charset="0"/>
              </a:rPr>
              <a:t>不断重复</a:t>
            </a:r>
          </a:p>
        </p:txBody>
      </p:sp>
      <p:sp>
        <p:nvSpPr>
          <p:cNvPr id="34" name="矩形 33">
            <a:extLst>
              <a:ext uri="{FF2B5EF4-FFF2-40B4-BE49-F238E27FC236}">
                <a16:creationId xmlns:a16="http://schemas.microsoft.com/office/drawing/2014/main" id="{2506FB52-D71F-471F-B24A-9AA53A8770F4}"/>
              </a:ext>
            </a:extLst>
          </p:cNvPr>
          <p:cNvSpPr/>
          <p:nvPr/>
        </p:nvSpPr>
        <p:spPr>
          <a:xfrm>
            <a:off x="3503712" y="3831432"/>
            <a:ext cx="5330452" cy="461665"/>
          </a:xfrm>
          <a:prstGeom prst="rect">
            <a:avLst/>
          </a:prstGeom>
          <a:solidFill>
            <a:schemeClr val="bg1"/>
          </a:solidFill>
          <a:ln>
            <a:solidFill>
              <a:schemeClr val="bg2">
                <a:lumMod val="25000"/>
              </a:schemeClr>
            </a:solidFill>
          </a:ln>
        </p:spPr>
        <p:txBody>
          <a:bodyPr wrap="square">
            <a:spAutoFit/>
          </a:bodyPr>
          <a:lstStyle/>
          <a:p>
            <a:pPr algn="ctr"/>
            <a:r>
              <a:rPr lang="zh-CN" altLang="en-US" sz="2400" dirty="0">
                <a:latin typeface="Consolas" pitchFamily="49" charset="0"/>
                <a:cs typeface="Consolas" pitchFamily="49" charset="0"/>
              </a:rPr>
              <a:t>贪心法为什么正确</a:t>
            </a:r>
            <a:r>
              <a:rPr lang="en-US" altLang="zh-CN" sz="2400" dirty="0">
                <a:latin typeface="Consolas" pitchFamily="49" charset="0"/>
                <a:cs typeface="Consolas" pitchFamily="49" charset="0"/>
              </a:rPr>
              <a:t>?</a:t>
            </a:r>
            <a:endParaRPr lang="zh-CN" altLang="en-US" sz="2400" dirty="0">
              <a:latin typeface="Consolas" pitchFamily="49" charset="0"/>
              <a:cs typeface="Consolas" pitchFamily="49" charset="0"/>
            </a:endParaRPr>
          </a:p>
        </p:txBody>
      </p:sp>
      <p:sp>
        <p:nvSpPr>
          <p:cNvPr id="2" name="灯片编号占位符 1">
            <a:extLst>
              <a:ext uri="{FF2B5EF4-FFF2-40B4-BE49-F238E27FC236}">
                <a16:creationId xmlns:a16="http://schemas.microsoft.com/office/drawing/2014/main" id="{2C2CBB7A-2B1C-42F1-B559-71E950B64CD0}"/>
              </a:ext>
            </a:extLst>
          </p:cNvPr>
          <p:cNvSpPr>
            <a:spLocks noGrp="1"/>
          </p:cNvSpPr>
          <p:nvPr>
            <p:ph type="sldNum" sz="quarter" idx="12"/>
          </p:nvPr>
        </p:nvSpPr>
        <p:spPr/>
        <p:txBody>
          <a:bodyPr/>
          <a:lstStyle/>
          <a:p>
            <a:fld id="{0C913308-F349-4B6D-A68A-DD1791B4A57B}" type="slidenum">
              <a:rPr lang="zh-CN" altLang="en-US" smtClean="0"/>
              <a:t>59</a:t>
            </a:fld>
            <a:endParaRPr lang="zh-CN" altLang="en-US"/>
          </a:p>
        </p:txBody>
      </p:sp>
    </p:spTree>
    <p:extLst>
      <p:ext uri="{BB962C8B-B14F-4D97-AF65-F5344CB8AC3E}">
        <p14:creationId xmlns:p14="http://schemas.microsoft.com/office/powerpoint/2010/main" val="2082206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34"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503712" y="1181054"/>
            <a:ext cx="5330452" cy="461665"/>
          </a:xfrm>
          <a:prstGeom prst="rect">
            <a:avLst/>
          </a:prstGeom>
          <a:noFill/>
          <a:ln>
            <a:solidFill>
              <a:schemeClr val="bg2">
                <a:lumMod val="25000"/>
              </a:schemeClr>
            </a:solidFill>
          </a:ln>
        </p:spPr>
        <p:txBody>
          <a:bodyPr wrap="square">
            <a:spAutoFit/>
          </a:bodyPr>
          <a:lstStyle/>
          <a:p>
            <a:pPr algn="ctr"/>
            <a:r>
              <a:rPr lang="zh-CN" altLang="en-US" sz="2400" dirty="0">
                <a:latin typeface="Consolas" pitchFamily="49" charset="0"/>
                <a:cs typeface="Consolas" pitchFamily="49" charset="0"/>
              </a:rPr>
              <a:t>二分图建模</a:t>
            </a:r>
          </a:p>
        </p:txBody>
      </p:sp>
      <p:sp>
        <p:nvSpPr>
          <p:cNvPr id="7" name="矩形 6"/>
          <p:cNvSpPr/>
          <p:nvPr/>
        </p:nvSpPr>
        <p:spPr>
          <a:xfrm>
            <a:off x="3503712" y="1642719"/>
            <a:ext cx="5330452" cy="461665"/>
          </a:xfrm>
          <a:prstGeom prst="rect">
            <a:avLst/>
          </a:prstGeom>
          <a:solidFill>
            <a:schemeClr val="bg1"/>
          </a:solidFill>
          <a:ln>
            <a:solidFill>
              <a:schemeClr val="bg2">
                <a:lumMod val="25000"/>
              </a:schemeClr>
            </a:solidFill>
          </a:ln>
        </p:spPr>
        <p:txBody>
          <a:bodyPr wrap="square">
            <a:spAutoFit/>
          </a:bodyPr>
          <a:lstStyle/>
          <a:p>
            <a:pPr algn="ctr"/>
            <a:r>
              <a:rPr lang="zh-CN" altLang="en-US" sz="2400" dirty="0">
                <a:latin typeface="Consolas" pitchFamily="49" charset="0"/>
                <a:cs typeface="Consolas" pitchFamily="49" charset="0"/>
              </a:rPr>
              <a:t>每行对应左侧节点</a:t>
            </a:r>
          </a:p>
        </p:txBody>
      </p:sp>
      <p:sp>
        <p:nvSpPr>
          <p:cNvPr id="10" name="矩形 9">
            <a:extLst>
              <a:ext uri="{FF2B5EF4-FFF2-40B4-BE49-F238E27FC236}">
                <a16:creationId xmlns:a16="http://schemas.microsoft.com/office/drawing/2014/main" id="{938CFB30-1B42-4030-8C1B-2EA74B5D6290}"/>
              </a:ext>
            </a:extLst>
          </p:cNvPr>
          <p:cNvSpPr/>
          <p:nvPr/>
        </p:nvSpPr>
        <p:spPr>
          <a:xfrm>
            <a:off x="3503712" y="332657"/>
            <a:ext cx="5330452" cy="461665"/>
          </a:xfrm>
          <a:prstGeom prst="rect">
            <a:avLst/>
          </a:prstGeom>
          <a:solidFill>
            <a:schemeClr val="bg1">
              <a:lumMod val="95000"/>
            </a:schemeClr>
          </a:solidFill>
          <a:ln>
            <a:solidFill>
              <a:schemeClr val="bg2">
                <a:lumMod val="25000"/>
              </a:schemeClr>
            </a:solidFill>
          </a:ln>
        </p:spPr>
        <p:txBody>
          <a:bodyPr wrap="square">
            <a:spAutoFit/>
          </a:bodyPr>
          <a:lstStyle/>
          <a:p>
            <a:pPr algn="ctr"/>
            <a:r>
              <a:rPr lang="zh-CN" altLang="en-US" sz="2400" dirty="0">
                <a:latin typeface="Consolas" pitchFamily="49" charset="0"/>
                <a:cs typeface="Consolas" pitchFamily="49" charset="0"/>
              </a:rPr>
              <a:t>二维</a:t>
            </a:r>
            <a:r>
              <a:rPr lang="en-US" altLang="zh-CN" sz="2400" dirty="0">
                <a:latin typeface="Consolas" pitchFamily="49" charset="0"/>
                <a:cs typeface="Consolas" pitchFamily="49" charset="0"/>
              </a:rPr>
              <a:t>01</a:t>
            </a:r>
            <a:r>
              <a:rPr lang="zh-CN" altLang="en-US" sz="2400" dirty="0">
                <a:latin typeface="Consolas" pitchFamily="49" charset="0"/>
                <a:cs typeface="Consolas" pitchFamily="49" charset="0"/>
              </a:rPr>
              <a:t>表对应图的连通信息</a:t>
            </a:r>
          </a:p>
        </p:txBody>
      </p:sp>
      <p:sp>
        <p:nvSpPr>
          <p:cNvPr id="12" name="矩形 11">
            <a:extLst>
              <a:ext uri="{FF2B5EF4-FFF2-40B4-BE49-F238E27FC236}">
                <a16:creationId xmlns:a16="http://schemas.microsoft.com/office/drawing/2014/main" id="{B9177CC8-5E2A-42D9-B51A-7E67CAA18C92}"/>
              </a:ext>
            </a:extLst>
          </p:cNvPr>
          <p:cNvSpPr/>
          <p:nvPr/>
        </p:nvSpPr>
        <p:spPr>
          <a:xfrm>
            <a:off x="3503712" y="2104384"/>
            <a:ext cx="5330452" cy="461665"/>
          </a:xfrm>
          <a:prstGeom prst="rect">
            <a:avLst/>
          </a:prstGeom>
          <a:solidFill>
            <a:schemeClr val="bg1"/>
          </a:solidFill>
          <a:ln>
            <a:solidFill>
              <a:schemeClr val="bg2">
                <a:lumMod val="25000"/>
              </a:schemeClr>
            </a:solidFill>
          </a:ln>
        </p:spPr>
        <p:txBody>
          <a:bodyPr wrap="square">
            <a:spAutoFit/>
          </a:bodyPr>
          <a:lstStyle/>
          <a:p>
            <a:pPr algn="ctr"/>
            <a:r>
              <a:rPr lang="zh-CN" altLang="en-US" sz="2400" dirty="0">
                <a:latin typeface="Consolas" pitchFamily="49" charset="0"/>
                <a:cs typeface="Consolas" pitchFamily="49" charset="0"/>
              </a:rPr>
              <a:t>每列对应右侧节点</a:t>
            </a:r>
          </a:p>
        </p:txBody>
      </p:sp>
      <p:sp>
        <p:nvSpPr>
          <p:cNvPr id="14" name="右箭头 5">
            <a:extLst>
              <a:ext uri="{FF2B5EF4-FFF2-40B4-BE49-F238E27FC236}">
                <a16:creationId xmlns:a16="http://schemas.microsoft.com/office/drawing/2014/main" id="{5EDC2B4D-02BF-4E59-BFC8-792C94A31CE3}"/>
              </a:ext>
            </a:extLst>
          </p:cNvPr>
          <p:cNvSpPr/>
          <p:nvPr/>
        </p:nvSpPr>
        <p:spPr>
          <a:xfrm>
            <a:off x="5338378" y="4380236"/>
            <a:ext cx="1191208" cy="333618"/>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5AC37295-7759-4A8E-B8A6-D6CBFA2B4DFE}"/>
              </a:ext>
            </a:extLst>
          </p:cNvPr>
          <p:cNvSpPr/>
          <p:nvPr/>
        </p:nvSpPr>
        <p:spPr>
          <a:xfrm>
            <a:off x="7320136" y="3971795"/>
            <a:ext cx="432048" cy="432048"/>
          </a:xfrm>
          <a:prstGeom prst="ellipse">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latin typeface="Consolas" pitchFamily="49" charset="0"/>
                <a:cs typeface="Consolas" pitchFamily="49" charset="0"/>
              </a:rPr>
              <a:t>2</a:t>
            </a:r>
            <a:endParaRPr lang="zh-CN" altLang="en-US" sz="2800" dirty="0">
              <a:solidFill>
                <a:schemeClr val="tx1"/>
              </a:solidFill>
              <a:latin typeface="Consolas" pitchFamily="49" charset="0"/>
              <a:cs typeface="Consolas" pitchFamily="49" charset="0"/>
            </a:endParaRPr>
          </a:p>
        </p:txBody>
      </p:sp>
      <p:sp>
        <p:nvSpPr>
          <p:cNvPr id="19" name="椭圆 18">
            <a:extLst>
              <a:ext uri="{FF2B5EF4-FFF2-40B4-BE49-F238E27FC236}">
                <a16:creationId xmlns:a16="http://schemas.microsoft.com/office/drawing/2014/main" id="{C925AB15-177F-4365-B309-585E35BE8F9F}"/>
              </a:ext>
            </a:extLst>
          </p:cNvPr>
          <p:cNvSpPr/>
          <p:nvPr/>
        </p:nvSpPr>
        <p:spPr>
          <a:xfrm>
            <a:off x="7320136" y="3212976"/>
            <a:ext cx="432048" cy="432048"/>
          </a:xfrm>
          <a:prstGeom prst="ellipse">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latin typeface="Consolas" pitchFamily="49" charset="0"/>
                <a:cs typeface="Consolas" pitchFamily="49" charset="0"/>
              </a:rPr>
              <a:t>1</a:t>
            </a:r>
            <a:endParaRPr lang="zh-CN" altLang="en-US" sz="2800" dirty="0">
              <a:solidFill>
                <a:schemeClr val="tx1"/>
              </a:solidFill>
              <a:latin typeface="Consolas" pitchFamily="49" charset="0"/>
              <a:cs typeface="Consolas" pitchFamily="49" charset="0"/>
            </a:endParaRPr>
          </a:p>
        </p:txBody>
      </p:sp>
      <p:sp>
        <p:nvSpPr>
          <p:cNvPr id="20" name="椭圆 19">
            <a:extLst>
              <a:ext uri="{FF2B5EF4-FFF2-40B4-BE49-F238E27FC236}">
                <a16:creationId xmlns:a16="http://schemas.microsoft.com/office/drawing/2014/main" id="{266EF0F1-4E84-4F3C-952A-D8361474879D}"/>
              </a:ext>
            </a:extLst>
          </p:cNvPr>
          <p:cNvSpPr/>
          <p:nvPr/>
        </p:nvSpPr>
        <p:spPr>
          <a:xfrm>
            <a:off x="7320136" y="5547179"/>
            <a:ext cx="432048" cy="432048"/>
          </a:xfrm>
          <a:prstGeom prst="ellipse">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latin typeface="Consolas" pitchFamily="49" charset="0"/>
                <a:cs typeface="Consolas" pitchFamily="49" charset="0"/>
              </a:rPr>
              <a:t>4</a:t>
            </a:r>
            <a:endParaRPr lang="zh-CN" altLang="en-US" sz="2800" dirty="0">
              <a:solidFill>
                <a:schemeClr val="tx1"/>
              </a:solidFill>
              <a:latin typeface="Consolas" pitchFamily="49" charset="0"/>
              <a:cs typeface="Consolas" pitchFamily="49" charset="0"/>
            </a:endParaRPr>
          </a:p>
        </p:txBody>
      </p:sp>
      <p:sp>
        <p:nvSpPr>
          <p:cNvPr id="21" name="椭圆 20">
            <a:extLst>
              <a:ext uri="{FF2B5EF4-FFF2-40B4-BE49-F238E27FC236}">
                <a16:creationId xmlns:a16="http://schemas.microsoft.com/office/drawing/2014/main" id="{1B3D9614-A45F-4D1C-BFD5-A4AA7E61130B}"/>
              </a:ext>
            </a:extLst>
          </p:cNvPr>
          <p:cNvSpPr/>
          <p:nvPr/>
        </p:nvSpPr>
        <p:spPr>
          <a:xfrm>
            <a:off x="7320136" y="4787896"/>
            <a:ext cx="432048" cy="432048"/>
          </a:xfrm>
          <a:prstGeom prst="ellipse">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latin typeface="Consolas" pitchFamily="49" charset="0"/>
                <a:cs typeface="Consolas" pitchFamily="49" charset="0"/>
              </a:rPr>
              <a:t>3</a:t>
            </a:r>
            <a:endParaRPr lang="zh-CN" altLang="en-US" sz="2800" dirty="0">
              <a:solidFill>
                <a:schemeClr val="tx1"/>
              </a:solidFill>
              <a:latin typeface="Consolas" pitchFamily="49" charset="0"/>
              <a:cs typeface="Consolas" pitchFamily="49" charset="0"/>
            </a:endParaRPr>
          </a:p>
        </p:txBody>
      </p:sp>
      <p:sp>
        <p:nvSpPr>
          <p:cNvPr id="22" name="椭圆 21">
            <a:extLst>
              <a:ext uri="{FF2B5EF4-FFF2-40B4-BE49-F238E27FC236}">
                <a16:creationId xmlns:a16="http://schemas.microsoft.com/office/drawing/2014/main" id="{F97A68BC-2F8B-488B-AFD2-C98E401A4F45}"/>
              </a:ext>
            </a:extLst>
          </p:cNvPr>
          <p:cNvSpPr/>
          <p:nvPr/>
        </p:nvSpPr>
        <p:spPr>
          <a:xfrm>
            <a:off x="8907387" y="4298566"/>
            <a:ext cx="432048" cy="432048"/>
          </a:xfrm>
          <a:prstGeom prst="ellipse">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latin typeface="Consolas" pitchFamily="49" charset="0"/>
                <a:cs typeface="Consolas" pitchFamily="49" charset="0"/>
              </a:rPr>
              <a:t>2</a:t>
            </a:r>
            <a:endParaRPr lang="zh-CN" altLang="en-US" sz="2800" dirty="0">
              <a:solidFill>
                <a:schemeClr val="tx1"/>
              </a:solidFill>
              <a:latin typeface="Consolas" pitchFamily="49" charset="0"/>
              <a:cs typeface="Consolas" pitchFamily="49" charset="0"/>
            </a:endParaRPr>
          </a:p>
        </p:txBody>
      </p:sp>
      <p:sp>
        <p:nvSpPr>
          <p:cNvPr id="23" name="椭圆 22">
            <a:extLst>
              <a:ext uri="{FF2B5EF4-FFF2-40B4-BE49-F238E27FC236}">
                <a16:creationId xmlns:a16="http://schemas.microsoft.com/office/drawing/2014/main" id="{225478B2-A663-4C09-A64B-7C29EA2739D3}"/>
              </a:ext>
            </a:extLst>
          </p:cNvPr>
          <p:cNvSpPr/>
          <p:nvPr/>
        </p:nvSpPr>
        <p:spPr>
          <a:xfrm>
            <a:off x="8907387" y="3539747"/>
            <a:ext cx="432048" cy="432048"/>
          </a:xfrm>
          <a:prstGeom prst="ellipse">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latin typeface="Consolas" pitchFamily="49" charset="0"/>
                <a:cs typeface="Consolas" pitchFamily="49" charset="0"/>
              </a:rPr>
              <a:t>1</a:t>
            </a:r>
            <a:endParaRPr lang="zh-CN" altLang="en-US" sz="2800" dirty="0">
              <a:solidFill>
                <a:schemeClr val="tx1"/>
              </a:solidFill>
              <a:latin typeface="Consolas" pitchFamily="49" charset="0"/>
              <a:cs typeface="Consolas" pitchFamily="49" charset="0"/>
            </a:endParaRPr>
          </a:p>
        </p:txBody>
      </p:sp>
      <p:sp>
        <p:nvSpPr>
          <p:cNvPr id="24" name="椭圆 23">
            <a:extLst>
              <a:ext uri="{FF2B5EF4-FFF2-40B4-BE49-F238E27FC236}">
                <a16:creationId xmlns:a16="http://schemas.microsoft.com/office/drawing/2014/main" id="{7960F576-0372-472F-92DA-BF0BD30F3FC4}"/>
              </a:ext>
            </a:extLst>
          </p:cNvPr>
          <p:cNvSpPr/>
          <p:nvPr/>
        </p:nvSpPr>
        <p:spPr>
          <a:xfrm>
            <a:off x="8907387" y="5114667"/>
            <a:ext cx="432048" cy="432048"/>
          </a:xfrm>
          <a:prstGeom prst="ellipse">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latin typeface="Consolas" pitchFamily="49" charset="0"/>
                <a:cs typeface="Consolas" pitchFamily="49" charset="0"/>
              </a:rPr>
              <a:t>3</a:t>
            </a:r>
            <a:endParaRPr lang="zh-CN" altLang="en-US" sz="2800" dirty="0">
              <a:solidFill>
                <a:schemeClr val="tx1"/>
              </a:solidFill>
              <a:latin typeface="Consolas" pitchFamily="49" charset="0"/>
              <a:cs typeface="Consolas" pitchFamily="49" charset="0"/>
            </a:endParaRPr>
          </a:p>
        </p:txBody>
      </p:sp>
      <p:cxnSp>
        <p:nvCxnSpPr>
          <p:cNvPr id="25" name="直接连接符 24">
            <a:extLst>
              <a:ext uri="{FF2B5EF4-FFF2-40B4-BE49-F238E27FC236}">
                <a16:creationId xmlns:a16="http://schemas.microsoft.com/office/drawing/2014/main" id="{6D125FEA-B8B8-4CEB-9565-C3C1514195EE}"/>
              </a:ext>
            </a:extLst>
          </p:cNvPr>
          <p:cNvCxnSpPr>
            <a:cxnSpLocks/>
            <a:stCxn id="19" idx="6"/>
            <a:endCxn id="23" idx="2"/>
          </p:cNvCxnSpPr>
          <p:nvPr/>
        </p:nvCxnSpPr>
        <p:spPr>
          <a:xfrm>
            <a:off x="7752185" y="3429001"/>
            <a:ext cx="1155203" cy="326771"/>
          </a:xfrm>
          <a:prstGeom prst="line">
            <a:avLst/>
          </a:prstGeom>
          <a:ln w="381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CCCC7CD1-D8A1-43DE-91E8-76AADA71C42F}"/>
              </a:ext>
            </a:extLst>
          </p:cNvPr>
          <p:cNvCxnSpPr>
            <a:cxnSpLocks/>
            <a:stCxn id="16" idx="6"/>
            <a:endCxn id="22" idx="1"/>
          </p:cNvCxnSpPr>
          <p:nvPr/>
        </p:nvCxnSpPr>
        <p:spPr>
          <a:xfrm>
            <a:off x="7752185" y="4187820"/>
            <a:ext cx="1218475" cy="174019"/>
          </a:xfrm>
          <a:prstGeom prst="line">
            <a:avLst/>
          </a:prstGeom>
          <a:ln w="381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6710B6B7-47C5-4C6A-8D92-B95DB5371DD9}"/>
              </a:ext>
            </a:extLst>
          </p:cNvPr>
          <p:cNvCxnSpPr>
            <a:cxnSpLocks/>
            <a:stCxn id="16" idx="7"/>
            <a:endCxn id="23" idx="3"/>
          </p:cNvCxnSpPr>
          <p:nvPr/>
        </p:nvCxnSpPr>
        <p:spPr>
          <a:xfrm flipV="1">
            <a:off x="7688913" y="3908523"/>
            <a:ext cx="1281747" cy="126544"/>
          </a:xfrm>
          <a:prstGeom prst="line">
            <a:avLst/>
          </a:prstGeom>
          <a:ln w="381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0DB2F4CA-5A22-4D09-B629-C78ECF98CE50}"/>
              </a:ext>
            </a:extLst>
          </p:cNvPr>
          <p:cNvCxnSpPr>
            <a:cxnSpLocks/>
            <a:stCxn id="21" idx="6"/>
            <a:endCxn id="24" idx="1"/>
          </p:cNvCxnSpPr>
          <p:nvPr/>
        </p:nvCxnSpPr>
        <p:spPr>
          <a:xfrm>
            <a:off x="7752185" y="5003921"/>
            <a:ext cx="1218475" cy="174019"/>
          </a:xfrm>
          <a:prstGeom prst="line">
            <a:avLst/>
          </a:prstGeom>
          <a:ln w="381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75DFE9F4-E1B1-4B0C-885A-BE94EE416BAD}"/>
              </a:ext>
            </a:extLst>
          </p:cNvPr>
          <p:cNvCxnSpPr>
            <a:cxnSpLocks/>
            <a:stCxn id="20" idx="6"/>
            <a:endCxn id="24" idx="3"/>
          </p:cNvCxnSpPr>
          <p:nvPr/>
        </p:nvCxnSpPr>
        <p:spPr>
          <a:xfrm flipV="1">
            <a:off x="7752185" y="5483443"/>
            <a:ext cx="1218475" cy="279760"/>
          </a:xfrm>
          <a:prstGeom prst="line">
            <a:avLst/>
          </a:prstGeom>
          <a:ln w="381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29" name="表格 28">
            <a:extLst>
              <a:ext uri="{FF2B5EF4-FFF2-40B4-BE49-F238E27FC236}">
                <a16:creationId xmlns:a16="http://schemas.microsoft.com/office/drawing/2014/main" id="{50095570-5B43-41D3-9E06-33108A8100B8}"/>
              </a:ext>
            </a:extLst>
          </p:cNvPr>
          <p:cNvGraphicFramePr>
            <a:graphicFrameLocks noGrp="1"/>
          </p:cNvGraphicFramePr>
          <p:nvPr/>
        </p:nvGraphicFramePr>
        <p:xfrm>
          <a:off x="2459595" y="3459561"/>
          <a:ext cx="2088234" cy="2174968"/>
        </p:xfrm>
        <a:graphic>
          <a:graphicData uri="http://schemas.openxmlformats.org/drawingml/2006/table">
            <a:tbl>
              <a:tblPr firstRow="1" bandRow="1">
                <a:tableStyleId>{2D5ABB26-0587-4C30-8999-92F81FD0307C}</a:tableStyleId>
              </a:tblPr>
              <a:tblGrid>
                <a:gridCol w="696078">
                  <a:extLst>
                    <a:ext uri="{9D8B030D-6E8A-4147-A177-3AD203B41FA5}">
                      <a16:colId xmlns:a16="http://schemas.microsoft.com/office/drawing/2014/main" val="20000"/>
                    </a:ext>
                  </a:extLst>
                </a:gridCol>
                <a:gridCol w="696078">
                  <a:extLst>
                    <a:ext uri="{9D8B030D-6E8A-4147-A177-3AD203B41FA5}">
                      <a16:colId xmlns:a16="http://schemas.microsoft.com/office/drawing/2014/main" val="20001"/>
                    </a:ext>
                  </a:extLst>
                </a:gridCol>
                <a:gridCol w="696078">
                  <a:extLst>
                    <a:ext uri="{9D8B030D-6E8A-4147-A177-3AD203B41FA5}">
                      <a16:colId xmlns:a16="http://schemas.microsoft.com/office/drawing/2014/main" val="20002"/>
                    </a:ext>
                  </a:extLst>
                </a:gridCol>
              </a:tblGrid>
              <a:tr h="543742">
                <a:tc>
                  <a:txBody>
                    <a:bodyPr/>
                    <a:lstStyle/>
                    <a:p>
                      <a:pPr algn="ctr"/>
                      <a:r>
                        <a:rPr lang="en-US" altLang="zh-CN" sz="2800" dirty="0"/>
                        <a:t>1</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0</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0</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543742">
                <a:tc>
                  <a:txBody>
                    <a:bodyPr/>
                    <a:lstStyle/>
                    <a:p>
                      <a:pPr algn="ctr"/>
                      <a:r>
                        <a:rPr lang="en-US" altLang="zh-CN" sz="2800" dirty="0"/>
                        <a:t>1</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1</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0</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43742">
                <a:tc>
                  <a:txBody>
                    <a:bodyPr/>
                    <a:lstStyle/>
                    <a:p>
                      <a:pPr algn="ctr"/>
                      <a:r>
                        <a:rPr lang="en-US" altLang="zh-CN" sz="2800" dirty="0"/>
                        <a:t>0</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0</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1</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43742">
                <a:tc>
                  <a:txBody>
                    <a:bodyPr/>
                    <a:lstStyle/>
                    <a:p>
                      <a:pPr algn="ctr"/>
                      <a:r>
                        <a:rPr lang="en-US" altLang="zh-CN" sz="2800" dirty="0"/>
                        <a:t>0</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0</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1</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2" name="灯片编号占位符 1">
            <a:extLst>
              <a:ext uri="{FF2B5EF4-FFF2-40B4-BE49-F238E27FC236}">
                <a16:creationId xmlns:a16="http://schemas.microsoft.com/office/drawing/2014/main" id="{0C7216CA-9DE1-4083-854D-F644DF7D2369}"/>
              </a:ext>
            </a:extLst>
          </p:cNvPr>
          <p:cNvSpPr>
            <a:spLocks noGrp="1"/>
          </p:cNvSpPr>
          <p:nvPr>
            <p:ph type="sldNum" sz="quarter" idx="12"/>
          </p:nvPr>
        </p:nvSpPr>
        <p:spPr/>
        <p:txBody>
          <a:bodyPr/>
          <a:lstStyle/>
          <a:p>
            <a:fld id="{0C913308-F349-4B6D-A68A-DD1791B4A57B}" type="slidenum">
              <a:rPr lang="zh-CN" altLang="en-US" smtClean="0"/>
              <a:t>60</a:t>
            </a:fld>
            <a:endParaRPr lang="zh-CN" altLang="en-US"/>
          </a:p>
        </p:txBody>
      </p:sp>
    </p:spTree>
    <p:extLst>
      <p:ext uri="{BB962C8B-B14F-4D97-AF65-F5344CB8AC3E}">
        <p14:creationId xmlns:p14="http://schemas.microsoft.com/office/powerpoint/2010/main" val="2607908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P spid="19" grpId="0" animBg="1"/>
      <p:bldP spid="20" grpId="0" animBg="1"/>
      <p:bldP spid="21" grpId="0" animBg="1"/>
      <p:bldP spid="22" grpId="0" animBg="1"/>
      <p:bldP spid="23" grpId="0" animBg="1"/>
      <p:bldP spid="24"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503712" y="1181054"/>
            <a:ext cx="5330452" cy="461665"/>
          </a:xfrm>
          <a:prstGeom prst="rect">
            <a:avLst/>
          </a:prstGeom>
          <a:noFill/>
          <a:ln>
            <a:solidFill>
              <a:schemeClr val="bg2">
                <a:lumMod val="25000"/>
              </a:schemeClr>
            </a:solidFill>
          </a:ln>
        </p:spPr>
        <p:txBody>
          <a:bodyPr wrap="square">
            <a:spAutoFit/>
          </a:bodyPr>
          <a:lstStyle/>
          <a:p>
            <a:pPr algn="ctr"/>
            <a:r>
              <a:rPr lang="zh-CN" altLang="en-US" sz="2400" dirty="0">
                <a:latin typeface="Consolas" pitchFamily="49" charset="0"/>
                <a:cs typeface="Consolas" pitchFamily="49" charset="0"/>
              </a:rPr>
              <a:t>二分图建模</a:t>
            </a:r>
          </a:p>
        </p:txBody>
      </p:sp>
      <p:sp>
        <p:nvSpPr>
          <p:cNvPr id="7" name="矩形 6"/>
          <p:cNvSpPr/>
          <p:nvPr/>
        </p:nvSpPr>
        <p:spPr>
          <a:xfrm>
            <a:off x="3503712" y="1642719"/>
            <a:ext cx="5330452" cy="461665"/>
          </a:xfrm>
          <a:prstGeom prst="rect">
            <a:avLst/>
          </a:prstGeom>
          <a:solidFill>
            <a:schemeClr val="bg1"/>
          </a:solidFill>
          <a:ln>
            <a:solidFill>
              <a:schemeClr val="bg2">
                <a:lumMod val="25000"/>
              </a:schemeClr>
            </a:solidFill>
          </a:ln>
        </p:spPr>
        <p:txBody>
          <a:bodyPr wrap="square">
            <a:spAutoFit/>
          </a:bodyPr>
          <a:lstStyle/>
          <a:p>
            <a:pPr algn="ctr"/>
            <a:r>
              <a:rPr lang="zh-CN" altLang="en-US" sz="2400" dirty="0">
                <a:latin typeface="Consolas" pitchFamily="49" charset="0"/>
                <a:cs typeface="Consolas" pitchFamily="49" charset="0"/>
              </a:rPr>
              <a:t>每行对应左侧节点</a:t>
            </a:r>
          </a:p>
        </p:txBody>
      </p:sp>
      <p:sp>
        <p:nvSpPr>
          <p:cNvPr id="10" name="矩形 9">
            <a:extLst>
              <a:ext uri="{FF2B5EF4-FFF2-40B4-BE49-F238E27FC236}">
                <a16:creationId xmlns:a16="http://schemas.microsoft.com/office/drawing/2014/main" id="{938CFB30-1B42-4030-8C1B-2EA74B5D6290}"/>
              </a:ext>
            </a:extLst>
          </p:cNvPr>
          <p:cNvSpPr/>
          <p:nvPr/>
        </p:nvSpPr>
        <p:spPr>
          <a:xfrm>
            <a:off x="3503712" y="332657"/>
            <a:ext cx="5330452" cy="461665"/>
          </a:xfrm>
          <a:prstGeom prst="rect">
            <a:avLst/>
          </a:prstGeom>
          <a:solidFill>
            <a:schemeClr val="bg1">
              <a:lumMod val="95000"/>
            </a:schemeClr>
          </a:solidFill>
          <a:ln>
            <a:solidFill>
              <a:schemeClr val="bg2">
                <a:lumMod val="25000"/>
              </a:schemeClr>
            </a:solidFill>
          </a:ln>
        </p:spPr>
        <p:txBody>
          <a:bodyPr wrap="square">
            <a:spAutoFit/>
          </a:bodyPr>
          <a:lstStyle/>
          <a:p>
            <a:pPr algn="ctr"/>
            <a:r>
              <a:rPr lang="zh-CN" altLang="en-US" sz="2400" dirty="0">
                <a:latin typeface="Consolas" pitchFamily="49" charset="0"/>
                <a:cs typeface="Consolas" pitchFamily="49" charset="0"/>
              </a:rPr>
              <a:t>二维</a:t>
            </a:r>
            <a:r>
              <a:rPr lang="en-US" altLang="zh-CN" sz="2400" dirty="0">
                <a:latin typeface="Consolas" pitchFamily="49" charset="0"/>
                <a:cs typeface="Consolas" pitchFamily="49" charset="0"/>
              </a:rPr>
              <a:t>01</a:t>
            </a:r>
            <a:r>
              <a:rPr lang="zh-CN" altLang="en-US" sz="2400" dirty="0">
                <a:latin typeface="Consolas" pitchFamily="49" charset="0"/>
                <a:cs typeface="Consolas" pitchFamily="49" charset="0"/>
              </a:rPr>
              <a:t>表对应图的连通信息</a:t>
            </a:r>
          </a:p>
        </p:txBody>
      </p:sp>
      <p:sp>
        <p:nvSpPr>
          <p:cNvPr id="12" name="矩形 11">
            <a:extLst>
              <a:ext uri="{FF2B5EF4-FFF2-40B4-BE49-F238E27FC236}">
                <a16:creationId xmlns:a16="http://schemas.microsoft.com/office/drawing/2014/main" id="{B9177CC8-5E2A-42D9-B51A-7E67CAA18C92}"/>
              </a:ext>
            </a:extLst>
          </p:cNvPr>
          <p:cNvSpPr/>
          <p:nvPr/>
        </p:nvSpPr>
        <p:spPr>
          <a:xfrm>
            <a:off x="3503712" y="2104384"/>
            <a:ext cx="5330452" cy="461665"/>
          </a:xfrm>
          <a:prstGeom prst="rect">
            <a:avLst/>
          </a:prstGeom>
          <a:solidFill>
            <a:schemeClr val="bg1"/>
          </a:solidFill>
          <a:ln>
            <a:solidFill>
              <a:schemeClr val="bg2">
                <a:lumMod val="25000"/>
              </a:schemeClr>
            </a:solidFill>
          </a:ln>
        </p:spPr>
        <p:txBody>
          <a:bodyPr wrap="square">
            <a:spAutoFit/>
          </a:bodyPr>
          <a:lstStyle/>
          <a:p>
            <a:pPr algn="ctr"/>
            <a:r>
              <a:rPr lang="zh-CN" altLang="en-US" sz="2400" dirty="0">
                <a:latin typeface="Consolas" pitchFamily="49" charset="0"/>
                <a:cs typeface="Consolas" pitchFamily="49" charset="0"/>
              </a:rPr>
              <a:t>每列对应右侧节点</a:t>
            </a:r>
          </a:p>
        </p:txBody>
      </p:sp>
      <p:graphicFrame>
        <p:nvGraphicFramePr>
          <p:cNvPr id="13" name="表格 12">
            <a:extLst>
              <a:ext uri="{FF2B5EF4-FFF2-40B4-BE49-F238E27FC236}">
                <a16:creationId xmlns:a16="http://schemas.microsoft.com/office/drawing/2014/main" id="{79AB511A-539A-4E83-8AB4-39B1D107AD87}"/>
              </a:ext>
            </a:extLst>
          </p:cNvPr>
          <p:cNvGraphicFramePr>
            <a:graphicFrameLocks noGrp="1"/>
          </p:cNvGraphicFramePr>
          <p:nvPr/>
        </p:nvGraphicFramePr>
        <p:xfrm>
          <a:off x="2459595" y="3459561"/>
          <a:ext cx="2088234" cy="2174968"/>
        </p:xfrm>
        <a:graphic>
          <a:graphicData uri="http://schemas.openxmlformats.org/drawingml/2006/table">
            <a:tbl>
              <a:tblPr firstRow="1" bandRow="1">
                <a:tableStyleId>{2D5ABB26-0587-4C30-8999-92F81FD0307C}</a:tableStyleId>
              </a:tblPr>
              <a:tblGrid>
                <a:gridCol w="696078">
                  <a:extLst>
                    <a:ext uri="{9D8B030D-6E8A-4147-A177-3AD203B41FA5}">
                      <a16:colId xmlns:a16="http://schemas.microsoft.com/office/drawing/2014/main" val="20000"/>
                    </a:ext>
                  </a:extLst>
                </a:gridCol>
                <a:gridCol w="696078">
                  <a:extLst>
                    <a:ext uri="{9D8B030D-6E8A-4147-A177-3AD203B41FA5}">
                      <a16:colId xmlns:a16="http://schemas.microsoft.com/office/drawing/2014/main" val="20001"/>
                    </a:ext>
                  </a:extLst>
                </a:gridCol>
                <a:gridCol w="696078">
                  <a:extLst>
                    <a:ext uri="{9D8B030D-6E8A-4147-A177-3AD203B41FA5}">
                      <a16:colId xmlns:a16="http://schemas.microsoft.com/office/drawing/2014/main" val="20002"/>
                    </a:ext>
                  </a:extLst>
                </a:gridCol>
              </a:tblGrid>
              <a:tr h="543742">
                <a:tc>
                  <a:txBody>
                    <a:bodyPr/>
                    <a:lstStyle/>
                    <a:p>
                      <a:pPr algn="ctr"/>
                      <a:r>
                        <a:rPr lang="en-US" altLang="zh-CN" sz="2800" dirty="0"/>
                        <a:t>1</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0</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0</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543742">
                <a:tc>
                  <a:txBody>
                    <a:bodyPr/>
                    <a:lstStyle/>
                    <a:p>
                      <a:pPr algn="ctr"/>
                      <a:r>
                        <a:rPr lang="en-US" altLang="zh-CN" sz="2800" dirty="0"/>
                        <a:t>0</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0</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1</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43742">
                <a:tc>
                  <a:txBody>
                    <a:bodyPr/>
                    <a:lstStyle/>
                    <a:p>
                      <a:pPr algn="ctr"/>
                      <a:r>
                        <a:rPr lang="en-US" altLang="zh-CN" sz="2800" dirty="0"/>
                        <a:t>1</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1</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0</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43742">
                <a:tc>
                  <a:txBody>
                    <a:bodyPr/>
                    <a:lstStyle/>
                    <a:p>
                      <a:pPr algn="ctr"/>
                      <a:r>
                        <a:rPr lang="en-US" altLang="zh-CN" sz="2800" dirty="0"/>
                        <a:t>0</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0</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0</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4" name="右箭头 5">
            <a:extLst>
              <a:ext uri="{FF2B5EF4-FFF2-40B4-BE49-F238E27FC236}">
                <a16:creationId xmlns:a16="http://schemas.microsoft.com/office/drawing/2014/main" id="{5EDC2B4D-02BF-4E59-BFC8-792C94A31CE3}"/>
              </a:ext>
            </a:extLst>
          </p:cNvPr>
          <p:cNvSpPr/>
          <p:nvPr/>
        </p:nvSpPr>
        <p:spPr>
          <a:xfrm>
            <a:off x="5375920" y="4269083"/>
            <a:ext cx="1191208" cy="333618"/>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5AC37295-7759-4A8E-B8A6-D6CBFA2B4DFE}"/>
              </a:ext>
            </a:extLst>
          </p:cNvPr>
          <p:cNvSpPr/>
          <p:nvPr/>
        </p:nvSpPr>
        <p:spPr>
          <a:xfrm>
            <a:off x="7320136" y="3971795"/>
            <a:ext cx="432048" cy="432048"/>
          </a:xfrm>
          <a:prstGeom prst="ellipse">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latin typeface="Consolas" pitchFamily="49" charset="0"/>
                <a:cs typeface="Consolas" pitchFamily="49" charset="0"/>
              </a:rPr>
              <a:t>2</a:t>
            </a:r>
            <a:endParaRPr lang="zh-CN" altLang="en-US" sz="2800" dirty="0">
              <a:solidFill>
                <a:schemeClr val="tx1"/>
              </a:solidFill>
              <a:latin typeface="Consolas" pitchFamily="49" charset="0"/>
              <a:cs typeface="Consolas" pitchFamily="49" charset="0"/>
            </a:endParaRPr>
          </a:p>
        </p:txBody>
      </p:sp>
      <p:sp>
        <p:nvSpPr>
          <p:cNvPr id="19" name="椭圆 18">
            <a:extLst>
              <a:ext uri="{FF2B5EF4-FFF2-40B4-BE49-F238E27FC236}">
                <a16:creationId xmlns:a16="http://schemas.microsoft.com/office/drawing/2014/main" id="{C925AB15-177F-4365-B309-585E35BE8F9F}"/>
              </a:ext>
            </a:extLst>
          </p:cNvPr>
          <p:cNvSpPr/>
          <p:nvPr/>
        </p:nvSpPr>
        <p:spPr>
          <a:xfrm>
            <a:off x="7320136" y="3212976"/>
            <a:ext cx="432048" cy="432048"/>
          </a:xfrm>
          <a:prstGeom prst="ellipse">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latin typeface="Consolas" pitchFamily="49" charset="0"/>
                <a:cs typeface="Consolas" pitchFamily="49" charset="0"/>
              </a:rPr>
              <a:t>1</a:t>
            </a:r>
            <a:endParaRPr lang="zh-CN" altLang="en-US" sz="2800" dirty="0">
              <a:solidFill>
                <a:schemeClr val="tx1"/>
              </a:solidFill>
              <a:latin typeface="Consolas" pitchFamily="49" charset="0"/>
              <a:cs typeface="Consolas" pitchFamily="49" charset="0"/>
            </a:endParaRPr>
          </a:p>
        </p:txBody>
      </p:sp>
      <p:sp>
        <p:nvSpPr>
          <p:cNvPr id="20" name="椭圆 19">
            <a:extLst>
              <a:ext uri="{FF2B5EF4-FFF2-40B4-BE49-F238E27FC236}">
                <a16:creationId xmlns:a16="http://schemas.microsoft.com/office/drawing/2014/main" id="{266EF0F1-4E84-4F3C-952A-D8361474879D}"/>
              </a:ext>
            </a:extLst>
          </p:cNvPr>
          <p:cNvSpPr/>
          <p:nvPr/>
        </p:nvSpPr>
        <p:spPr>
          <a:xfrm>
            <a:off x="7320136" y="5547179"/>
            <a:ext cx="432048" cy="432048"/>
          </a:xfrm>
          <a:prstGeom prst="ellipse">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latin typeface="Consolas" pitchFamily="49" charset="0"/>
                <a:cs typeface="Consolas" pitchFamily="49" charset="0"/>
              </a:rPr>
              <a:t>4</a:t>
            </a:r>
            <a:endParaRPr lang="zh-CN" altLang="en-US" sz="2800" dirty="0">
              <a:solidFill>
                <a:schemeClr val="tx1"/>
              </a:solidFill>
              <a:latin typeface="Consolas" pitchFamily="49" charset="0"/>
              <a:cs typeface="Consolas" pitchFamily="49" charset="0"/>
            </a:endParaRPr>
          </a:p>
        </p:txBody>
      </p:sp>
      <p:sp>
        <p:nvSpPr>
          <p:cNvPr id="21" name="椭圆 20">
            <a:extLst>
              <a:ext uri="{FF2B5EF4-FFF2-40B4-BE49-F238E27FC236}">
                <a16:creationId xmlns:a16="http://schemas.microsoft.com/office/drawing/2014/main" id="{1B3D9614-A45F-4D1C-BFD5-A4AA7E61130B}"/>
              </a:ext>
            </a:extLst>
          </p:cNvPr>
          <p:cNvSpPr/>
          <p:nvPr/>
        </p:nvSpPr>
        <p:spPr>
          <a:xfrm>
            <a:off x="7320136" y="4787896"/>
            <a:ext cx="432048" cy="432048"/>
          </a:xfrm>
          <a:prstGeom prst="ellipse">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latin typeface="Consolas" pitchFamily="49" charset="0"/>
                <a:cs typeface="Consolas" pitchFamily="49" charset="0"/>
              </a:rPr>
              <a:t>3</a:t>
            </a:r>
            <a:endParaRPr lang="zh-CN" altLang="en-US" sz="2800" dirty="0">
              <a:solidFill>
                <a:schemeClr val="tx1"/>
              </a:solidFill>
              <a:latin typeface="Consolas" pitchFamily="49" charset="0"/>
              <a:cs typeface="Consolas" pitchFamily="49" charset="0"/>
            </a:endParaRPr>
          </a:p>
        </p:txBody>
      </p:sp>
      <p:sp>
        <p:nvSpPr>
          <p:cNvPr id="22" name="椭圆 21">
            <a:extLst>
              <a:ext uri="{FF2B5EF4-FFF2-40B4-BE49-F238E27FC236}">
                <a16:creationId xmlns:a16="http://schemas.microsoft.com/office/drawing/2014/main" id="{F97A68BC-2F8B-488B-AFD2-C98E401A4F45}"/>
              </a:ext>
            </a:extLst>
          </p:cNvPr>
          <p:cNvSpPr/>
          <p:nvPr/>
        </p:nvSpPr>
        <p:spPr>
          <a:xfrm>
            <a:off x="8907387" y="4298566"/>
            <a:ext cx="432048" cy="432048"/>
          </a:xfrm>
          <a:prstGeom prst="ellipse">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latin typeface="Consolas" pitchFamily="49" charset="0"/>
                <a:cs typeface="Consolas" pitchFamily="49" charset="0"/>
              </a:rPr>
              <a:t>2</a:t>
            </a:r>
            <a:endParaRPr lang="zh-CN" altLang="en-US" sz="2800" dirty="0">
              <a:solidFill>
                <a:schemeClr val="tx1"/>
              </a:solidFill>
              <a:latin typeface="Consolas" pitchFamily="49" charset="0"/>
              <a:cs typeface="Consolas" pitchFamily="49" charset="0"/>
            </a:endParaRPr>
          </a:p>
        </p:txBody>
      </p:sp>
      <p:sp>
        <p:nvSpPr>
          <p:cNvPr id="23" name="椭圆 22">
            <a:extLst>
              <a:ext uri="{FF2B5EF4-FFF2-40B4-BE49-F238E27FC236}">
                <a16:creationId xmlns:a16="http://schemas.microsoft.com/office/drawing/2014/main" id="{225478B2-A663-4C09-A64B-7C29EA2739D3}"/>
              </a:ext>
            </a:extLst>
          </p:cNvPr>
          <p:cNvSpPr/>
          <p:nvPr/>
        </p:nvSpPr>
        <p:spPr>
          <a:xfrm>
            <a:off x="8907387" y="3539747"/>
            <a:ext cx="432048" cy="432048"/>
          </a:xfrm>
          <a:prstGeom prst="ellipse">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latin typeface="Consolas" pitchFamily="49" charset="0"/>
                <a:cs typeface="Consolas" pitchFamily="49" charset="0"/>
              </a:rPr>
              <a:t>1</a:t>
            </a:r>
            <a:endParaRPr lang="zh-CN" altLang="en-US" sz="2800" dirty="0">
              <a:solidFill>
                <a:schemeClr val="tx1"/>
              </a:solidFill>
              <a:latin typeface="Consolas" pitchFamily="49" charset="0"/>
              <a:cs typeface="Consolas" pitchFamily="49" charset="0"/>
            </a:endParaRPr>
          </a:p>
        </p:txBody>
      </p:sp>
      <p:sp>
        <p:nvSpPr>
          <p:cNvPr id="24" name="椭圆 23">
            <a:extLst>
              <a:ext uri="{FF2B5EF4-FFF2-40B4-BE49-F238E27FC236}">
                <a16:creationId xmlns:a16="http://schemas.microsoft.com/office/drawing/2014/main" id="{7960F576-0372-472F-92DA-BF0BD30F3FC4}"/>
              </a:ext>
            </a:extLst>
          </p:cNvPr>
          <p:cNvSpPr/>
          <p:nvPr/>
        </p:nvSpPr>
        <p:spPr>
          <a:xfrm>
            <a:off x="8907387" y="5114667"/>
            <a:ext cx="432048" cy="432048"/>
          </a:xfrm>
          <a:prstGeom prst="ellipse">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latin typeface="Consolas" pitchFamily="49" charset="0"/>
                <a:cs typeface="Consolas" pitchFamily="49" charset="0"/>
              </a:rPr>
              <a:t>3</a:t>
            </a:r>
            <a:endParaRPr lang="zh-CN" altLang="en-US" sz="2800" dirty="0">
              <a:solidFill>
                <a:schemeClr val="tx1"/>
              </a:solidFill>
              <a:latin typeface="Consolas" pitchFamily="49" charset="0"/>
              <a:cs typeface="Consolas" pitchFamily="49" charset="0"/>
            </a:endParaRPr>
          </a:p>
        </p:txBody>
      </p:sp>
      <p:cxnSp>
        <p:nvCxnSpPr>
          <p:cNvPr id="25" name="直接连接符 24">
            <a:extLst>
              <a:ext uri="{FF2B5EF4-FFF2-40B4-BE49-F238E27FC236}">
                <a16:creationId xmlns:a16="http://schemas.microsoft.com/office/drawing/2014/main" id="{6D125FEA-B8B8-4CEB-9565-C3C1514195EE}"/>
              </a:ext>
            </a:extLst>
          </p:cNvPr>
          <p:cNvCxnSpPr>
            <a:cxnSpLocks/>
            <a:stCxn id="19" idx="6"/>
            <a:endCxn id="23" idx="2"/>
          </p:cNvCxnSpPr>
          <p:nvPr/>
        </p:nvCxnSpPr>
        <p:spPr>
          <a:xfrm>
            <a:off x="7752185" y="3429001"/>
            <a:ext cx="1155203" cy="326771"/>
          </a:xfrm>
          <a:prstGeom prst="line">
            <a:avLst/>
          </a:prstGeom>
          <a:ln w="381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CCCC7CD1-D8A1-43DE-91E8-76AADA71C42F}"/>
              </a:ext>
            </a:extLst>
          </p:cNvPr>
          <p:cNvCxnSpPr>
            <a:cxnSpLocks/>
            <a:stCxn id="16" idx="6"/>
            <a:endCxn id="24" idx="1"/>
          </p:cNvCxnSpPr>
          <p:nvPr/>
        </p:nvCxnSpPr>
        <p:spPr>
          <a:xfrm>
            <a:off x="7752185" y="4187819"/>
            <a:ext cx="1218475" cy="990120"/>
          </a:xfrm>
          <a:prstGeom prst="line">
            <a:avLst/>
          </a:prstGeom>
          <a:ln w="381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6710B6B7-47C5-4C6A-8D92-B95DB5371DD9}"/>
              </a:ext>
            </a:extLst>
          </p:cNvPr>
          <p:cNvCxnSpPr>
            <a:cxnSpLocks/>
            <a:stCxn id="21" idx="7"/>
            <a:endCxn id="23" idx="3"/>
          </p:cNvCxnSpPr>
          <p:nvPr/>
        </p:nvCxnSpPr>
        <p:spPr>
          <a:xfrm flipV="1">
            <a:off x="7688913" y="3908524"/>
            <a:ext cx="1281747" cy="942645"/>
          </a:xfrm>
          <a:prstGeom prst="line">
            <a:avLst/>
          </a:prstGeom>
          <a:ln w="381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0DB2F4CA-5A22-4D09-B629-C78ECF98CE50}"/>
              </a:ext>
            </a:extLst>
          </p:cNvPr>
          <p:cNvCxnSpPr>
            <a:cxnSpLocks/>
            <a:stCxn id="21" idx="6"/>
            <a:endCxn id="22" idx="2"/>
          </p:cNvCxnSpPr>
          <p:nvPr/>
        </p:nvCxnSpPr>
        <p:spPr>
          <a:xfrm flipV="1">
            <a:off x="7752185" y="4514590"/>
            <a:ext cx="1155203" cy="489330"/>
          </a:xfrm>
          <a:prstGeom prst="line">
            <a:avLst/>
          </a:prstGeom>
          <a:ln w="381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灯片编号占位符 1">
            <a:extLst>
              <a:ext uri="{FF2B5EF4-FFF2-40B4-BE49-F238E27FC236}">
                <a16:creationId xmlns:a16="http://schemas.microsoft.com/office/drawing/2014/main" id="{437F66A0-9A3D-4CC8-A617-BC0EA54B7DCC}"/>
              </a:ext>
            </a:extLst>
          </p:cNvPr>
          <p:cNvSpPr>
            <a:spLocks noGrp="1"/>
          </p:cNvSpPr>
          <p:nvPr>
            <p:ph type="sldNum" sz="quarter" idx="12"/>
          </p:nvPr>
        </p:nvSpPr>
        <p:spPr/>
        <p:txBody>
          <a:bodyPr/>
          <a:lstStyle/>
          <a:p>
            <a:fld id="{0C913308-F349-4B6D-A68A-DD1791B4A57B}" type="slidenum">
              <a:rPr lang="zh-CN" altLang="en-US" smtClean="0"/>
              <a:t>61</a:t>
            </a:fld>
            <a:endParaRPr lang="zh-CN" altLang="en-US"/>
          </a:p>
        </p:txBody>
      </p:sp>
    </p:spTree>
    <p:extLst>
      <p:ext uri="{BB962C8B-B14F-4D97-AF65-F5344CB8AC3E}">
        <p14:creationId xmlns:p14="http://schemas.microsoft.com/office/powerpoint/2010/main" val="1459130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P spid="19" grpId="0" animBg="1"/>
      <p:bldP spid="20" grpId="0" animBg="1"/>
      <p:bldP spid="21" grpId="0" animBg="1"/>
      <p:bldP spid="22" grpId="0" animBg="1"/>
      <p:bldP spid="23" grpId="0" animBg="1"/>
      <p:bldP spid="24"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503712" y="1181054"/>
            <a:ext cx="5330452" cy="461665"/>
          </a:xfrm>
          <a:prstGeom prst="rect">
            <a:avLst/>
          </a:prstGeom>
          <a:noFill/>
          <a:ln>
            <a:solidFill>
              <a:schemeClr val="bg2">
                <a:lumMod val="25000"/>
              </a:schemeClr>
            </a:solidFill>
          </a:ln>
        </p:spPr>
        <p:txBody>
          <a:bodyPr wrap="square">
            <a:spAutoFit/>
          </a:bodyPr>
          <a:lstStyle/>
          <a:p>
            <a:pPr algn="ctr"/>
            <a:r>
              <a:rPr lang="zh-CN" altLang="en-US" sz="2400" dirty="0">
                <a:latin typeface="Consolas" pitchFamily="49" charset="0"/>
                <a:cs typeface="Consolas" pitchFamily="49" charset="0"/>
              </a:rPr>
              <a:t>二分图建模</a:t>
            </a:r>
          </a:p>
        </p:txBody>
      </p:sp>
      <p:sp>
        <p:nvSpPr>
          <p:cNvPr id="7" name="矩形 6"/>
          <p:cNvSpPr/>
          <p:nvPr/>
        </p:nvSpPr>
        <p:spPr>
          <a:xfrm>
            <a:off x="3503712" y="1642719"/>
            <a:ext cx="5330452" cy="461665"/>
          </a:xfrm>
          <a:prstGeom prst="rect">
            <a:avLst/>
          </a:prstGeom>
          <a:solidFill>
            <a:schemeClr val="bg1"/>
          </a:solidFill>
          <a:ln>
            <a:solidFill>
              <a:schemeClr val="bg2">
                <a:lumMod val="25000"/>
              </a:schemeClr>
            </a:solidFill>
          </a:ln>
        </p:spPr>
        <p:txBody>
          <a:bodyPr wrap="square">
            <a:spAutoFit/>
          </a:bodyPr>
          <a:lstStyle/>
          <a:p>
            <a:pPr algn="ctr"/>
            <a:r>
              <a:rPr lang="zh-CN" altLang="en-US" sz="2400" dirty="0">
                <a:latin typeface="Consolas" pitchFamily="49" charset="0"/>
                <a:cs typeface="Consolas" pitchFamily="49" charset="0"/>
              </a:rPr>
              <a:t>每行对应左侧节点</a:t>
            </a:r>
          </a:p>
        </p:txBody>
      </p:sp>
      <p:sp>
        <p:nvSpPr>
          <p:cNvPr id="10" name="矩形 9">
            <a:extLst>
              <a:ext uri="{FF2B5EF4-FFF2-40B4-BE49-F238E27FC236}">
                <a16:creationId xmlns:a16="http://schemas.microsoft.com/office/drawing/2014/main" id="{938CFB30-1B42-4030-8C1B-2EA74B5D6290}"/>
              </a:ext>
            </a:extLst>
          </p:cNvPr>
          <p:cNvSpPr/>
          <p:nvPr/>
        </p:nvSpPr>
        <p:spPr>
          <a:xfrm>
            <a:off x="3503712" y="332657"/>
            <a:ext cx="5330452" cy="461665"/>
          </a:xfrm>
          <a:prstGeom prst="rect">
            <a:avLst/>
          </a:prstGeom>
          <a:solidFill>
            <a:schemeClr val="bg1">
              <a:lumMod val="95000"/>
            </a:schemeClr>
          </a:solidFill>
          <a:ln>
            <a:solidFill>
              <a:schemeClr val="bg2">
                <a:lumMod val="25000"/>
              </a:schemeClr>
            </a:solidFill>
          </a:ln>
        </p:spPr>
        <p:txBody>
          <a:bodyPr wrap="square">
            <a:spAutoFit/>
          </a:bodyPr>
          <a:lstStyle/>
          <a:p>
            <a:pPr algn="ctr"/>
            <a:r>
              <a:rPr lang="zh-CN" altLang="en-US" sz="2400" dirty="0">
                <a:latin typeface="Consolas" pitchFamily="49" charset="0"/>
                <a:cs typeface="Consolas" pitchFamily="49" charset="0"/>
              </a:rPr>
              <a:t>二维</a:t>
            </a:r>
            <a:r>
              <a:rPr lang="en-US" altLang="zh-CN" sz="2400" dirty="0">
                <a:latin typeface="Consolas" pitchFamily="49" charset="0"/>
                <a:cs typeface="Consolas" pitchFamily="49" charset="0"/>
              </a:rPr>
              <a:t>01</a:t>
            </a:r>
            <a:r>
              <a:rPr lang="zh-CN" altLang="en-US" sz="2400" dirty="0">
                <a:latin typeface="Consolas" pitchFamily="49" charset="0"/>
                <a:cs typeface="Consolas" pitchFamily="49" charset="0"/>
              </a:rPr>
              <a:t>表对应图的连通信息</a:t>
            </a:r>
          </a:p>
        </p:txBody>
      </p:sp>
      <p:sp>
        <p:nvSpPr>
          <p:cNvPr id="12" name="矩形 11">
            <a:extLst>
              <a:ext uri="{FF2B5EF4-FFF2-40B4-BE49-F238E27FC236}">
                <a16:creationId xmlns:a16="http://schemas.microsoft.com/office/drawing/2014/main" id="{B9177CC8-5E2A-42D9-B51A-7E67CAA18C92}"/>
              </a:ext>
            </a:extLst>
          </p:cNvPr>
          <p:cNvSpPr/>
          <p:nvPr/>
        </p:nvSpPr>
        <p:spPr>
          <a:xfrm>
            <a:off x="3503712" y="2104384"/>
            <a:ext cx="5330452" cy="461665"/>
          </a:xfrm>
          <a:prstGeom prst="rect">
            <a:avLst/>
          </a:prstGeom>
          <a:solidFill>
            <a:schemeClr val="bg1"/>
          </a:solidFill>
          <a:ln>
            <a:solidFill>
              <a:schemeClr val="bg2">
                <a:lumMod val="25000"/>
              </a:schemeClr>
            </a:solidFill>
          </a:ln>
        </p:spPr>
        <p:txBody>
          <a:bodyPr wrap="square">
            <a:spAutoFit/>
          </a:bodyPr>
          <a:lstStyle/>
          <a:p>
            <a:pPr algn="ctr"/>
            <a:r>
              <a:rPr lang="zh-CN" altLang="en-US" sz="2400" dirty="0">
                <a:latin typeface="Consolas" pitchFamily="49" charset="0"/>
                <a:cs typeface="Consolas" pitchFamily="49" charset="0"/>
              </a:rPr>
              <a:t>每列对应右侧节点</a:t>
            </a:r>
          </a:p>
        </p:txBody>
      </p:sp>
      <p:graphicFrame>
        <p:nvGraphicFramePr>
          <p:cNvPr id="13" name="表格 12">
            <a:extLst>
              <a:ext uri="{FF2B5EF4-FFF2-40B4-BE49-F238E27FC236}">
                <a16:creationId xmlns:a16="http://schemas.microsoft.com/office/drawing/2014/main" id="{79AB511A-539A-4E83-8AB4-39B1D107AD87}"/>
              </a:ext>
            </a:extLst>
          </p:cNvPr>
          <p:cNvGraphicFramePr>
            <a:graphicFrameLocks noGrp="1"/>
          </p:cNvGraphicFramePr>
          <p:nvPr/>
        </p:nvGraphicFramePr>
        <p:xfrm>
          <a:off x="2459595" y="3459561"/>
          <a:ext cx="2088234" cy="2174968"/>
        </p:xfrm>
        <a:graphic>
          <a:graphicData uri="http://schemas.openxmlformats.org/drawingml/2006/table">
            <a:tbl>
              <a:tblPr firstRow="1" bandRow="1">
                <a:tableStyleId>{2D5ABB26-0587-4C30-8999-92F81FD0307C}</a:tableStyleId>
              </a:tblPr>
              <a:tblGrid>
                <a:gridCol w="696078">
                  <a:extLst>
                    <a:ext uri="{9D8B030D-6E8A-4147-A177-3AD203B41FA5}">
                      <a16:colId xmlns:a16="http://schemas.microsoft.com/office/drawing/2014/main" val="20000"/>
                    </a:ext>
                  </a:extLst>
                </a:gridCol>
                <a:gridCol w="696078">
                  <a:extLst>
                    <a:ext uri="{9D8B030D-6E8A-4147-A177-3AD203B41FA5}">
                      <a16:colId xmlns:a16="http://schemas.microsoft.com/office/drawing/2014/main" val="20001"/>
                    </a:ext>
                  </a:extLst>
                </a:gridCol>
                <a:gridCol w="696078">
                  <a:extLst>
                    <a:ext uri="{9D8B030D-6E8A-4147-A177-3AD203B41FA5}">
                      <a16:colId xmlns:a16="http://schemas.microsoft.com/office/drawing/2014/main" val="20002"/>
                    </a:ext>
                  </a:extLst>
                </a:gridCol>
              </a:tblGrid>
              <a:tr h="543742">
                <a:tc>
                  <a:txBody>
                    <a:bodyPr/>
                    <a:lstStyle/>
                    <a:p>
                      <a:pPr algn="ctr"/>
                      <a:r>
                        <a:rPr lang="en-US" altLang="zh-CN" sz="2800" dirty="0"/>
                        <a:t>1</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0</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0</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543742">
                <a:tc>
                  <a:txBody>
                    <a:bodyPr/>
                    <a:lstStyle/>
                    <a:p>
                      <a:pPr algn="ctr"/>
                      <a:r>
                        <a:rPr lang="en-US" altLang="zh-CN" sz="2800" dirty="0"/>
                        <a:t>0</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0</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1</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43742">
                <a:tc>
                  <a:txBody>
                    <a:bodyPr/>
                    <a:lstStyle/>
                    <a:p>
                      <a:pPr algn="ctr"/>
                      <a:r>
                        <a:rPr lang="en-US" altLang="zh-CN" sz="2800" dirty="0"/>
                        <a:t>1</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1</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0</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43742">
                <a:tc>
                  <a:txBody>
                    <a:bodyPr/>
                    <a:lstStyle/>
                    <a:p>
                      <a:pPr algn="ctr"/>
                      <a:r>
                        <a:rPr lang="en-US" altLang="zh-CN" sz="2800" dirty="0"/>
                        <a:t>0</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0</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0</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4" name="右箭头 5">
            <a:extLst>
              <a:ext uri="{FF2B5EF4-FFF2-40B4-BE49-F238E27FC236}">
                <a16:creationId xmlns:a16="http://schemas.microsoft.com/office/drawing/2014/main" id="{5EDC2B4D-02BF-4E59-BFC8-792C94A31CE3}"/>
              </a:ext>
            </a:extLst>
          </p:cNvPr>
          <p:cNvSpPr/>
          <p:nvPr/>
        </p:nvSpPr>
        <p:spPr>
          <a:xfrm>
            <a:off x="5375920" y="4269083"/>
            <a:ext cx="1191208" cy="333618"/>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5AC37295-7759-4A8E-B8A6-D6CBFA2B4DFE}"/>
              </a:ext>
            </a:extLst>
          </p:cNvPr>
          <p:cNvSpPr/>
          <p:nvPr/>
        </p:nvSpPr>
        <p:spPr>
          <a:xfrm>
            <a:off x="7320136" y="3971795"/>
            <a:ext cx="432048" cy="432048"/>
          </a:xfrm>
          <a:prstGeom prst="ellipse">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latin typeface="Consolas" pitchFamily="49" charset="0"/>
                <a:cs typeface="Consolas" pitchFamily="49" charset="0"/>
              </a:rPr>
              <a:t>2</a:t>
            </a:r>
            <a:endParaRPr lang="zh-CN" altLang="en-US" sz="2800" dirty="0">
              <a:solidFill>
                <a:schemeClr val="tx1"/>
              </a:solidFill>
              <a:latin typeface="Consolas" pitchFamily="49" charset="0"/>
              <a:cs typeface="Consolas" pitchFamily="49" charset="0"/>
            </a:endParaRPr>
          </a:p>
        </p:txBody>
      </p:sp>
      <p:sp>
        <p:nvSpPr>
          <p:cNvPr id="19" name="椭圆 18">
            <a:extLst>
              <a:ext uri="{FF2B5EF4-FFF2-40B4-BE49-F238E27FC236}">
                <a16:creationId xmlns:a16="http://schemas.microsoft.com/office/drawing/2014/main" id="{C925AB15-177F-4365-B309-585E35BE8F9F}"/>
              </a:ext>
            </a:extLst>
          </p:cNvPr>
          <p:cNvSpPr/>
          <p:nvPr/>
        </p:nvSpPr>
        <p:spPr>
          <a:xfrm>
            <a:off x="7320136" y="3212976"/>
            <a:ext cx="432048" cy="432048"/>
          </a:xfrm>
          <a:prstGeom prst="ellipse">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latin typeface="Consolas" pitchFamily="49" charset="0"/>
                <a:cs typeface="Consolas" pitchFamily="49" charset="0"/>
              </a:rPr>
              <a:t>1</a:t>
            </a:r>
            <a:endParaRPr lang="zh-CN" altLang="en-US" sz="2800" dirty="0">
              <a:solidFill>
                <a:schemeClr val="tx1"/>
              </a:solidFill>
              <a:latin typeface="Consolas" pitchFamily="49" charset="0"/>
              <a:cs typeface="Consolas" pitchFamily="49" charset="0"/>
            </a:endParaRPr>
          </a:p>
        </p:txBody>
      </p:sp>
      <p:sp>
        <p:nvSpPr>
          <p:cNvPr id="20" name="椭圆 19">
            <a:extLst>
              <a:ext uri="{FF2B5EF4-FFF2-40B4-BE49-F238E27FC236}">
                <a16:creationId xmlns:a16="http://schemas.microsoft.com/office/drawing/2014/main" id="{266EF0F1-4E84-4F3C-952A-D8361474879D}"/>
              </a:ext>
            </a:extLst>
          </p:cNvPr>
          <p:cNvSpPr/>
          <p:nvPr/>
        </p:nvSpPr>
        <p:spPr>
          <a:xfrm>
            <a:off x="7320136" y="5547179"/>
            <a:ext cx="432048" cy="432048"/>
          </a:xfrm>
          <a:prstGeom prst="ellipse">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latin typeface="Consolas" pitchFamily="49" charset="0"/>
                <a:cs typeface="Consolas" pitchFamily="49" charset="0"/>
              </a:rPr>
              <a:t>4</a:t>
            </a:r>
            <a:endParaRPr lang="zh-CN" altLang="en-US" sz="2800" dirty="0">
              <a:solidFill>
                <a:schemeClr val="tx1"/>
              </a:solidFill>
              <a:latin typeface="Consolas" pitchFamily="49" charset="0"/>
              <a:cs typeface="Consolas" pitchFamily="49" charset="0"/>
            </a:endParaRPr>
          </a:p>
        </p:txBody>
      </p:sp>
      <p:sp>
        <p:nvSpPr>
          <p:cNvPr id="21" name="椭圆 20">
            <a:extLst>
              <a:ext uri="{FF2B5EF4-FFF2-40B4-BE49-F238E27FC236}">
                <a16:creationId xmlns:a16="http://schemas.microsoft.com/office/drawing/2014/main" id="{1B3D9614-A45F-4D1C-BFD5-A4AA7E61130B}"/>
              </a:ext>
            </a:extLst>
          </p:cNvPr>
          <p:cNvSpPr/>
          <p:nvPr/>
        </p:nvSpPr>
        <p:spPr>
          <a:xfrm>
            <a:off x="7320136" y="4787896"/>
            <a:ext cx="432048" cy="432048"/>
          </a:xfrm>
          <a:prstGeom prst="ellipse">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latin typeface="Consolas" pitchFamily="49" charset="0"/>
                <a:cs typeface="Consolas" pitchFamily="49" charset="0"/>
              </a:rPr>
              <a:t>3</a:t>
            </a:r>
            <a:endParaRPr lang="zh-CN" altLang="en-US" sz="2800" dirty="0">
              <a:solidFill>
                <a:schemeClr val="tx1"/>
              </a:solidFill>
              <a:latin typeface="Consolas" pitchFamily="49" charset="0"/>
              <a:cs typeface="Consolas" pitchFamily="49" charset="0"/>
            </a:endParaRPr>
          </a:p>
        </p:txBody>
      </p:sp>
      <p:sp>
        <p:nvSpPr>
          <p:cNvPr id="22" name="椭圆 21">
            <a:extLst>
              <a:ext uri="{FF2B5EF4-FFF2-40B4-BE49-F238E27FC236}">
                <a16:creationId xmlns:a16="http://schemas.microsoft.com/office/drawing/2014/main" id="{F97A68BC-2F8B-488B-AFD2-C98E401A4F45}"/>
              </a:ext>
            </a:extLst>
          </p:cNvPr>
          <p:cNvSpPr/>
          <p:nvPr/>
        </p:nvSpPr>
        <p:spPr>
          <a:xfrm>
            <a:off x="8907387" y="4298566"/>
            <a:ext cx="432048" cy="432048"/>
          </a:xfrm>
          <a:prstGeom prst="ellipse">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latin typeface="Consolas" pitchFamily="49" charset="0"/>
                <a:cs typeface="Consolas" pitchFamily="49" charset="0"/>
              </a:rPr>
              <a:t>6</a:t>
            </a:r>
            <a:endParaRPr lang="zh-CN" altLang="en-US" sz="2800" dirty="0">
              <a:solidFill>
                <a:schemeClr val="tx1"/>
              </a:solidFill>
              <a:latin typeface="Consolas" pitchFamily="49" charset="0"/>
              <a:cs typeface="Consolas" pitchFamily="49" charset="0"/>
            </a:endParaRPr>
          </a:p>
        </p:txBody>
      </p:sp>
      <p:sp>
        <p:nvSpPr>
          <p:cNvPr id="23" name="椭圆 22">
            <a:extLst>
              <a:ext uri="{FF2B5EF4-FFF2-40B4-BE49-F238E27FC236}">
                <a16:creationId xmlns:a16="http://schemas.microsoft.com/office/drawing/2014/main" id="{225478B2-A663-4C09-A64B-7C29EA2739D3}"/>
              </a:ext>
            </a:extLst>
          </p:cNvPr>
          <p:cNvSpPr/>
          <p:nvPr/>
        </p:nvSpPr>
        <p:spPr>
          <a:xfrm>
            <a:off x="8907387" y="3539747"/>
            <a:ext cx="432048" cy="432048"/>
          </a:xfrm>
          <a:prstGeom prst="ellipse">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latin typeface="Consolas" pitchFamily="49" charset="0"/>
                <a:cs typeface="Consolas" pitchFamily="49" charset="0"/>
              </a:rPr>
              <a:t>5</a:t>
            </a:r>
            <a:endParaRPr lang="zh-CN" altLang="en-US" sz="2800" dirty="0">
              <a:solidFill>
                <a:schemeClr val="tx1"/>
              </a:solidFill>
              <a:latin typeface="Consolas" pitchFamily="49" charset="0"/>
              <a:cs typeface="Consolas" pitchFamily="49" charset="0"/>
            </a:endParaRPr>
          </a:p>
        </p:txBody>
      </p:sp>
      <p:sp>
        <p:nvSpPr>
          <p:cNvPr id="24" name="椭圆 23">
            <a:extLst>
              <a:ext uri="{FF2B5EF4-FFF2-40B4-BE49-F238E27FC236}">
                <a16:creationId xmlns:a16="http://schemas.microsoft.com/office/drawing/2014/main" id="{7960F576-0372-472F-92DA-BF0BD30F3FC4}"/>
              </a:ext>
            </a:extLst>
          </p:cNvPr>
          <p:cNvSpPr/>
          <p:nvPr/>
        </p:nvSpPr>
        <p:spPr>
          <a:xfrm>
            <a:off x="8907387" y="5114667"/>
            <a:ext cx="432048" cy="432048"/>
          </a:xfrm>
          <a:prstGeom prst="ellipse">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latin typeface="Consolas" pitchFamily="49" charset="0"/>
                <a:cs typeface="Consolas" pitchFamily="49" charset="0"/>
              </a:rPr>
              <a:t>7</a:t>
            </a:r>
            <a:endParaRPr lang="zh-CN" altLang="en-US" sz="2800" dirty="0">
              <a:solidFill>
                <a:schemeClr val="tx1"/>
              </a:solidFill>
              <a:latin typeface="Consolas" pitchFamily="49" charset="0"/>
              <a:cs typeface="Consolas" pitchFamily="49" charset="0"/>
            </a:endParaRPr>
          </a:p>
        </p:txBody>
      </p:sp>
      <p:cxnSp>
        <p:nvCxnSpPr>
          <p:cNvPr id="25" name="直接连接符 24">
            <a:extLst>
              <a:ext uri="{FF2B5EF4-FFF2-40B4-BE49-F238E27FC236}">
                <a16:creationId xmlns:a16="http://schemas.microsoft.com/office/drawing/2014/main" id="{6D125FEA-B8B8-4CEB-9565-C3C1514195EE}"/>
              </a:ext>
            </a:extLst>
          </p:cNvPr>
          <p:cNvCxnSpPr>
            <a:cxnSpLocks/>
            <a:stCxn id="19" idx="6"/>
            <a:endCxn id="23" idx="2"/>
          </p:cNvCxnSpPr>
          <p:nvPr/>
        </p:nvCxnSpPr>
        <p:spPr>
          <a:xfrm>
            <a:off x="7752185" y="3429001"/>
            <a:ext cx="1155203" cy="326771"/>
          </a:xfrm>
          <a:prstGeom prst="line">
            <a:avLst/>
          </a:prstGeom>
          <a:ln w="381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CCCC7CD1-D8A1-43DE-91E8-76AADA71C42F}"/>
              </a:ext>
            </a:extLst>
          </p:cNvPr>
          <p:cNvCxnSpPr>
            <a:cxnSpLocks/>
            <a:stCxn id="16" idx="6"/>
            <a:endCxn id="24" idx="1"/>
          </p:cNvCxnSpPr>
          <p:nvPr/>
        </p:nvCxnSpPr>
        <p:spPr>
          <a:xfrm>
            <a:off x="7752185" y="4187819"/>
            <a:ext cx="1218475" cy="990120"/>
          </a:xfrm>
          <a:prstGeom prst="line">
            <a:avLst/>
          </a:prstGeom>
          <a:ln w="381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6710B6B7-47C5-4C6A-8D92-B95DB5371DD9}"/>
              </a:ext>
            </a:extLst>
          </p:cNvPr>
          <p:cNvCxnSpPr>
            <a:cxnSpLocks/>
            <a:stCxn id="21" idx="7"/>
            <a:endCxn id="23" idx="3"/>
          </p:cNvCxnSpPr>
          <p:nvPr/>
        </p:nvCxnSpPr>
        <p:spPr>
          <a:xfrm flipV="1">
            <a:off x="7688913" y="3908524"/>
            <a:ext cx="1281747" cy="942645"/>
          </a:xfrm>
          <a:prstGeom prst="line">
            <a:avLst/>
          </a:prstGeom>
          <a:ln w="381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0DB2F4CA-5A22-4D09-B629-C78ECF98CE50}"/>
              </a:ext>
            </a:extLst>
          </p:cNvPr>
          <p:cNvCxnSpPr>
            <a:cxnSpLocks/>
            <a:stCxn id="21" idx="6"/>
            <a:endCxn id="22" idx="2"/>
          </p:cNvCxnSpPr>
          <p:nvPr/>
        </p:nvCxnSpPr>
        <p:spPr>
          <a:xfrm flipV="1">
            <a:off x="7752185" y="4514590"/>
            <a:ext cx="1155203" cy="489330"/>
          </a:xfrm>
          <a:prstGeom prst="line">
            <a:avLst/>
          </a:prstGeom>
          <a:ln w="381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8" name="矩形 27">
            <a:extLst>
              <a:ext uri="{FF2B5EF4-FFF2-40B4-BE49-F238E27FC236}">
                <a16:creationId xmlns:a16="http://schemas.microsoft.com/office/drawing/2014/main" id="{714F5E37-4C81-408A-82E0-42B15F1F474A}"/>
              </a:ext>
            </a:extLst>
          </p:cNvPr>
          <p:cNvSpPr/>
          <p:nvPr/>
        </p:nvSpPr>
        <p:spPr>
          <a:xfrm>
            <a:off x="9514519" y="2814028"/>
            <a:ext cx="1009972" cy="830997"/>
          </a:xfrm>
          <a:prstGeom prst="rect">
            <a:avLst/>
          </a:prstGeom>
          <a:solidFill>
            <a:schemeClr val="bg1"/>
          </a:solidFill>
          <a:ln>
            <a:solidFill>
              <a:schemeClr val="bg2">
                <a:lumMod val="25000"/>
              </a:schemeClr>
            </a:solidFill>
          </a:ln>
        </p:spPr>
        <p:txBody>
          <a:bodyPr wrap="square">
            <a:spAutoFit/>
          </a:bodyPr>
          <a:lstStyle/>
          <a:p>
            <a:pPr algn="ctr"/>
            <a:r>
              <a:rPr lang="zh-CN" altLang="en-US" sz="2400" dirty="0">
                <a:latin typeface="Consolas" pitchFamily="49" charset="0"/>
                <a:cs typeface="Consolas" pitchFamily="49" charset="0"/>
              </a:rPr>
              <a:t>重新编号</a:t>
            </a:r>
          </a:p>
        </p:txBody>
      </p:sp>
      <p:sp>
        <p:nvSpPr>
          <p:cNvPr id="29" name="矩形 28">
            <a:extLst>
              <a:ext uri="{FF2B5EF4-FFF2-40B4-BE49-F238E27FC236}">
                <a16:creationId xmlns:a16="http://schemas.microsoft.com/office/drawing/2014/main" id="{0D3B59F8-4E82-48D8-B474-A7B06FD5081B}"/>
              </a:ext>
            </a:extLst>
          </p:cNvPr>
          <p:cNvSpPr/>
          <p:nvPr/>
        </p:nvSpPr>
        <p:spPr>
          <a:xfrm>
            <a:off x="3640207" y="6256215"/>
            <a:ext cx="5330452" cy="461665"/>
          </a:xfrm>
          <a:prstGeom prst="rect">
            <a:avLst/>
          </a:prstGeom>
          <a:solidFill>
            <a:srgbClr val="CCFFFF"/>
          </a:solidFill>
          <a:ln>
            <a:solidFill>
              <a:schemeClr val="bg2">
                <a:lumMod val="25000"/>
              </a:schemeClr>
            </a:solidFill>
          </a:ln>
        </p:spPr>
        <p:txBody>
          <a:bodyPr wrap="square">
            <a:spAutoFit/>
          </a:bodyPr>
          <a:lstStyle/>
          <a:p>
            <a:pPr algn="ctr"/>
            <a:r>
              <a:rPr lang="zh-CN" altLang="en-US" sz="2400" dirty="0">
                <a:latin typeface="Consolas" pitchFamily="49" charset="0"/>
                <a:cs typeface="Consolas" pitchFamily="49" charset="0"/>
              </a:rPr>
              <a:t>答案是 连通块数</a:t>
            </a:r>
            <a:r>
              <a:rPr lang="en-US" altLang="zh-CN" sz="2400" dirty="0">
                <a:latin typeface="Consolas" pitchFamily="49" charset="0"/>
                <a:cs typeface="Consolas" pitchFamily="49" charset="0"/>
              </a:rPr>
              <a:t>-1</a:t>
            </a:r>
            <a:endParaRPr lang="zh-CN" altLang="en-US" sz="2400" dirty="0">
              <a:latin typeface="Consolas" pitchFamily="49" charset="0"/>
              <a:cs typeface="Consolas" pitchFamily="49" charset="0"/>
            </a:endParaRPr>
          </a:p>
        </p:txBody>
      </p:sp>
      <p:sp>
        <p:nvSpPr>
          <p:cNvPr id="2" name="灯片编号占位符 1">
            <a:extLst>
              <a:ext uri="{FF2B5EF4-FFF2-40B4-BE49-F238E27FC236}">
                <a16:creationId xmlns:a16="http://schemas.microsoft.com/office/drawing/2014/main" id="{CD439FAE-3B78-4546-BCA5-B77A9475C81C}"/>
              </a:ext>
            </a:extLst>
          </p:cNvPr>
          <p:cNvSpPr>
            <a:spLocks noGrp="1"/>
          </p:cNvSpPr>
          <p:nvPr>
            <p:ph type="sldNum" sz="quarter" idx="12"/>
          </p:nvPr>
        </p:nvSpPr>
        <p:spPr/>
        <p:txBody>
          <a:bodyPr/>
          <a:lstStyle/>
          <a:p>
            <a:fld id="{0C913308-F349-4B6D-A68A-DD1791B4A57B}" type="slidenum">
              <a:rPr lang="zh-CN" altLang="en-US" smtClean="0"/>
              <a:t>62</a:t>
            </a:fld>
            <a:endParaRPr lang="zh-CN" altLang="en-US"/>
          </a:p>
        </p:txBody>
      </p:sp>
    </p:spTree>
    <p:extLst>
      <p:ext uri="{BB962C8B-B14F-4D97-AF65-F5344CB8AC3E}">
        <p14:creationId xmlns:p14="http://schemas.microsoft.com/office/powerpoint/2010/main" val="4265177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32A55D90-F7BB-5287-BAAC-D85D05EF49AF}"/>
              </a:ext>
            </a:extLst>
          </p:cNvPr>
          <p:cNvPicPr>
            <a:picLocks noChangeAspect="1"/>
          </p:cNvPicPr>
          <p:nvPr/>
        </p:nvPicPr>
        <p:blipFill>
          <a:blip r:embed="rId2"/>
          <a:stretch>
            <a:fillRect/>
          </a:stretch>
        </p:blipFill>
        <p:spPr>
          <a:xfrm>
            <a:off x="1703513" y="1236416"/>
            <a:ext cx="6335411" cy="3621847"/>
          </a:xfrm>
          <a:prstGeom prst="rect">
            <a:avLst/>
          </a:prstGeom>
        </p:spPr>
      </p:pic>
      <p:sp>
        <p:nvSpPr>
          <p:cNvPr id="2" name="灯片编号占位符 1">
            <a:extLst>
              <a:ext uri="{FF2B5EF4-FFF2-40B4-BE49-F238E27FC236}">
                <a16:creationId xmlns:a16="http://schemas.microsoft.com/office/drawing/2014/main" id="{E6378E1E-7FF9-4994-8717-844153EB8567}"/>
              </a:ext>
            </a:extLst>
          </p:cNvPr>
          <p:cNvSpPr>
            <a:spLocks noGrp="1"/>
          </p:cNvSpPr>
          <p:nvPr>
            <p:ph type="sldNum" sz="quarter" idx="12"/>
          </p:nvPr>
        </p:nvSpPr>
        <p:spPr/>
        <p:txBody>
          <a:bodyPr/>
          <a:lstStyle/>
          <a:p>
            <a:fld id="{0C913308-F349-4B6D-A68A-DD1791B4A57B}" type="slidenum">
              <a:rPr lang="zh-CN" altLang="en-US" smtClean="0"/>
              <a:t>63</a:t>
            </a:fld>
            <a:endParaRPr lang="zh-CN" altLang="en-US"/>
          </a:p>
        </p:txBody>
      </p:sp>
    </p:spTree>
    <p:extLst>
      <p:ext uri="{BB962C8B-B14F-4D97-AF65-F5344CB8AC3E}">
        <p14:creationId xmlns:p14="http://schemas.microsoft.com/office/powerpoint/2010/main" val="211003235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A3C9BE59-5767-6F10-5718-AE1E97E01214}"/>
              </a:ext>
            </a:extLst>
          </p:cNvPr>
          <p:cNvPicPr>
            <a:picLocks noChangeAspect="1"/>
          </p:cNvPicPr>
          <p:nvPr/>
        </p:nvPicPr>
        <p:blipFill>
          <a:blip r:embed="rId2"/>
          <a:stretch>
            <a:fillRect/>
          </a:stretch>
        </p:blipFill>
        <p:spPr>
          <a:xfrm>
            <a:off x="1919536" y="1268760"/>
            <a:ext cx="6756820" cy="3312368"/>
          </a:xfrm>
          <a:prstGeom prst="rect">
            <a:avLst/>
          </a:prstGeom>
        </p:spPr>
      </p:pic>
      <p:sp>
        <p:nvSpPr>
          <p:cNvPr id="2" name="灯片编号占位符 1">
            <a:extLst>
              <a:ext uri="{FF2B5EF4-FFF2-40B4-BE49-F238E27FC236}">
                <a16:creationId xmlns:a16="http://schemas.microsoft.com/office/drawing/2014/main" id="{E09454AC-F0E6-4A35-9BD7-68E0986A1A02}"/>
              </a:ext>
            </a:extLst>
          </p:cNvPr>
          <p:cNvSpPr>
            <a:spLocks noGrp="1"/>
          </p:cNvSpPr>
          <p:nvPr>
            <p:ph type="sldNum" sz="quarter" idx="12"/>
          </p:nvPr>
        </p:nvSpPr>
        <p:spPr/>
        <p:txBody>
          <a:bodyPr/>
          <a:lstStyle/>
          <a:p>
            <a:fld id="{0C913308-F349-4B6D-A68A-DD1791B4A57B}" type="slidenum">
              <a:rPr lang="zh-CN" altLang="en-US" smtClean="0"/>
              <a:t>64</a:t>
            </a:fld>
            <a:endParaRPr lang="zh-CN" altLang="en-US"/>
          </a:p>
        </p:txBody>
      </p:sp>
    </p:spTree>
    <p:extLst>
      <p:ext uri="{BB962C8B-B14F-4D97-AF65-F5344CB8AC3E}">
        <p14:creationId xmlns:p14="http://schemas.microsoft.com/office/powerpoint/2010/main" val="293751122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8FB29034-CADC-A83D-2102-942716EE6556}"/>
              </a:ext>
            </a:extLst>
          </p:cNvPr>
          <p:cNvPicPr>
            <a:picLocks noChangeAspect="1"/>
          </p:cNvPicPr>
          <p:nvPr/>
        </p:nvPicPr>
        <p:blipFill>
          <a:blip r:embed="rId2"/>
          <a:stretch>
            <a:fillRect/>
          </a:stretch>
        </p:blipFill>
        <p:spPr>
          <a:xfrm>
            <a:off x="1847529" y="1052737"/>
            <a:ext cx="6565413" cy="3794595"/>
          </a:xfrm>
          <a:prstGeom prst="rect">
            <a:avLst/>
          </a:prstGeom>
        </p:spPr>
      </p:pic>
      <p:sp>
        <p:nvSpPr>
          <p:cNvPr id="2" name="灯片编号占位符 1">
            <a:extLst>
              <a:ext uri="{FF2B5EF4-FFF2-40B4-BE49-F238E27FC236}">
                <a16:creationId xmlns:a16="http://schemas.microsoft.com/office/drawing/2014/main" id="{0E502B91-17C4-4D5C-9492-CB6C597A4307}"/>
              </a:ext>
            </a:extLst>
          </p:cNvPr>
          <p:cNvSpPr>
            <a:spLocks noGrp="1"/>
          </p:cNvSpPr>
          <p:nvPr>
            <p:ph type="sldNum" sz="quarter" idx="12"/>
          </p:nvPr>
        </p:nvSpPr>
        <p:spPr/>
        <p:txBody>
          <a:bodyPr/>
          <a:lstStyle/>
          <a:p>
            <a:fld id="{0C913308-F349-4B6D-A68A-DD1791B4A57B}" type="slidenum">
              <a:rPr lang="zh-CN" altLang="en-US" smtClean="0"/>
              <a:t>65</a:t>
            </a:fld>
            <a:endParaRPr lang="zh-CN" altLang="en-US"/>
          </a:p>
        </p:txBody>
      </p:sp>
    </p:spTree>
    <p:extLst>
      <p:ext uri="{BB962C8B-B14F-4D97-AF65-F5344CB8AC3E}">
        <p14:creationId xmlns:p14="http://schemas.microsoft.com/office/powerpoint/2010/main" val="414377623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53F42BD4-48B2-AF9C-EC82-1E582F06B4CE}"/>
              </a:ext>
            </a:extLst>
          </p:cNvPr>
          <p:cNvPicPr>
            <a:picLocks noChangeAspect="1"/>
          </p:cNvPicPr>
          <p:nvPr/>
        </p:nvPicPr>
        <p:blipFill>
          <a:blip r:embed="rId2"/>
          <a:stretch>
            <a:fillRect/>
          </a:stretch>
        </p:blipFill>
        <p:spPr>
          <a:xfrm>
            <a:off x="1631504" y="1412776"/>
            <a:ext cx="8028384" cy="3102428"/>
          </a:xfrm>
          <a:prstGeom prst="rect">
            <a:avLst/>
          </a:prstGeom>
        </p:spPr>
      </p:pic>
      <p:sp>
        <p:nvSpPr>
          <p:cNvPr id="2" name="灯片编号占位符 1">
            <a:extLst>
              <a:ext uri="{FF2B5EF4-FFF2-40B4-BE49-F238E27FC236}">
                <a16:creationId xmlns:a16="http://schemas.microsoft.com/office/drawing/2014/main" id="{B1B0D883-5867-40A7-8DBB-FFB0515279BE}"/>
              </a:ext>
            </a:extLst>
          </p:cNvPr>
          <p:cNvSpPr>
            <a:spLocks noGrp="1"/>
          </p:cNvSpPr>
          <p:nvPr>
            <p:ph type="sldNum" sz="quarter" idx="12"/>
          </p:nvPr>
        </p:nvSpPr>
        <p:spPr/>
        <p:txBody>
          <a:bodyPr/>
          <a:lstStyle/>
          <a:p>
            <a:fld id="{0C913308-F349-4B6D-A68A-DD1791B4A57B}" type="slidenum">
              <a:rPr lang="zh-CN" altLang="en-US" smtClean="0"/>
              <a:t>66</a:t>
            </a:fld>
            <a:endParaRPr lang="zh-CN" altLang="en-US"/>
          </a:p>
        </p:txBody>
      </p:sp>
    </p:spTree>
    <p:extLst>
      <p:ext uri="{BB962C8B-B14F-4D97-AF65-F5344CB8AC3E}">
        <p14:creationId xmlns:p14="http://schemas.microsoft.com/office/powerpoint/2010/main" val="289255397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F337C-89E2-BB33-7EC1-A18697C1C000}"/>
            </a:ext>
          </a:extLst>
        </p:cNvPr>
        <p:cNvGrpSpPr/>
        <p:nvPr/>
      </p:nvGrpSpPr>
      <p:grpSpPr>
        <a:xfrm>
          <a:off x="0" y="0"/>
          <a:ext cx="0" cy="0"/>
          <a:chOff x="0" y="0"/>
          <a:chExt cx="0" cy="0"/>
        </a:xfrm>
      </p:grpSpPr>
      <p:sp>
        <p:nvSpPr>
          <p:cNvPr id="4" name="标题 1">
            <a:extLst>
              <a:ext uri="{FF2B5EF4-FFF2-40B4-BE49-F238E27FC236}">
                <a16:creationId xmlns:a16="http://schemas.microsoft.com/office/drawing/2014/main" id="{9CD21827-D5F6-2D5F-5DCF-88072AB13FFF}"/>
              </a:ext>
            </a:extLst>
          </p:cNvPr>
          <p:cNvSpPr>
            <a:spLocks noGrp="1"/>
          </p:cNvSpPr>
          <p:nvPr>
            <p:ph type="title"/>
          </p:nvPr>
        </p:nvSpPr>
        <p:spPr>
          <a:xfrm>
            <a:off x="1626878" y="332656"/>
            <a:ext cx="8938243" cy="1143000"/>
          </a:xfrm>
        </p:spPr>
        <p:txBody>
          <a:bodyPr/>
          <a:lstStyle/>
          <a:p>
            <a:r>
              <a:rPr lang="en-US" altLang="zh-CN" dirty="0">
                <a:latin typeface="等线" panose="02010600030101010101" pitchFamily="2" charset="-122"/>
                <a:ea typeface="等线" panose="02010600030101010101" pitchFamily="2" charset="-122"/>
              </a:rPr>
              <a:t>SH-B260103 </a:t>
            </a:r>
            <a:r>
              <a:rPr lang="zh-CN" altLang="en-US">
                <a:latin typeface="等线" panose="02010600030101010101" pitchFamily="2" charset="-122"/>
                <a:ea typeface="等线" panose="02010600030101010101" pitchFamily="2" charset="-122"/>
              </a:rPr>
              <a:t>订正题</a:t>
            </a:r>
            <a:r>
              <a:rPr lang="zh-CN" altLang="en-US" dirty="0">
                <a:latin typeface="等线" panose="02010600030101010101" pitchFamily="2" charset="-122"/>
                <a:ea typeface="等线" panose="02010600030101010101" pitchFamily="2" charset="-122"/>
              </a:rPr>
              <a:t>号</a:t>
            </a:r>
            <a:endParaRPr lang="en-US" altLang="zh-CN" dirty="0">
              <a:latin typeface="等线" panose="02010600030101010101" pitchFamily="2" charset="-122"/>
              <a:ea typeface="等线" panose="02010600030101010101" pitchFamily="2" charset="-122"/>
            </a:endParaRPr>
          </a:p>
        </p:txBody>
      </p:sp>
      <p:sp>
        <p:nvSpPr>
          <p:cNvPr id="3" name="灯片编号占位符 2">
            <a:extLst>
              <a:ext uri="{FF2B5EF4-FFF2-40B4-BE49-F238E27FC236}">
                <a16:creationId xmlns:a16="http://schemas.microsoft.com/office/drawing/2014/main" id="{485F4312-E6EF-E718-6BCE-D59EA72B5968}"/>
              </a:ext>
            </a:extLst>
          </p:cNvPr>
          <p:cNvSpPr>
            <a:spLocks noGrp="1"/>
          </p:cNvSpPr>
          <p:nvPr>
            <p:ph type="sldNum" sz="quarter" idx="12"/>
          </p:nvPr>
        </p:nvSpPr>
        <p:spPr/>
        <p:txBody>
          <a:bodyPr/>
          <a:lstStyle/>
          <a:p>
            <a:fld id="{0C913308-F349-4B6D-A68A-DD1791B4A57B}" type="slidenum">
              <a:rPr lang="zh-CN" altLang="en-US" smtClean="0"/>
              <a:t>67</a:t>
            </a:fld>
            <a:endParaRPr lang="zh-CN" altLang="en-US"/>
          </a:p>
        </p:txBody>
      </p:sp>
      <p:sp>
        <p:nvSpPr>
          <p:cNvPr id="7" name="文本框 6">
            <a:extLst>
              <a:ext uri="{FF2B5EF4-FFF2-40B4-BE49-F238E27FC236}">
                <a16:creationId xmlns:a16="http://schemas.microsoft.com/office/drawing/2014/main" id="{D58E341E-D6B7-40F2-A14D-4C482CEA1359}"/>
              </a:ext>
            </a:extLst>
          </p:cNvPr>
          <p:cNvSpPr txBox="1"/>
          <p:nvPr/>
        </p:nvSpPr>
        <p:spPr>
          <a:xfrm>
            <a:off x="3431704" y="1715056"/>
            <a:ext cx="7992888" cy="3710568"/>
          </a:xfrm>
          <a:prstGeom prst="rect">
            <a:avLst/>
          </a:prstGeom>
          <a:noFill/>
        </p:spPr>
        <p:txBody>
          <a:bodyPr wrap="square">
            <a:spAutoFit/>
          </a:bodyPr>
          <a:lstStyle/>
          <a:p>
            <a:pPr>
              <a:lnSpc>
                <a:spcPct val="150000"/>
              </a:lnSpc>
            </a:pPr>
            <a:r>
              <a:rPr lang="zh-CN" altLang="en-US" sz="3200">
                <a:latin typeface="等线" panose="02010600030101010101" pitchFamily="2" charset="-122"/>
              </a:rPr>
              <a:t>T1	3465	投资方案</a:t>
            </a:r>
          </a:p>
          <a:p>
            <a:pPr>
              <a:lnSpc>
                <a:spcPct val="150000"/>
              </a:lnSpc>
            </a:pPr>
            <a:r>
              <a:rPr lang="zh-CN" altLang="en-US" sz="3200">
                <a:latin typeface="等线" panose="02010600030101010101" pitchFamily="2" charset="-122"/>
              </a:rPr>
              <a:t>T2	3355	记单词</a:t>
            </a:r>
          </a:p>
          <a:p>
            <a:pPr>
              <a:lnSpc>
                <a:spcPct val="150000"/>
              </a:lnSpc>
            </a:pPr>
            <a:r>
              <a:rPr lang="zh-CN" altLang="en-US" sz="3200">
                <a:latin typeface="等线" panose="02010600030101010101" pitchFamily="2" charset="-122"/>
              </a:rPr>
              <a:t>T3	3403	新生入学</a:t>
            </a:r>
          </a:p>
          <a:p>
            <a:pPr>
              <a:lnSpc>
                <a:spcPct val="150000"/>
              </a:lnSpc>
            </a:pPr>
            <a:r>
              <a:rPr lang="zh-CN" altLang="en-US" sz="3200">
                <a:latin typeface="等线" panose="02010600030101010101" pitchFamily="2" charset="-122"/>
              </a:rPr>
              <a:t>T4	941	罗密欧与朱丽叶3</a:t>
            </a:r>
          </a:p>
          <a:p>
            <a:pPr>
              <a:lnSpc>
                <a:spcPct val="150000"/>
              </a:lnSpc>
            </a:pPr>
            <a:r>
              <a:rPr lang="zh-CN" altLang="en-US" sz="3200">
                <a:latin typeface="等线" panose="02010600030101010101" pitchFamily="2" charset="-122"/>
              </a:rPr>
              <a:t>T5	2739	杂草种子</a:t>
            </a:r>
          </a:p>
        </p:txBody>
      </p:sp>
    </p:spTree>
    <p:extLst>
      <p:ext uri="{BB962C8B-B14F-4D97-AF65-F5344CB8AC3E}">
        <p14:creationId xmlns:p14="http://schemas.microsoft.com/office/powerpoint/2010/main" val="92917480"/>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27318</TotalTime>
  <Words>2773</Words>
  <Application>Microsoft Office PowerPoint</Application>
  <PresentationFormat>宽屏</PresentationFormat>
  <Paragraphs>687</Paragraphs>
  <Slides>67</Slides>
  <Notes>9</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67</vt:i4>
      </vt:variant>
    </vt:vector>
  </HeadingPairs>
  <TitlesOfParts>
    <vt:vector size="76" baseType="lpstr">
      <vt:lpstr>Adobe 黑体 Std R</vt:lpstr>
      <vt:lpstr>Menlo</vt:lpstr>
      <vt:lpstr>quote-cjk-patch</vt:lpstr>
      <vt:lpstr>等线</vt:lpstr>
      <vt:lpstr>等线 Light</vt:lpstr>
      <vt:lpstr>Arial</vt:lpstr>
      <vt:lpstr>Calibri</vt:lpstr>
      <vt:lpstr>Consolas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手算样例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双向BFS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SH-B260103 订正题号</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lenovon</dc:creator>
  <cp:lastModifiedBy>Jacky</cp:lastModifiedBy>
  <cp:revision>2392</cp:revision>
  <dcterms:created xsi:type="dcterms:W3CDTF">2019-05-16T12:24:14Z</dcterms:created>
  <dcterms:modified xsi:type="dcterms:W3CDTF">2026-01-22T08:32:21Z</dcterms:modified>
</cp:coreProperties>
</file>