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60"/>
  </p:notesMasterIdLst>
  <p:sldIdLst>
    <p:sldId id="652" r:id="rId2"/>
    <p:sldId id="1536" r:id="rId3"/>
    <p:sldId id="418" r:id="rId4"/>
    <p:sldId id="437" r:id="rId5"/>
    <p:sldId id="432" r:id="rId6"/>
    <p:sldId id="902" r:id="rId7"/>
    <p:sldId id="321" r:id="rId8"/>
    <p:sldId id="901" r:id="rId9"/>
    <p:sldId id="1543" r:id="rId10"/>
    <p:sldId id="257" r:id="rId11"/>
    <p:sldId id="1188" r:id="rId12"/>
    <p:sldId id="1189" r:id="rId13"/>
    <p:sldId id="1191" r:id="rId14"/>
    <p:sldId id="1192" r:id="rId15"/>
    <p:sldId id="1193" r:id="rId16"/>
    <p:sldId id="1544" r:id="rId17"/>
    <p:sldId id="662" r:id="rId18"/>
    <p:sldId id="663" r:id="rId19"/>
    <p:sldId id="664" r:id="rId20"/>
    <p:sldId id="665" r:id="rId21"/>
    <p:sldId id="666" r:id="rId22"/>
    <p:sldId id="667" r:id="rId23"/>
    <p:sldId id="668" r:id="rId24"/>
    <p:sldId id="454" r:id="rId25"/>
    <p:sldId id="669" r:id="rId26"/>
    <p:sldId id="670" r:id="rId27"/>
    <p:sldId id="671" r:id="rId28"/>
    <p:sldId id="476" r:id="rId29"/>
    <p:sldId id="672" r:id="rId30"/>
    <p:sldId id="673" r:id="rId31"/>
    <p:sldId id="674" r:id="rId32"/>
    <p:sldId id="675" r:id="rId33"/>
    <p:sldId id="1548" r:id="rId34"/>
    <p:sldId id="1547" r:id="rId35"/>
    <p:sldId id="1545" r:id="rId36"/>
    <p:sldId id="1254" r:id="rId37"/>
    <p:sldId id="1349" r:id="rId38"/>
    <p:sldId id="1358" r:id="rId39"/>
    <p:sldId id="1360" r:id="rId40"/>
    <p:sldId id="1359" r:id="rId41"/>
    <p:sldId id="1361" r:id="rId42"/>
    <p:sldId id="1362" r:id="rId43"/>
    <p:sldId id="1363" r:id="rId44"/>
    <p:sldId id="1356" r:id="rId45"/>
    <p:sldId id="1301" r:id="rId46"/>
    <p:sldId id="1306" r:id="rId47"/>
    <p:sldId id="1319" r:id="rId48"/>
    <p:sldId id="1366" r:id="rId49"/>
    <p:sldId id="1365" r:id="rId50"/>
    <p:sldId id="1368" r:id="rId51"/>
    <p:sldId id="1367" r:id="rId52"/>
    <p:sldId id="1353" r:id="rId53"/>
    <p:sldId id="1546" r:id="rId54"/>
    <p:sldId id="327" r:id="rId55"/>
    <p:sldId id="329" r:id="rId56"/>
    <p:sldId id="332" r:id="rId57"/>
    <p:sldId id="342" r:id="rId58"/>
    <p:sldId id="1535" r:id="rId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FDEADA"/>
    <a:srgbClr val="DAFF8F"/>
    <a:srgbClr val="CCFFFF"/>
    <a:srgbClr val="FFFFCC"/>
    <a:srgbClr val="7F7F7F"/>
    <a:srgbClr val="CCC1DA"/>
    <a:srgbClr val="F2F2F2"/>
    <a:srgbClr val="FFCC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78" autoAdjust="0"/>
    <p:restoredTop sz="97630" autoAdjust="0"/>
  </p:normalViewPr>
  <p:slideViewPr>
    <p:cSldViewPr>
      <p:cViewPr varScale="1">
        <p:scale>
          <a:sx n="63" d="100"/>
          <a:sy n="63" d="100"/>
        </p:scale>
        <p:origin x="62" y="6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9T06:11:31.852"/>
    </inkml:context>
    <inkml:brush xml:id="br0">
      <inkml:brushProperty name="width" value="0.05" units="cm"/>
      <inkml:brushProperty name="height" value="0.05" units="cm"/>
      <inkml:brushProperty name="color" value="#66CC00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9T06:11:32.272"/>
    </inkml:context>
    <inkml:brush xml:id="br0">
      <inkml:brushProperty name="width" value="0.05" units="cm"/>
      <inkml:brushProperty name="height" value="0.05" units="cm"/>
      <inkml:brushProperty name="color" value="#66CC00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A777B-5971-487C-8674-87B93550FBC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6F8E0-F49C-4E93-9A21-7BC557BE6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17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803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021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353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325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1B199-17E2-47C3-A789-442EBD6312F3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1B199-17E2-47C3-A789-442EBD6312F3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1B199-17E2-47C3-A789-442EBD6312F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370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1B199-17E2-47C3-A789-442EBD6312F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1B199-17E2-47C3-A789-442EBD6312F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1B199-17E2-47C3-A789-442EBD6312F3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302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57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6F8E0-F49C-4E93-9A21-7BC557BE61F6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091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331194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6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963848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705028F-7131-FB0E-F166-1DA6025452E4}"/>
              </a:ext>
            </a:extLst>
          </p:cNvPr>
          <p:cNvSpPr txBox="1">
            <a:spLocks/>
          </p:cNvSpPr>
          <p:nvPr userDrawn="1"/>
        </p:nvSpPr>
        <p:spPr>
          <a:xfrm>
            <a:off x="9192344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/58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50ED-5D37-DCE0-9FF3-51118D05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0C0CDAC-A0F6-2473-E145-30FC64982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 trans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03"/>
          <a:stretch/>
        </p:blipFill>
        <p:spPr bwMode="auto">
          <a:xfrm>
            <a:off x="-41149" y="-891480"/>
            <a:ext cx="12230363" cy="77494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5">
            <a:extLst>
              <a:ext uri="{FF2B5EF4-FFF2-40B4-BE49-F238E27FC236}">
                <a16:creationId xmlns:a16="http://schemas.microsoft.com/office/drawing/2014/main" id="{6C8C61F7-EAC1-0068-A016-4A66881184B4}"/>
              </a:ext>
            </a:extLst>
          </p:cNvPr>
          <p:cNvSpPr txBox="1"/>
          <p:nvPr/>
        </p:nvSpPr>
        <p:spPr>
          <a:xfrm>
            <a:off x="0" y="4653136"/>
            <a:ext cx="12192000" cy="110799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day1 SH-B260101 </a:t>
            </a:r>
            <a:r>
              <a:rPr lang="zh-CN" altLang="en-US" sz="660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集训</a:t>
            </a:r>
            <a:r>
              <a:rPr lang="en-US" altLang="zh-CN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-</a:t>
            </a:r>
            <a:r>
              <a:rPr lang="zh-CN" altLang="en-US" sz="6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Consolas" panose="020B0609020204030204" pitchFamily="49" charset="0"/>
                <a:ea typeface="+mj-ea"/>
                <a:cs typeface="+mn-ea"/>
              </a:rPr>
              <a:t>讲解</a:t>
            </a:r>
            <a:endParaRPr lang="zh-CN" altLang="en-US" sz="6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99DA6F-3538-408A-46E5-D64CF01522FE}"/>
              </a:ext>
            </a:extLst>
          </p:cNvPr>
          <p:cNvSpPr/>
          <p:nvPr/>
        </p:nvSpPr>
        <p:spPr>
          <a:xfrm>
            <a:off x="657096" y="428715"/>
            <a:ext cx="5400600" cy="255454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en-US" altLang="zh-CN" sz="1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C++</a:t>
            </a:r>
            <a:endParaRPr lang="zh-CN" altLang="en-US" sz="16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95887D4-41B9-7CE2-B449-1030F663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72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 dirty="0"/>
              <a:t>T1 </a:t>
            </a:r>
            <a:r>
              <a:rPr lang="zh-CN" altLang="en-US" sz="6000"/>
              <a:t>人员分配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280051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6DCF7D6-7F98-2E76-1038-47C61BF4B956}"/>
              </a:ext>
            </a:extLst>
          </p:cNvPr>
          <p:cNvSpPr/>
          <p:nvPr/>
        </p:nvSpPr>
        <p:spPr>
          <a:xfrm>
            <a:off x="765547" y="1412776"/>
            <a:ext cx="5330453" cy="255813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/>
              <a:t>给你</a:t>
            </a:r>
            <a:r>
              <a:rPr lang="en-US" altLang="zh-CN" sz="2800" dirty="0"/>
              <a:t>2*n</a:t>
            </a:r>
            <a:r>
              <a:rPr lang="zh-CN" altLang="en-US" sz="2800" dirty="0"/>
              <a:t>对数字</a:t>
            </a:r>
            <a:r>
              <a:rPr lang="en-US" altLang="zh-CN" sz="2800" dirty="0"/>
              <a:t>,</a:t>
            </a:r>
            <a:r>
              <a:rPr lang="zh-CN" altLang="en-US" sz="2800" dirty="0"/>
              <a:t>你要选出其中</a:t>
            </a:r>
            <a:r>
              <a:rPr lang="en-US" altLang="zh-CN" sz="2800" dirty="0"/>
              <a:t>n</a:t>
            </a:r>
            <a:r>
              <a:rPr lang="zh-CN" altLang="en-US" sz="2800" dirty="0"/>
              <a:t>对数字取其左数</a:t>
            </a:r>
            <a:r>
              <a:rPr lang="en-US" altLang="zh-CN" sz="2800" dirty="0"/>
              <a:t>,n</a:t>
            </a:r>
            <a:r>
              <a:rPr lang="zh-CN" altLang="en-US" sz="2800" dirty="0"/>
              <a:t>对数字取其右数</a:t>
            </a:r>
            <a:r>
              <a:rPr lang="en-US" altLang="zh-CN" sz="2800" dirty="0"/>
              <a:t>,</a:t>
            </a:r>
            <a:r>
              <a:rPr lang="zh-CN" altLang="en-US" sz="2800" dirty="0"/>
              <a:t>使得这</a:t>
            </a:r>
            <a:r>
              <a:rPr lang="en-US" altLang="zh-CN" sz="2800" dirty="0"/>
              <a:t>2*n</a:t>
            </a:r>
            <a:r>
              <a:rPr lang="zh-CN" altLang="en-US" sz="2800" dirty="0"/>
              <a:t>个数字之和最大化</a:t>
            </a:r>
            <a:endParaRPr lang="zh-CN" altLang="zh-CN" sz="2800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E6B8B73-1545-4FD5-9B81-CCA054BA1C5A}"/>
              </a:ext>
            </a:extLst>
          </p:cNvPr>
          <p:cNvSpPr txBox="1"/>
          <p:nvPr/>
        </p:nvSpPr>
        <p:spPr>
          <a:xfrm>
            <a:off x="7248128" y="1268760"/>
            <a:ext cx="2448272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输入</a:t>
            </a:r>
            <a:endParaRPr lang="en-US" altLang="zh-CN" sz="2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2</a:t>
            </a:r>
            <a:endParaRPr lang="zh-CN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50 80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60 80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60 60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30 40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08BCE7F-11D0-4A8E-8E99-A3B51F10BECA}"/>
              </a:ext>
            </a:extLst>
          </p:cNvPr>
          <p:cNvSpPr txBox="1"/>
          <p:nvPr/>
        </p:nvSpPr>
        <p:spPr>
          <a:xfrm>
            <a:off x="7248128" y="3458572"/>
            <a:ext cx="2448272" cy="70788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输出</a:t>
            </a:r>
            <a:endParaRPr lang="en-US" altLang="zh-CN" sz="2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250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34138D2-1666-4724-BC97-856E20BA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77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4367810" y="3952220"/>
            <a:ext cx="5184574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</a:rPr>
              <a:t>g[2*n][n]</a:t>
            </a:r>
            <a:r>
              <a:rPr lang="zh-CN" altLang="en-US" sz="2800" dirty="0">
                <a:latin typeface="Consolas" panose="020B0609020204030204" pitchFamily="49" charset="0"/>
              </a:rPr>
              <a:t>表示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考虑前</a:t>
            </a: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2n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人，</a:t>
            </a:r>
            <a:endParaRPr lang="en-US" altLang="zh-CN" sz="28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n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人在足球队的最大满意程度</a:t>
            </a:r>
            <a:endParaRPr lang="en-US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8FF6CE-B66E-4E76-BA43-70BDC316C600}"/>
              </a:ext>
            </a:extLst>
          </p:cNvPr>
          <p:cNvSpPr/>
          <p:nvPr/>
        </p:nvSpPr>
        <p:spPr>
          <a:xfrm>
            <a:off x="2135562" y="1034981"/>
            <a:ext cx="1008112" cy="954107"/>
          </a:xfrm>
          <a:prstGeom prst="rect">
            <a:avLst/>
          </a:prstGeom>
          <a:solidFill>
            <a:srgbClr val="FFFF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动态规划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867680-7829-4BD6-BF19-50D1E1050D6A}"/>
              </a:ext>
            </a:extLst>
          </p:cNvPr>
          <p:cNvSpPr/>
          <p:nvPr/>
        </p:nvSpPr>
        <p:spPr>
          <a:xfrm>
            <a:off x="3863755" y="1034980"/>
            <a:ext cx="2304255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</a:rPr>
              <a:t>DP</a:t>
            </a:r>
            <a:r>
              <a:rPr lang="zh-CN" altLang="en-US" sz="2800" dirty="0">
                <a:latin typeface="Consolas" panose="020B0609020204030204" pitchFamily="49" charset="0"/>
              </a:rPr>
              <a:t>第一步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2800">
                <a:latin typeface="Consolas" panose="020B0609020204030204" pitchFamily="49" charset="0"/>
              </a:rPr>
              <a:t>状态设计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3A31BA-FAD1-47D5-8BF6-6B5DDB63603B}"/>
              </a:ext>
            </a:extLst>
          </p:cNvPr>
          <p:cNvSpPr/>
          <p:nvPr/>
        </p:nvSpPr>
        <p:spPr>
          <a:xfrm>
            <a:off x="3863755" y="2475140"/>
            <a:ext cx="2304255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自然定义法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7A339C-909E-469C-946E-A0ABC6B90BF4}"/>
              </a:ext>
            </a:extLst>
          </p:cNvPr>
          <p:cNvSpPr/>
          <p:nvPr/>
        </p:nvSpPr>
        <p:spPr>
          <a:xfrm>
            <a:off x="3863755" y="2998360"/>
            <a:ext cx="2304255" cy="523220"/>
          </a:xfrm>
          <a:prstGeom prst="rect">
            <a:avLst/>
          </a:prstGeom>
          <a:solidFill>
            <a:srgbClr val="CC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抄原题大法</a:t>
            </a:r>
            <a:endParaRPr lang="en-US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C2E443-F729-4C38-96A0-764418CB917F}"/>
              </a:ext>
            </a:extLst>
          </p:cNvPr>
          <p:cNvSpPr/>
          <p:nvPr/>
        </p:nvSpPr>
        <p:spPr>
          <a:xfrm>
            <a:off x="2135563" y="2474892"/>
            <a:ext cx="1008112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尝试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216658-8EC9-481D-B611-C74610AA93B1}"/>
              </a:ext>
            </a:extLst>
          </p:cNvPr>
          <p:cNvSpPr/>
          <p:nvPr/>
        </p:nvSpPr>
        <p:spPr>
          <a:xfrm>
            <a:off x="6888088" y="2474893"/>
            <a:ext cx="302433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仿照题目问题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设计状态含义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02BBC6-436D-4F5C-89B6-0CC4B49E7848}"/>
              </a:ext>
            </a:extLst>
          </p:cNvPr>
          <p:cNvSpPr/>
          <p:nvPr/>
        </p:nvSpPr>
        <p:spPr>
          <a:xfrm>
            <a:off x="4367810" y="5067429"/>
            <a:ext cx="5184574" cy="95410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g[i][j]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表示只考虑前</a:t>
            </a: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人，</a:t>
            </a:r>
            <a:endParaRPr lang="en-US" altLang="zh-CN" sz="28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j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人在足球队的最大满意程度</a:t>
            </a:r>
            <a:endParaRPr lang="en-US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815ACB-67B3-4775-B8DB-F7CA1316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73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71967" y="1633685"/>
            <a:ext cx="1224961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n=2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564055"/>
              </p:ext>
            </p:extLst>
          </p:nvPr>
        </p:nvGraphicFramePr>
        <p:xfrm>
          <a:off x="4330717" y="1649079"/>
          <a:ext cx="4512677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1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g</a:t>
                      </a:r>
                      <a:r>
                        <a:rPr lang="en-US" altLang="zh-CN" sz="2400">
                          <a:latin typeface="Consolas" pitchFamily="49" charset="0"/>
                          <a:cs typeface="Consolas" pitchFamily="49" charset="0"/>
                        </a:rPr>
                        <a:t>[</a:t>
                      </a:r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i][j]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j=0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j=1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j=2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i=0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i=1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50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80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i=2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110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140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160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i=3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170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200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220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i=4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200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230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nsolas" pitchFamily="49" charset="0"/>
                          <a:cs typeface="Consolas" pitchFamily="49" charset="0"/>
                        </a:rPr>
                        <a:t>250</a:t>
                      </a:r>
                      <a:endParaRPr lang="zh-CN" altLang="en-US" sz="2400" dirty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933189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1271464" y="2564904"/>
            <a:ext cx="2664295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b</a:t>
            </a: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1]=50</a:t>
            </a: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,f[1]=80</a:t>
            </a:r>
          </a:p>
        </p:txBody>
      </p:sp>
      <p:sp>
        <p:nvSpPr>
          <p:cNvPr id="17" name="矩形 16"/>
          <p:cNvSpPr/>
          <p:nvPr/>
        </p:nvSpPr>
        <p:spPr>
          <a:xfrm>
            <a:off x="1524000" y="1633685"/>
            <a:ext cx="1047966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c=4</a:t>
            </a:r>
          </a:p>
        </p:txBody>
      </p:sp>
      <p:sp>
        <p:nvSpPr>
          <p:cNvPr id="18" name="矩形 17"/>
          <p:cNvSpPr/>
          <p:nvPr/>
        </p:nvSpPr>
        <p:spPr>
          <a:xfrm>
            <a:off x="1271464" y="3028890"/>
            <a:ext cx="2664295" cy="40011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b</a:t>
            </a: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[2]=60,f[2]=80</a:t>
            </a:r>
          </a:p>
        </p:txBody>
      </p:sp>
      <p:sp>
        <p:nvSpPr>
          <p:cNvPr id="19" name="矩形 18"/>
          <p:cNvSpPr/>
          <p:nvPr/>
        </p:nvSpPr>
        <p:spPr>
          <a:xfrm>
            <a:off x="1271464" y="3501008"/>
            <a:ext cx="2664294" cy="400110"/>
          </a:xfrm>
          <a:prstGeom prst="rect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b</a:t>
            </a: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[3]=60,f[3]=60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E5E880-7639-02C7-496C-E662DC41A9D9}"/>
              </a:ext>
            </a:extLst>
          </p:cNvPr>
          <p:cNvSpPr/>
          <p:nvPr/>
        </p:nvSpPr>
        <p:spPr>
          <a:xfrm>
            <a:off x="1271465" y="3960109"/>
            <a:ext cx="2664294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>
                <a:latin typeface="Consolas" pitchFamily="49" charset="0"/>
                <a:cs typeface="Consolas" pitchFamily="49" charset="0"/>
              </a:rPr>
              <a:t>b</a:t>
            </a: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[4]=30,</a:t>
            </a:r>
            <a:r>
              <a:rPr lang="en-US" altLang="zh-CN" sz="2000">
                <a:latin typeface="Consolas" pitchFamily="49" charset="0"/>
                <a:cs typeface="Consolas" pitchFamily="49" charset="0"/>
              </a:rPr>
              <a:t>f[4]=</a:t>
            </a: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40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4B5B52-8842-E594-D668-F6D9AF645B27}"/>
              </a:ext>
            </a:extLst>
          </p:cNvPr>
          <p:cNvSpPr/>
          <p:nvPr/>
        </p:nvSpPr>
        <p:spPr>
          <a:xfrm>
            <a:off x="4702509" y="188641"/>
            <a:ext cx="5184574" cy="95410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g[i][j]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表示只考虑前</a:t>
            </a: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人，</a:t>
            </a:r>
            <a:endParaRPr lang="en-US" altLang="zh-CN" sz="28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j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人在足球队的最大满意程度</a:t>
            </a:r>
            <a:endParaRPr lang="en-US" altLang="zh-CN" sz="2800" dirty="0"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BA2A83A-849A-007A-8435-BA0ECD01277E}"/>
              </a:ext>
            </a:extLst>
          </p:cNvPr>
          <p:cNvCxnSpPr>
            <a:cxnSpLocks/>
          </p:cNvCxnSpPr>
          <p:nvPr/>
        </p:nvCxnSpPr>
        <p:spPr>
          <a:xfrm>
            <a:off x="7270006" y="3754883"/>
            <a:ext cx="0" cy="50136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F9C7DF7-D05A-8035-C02F-A1A594E1F9C2}"/>
              </a:ext>
            </a:extLst>
          </p:cNvPr>
          <p:cNvCxnSpPr>
            <a:cxnSpLocks/>
          </p:cNvCxnSpPr>
          <p:nvPr/>
        </p:nvCxnSpPr>
        <p:spPr>
          <a:xfrm>
            <a:off x="6557807" y="3701999"/>
            <a:ext cx="514720" cy="488087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EB16FDC-9C36-1335-5DCB-D81001021591}"/>
              </a:ext>
            </a:extLst>
          </p:cNvPr>
          <p:cNvSpPr/>
          <p:nvPr/>
        </p:nvSpPr>
        <p:spPr>
          <a:xfrm>
            <a:off x="3359696" y="4581129"/>
            <a:ext cx="7200800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g</a:t>
            </a:r>
            <a:r>
              <a:rPr lang="en-US" altLang="zh-CN" sz="2400">
                <a:latin typeface="Consolas" pitchFamily="49" charset="0"/>
                <a:cs typeface="Consolas" pitchFamily="49" charset="0"/>
              </a:rPr>
              <a:t>[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4][1]=max(f[3][0]+f[4], f[3][1]+b[4])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6342E937-BDB8-77D6-EB19-B6D27951BB84}"/>
              </a:ext>
            </a:extLst>
          </p:cNvPr>
          <p:cNvSpPr txBox="1"/>
          <p:nvPr/>
        </p:nvSpPr>
        <p:spPr>
          <a:xfrm>
            <a:off x="6084103" y="5572862"/>
            <a:ext cx="1195984" cy="461665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dirty="0">
                <a:latin typeface="Consolas" pitchFamily="49" charset="0"/>
                <a:ea typeface="宋体" pitchFamily="2" charset="-122"/>
                <a:cs typeface="Consolas" pitchFamily="49" charset="0"/>
              </a:rPr>
              <a:t>决策</a:t>
            </a:r>
            <a:endParaRPr lang="en-US" altLang="zh-CN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3B75E42-35B7-8E38-0E60-FE21DE43B188}"/>
              </a:ext>
            </a:extLst>
          </p:cNvPr>
          <p:cNvSpPr txBox="1"/>
          <p:nvPr/>
        </p:nvSpPr>
        <p:spPr>
          <a:xfrm>
            <a:off x="8306320" y="5562389"/>
            <a:ext cx="1195984" cy="461665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dirty="0">
                <a:latin typeface="Consolas" pitchFamily="49" charset="0"/>
                <a:ea typeface="宋体" pitchFamily="2" charset="-122"/>
                <a:cs typeface="Consolas" pitchFamily="49" charset="0"/>
              </a:rPr>
              <a:t>决策</a:t>
            </a:r>
            <a:endParaRPr lang="en-US" altLang="zh-CN" dirty="0"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97B6D58-8667-4DB4-2C4E-7E660A9A5892}"/>
              </a:ext>
            </a:extLst>
          </p:cNvPr>
          <p:cNvCxnSpPr>
            <a:stCxn id="16" idx="0"/>
          </p:cNvCxnSpPr>
          <p:nvPr/>
        </p:nvCxnSpPr>
        <p:spPr>
          <a:xfrm flipV="1">
            <a:off x="6682095" y="5042795"/>
            <a:ext cx="0" cy="530067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CC95850-C662-1B08-6F37-56ABF266DA34}"/>
              </a:ext>
            </a:extLst>
          </p:cNvPr>
          <p:cNvCxnSpPr>
            <a:stCxn id="20" idx="0"/>
          </p:cNvCxnSpPr>
          <p:nvPr/>
        </p:nvCxnSpPr>
        <p:spPr>
          <a:xfrm flipV="1">
            <a:off x="8904312" y="5042794"/>
            <a:ext cx="0" cy="519595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3">
            <a:extLst>
              <a:ext uri="{FF2B5EF4-FFF2-40B4-BE49-F238E27FC236}">
                <a16:creationId xmlns:a16="http://schemas.microsoft.com/office/drawing/2014/main" id="{D821FE47-0BE6-07D5-AB5F-787238CCFD04}"/>
              </a:ext>
            </a:extLst>
          </p:cNvPr>
          <p:cNvSpPr txBox="1"/>
          <p:nvPr/>
        </p:nvSpPr>
        <p:spPr>
          <a:xfrm>
            <a:off x="6074022" y="6027004"/>
            <a:ext cx="1195984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dirty="0">
                <a:latin typeface="Consolas" pitchFamily="49" charset="0"/>
                <a:ea typeface="宋体" pitchFamily="2" charset="-122"/>
                <a:cs typeface="Consolas" pitchFamily="49" charset="0"/>
              </a:rPr>
              <a:t>足球队</a:t>
            </a: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5D217A79-9DE1-1AE5-F660-897B9822909D}"/>
              </a:ext>
            </a:extLst>
          </p:cNvPr>
          <p:cNvSpPr txBox="1"/>
          <p:nvPr/>
        </p:nvSpPr>
        <p:spPr>
          <a:xfrm>
            <a:off x="8306320" y="6024054"/>
            <a:ext cx="1195984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dirty="0">
                <a:latin typeface="Consolas" pitchFamily="49" charset="0"/>
                <a:ea typeface="宋体" pitchFamily="2" charset="-122"/>
                <a:cs typeface="Consolas" pitchFamily="49" charset="0"/>
              </a:rPr>
              <a:t>篮球队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D700CA-4761-6FD9-5723-52E208C61E47}"/>
              </a:ext>
            </a:extLst>
          </p:cNvPr>
          <p:cNvSpPr/>
          <p:nvPr/>
        </p:nvSpPr>
        <p:spPr>
          <a:xfrm>
            <a:off x="2279577" y="5432200"/>
            <a:ext cx="961989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700" dirty="0">
                <a:latin typeface="Consolas" pitchFamily="49" charset="0"/>
                <a:cs typeface="Consolas" pitchFamily="49" charset="0"/>
              </a:rPr>
              <a:t>01</a:t>
            </a:r>
          </a:p>
          <a:p>
            <a:pPr algn="ctr"/>
            <a:r>
              <a:rPr lang="zh-CN" altLang="en-US" sz="2700" dirty="0">
                <a:latin typeface="Consolas" pitchFamily="49" charset="0"/>
                <a:cs typeface="Consolas" pitchFamily="49" charset="0"/>
              </a:rPr>
              <a:t>决策</a:t>
            </a:r>
            <a:endParaRPr lang="en-US" altLang="zh-CN" sz="27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F6B8C6-4DCC-4A64-8289-9FA3B732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52CEF052-32CB-4B26-8686-EF752F2D149B}"/>
              </a:ext>
            </a:extLst>
          </p:cNvPr>
          <p:cNvSpPr txBox="1"/>
          <p:nvPr/>
        </p:nvSpPr>
        <p:spPr>
          <a:xfrm>
            <a:off x="0" y="2528"/>
            <a:ext cx="1224961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sz="2000" dirty="0">
                <a:latin typeface="Consolas" pitchFamily="49" charset="0"/>
                <a:cs typeface="Consolas" pitchFamily="49" charset="0"/>
              </a:rPr>
              <a:t>输入</a:t>
            </a:r>
            <a:endParaRPr lang="en-US" altLang="zh-CN" sz="20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2</a:t>
            </a:r>
            <a:endParaRPr lang="zh-CN" altLang="zh-CN" sz="2000" dirty="0">
              <a:latin typeface="Consolas" panose="020B0609020204030204" pitchFamily="49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</a:rPr>
              <a:t>50 80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60 80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60 60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30 40</a:t>
            </a:r>
            <a:endParaRPr lang="zh-CN" altLang="zh-CN" sz="2000" dirty="0">
              <a:latin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EE48C7-B3CD-456E-BE32-7A1D41285FFB}"/>
              </a:ext>
            </a:extLst>
          </p:cNvPr>
          <p:cNvSpPr/>
          <p:nvPr/>
        </p:nvSpPr>
        <p:spPr>
          <a:xfrm>
            <a:off x="5797808" y="2641222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90350BE-90C8-432B-8015-544049DB9D4F}"/>
              </a:ext>
            </a:extLst>
          </p:cNvPr>
          <p:cNvSpPr/>
          <p:nvPr/>
        </p:nvSpPr>
        <p:spPr>
          <a:xfrm>
            <a:off x="6849095" y="2641222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EDF731-2A34-4E25-90F5-4AB5DC639E73}"/>
              </a:ext>
            </a:extLst>
          </p:cNvPr>
          <p:cNvSpPr/>
          <p:nvPr/>
        </p:nvSpPr>
        <p:spPr>
          <a:xfrm>
            <a:off x="7819947" y="2614847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B49A1FF-B230-4B86-827A-34B74E4C6E24}"/>
              </a:ext>
            </a:extLst>
          </p:cNvPr>
          <p:cNvSpPr/>
          <p:nvPr/>
        </p:nvSpPr>
        <p:spPr>
          <a:xfrm>
            <a:off x="7916672" y="2610979"/>
            <a:ext cx="874127" cy="3485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711E8F0-C0B1-4A3E-867C-303C47028AF7}"/>
              </a:ext>
            </a:extLst>
          </p:cNvPr>
          <p:cNvSpPr/>
          <p:nvPr/>
        </p:nvSpPr>
        <p:spPr>
          <a:xfrm>
            <a:off x="5750392" y="3133333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EAFF0E5-5F7B-4FD8-99FD-66CBB32528F5}"/>
              </a:ext>
            </a:extLst>
          </p:cNvPr>
          <p:cNvSpPr/>
          <p:nvPr/>
        </p:nvSpPr>
        <p:spPr>
          <a:xfrm>
            <a:off x="6801679" y="3133333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55C77C8-0837-4CFC-984B-A6233DF01A6C}"/>
              </a:ext>
            </a:extLst>
          </p:cNvPr>
          <p:cNvSpPr/>
          <p:nvPr/>
        </p:nvSpPr>
        <p:spPr>
          <a:xfrm>
            <a:off x="7869256" y="3133333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122F863-B086-4BCF-8E92-1E95CD203B2C}"/>
              </a:ext>
            </a:extLst>
          </p:cNvPr>
          <p:cNvSpPr/>
          <p:nvPr/>
        </p:nvSpPr>
        <p:spPr>
          <a:xfrm>
            <a:off x="5741723" y="3590595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D09C476-99A3-4356-AA98-0F00190355D8}"/>
              </a:ext>
            </a:extLst>
          </p:cNvPr>
          <p:cNvSpPr/>
          <p:nvPr/>
        </p:nvSpPr>
        <p:spPr>
          <a:xfrm>
            <a:off x="6793010" y="3590595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D0C7B70-8283-43B1-B8D7-DE491B30D09B}"/>
              </a:ext>
            </a:extLst>
          </p:cNvPr>
          <p:cNvSpPr/>
          <p:nvPr/>
        </p:nvSpPr>
        <p:spPr>
          <a:xfrm>
            <a:off x="7860587" y="3590595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88DB742-264B-47B5-A156-357DC4101973}"/>
              </a:ext>
            </a:extLst>
          </p:cNvPr>
          <p:cNvSpPr/>
          <p:nvPr/>
        </p:nvSpPr>
        <p:spPr>
          <a:xfrm>
            <a:off x="5762768" y="4035565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DECF5B2-3656-4379-898E-6C66C95432C7}"/>
              </a:ext>
            </a:extLst>
          </p:cNvPr>
          <p:cNvSpPr/>
          <p:nvPr/>
        </p:nvSpPr>
        <p:spPr>
          <a:xfrm>
            <a:off x="6814055" y="4035565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B895037-12F9-4AE3-86BB-8E869C65E71F}"/>
              </a:ext>
            </a:extLst>
          </p:cNvPr>
          <p:cNvSpPr/>
          <p:nvPr/>
        </p:nvSpPr>
        <p:spPr>
          <a:xfrm>
            <a:off x="7881632" y="4035565"/>
            <a:ext cx="874127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23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3" grpId="0" animBg="1"/>
      <p:bldP spid="14" grpId="0" animBg="1"/>
      <p:bldP spid="16" grpId="0" animBg="1"/>
      <p:bldP spid="20" grpId="0" animBg="1"/>
      <p:bldP spid="23" grpId="0" animBg="1"/>
      <p:bldP spid="24" grpId="0" animBg="1"/>
      <p:bldP spid="25" grpId="0" animBg="1"/>
      <p:bldP spid="8" grpId="0" animBg="1"/>
      <p:bldP spid="27" grpId="0" animBg="1"/>
      <p:bldP spid="29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EF4483D-F73A-49EA-B407-C96998B875DB}"/>
              </a:ext>
            </a:extLst>
          </p:cNvPr>
          <p:cNvSpPr/>
          <p:nvPr/>
        </p:nvSpPr>
        <p:spPr>
          <a:xfrm>
            <a:off x="1524000" y="1"/>
            <a:ext cx="1296144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方法</a:t>
            </a: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1</a:t>
            </a:r>
            <a:endParaRPr lang="zh-CN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DA841C-3649-D628-9314-020F2B30D64C}"/>
              </a:ext>
            </a:extLst>
          </p:cNvPr>
          <p:cNvSpPr/>
          <p:nvPr/>
        </p:nvSpPr>
        <p:spPr>
          <a:xfrm>
            <a:off x="5015880" y="404665"/>
            <a:ext cx="5426000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g[i][j]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表示只考虑前</a:t>
            </a: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i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人，</a:t>
            </a: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j</a:t>
            </a:r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人在足球队的最大满意程度</a:t>
            </a:r>
            <a:endParaRPr lang="en-US" altLang="zh-CN" sz="2800" dirty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D8B507D-98F5-A75B-139C-D8049BCDC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1870047"/>
            <a:ext cx="11064240" cy="3117907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19E40E-1896-45A5-AE0A-65929C47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27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107669" y="3307053"/>
            <a:ext cx="7225187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每次挑选足球意愿比篮球意愿强最多的人加入足球队</a:t>
            </a:r>
            <a:endParaRPr lang="zh-CN" altLang="zh-CN" sz="2400" dirty="0"/>
          </a:p>
        </p:txBody>
      </p:sp>
      <p:sp>
        <p:nvSpPr>
          <p:cNvPr id="33" name="矩形 32"/>
          <p:cNvSpPr/>
          <p:nvPr/>
        </p:nvSpPr>
        <p:spPr>
          <a:xfrm>
            <a:off x="1859145" y="3224518"/>
            <a:ext cx="1078178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/>
              <a:t>贪心算法</a:t>
            </a:r>
            <a:endParaRPr lang="zh-CN" altLang="zh-CN" sz="2400" dirty="0"/>
          </a:p>
        </p:txBody>
      </p:sp>
      <p:sp>
        <p:nvSpPr>
          <p:cNvPr id="12" name="矩形 11"/>
          <p:cNvSpPr/>
          <p:nvPr/>
        </p:nvSpPr>
        <p:spPr>
          <a:xfrm>
            <a:off x="1859145" y="5458745"/>
            <a:ext cx="4925498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讨论题：为什么该贪心法正确</a:t>
            </a:r>
            <a:r>
              <a:rPr lang="en-US" altLang="zh-CN" sz="2800" dirty="0"/>
              <a:t>?</a:t>
            </a:r>
          </a:p>
        </p:txBody>
      </p:sp>
      <p:sp>
        <p:nvSpPr>
          <p:cNvPr id="14" name="矩形 13"/>
          <p:cNvSpPr/>
          <p:nvPr/>
        </p:nvSpPr>
        <p:spPr>
          <a:xfrm>
            <a:off x="4743987" y="3919725"/>
            <a:ext cx="558886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剩下的人加入篮球队</a:t>
            </a:r>
            <a:endParaRPr lang="zh-CN" altLang="zh-CN" sz="2400" dirty="0"/>
          </a:p>
        </p:txBody>
      </p:sp>
      <p:sp>
        <p:nvSpPr>
          <p:cNvPr id="15" name="矩形 14"/>
          <p:cNvSpPr/>
          <p:nvPr/>
        </p:nvSpPr>
        <p:spPr>
          <a:xfrm>
            <a:off x="1851050" y="1792595"/>
            <a:ext cx="1508647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简化问题</a:t>
            </a:r>
            <a:endParaRPr lang="zh-CN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AD2CCB-DB6C-F04F-2F25-59429DEA6475}"/>
              </a:ext>
            </a:extLst>
          </p:cNvPr>
          <p:cNvSpPr/>
          <p:nvPr/>
        </p:nvSpPr>
        <p:spPr>
          <a:xfrm>
            <a:off x="1847528" y="1193208"/>
            <a:ext cx="389254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/>
              <a:t>i</a:t>
            </a:r>
            <a:r>
              <a:rPr lang="zh-CN" altLang="en-US" sz="2000" dirty="0"/>
              <a:t>号成员有两个属性</a:t>
            </a:r>
            <a:r>
              <a:rPr lang="en-US" altLang="zh-CN" sz="2000" dirty="0"/>
              <a:t>fi,bi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D50746-C0DC-AA93-6C4A-DCFEB8B21864}"/>
              </a:ext>
            </a:extLst>
          </p:cNvPr>
          <p:cNvSpPr/>
          <p:nvPr/>
        </p:nvSpPr>
        <p:spPr>
          <a:xfrm>
            <a:off x="1853531" y="2159413"/>
            <a:ext cx="3892548" cy="70788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考虑只有两人</a:t>
            </a:r>
            <a:endParaRPr lang="en-US" altLang="zh-CN" sz="2000" dirty="0"/>
          </a:p>
          <a:p>
            <a:pPr algn="ctr"/>
            <a:r>
              <a:rPr lang="zh-CN" altLang="en-US" sz="2000" dirty="0"/>
              <a:t>如何决定？</a:t>
            </a:r>
            <a:endParaRPr lang="en-US" altLang="zh-CN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F8FF93-AD7A-03D1-F24E-61DA68E1A51E}"/>
              </a:ext>
            </a:extLst>
          </p:cNvPr>
          <p:cNvSpPr/>
          <p:nvPr/>
        </p:nvSpPr>
        <p:spPr>
          <a:xfrm>
            <a:off x="1524000" y="1"/>
            <a:ext cx="1296144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方法</a:t>
            </a:r>
            <a:r>
              <a:rPr lang="en-US" altLang="zh-CN" sz="2800" dirty="0">
                <a:latin typeface="Consolas" pitchFamily="49" charset="0"/>
                <a:cs typeface="Consolas" pitchFamily="49" charset="0"/>
              </a:rPr>
              <a:t>2</a:t>
            </a:r>
            <a:endParaRPr lang="zh-CN" altLang="zh-CN" sz="2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EAEB52-7EAF-4454-99DE-94CCD933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83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3" grpId="0" animBg="1"/>
      <p:bldP spid="12" grpId="0" animBg="1"/>
      <p:bldP spid="14" grpId="0" animBg="1"/>
      <p:bldP spid="15" grpId="0" animBg="1"/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EF4483D-F73A-49EA-B407-C96998B875DB}"/>
              </a:ext>
            </a:extLst>
          </p:cNvPr>
          <p:cNvSpPr/>
          <p:nvPr/>
        </p:nvSpPr>
        <p:spPr>
          <a:xfrm>
            <a:off x="1524000" y="1"/>
            <a:ext cx="1296144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itchFamily="49" charset="0"/>
                <a:cs typeface="Consolas" pitchFamily="49" charset="0"/>
              </a:rPr>
              <a:t>贪心法</a:t>
            </a:r>
            <a:endParaRPr lang="zh-CN" altLang="zh-CN" sz="2800" dirty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85FCBA-B665-2B72-7E19-93E11E288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385" y="777102"/>
            <a:ext cx="8345446" cy="25704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993DE6-E9A6-52CC-526A-A0DCA872A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378" y="3513406"/>
            <a:ext cx="8610564" cy="257048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BDFCEF-C722-4E3E-B747-53E1C65E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70D5F8-6A3A-45A3-B66F-10CF53BED7B0}"/>
              </a:ext>
            </a:extLst>
          </p:cNvPr>
          <p:cNvSpPr/>
          <p:nvPr/>
        </p:nvSpPr>
        <p:spPr>
          <a:xfrm>
            <a:off x="3784968" y="2708920"/>
            <a:ext cx="2777732" cy="30005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D1B741-5B58-4B2E-8992-68730124182C}"/>
              </a:ext>
            </a:extLst>
          </p:cNvPr>
          <p:cNvSpPr/>
          <p:nvPr/>
        </p:nvSpPr>
        <p:spPr>
          <a:xfrm>
            <a:off x="6816081" y="2705057"/>
            <a:ext cx="1440160" cy="338554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/>
              <a:t>净收益排序</a:t>
            </a:r>
            <a:endParaRPr lang="zh-CN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56045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 dirty="0"/>
              <a:t>T2 </a:t>
            </a:r>
            <a:r>
              <a:rPr lang="zh-CN" altLang="en-US" sz="6000"/>
              <a:t>高频词汇</a:t>
            </a:r>
            <a:r>
              <a:rPr lang="en-US" altLang="zh-CN" sz="6000" dirty="0"/>
              <a:t>  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2086638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430774" y="764704"/>
            <a:ext cx="533045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请同学写出题目大意</a:t>
            </a:r>
            <a:endParaRPr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已知什么求什么</a:t>
            </a:r>
          </a:p>
        </p:txBody>
      </p:sp>
      <p:sp>
        <p:nvSpPr>
          <p:cNvPr id="7" name="矩形 6"/>
          <p:cNvSpPr/>
          <p:nvPr/>
        </p:nvSpPr>
        <p:spPr>
          <a:xfrm>
            <a:off x="3430139" y="2056057"/>
            <a:ext cx="5330452" cy="100739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给出若干个单词，求出现频率最高的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前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K</a:t>
            </a:r>
            <a:r>
              <a:rPr lang="zh-CN" alt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个</a:t>
            </a:r>
            <a:br>
              <a:rPr lang="zh-CN" altLang="en-US" sz="2000" dirty="0">
                <a:latin typeface="Consolas" panose="020B0609020204030204" pitchFamily="49" charset="0"/>
              </a:rPr>
            </a:br>
            <a:r>
              <a:rPr lang="zh-CN" altLang="en-US" sz="2000" dirty="0">
                <a:latin typeface="Consolas" panose="020B0609020204030204" pitchFamily="49" charset="0"/>
              </a:rPr>
              <a:t>典型</a:t>
            </a:r>
            <a:r>
              <a:rPr lang="en-US" altLang="zh-CN" sz="2200" dirty="0">
                <a:solidFill>
                  <a:srgbClr val="FF0000"/>
                </a:solidFill>
                <a:latin typeface="Consolas" panose="020B0609020204030204" pitchFamily="49" charset="0"/>
              </a:rPr>
              <a:t>TopK</a:t>
            </a:r>
            <a:r>
              <a:rPr lang="zh-CN" altLang="en-US" sz="2000" dirty="0">
                <a:latin typeface="Consolas" panose="020B0609020204030204" pitchFamily="49" charset="0"/>
              </a:rPr>
              <a:t>问题</a:t>
            </a:r>
          </a:p>
        </p:txBody>
      </p:sp>
      <p:sp>
        <p:nvSpPr>
          <p:cNvPr id="6" name="矩形 5"/>
          <p:cNvSpPr/>
          <p:nvPr/>
        </p:nvSpPr>
        <p:spPr>
          <a:xfrm>
            <a:off x="3430139" y="4292527"/>
            <a:ext cx="5330452" cy="96821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方案一</a:t>
            </a:r>
            <a:r>
              <a:rPr lang="en-US" altLang="zh-CN" sz="2000" dirty="0">
                <a:latin typeface="Consolas" panose="020B0609020204030204" pitchFamily="49" charset="0"/>
              </a:rPr>
              <a:t>:</a:t>
            </a:r>
            <a:r>
              <a:rPr lang="zh-CN" altLang="en-US" sz="2000" dirty="0">
                <a:latin typeface="Consolas" panose="020B0609020204030204" pitchFamily="49" charset="0"/>
              </a:rPr>
              <a:t>单词数量未知，考虑</a:t>
            </a:r>
            <a:r>
              <a:rPr lang="en-US" altLang="zh-CN" sz="2000" dirty="0">
                <a:latin typeface="Consolas" panose="020B0609020204030204" pitchFamily="49" charset="0"/>
              </a:rPr>
              <a:t>while-cin</a:t>
            </a:r>
            <a:r>
              <a:rPr lang="zh-CN" altLang="en-US" sz="2000" dirty="0">
                <a:latin typeface="Consolas" panose="020B0609020204030204" pitchFamily="49" charset="0"/>
              </a:rPr>
              <a:t>结构</a:t>
            </a: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但</a:t>
            </a:r>
            <a:r>
              <a:rPr lang="en-US" altLang="zh-CN" sz="2000" dirty="0">
                <a:latin typeface="Consolas" panose="020B0609020204030204" pitchFamily="49" charset="0"/>
              </a:rPr>
              <a:t>K</a:t>
            </a:r>
            <a:r>
              <a:rPr lang="zh-CN" altLang="en-US" sz="2000" dirty="0">
                <a:latin typeface="Consolas" panose="020B0609020204030204" pitchFamily="49" charset="0"/>
              </a:rPr>
              <a:t>的值是在第二行给出，考虑字符串转数字</a:t>
            </a:r>
          </a:p>
        </p:txBody>
      </p:sp>
      <p:sp>
        <p:nvSpPr>
          <p:cNvPr id="10" name="矩形 9"/>
          <p:cNvSpPr/>
          <p:nvPr/>
        </p:nvSpPr>
        <p:spPr>
          <a:xfrm>
            <a:off x="3430139" y="3309149"/>
            <a:ext cx="5330452" cy="460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思考</a:t>
            </a:r>
            <a:r>
              <a:rPr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该如何处理输入？</a:t>
            </a:r>
          </a:p>
        </p:txBody>
      </p:sp>
      <p:sp>
        <p:nvSpPr>
          <p:cNvPr id="11" name="矩形 10"/>
          <p:cNvSpPr/>
          <p:nvPr/>
        </p:nvSpPr>
        <p:spPr>
          <a:xfrm>
            <a:off x="3430774" y="5460927"/>
            <a:ext cx="5330452" cy="96821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方案二</a:t>
            </a:r>
            <a:r>
              <a:rPr lang="en-US" altLang="zh-CN" sz="2000" dirty="0">
                <a:latin typeface="Consolas" panose="020B0609020204030204" pitchFamily="49" charset="0"/>
              </a:rPr>
              <a:t>:</a:t>
            </a:r>
            <a:r>
              <a:rPr lang="zh-CN" altLang="en-US" sz="2000" dirty="0">
                <a:latin typeface="Consolas" panose="020B0609020204030204" pitchFamily="49" charset="0"/>
              </a:rPr>
              <a:t>把第一行读进一个字符串</a:t>
            </a:r>
            <a:r>
              <a:rPr lang="en-US" altLang="zh-CN" sz="2000" dirty="0">
                <a:latin typeface="Consolas" panose="020B0609020204030204" pitchFamily="49" charset="0"/>
              </a:rPr>
              <a:t>S</a:t>
            </a:r>
            <a:br>
              <a:rPr lang="en-US" altLang="zh-CN" sz="2000" dirty="0">
                <a:latin typeface="Consolas" panose="020B0609020204030204" pitchFamily="49" charset="0"/>
              </a:rPr>
            </a:br>
            <a:r>
              <a:rPr lang="zh-CN" altLang="en-US" sz="2000" dirty="0">
                <a:latin typeface="Consolas" panose="020B0609020204030204" pitchFamily="49" charset="0"/>
              </a:rPr>
              <a:t>然后遍历</a:t>
            </a:r>
            <a:r>
              <a:rPr lang="en-US" altLang="zh-CN" sz="2000" dirty="0">
                <a:latin typeface="Consolas" panose="020B0609020204030204" pitchFamily="49" charset="0"/>
              </a:rPr>
              <a:t>S</a:t>
            </a:r>
            <a:r>
              <a:rPr lang="zh-CN" altLang="en-US" sz="2000" dirty="0">
                <a:latin typeface="Consolas" panose="020B0609020204030204" pitchFamily="49" charset="0"/>
              </a:rPr>
              <a:t>，提取单词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7AF064-3464-FEB8-DCF2-07D72C85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6" grpId="0" bldLvl="0" animBg="1"/>
      <p:bldP spid="10" grpId="0" animBg="1"/>
      <p:bldP spid="1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40"/>
            <a:ext cx="8229600" cy="922113"/>
          </a:xfrm>
        </p:spPr>
        <p:txBody>
          <a:bodyPr/>
          <a:lstStyle/>
          <a:p>
            <a:r>
              <a:rPr lang="en-US" altLang="zh-CN" dirty="0"/>
              <a:t>map</a:t>
            </a:r>
            <a:r>
              <a:rPr lang="zh-CN" altLang="en-US" dirty="0"/>
              <a:t>做频率统计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1744" y="4005065"/>
            <a:ext cx="5330286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3200" dirty="0"/>
              <a:t>常用方法：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5520" y="2492897"/>
            <a:ext cx="2016224" cy="583565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en-US" altLang="zh-CN" sz="3200" dirty="0"/>
              <a:t>TopK</a:t>
            </a:r>
            <a:r>
              <a:rPr lang="zh-CN" altLang="en-US" sz="3200" dirty="0"/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1744" y="2492897"/>
            <a:ext cx="6431880" cy="5835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3200" dirty="0"/>
              <a:t>求出现频率最高的</a:t>
            </a:r>
            <a:r>
              <a:rPr lang="en-US" altLang="zh-CN" sz="3200" dirty="0"/>
              <a:t>K</a:t>
            </a:r>
            <a:r>
              <a:rPr lang="zh-CN" altLang="en-US" sz="3200" dirty="0"/>
              <a:t>个字符串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6562" y="4797153"/>
            <a:ext cx="5330286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en-US" altLang="zh-CN" sz="3200" dirty="0"/>
              <a:t>map</a:t>
            </a:r>
            <a:r>
              <a:rPr lang="zh-CN" altLang="en-US" sz="3200" dirty="0"/>
              <a:t>用于统计次数很方便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F58EFD2-7889-B6D0-A50F-0EDBCA2F1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9605" y="70170"/>
            <a:ext cx="8229600" cy="922113"/>
          </a:xfrm>
        </p:spPr>
        <p:txBody>
          <a:bodyPr/>
          <a:lstStyle/>
          <a:p>
            <a:r>
              <a:rPr lang="en-US" altLang="zh-CN" dirty="0"/>
              <a:t>map</a:t>
            </a:r>
            <a:r>
              <a:rPr lang="zh-CN" altLang="en-US" dirty="0"/>
              <a:t>映射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4084" y="1061339"/>
            <a:ext cx="223380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3200" dirty="0"/>
              <a:t>字符串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23248" y="1061339"/>
            <a:ext cx="244516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3200" dirty="0"/>
              <a:t>出现次数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7888" y="1061339"/>
            <a:ext cx="2235358" cy="584775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3200" dirty="0"/>
              <a:t>对应一个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2032" y="1061339"/>
            <a:ext cx="1042052" cy="584775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3200" dirty="0"/>
              <a:t>每个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9443" y="2001798"/>
            <a:ext cx="5330286" cy="5835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map&lt;string,int&gt; cnt;</a:t>
            </a:r>
            <a:endParaRPr lang="zh-CN" alt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7568" y="5012670"/>
            <a:ext cx="3528392" cy="156966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en-US" altLang="zh-CN" sz="3200" dirty="0"/>
              <a:t>while</a:t>
            </a:r>
            <a:r>
              <a:rPr lang="zh-CN" altLang="en-US" sz="3200" dirty="0"/>
              <a:t>搭配</a:t>
            </a:r>
            <a:r>
              <a:rPr lang="en-US" altLang="zh-CN" sz="3200" dirty="0"/>
              <a:t>cin</a:t>
            </a:r>
            <a:r>
              <a:rPr lang="zh-CN" altLang="en-US" sz="3200" dirty="0"/>
              <a:t>处理</a:t>
            </a:r>
            <a:endParaRPr lang="en-US" altLang="zh-CN" sz="3200" dirty="0"/>
          </a:p>
          <a:p>
            <a:pPr algn="ctr"/>
            <a:r>
              <a:rPr lang="zh-CN" altLang="en-US" sz="3200" dirty="0"/>
              <a:t>不能提前预知</a:t>
            </a:r>
            <a:endParaRPr lang="en-US" altLang="zh-CN" sz="3200" dirty="0"/>
          </a:p>
          <a:p>
            <a:pPr algn="ctr"/>
            <a:r>
              <a:rPr lang="zh-CN" altLang="en-US" sz="3200" dirty="0"/>
              <a:t>输入个数的情况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5960" y="5012670"/>
            <a:ext cx="4481586" cy="156966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en-US" altLang="zh-CN" sz="3200" dirty="0"/>
              <a:t>DevC++</a:t>
            </a:r>
            <a:r>
              <a:rPr lang="zh-CN" altLang="en-US" sz="3200" dirty="0"/>
              <a:t>里运行</a:t>
            </a:r>
            <a:endParaRPr lang="en-US" altLang="zh-CN" sz="3200" dirty="0"/>
          </a:p>
          <a:p>
            <a:pPr algn="ctr"/>
            <a:r>
              <a:rPr lang="zh-CN" altLang="en-US" sz="3200" dirty="0"/>
              <a:t>输入结束时</a:t>
            </a:r>
            <a:endParaRPr lang="en-US" altLang="zh-CN" sz="3200" dirty="0"/>
          </a:p>
          <a:p>
            <a:pPr algn="ctr"/>
            <a:r>
              <a:rPr lang="zh-CN" altLang="en-US" sz="3200" dirty="0"/>
              <a:t>按</a:t>
            </a:r>
            <a:r>
              <a:rPr lang="en-US" altLang="zh-CN" sz="3200" dirty="0"/>
              <a:t>Ctrl Z</a:t>
            </a:r>
            <a:r>
              <a:rPr lang="zh-CN" altLang="en-US" sz="3200" dirty="0"/>
              <a:t>再换行</a:t>
            </a:r>
            <a:endParaRPr lang="en-US" altLang="zh-CN" sz="3200" dirty="0"/>
          </a:p>
        </p:txBody>
      </p:sp>
      <p:sp>
        <p:nvSpPr>
          <p:cNvPr id="3" name="TextBox 43"/>
          <p:cNvSpPr txBox="1"/>
          <p:nvPr/>
        </p:nvSpPr>
        <p:spPr>
          <a:xfrm>
            <a:off x="3360078" y="2782213"/>
            <a:ext cx="5330286" cy="107632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string s;</a:t>
            </a:r>
          </a:p>
          <a:p>
            <a:pPr algn="ctr"/>
            <a:r>
              <a:rPr lang="en-US" altLang="zh-CN" sz="3200" dirty="0">
                <a:latin typeface="Consolas" panose="020B0609020204030204" pitchFamily="49" charset="0"/>
                <a:cs typeface="Consolas" panose="020B0609020204030204" pitchFamily="49" charset="0"/>
              </a:rPr>
              <a:t>while(cin&gt;&gt;s) cnt[s]++;</a:t>
            </a:r>
            <a:endParaRPr lang="zh-CN" alt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00583" y="4108099"/>
            <a:ext cx="8009978" cy="583565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en-US" altLang="zh-CN" sz="3200" dirty="0"/>
              <a:t>cnt[s]</a:t>
            </a:r>
            <a:r>
              <a:rPr lang="zh-CN" altLang="en-US" sz="3200" dirty="0"/>
              <a:t>对应字符串</a:t>
            </a:r>
            <a:r>
              <a:rPr lang="en-US" altLang="zh-CN" sz="3200" dirty="0"/>
              <a:t>s</a:t>
            </a:r>
            <a:r>
              <a:rPr lang="zh-CN" altLang="en-US" sz="3200" dirty="0"/>
              <a:t>出现的次数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7A1E3-5444-055B-23FF-9C590515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7895" y="908607"/>
            <a:ext cx="8229600" cy="922113"/>
          </a:xfrm>
        </p:spPr>
        <p:txBody>
          <a:bodyPr/>
          <a:lstStyle/>
          <a:p>
            <a:r>
              <a:rPr lang="en-US" altLang="zh-CN" dirty="0"/>
              <a:t>(while-cin)+</a:t>
            </a:r>
            <a:r>
              <a:rPr lang="zh-CN" altLang="en-US" dirty="0" err="1"/>
              <a:t>字符串转数字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-1270"/>
            <a:ext cx="2249170" cy="645160"/>
          </a:xfrm>
          <a:prstGeom prst="rect">
            <a:avLst/>
          </a:prstGeom>
          <a:solidFill>
            <a:srgbClr val="FFD9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处理输入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66621" y="1988820"/>
            <a:ext cx="8311515" cy="37592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247890" y="3717291"/>
            <a:ext cx="2235200" cy="4806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08120" y="5085081"/>
            <a:ext cx="2235200" cy="4806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5FED45-D6C8-2DE1-9C02-DC652FB2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7895" y="404417"/>
            <a:ext cx="8229600" cy="922113"/>
          </a:xfrm>
        </p:spPr>
        <p:txBody>
          <a:bodyPr/>
          <a:lstStyle/>
          <a:p>
            <a:r>
              <a:rPr lang="zh-CN" altLang="en-US" dirty="0" err="1"/>
              <a:t>迭代器iterator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-1270"/>
            <a:ext cx="2249170" cy="645160"/>
          </a:xfrm>
          <a:prstGeom prst="rect">
            <a:avLst/>
          </a:prstGeom>
          <a:solidFill>
            <a:srgbClr val="FFD9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遍历</a:t>
            </a:r>
            <a:r>
              <a:rPr lang="en-US" altLang="zh-CN" sz="3600" dirty="0">
                <a:latin typeface="Consolas" panose="020B0609020204030204" pitchFamily="49" charset="0"/>
                <a:cs typeface="Consolas" panose="020B0609020204030204" pitchFamily="49" charset="0"/>
              </a:rPr>
              <a:t>map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05" y="1663700"/>
            <a:ext cx="8639810" cy="454533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238875" y="3202940"/>
            <a:ext cx="1960880" cy="431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24021" y="4293236"/>
            <a:ext cx="3361055" cy="48323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7896200" y="1080140"/>
            <a:ext cx="3843655" cy="13193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2800" dirty="0"/>
              <a:t>key-value(first-second)</a:t>
            </a:r>
          </a:p>
          <a:p>
            <a:pPr algn="ctr">
              <a:lnSpc>
                <a:spcPct val="150000"/>
              </a:lnSpc>
            </a:pPr>
            <a:r>
              <a:rPr lang="zh-CN" altLang="en-US" sz="2800" dirty="0"/>
              <a:t>一对键值</a:t>
            </a:r>
            <a:r>
              <a:rPr lang="en-US" altLang="zh-CN" sz="2800" dirty="0"/>
              <a:t>(pair)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D0A4831-1C33-1241-539F-8AF907E8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10" grpId="0" animBg="1"/>
      <p:bldP spid="10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66620" y="765097"/>
            <a:ext cx="8229600" cy="922113"/>
          </a:xfrm>
        </p:spPr>
        <p:txBody>
          <a:bodyPr>
            <a:normAutofit/>
          </a:bodyPr>
          <a:lstStyle/>
          <a:p>
            <a:r>
              <a:rPr lang="en-US" altLang="zh-CN" dirty="0"/>
              <a:t>sort</a:t>
            </a:r>
            <a:r>
              <a:rPr lang="zh-CN" altLang="en-US" dirty="0" err="1"/>
              <a:t>自定义排序规则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-1270"/>
            <a:ext cx="2249170" cy="645160"/>
          </a:xfrm>
          <a:prstGeom prst="rect">
            <a:avLst/>
          </a:prstGeom>
          <a:solidFill>
            <a:srgbClr val="FFD9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3600" dirty="0">
                <a:latin typeface="Consolas" panose="020B0609020204030204" pitchFamily="49" charset="0"/>
                <a:cs typeface="Consolas" panose="020B0609020204030204" pitchFamily="49" charset="0"/>
              </a:rPr>
              <a:t>排序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705" y="2416811"/>
            <a:ext cx="8985250" cy="12985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863975" y="3074671"/>
            <a:ext cx="2217420" cy="39814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624695" y="2997201"/>
            <a:ext cx="853440" cy="367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166928" y="4221764"/>
            <a:ext cx="8009978" cy="1076325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pPr algn="ctr"/>
            <a:r>
              <a:rPr lang="zh-CN" altLang="en-US" sz="3200" dirty="0"/>
              <a:t>把</a:t>
            </a:r>
            <a:r>
              <a:rPr lang="en-US" altLang="zh-CN" sz="3200" dirty="0"/>
              <a:t>map</a:t>
            </a:r>
            <a:r>
              <a:rPr lang="zh-CN" altLang="en-US" sz="3200" dirty="0"/>
              <a:t>里的内容重新捆绑成结构体</a:t>
            </a:r>
          </a:p>
          <a:p>
            <a:pPr algn="ctr"/>
            <a:r>
              <a:rPr lang="zh-CN" altLang="en-US" sz="3200" dirty="0"/>
              <a:t>然后对结构体数组排序也是可以的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042822-A499-05AC-A5C7-2C92A4CF4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 dirty="0"/>
              <a:t>T3</a:t>
            </a:r>
            <a:r>
              <a:rPr lang="zh-CN" altLang="en-US" sz="6000"/>
              <a:t>飞盘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16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8118808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90675" y="1196753"/>
            <a:ext cx="5330452" cy="119888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Consolas" panose="020B0609020204030204" pitchFamily="49" charset="0"/>
              </a:rPr>
              <a:t>请同学简述题意</a:t>
            </a:r>
            <a:endParaRPr lang="en-US" altLang="zh-CN" sz="3600" dirty="0">
              <a:latin typeface="Consolas" panose="020B0609020204030204" pitchFamily="49" charset="0"/>
            </a:endParaRPr>
          </a:p>
          <a:p>
            <a:pPr algn="ctr"/>
            <a:r>
              <a:rPr lang="zh-CN" altLang="en-US" sz="3600" dirty="0">
                <a:latin typeface="Consolas" panose="020B0609020204030204" pitchFamily="49" charset="0"/>
              </a:rPr>
              <a:t>突出核心要点</a:t>
            </a:r>
            <a:endParaRPr lang="zh-CN" altLang="zh-CN" sz="3600" dirty="0"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05753" y="2636914"/>
            <a:ext cx="5330452" cy="1383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</a:rPr>
              <a:t>已知</a:t>
            </a:r>
            <a:r>
              <a:rPr lang="en-US" altLang="zh-CN" sz="2800" dirty="0">
                <a:latin typeface="Consolas" panose="020B0609020204030204" pitchFamily="49" charset="0"/>
              </a:rPr>
              <a:t>1</a:t>
            </a:r>
            <a:r>
              <a:rPr lang="zh-CN" altLang="en-US" sz="2800" dirty="0">
                <a:latin typeface="Consolas" panose="020B0609020204030204" pitchFamily="49" charset="0"/>
              </a:rPr>
              <a:t>到</a:t>
            </a:r>
            <a:r>
              <a:rPr lang="en-US" altLang="zh-CN" sz="2800" dirty="0">
                <a:latin typeface="Consolas" panose="020B0609020204030204" pitchFamily="49" charset="0"/>
              </a:rPr>
              <a:t>n</a:t>
            </a:r>
            <a:r>
              <a:rPr lang="zh-CN" altLang="en-US" sz="2800" dirty="0">
                <a:latin typeface="Consolas" panose="020B0609020204030204" pitchFamily="49" charset="0"/>
              </a:rPr>
              <a:t>的一个排列，找到排列中两端大于其中点的区间，对其长度求和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90674" y="5201072"/>
            <a:ext cx="5330452" cy="39878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ea typeface="Helvetica" panose="020B0604020202020204" pitchFamily="34" charset="0"/>
              </a:rPr>
              <a:t>1 ≤ n ≤ 300000 	hi &lt;= 1e9</a:t>
            </a:r>
            <a:endParaRPr lang="zh-CN" altLang="en-US" sz="2000" dirty="0">
              <a:latin typeface="Consolas" panose="020B0609020204030204" pitchFamily="49" charset="0"/>
              <a:ea typeface="Helvetica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A742DD-74A8-A67E-A9F4-5DB48A70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1410806" y="653111"/>
            <a:ext cx="580133" cy="7067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dirty="0"/>
              <a:t>数值</a:t>
            </a:r>
          </a:p>
        </p:txBody>
      </p:sp>
      <p:cxnSp>
        <p:nvCxnSpPr>
          <p:cNvPr id="39" name="直接箭头连接符 38"/>
          <p:cNvCxnSpPr/>
          <p:nvPr/>
        </p:nvCxnSpPr>
        <p:spPr>
          <a:xfrm flipV="1">
            <a:off x="1847529" y="1268760"/>
            <a:ext cx="5343" cy="4931878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559496" y="6021288"/>
            <a:ext cx="6764252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102" idx="3"/>
          </p:cNvCxnSpPr>
          <p:nvPr/>
        </p:nvCxnSpPr>
        <p:spPr>
          <a:xfrm>
            <a:off x="1839537" y="5380450"/>
            <a:ext cx="6433581" cy="11823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7957555" y="6025640"/>
            <a:ext cx="855958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dirty="0"/>
              <a:t>编号</a:t>
            </a:r>
          </a:p>
        </p:txBody>
      </p:sp>
      <p:sp>
        <p:nvSpPr>
          <p:cNvPr id="63" name="矩形 62"/>
          <p:cNvSpPr/>
          <p:nvPr/>
        </p:nvSpPr>
        <p:spPr>
          <a:xfrm>
            <a:off x="2559002" y="5949282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64" name="矩形 63"/>
          <p:cNvSpPr/>
          <p:nvPr/>
        </p:nvSpPr>
        <p:spPr>
          <a:xfrm>
            <a:off x="3378487" y="5949282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2</a:t>
            </a:r>
            <a:endParaRPr lang="zh-CN" altLang="en-US" sz="1600" dirty="0"/>
          </a:p>
        </p:txBody>
      </p:sp>
      <p:sp>
        <p:nvSpPr>
          <p:cNvPr id="72" name="矩形 71"/>
          <p:cNvSpPr/>
          <p:nvPr/>
        </p:nvSpPr>
        <p:spPr>
          <a:xfrm>
            <a:off x="4197972" y="5949282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3</a:t>
            </a:r>
            <a:endParaRPr lang="zh-CN" altLang="en-US" sz="1600" dirty="0"/>
          </a:p>
        </p:txBody>
      </p:sp>
      <p:sp>
        <p:nvSpPr>
          <p:cNvPr id="73" name="矩形 72"/>
          <p:cNvSpPr/>
          <p:nvPr/>
        </p:nvSpPr>
        <p:spPr>
          <a:xfrm>
            <a:off x="5017457" y="5949282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4</a:t>
            </a:r>
            <a:endParaRPr lang="zh-CN" altLang="en-US" sz="1600" dirty="0"/>
          </a:p>
        </p:txBody>
      </p:sp>
      <p:sp>
        <p:nvSpPr>
          <p:cNvPr id="74" name="矩形 73"/>
          <p:cNvSpPr/>
          <p:nvPr/>
        </p:nvSpPr>
        <p:spPr>
          <a:xfrm>
            <a:off x="5836942" y="5949282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5</a:t>
            </a:r>
            <a:endParaRPr lang="zh-CN" altLang="en-US" sz="1600" dirty="0"/>
          </a:p>
        </p:txBody>
      </p:sp>
      <p:sp>
        <p:nvSpPr>
          <p:cNvPr id="75" name="矩形 74"/>
          <p:cNvSpPr/>
          <p:nvPr/>
        </p:nvSpPr>
        <p:spPr>
          <a:xfrm>
            <a:off x="6656427" y="5949282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6</a:t>
            </a:r>
            <a:endParaRPr lang="zh-CN" altLang="en-US" sz="1600" dirty="0"/>
          </a:p>
        </p:txBody>
      </p:sp>
      <p:sp>
        <p:nvSpPr>
          <p:cNvPr id="76" name="矩形 75"/>
          <p:cNvSpPr/>
          <p:nvPr/>
        </p:nvSpPr>
        <p:spPr>
          <a:xfrm>
            <a:off x="7475912" y="5949282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7</a:t>
            </a:r>
            <a:endParaRPr lang="zh-CN" altLang="en-US" sz="1600" dirty="0"/>
          </a:p>
        </p:txBody>
      </p:sp>
      <p:cxnSp>
        <p:nvCxnSpPr>
          <p:cNvPr id="85" name="直接箭头连接符 84"/>
          <p:cNvCxnSpPr/>
          <p:nvPr/>
        </p:nvCxnSpPr>
        <p:spPr>
          <a:xfrm>
            <a:off x="2667014" y="50854"/>
            <a:ext cx="1" cy="595517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>
            <a:off x="3485611" y="50854"/>
            <a:ext cx="1" cy="595517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>
            <a:off x="4304209" y="50854"/>
            <a:ext cx="1" cy="595517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>
            <a:off x="5122806" y="50854"/>
            <a:ext cx="1" cy="595517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>
          <a:xfrm>
            <a:off x="5941403" y="50854"/>
            <a:ext cx="1" cy="595517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6760000" y="50854"/>
            <a:ext cx="1" cy="595517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>
            <a:off x="7578596" y="50854"/>
            <a:ext cx="1" cy="595517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/>
          <p:cNvSpPr/>
          <p:nvPr/>
        </p:nvSpPr>
        <p:spPr>
          <a:xfrm>
            <a:off x="1623512" y="5211528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1</a:t>
            </a:r>
            <a:endParaRPr lang="zh-CN" altLang="en-US" sz="1600" dirty="0"/>
          </a:p>
        </p:txBody>
      </p:sp>
      <p:sp>
        <p:nvSpPr>
          <p:cNvPr id="103" name="矩形 102"/>
          <p:cNvSpPr/>
          <p:nvPr/>
        </p:nvSpPr>
        <p:spPr>
          <a:xfrm>
            <a:off x="1623512" y="4571045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2</a:t>
            </a:r>
            <a:endParaRPr lang="zh-CN" altLang="en-US" sz="1600" dirty="0"/>
          </a:p>
        </p:txBody>
      </p:sp>
      <p:sp>
        <p:nvSpPr>
          <p:cNvPr id="104" name="矩形 103"/>
          <p:cNvSpPr/>
          <p:nvPr/>
        </p:nvSpPr>
        <p:spPr>
          <a:xfrm>
            <a:off x="1623512" y="3930560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3</a:t>
            </a:r>
            <a:endParaRPr lang="zh-CN" altLang="en-US" sz="1600" dirty="0"/>
          </a:p>
        </p:txBody>
      </p:sp>
      <p:sp>
        <p:nvSpPr>
          <p:cNvPr id="105" name="矩形 104"/>
          <p:cNvSpPr/>
          <p:nvPr/>
        </p:nvSpPr>
        <p:spPr>
          <a:xfrm>
            <a:off x="1623512" y="3290077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4</a:t>
            </a:r>
            <a:endParaRPr lang="zh-CN" altLang="en-US" sz="1600" dirty="0"/>
          </a:p>
        </p:txBody>
      </p:sp>
      <p:sp>
        <p:nvSpPr>
          <p:cNvPr id="106" name="矩形 105"/>
          <p:cNvSpPr/>
          <p:nvPr/>
        </p:nvSpPr>
        <p:spPr>
          <a:xfrm>
            <a:off x="1623512" y="2649593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5</a:t>
            </a:r>
            <a:endParaRPr lang="zh-CN" altLang="en-US" sz="1600" dirty="0"/>
          </a:p>
        </p:txBody>
      </p:sp>
      <p:sp>
        <p:nvSpPr>
          <p:cNvPr id="107" name="矩形 106"/>
          <p:cNvSpPr/>
          <p:nvPr/>
        </p:nvSpPr>
        <p:spPr>
          <a:xfrm>
            <a:off x="1623512" y="2009109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6</a:t>
            </a:r>
            <a:endParaRPr lang="zh-CN" altLang="en-US" sz="1600" dirty="0"/>
          </a:p>
        </p:txBody>
      </p:sp>
      <p:sp>
        <p:nvSpPr>
          <p:cNvPr id="108" name="矩形 107"/>
          <p:cNvSpPr/>
          <p:nvPr/>
        </p:nvSpPr>
        <p:spPr>
          <a:xfrm>
            <a:off x="1623512" y="1368625"/>
            <a:ext cx="216024" cy="3371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600" dirty="0"/>
              <a:t>7</a:t>
            </a:r>
            <a:endParaRPr lang="zh-CN" altLang="en-US" sz="1600" dirty="0"/>
          </a:p>
        </p:txBody>
      </p:sp>
      <p:cxnSp>
        <p:nvCxnSpPr>
          <p:cNvPr id="116" name="直接箭头连接符 115"/>
          <p:cNvCxnSpPr/>
          <p:nvPr/>
        </p:nvCxnSpPr>
        <p:spPr>
          <a:xfrm>
            <a:off x="1847528" y="4740320"/>
            <a:ext cx="6374958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1855521" y="4099836"/>
            <a:ext cx="6366966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1863513" y="3459352"/>
            <a:ext cx="640960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1871506" y="2818868"/>
            <a:ext cx="6350981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>
            <a:off x="1863513" y="2178384"/>
            <a:ext cx="635897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>
            <a:off x="1871504" y="1537900"/>
            <a:ext cx="6350983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椭圆 53"/>
          <p:cNvSpPr>
            <a:spLocks noChangeAspect="1"/>
          </p:cNvSpPr>
          <p:nvPr/>
        </p:nvSpPr>
        <p:spPr>
          <a:xfrm>
            <a:off x="2536965" y="3323782"/>
            <a:ext cx="260096" cy="25800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25" name="椭圆 124"/>
          <p:cNvSpPr>
            <a:spLocks noChangeAspect="1"/>
          </p:cNvSpPr>
          <p:nvPr/>
        </p:nvSpPr>
        <p:spPr>
          <a:xfrm>
            <a:off x="3365574" y="3955190"/>
            <a:ext cx="260096" cy="25800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26" name="椭圆 125"/>
          <p:cNvSpPr>
            <a:spLocks noChangeAspect="1"/>
          </p:cNvSpPr>
          <p:nvPr/>
        </p:nvSpPr>
        <p:spPr>
          <a:xfrm>
            <a:off x="4187361" y="5241159"/>
            <a:ext cx="260096" cy="25800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27" name="椭圆 126"/>
          <p:cNvSpPr>
            <a:spLocks noChangeAspect="1"/>
          </p:cNvSpPr>
          <p:nvPr/>
        </p:nvSpPr>
        <p:spPr>
          <a:xfrm>
            <a:off x="4990988" y="4608668"/>
            <a:ext cx="260096" cy="25800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28" name="椭圆 127"/>
          <p:cNvSpPr>
            <a:spLocks noChangeAspect="1"/>
          </p:cNvSpPr>
          <p:nvPr/>
        </p:nvSpPr>
        <p:spPr>
          <a:xfrm>
            <a:off x="5804415" y="2689865"/>
            <a:ext cx="260096" cy="25800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29" name="椭圆 128"/>
          <p:cNvSpPr>
            <a:spLocks noChangeAspect="1"/>
          </p:cNvSpPr>
          <p:nvPr/>
        </p:nvSpPr>
        <p:spPr>
          <a:xfrm>
            <a:off x="6645232" y="2049382"/>
            <a:ext cx="260096" cy="25800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30" name="椭圆 129"/>
          <p:cNvSpPr>
            <a:spLocks noChangeAspect="1"/>
          </p:cNvSpPr>
          <p:nvPr/>
        </p:nvSpPr>
        <p:spPr>
          <a:xfrm>
            <a:off x="7448547" y="1419926"/>
            <a:ext cx="260096" cy="25800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24" name="矩形 23"/>
          <p:cNvSpPr/>
          <p:nvPr/>
        </p:nvSpPr>
        <p:spPr>
          <a:xfrm>
            <a:off x="2351585" y="35600"/>
            <a:ext cx="7817533" cy="1235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/>
          </a:p>
        </p:txBody>
      </p:sp>
      <p:sp>
        <p:nvSpPr>
          <p:cNvPr id="11" name="矩形 10"/>
          <p:cNvSpPr/>
          <p:nvPr/>
        </p:nvSpPr>
        <p:spPr>
          <a:xfrm>
            <a:off x="8115001" y="1108787"/>
            <a:ext cx="3450831" cy="4448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/>
          </a:p>
        </p:txBody>
      </p:sp>
      <p:sp>
        <p:nvSpPr>
          <p:cNvPr id="12" name="矩形 11"/>
          <p:cNvSpPr/>
          <p:nvPr/>
        </p:nvSpPr>
        <p:spPr>
          <a:xfrm>
            <a:off x="1524001" y="1"/>
            <a:ext cx="1383494" cy="3937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970" dirty="0">
                <a:ea typeface="+mj-ea"/>
              </a:rPr>
              <a:t>手算样例</a:t>
            </a:r>
            <a:endParaRPr lang="en-US" altLang="zh-CN" sz="197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42587" y="-2171"/>
            <a:ext cx="1726345" cy="74104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1405" dirty="0">
                <a:latin typeface="Consolas" panose="020B0609020204030204" pitchFamily="49" charset="0"/>
                <a:cs typeface="Consolas" panose="020B0609020204030204" pitchFamily="49" charset="0"/>
              </a:rPr>
              <a:t>输入</a:t>
            </a:r>
            <a:endParaRPr lang="en-US" altLang="zh-CN" sz="1405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/>
            <a:r>
              <a:rPr lang="en-US" altLang="zh-CN" sz="1405" dirty="0"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pPr algn="l"/>
            <a:r>
              <a:rPr lang="en-US" altLang="zh-CN" sz="1405" dirty="0">
                <a:latin typeface="Consolas" panose="020B0609020204030204" pitchFamily="49" charset="0"/>
                <a:cs typeface="Consolas" panose="020B0609020204030204" pitchFamily="49" charset="0"/>
              </a:rPr>
              <a:t>4 3 1 2 5 6 7</a:t>
            </a:r>
            <a:endParaRPr lang="zh-CN" altLang="zh-CN" sz="1405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701530" y="-2171"/>
            <a:ext cx="724821" cy="52451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1405" dirty="0">
                <a:latin typeface="Consolas" panose="020B0609020204030204" pitchFamily="49" charset="0"/>
                <a:cs typeface="Consolas" panose="020B0609020204030204" pitchFamily="49" charset="0"/>
              </a:rPr>
              <a:t>输出</a:t>
            </a:r>
            <a:endParaRPr lang="en-US" altLang="zh-CN" sz="1405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/>
            <a:r>
              <a:rPr lang="en-US" altLang="zh-CN" sz="1405" dirty="0">
                <a:latin typeface="Consolas" panose="020B0609020204030204" pitchFamily="49" charset="0"/>
                <a:cs typeface="Consolas" panose="020B0609020204030204" pitchFamily="49" charset="0"/>
              </a:rPr>
              <a:t>24</a:t>
            </a:r>
          </a:p>
        </p:txBody>
      </p:sp>
      <p:sp>
        <p:nvSpPr>
          <p:cNvPr id="16" name="矩形 15"/>
          <p:cNvSpPr/>
          <p:nvPr/>
        </p:nvSpPr>
        <p:spPr>
          <a:xfrm>
            <a:off x="7610164" y="337058"/>
            <a:ext cx="2747293" cy="460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满足条件的区间：</a:t>
            </a:r>
            <a:endParaRPr lang="en-US" altLang="zh-CN" sz="2400" dirty="0"/>
          </a:p>
        </p:txBody>
      </p:sp>
      <p:sp>
        <p:nvSpPr>
          <p:cNvPr id="21" name="矩形 20"/>
          <p:cNvSpPr/>
          <p:nvPr/>
        </p:nvSpPr>
        <p:spPr>
          <a:xfrm>
            <a:off x="8189420" y="957907"/>
            <a:ext cx="2494749" cy="1938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(1,2) (1,5)</a:t>
            </a:r>
          </a:p>
          <a:p>
            <a:pPr algn="l"/>
            <a:r>
              <a:rPr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(2,3) (2,4)</a:t>
            </a:r>
          </a:p>
          <a:p>
            <a:pPr algn="l"/>
            <a:r>
              <a:rPr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(2,5) (3,4)</a:t>
            </a:r>
          </a:p>
          <a:p>
            <a:pPr algn="l"/>
            <a:r>
              <a:rPr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(4,5) (5,6)</a:t>
            </a:r>
          </a:p>
          <a:p>
            <a:pPr algn="l"/>
            <a:r>
              <a:rPr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(6,7)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84434F-9B34-1DA0-C7CF-495DEF77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57" grpId="0"/>
      <p:bldP spid="63" grpId="0"/>
      <p:bldP spid="64" grpId="0"/>
      <p:bldP spid="72" grpId="0"/>
      <p:bldP spid="73" grpId="0"/>
      <p:bldP spid="74" grpId="0"/>
      <p:bldP spid="75" grpId="0"/>
      <p:bldP spid="76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54" grpId="0" bldLvl="0" animBg="1"/>
      <p:bldP spid="125" grpId="0" bldLvl="0" animBg="1"/>
      <p:bldP spid="126" grpId="0" bldLvl="0" animBg="1"/>
      <p:bldP spid="127" grpId="0" bldLvl="0" animBg="1"/>
      <p:bldP spid="128" grpId="0" bldLvl="0" animBg="1"/>
      <p:bldP spid="129" grpId="0" bldLvl="0" animBg="1"/>
      <p:bldP spid="130" grpId="0" bldLvl="0" animBg="1"/>
      <p:bldP spid="16" grpId="0" bldLvl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/>
          <a:lstStyle/>
          <a:p>
            <a:r>
              <a:rPr lang="zh-CN" altLang="en-US" dirty="0"/>
              <a:t>暴力枚举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376B4B-7BF4-02AB-BBAB-593CDE4C1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868535" y="1556793"/>
            <a:ext cx="3429989" cy="52197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  <a:ea typeface="+mj-ea"/>
              </a:rPr>
              <a:t>枚举区间左端点 </a:t>
            </a:r>
            <a:r>
              <a:rPr lang="en-US" altLang="zh-CN" sz="2800" dirty="0">
                <a:latin typeface="Consolas" panose="020B0609020204030204" pitchFamily="49" charset="0"/>
                <a:ea typeface="+mj-ea"/>
              </a:rPr>
              <a:t>i</a:t>
            </a:r>
          </a:p>
        </p:txBody>
      </p:sp>
      <p:sp>
        <p:nvSpPr>
          <p:cNvPr id="12" name="矩形 11"/>
          <p:cNvSpPr/>
          <p:nvPr/>
        </p:nvSpPr>
        <p:spPr>
          <a:xfrm>
            <a:off x="5184650" y="3327740"/>
            <a:ext cx="3907155" cy="9531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  <a:ea typeface="+mj-ea"/>
              </a:rPr>
              <a:t>判断区间内元素最大值小于</a:t>
            </a:r>
            <a:r>
              <a:rPr lang="en-US" altLang="zh-CN" sz="2800" dirty="0">
                <a:latin typeface="Consolas" panose="020B0609020204030204" pitchFamily="49" charset="0"/>
                <a:ea typeface="+mj-ea"/>
              </a:rPr>
              <a:t>h[i]</a:t>
            </a:r>
            <a:r>
              <a:rPr lang="zh-CN" altLang="en-US" sz="2800" dirty="0">
                <a:latin typeface="Consolas" panose="020B0609020204030204" pitchFamily="49" charset="0"/>
                <a:ea typeface="+mj-ea"/>
              </a:rPr>
              <a:t>和</a:t>
            </a:r>
            <a:r>
              <a:rPr lang="en-US" altLang="zh-CN" sz="2800" dirty="0">
                <a:latin typeface="Consolas" panose="020B0609020204030204" pitchFamily="49" charset="0"/>
                <a:ea typeface="+mj-ea"/>
              </a:rPr>
              <a:t>h[j]</a:t>
            </a:r>
          </a:p>
        </p:txBody>
      </p:sp>
      <p:sp>
        <p:nvSpPr>
          <p:cNvPr id="26" name="矩形 25"/>
          <p:cNvSpPr/>
          <p:nvPr/>
        </p:nvSpPr>
        <p:spPr>
          <a:xfrm>
            <a:off x="4096769" y="2378678"/>
            <a:ext cx="3872565" cy="52197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  <a:ea typeface="+mj-ea"/>
              </a:rPr>
              <a:t>枚举区间右端点 </a:t>
            </a:r>
            <a:r>
              <a:rPr lang="en-US" altLang="zh-CN" sz="2800" dirty="0">
                <a:latin typeface="Consolas" panose="020B0609020204030204" pitchFamily="49" charset="0"/>
                <a:ea typeface="+mj-ea"/>
              </a:rPr>
              <a:t>j</a:t>
            </a:r>
          </a:p>
        </p:txBody>
      </p:sp>
      <p:sp>
        <p:nvSpPr>
          <p:cNvPr id="18" name="矩形 17"/>
          <p:cNvSpPr/>
          <p:nvPr/>
        </p:nvSpPr>
        <p:spPr>
          <a:xfrm>
            <a:off x="1524000" y="1"/>
            <a:ext cx="2572768" cy="52197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ea typeface="+mj-ea"/>
              </a:rPr>
              <a:t>复杂度</a:t>
            </a:r>
            <a:r>
              <a:rPr lang="en-US" altLang="zh-CN" sz="2800" dirty="0">
                <a:latin typeface="Consolas" panose="020B0609020204030204" pitchFamily="49" charset="0"/>
                <a:cs typeface="Consolas" panose="020B0609020204030204" pitchFamily="49" charset="0"/>
              </a:rPr>
              <a:t>O(N</a:t>
            </a:r>
            <a:r>
              <a:rPr lang="en-US" altLang="zh-CN" sz="2800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CN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2" name="矩形 21"/>
          <p:cNvSpPr/>
          <p:nvPr/>
        </p:nvSpPr>
        <p:spPr>
          <a:xfrm>
            <a:off x="5184650" y="4260066"/>
            <a:ext cx="3907155" cy="5219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</a:rPr>
              <a:t>累加</a:t>
            </a:r>
            <a:r>
              <a:rPr lang="en-US" altLang="zh-CN" sz="2800" dirty="0">
                <a:latin typeface="Consolas" panose="020B0609020204030204" pitchFamily="49" charset="0"/>
              </a:rPr>
              <a:t>j-i+1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2" grpId="0" bldLvl="0" animBg="1"/>
      <p:bldP spid="26" grpId="0" bldLvl="0" animBg="1"/>
      <p:bldP spid="18" grpId="0" bldLvl="0" animBg="1"/>
      <p:bldP spid="22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8095232" y="1"/>
            <a:ext cx="2572768" cy="5219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ea typeface="+mj-ea"/>
              </a:rPr>
              <a:t>暴力枚举</a:t>
            </a:r>
            <a:endParaRPr lang="en-US" altLang="zh-CN" sz="2800" dirty="0"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02729" y="495795"/>
            <a:ext cx="1865020" cy="52197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zh-CN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分</a:t>
            </a:r>
            <a:endParaRPr lang="zh-CN" altLang="zh-CN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24000" y="1"/>
            <a:ext cx="2572768" cy="52197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ea typeface="+mj-ea"/>
              </a:rPr>
              <a:t>复杂度</a:t>
            </a:r>
            <a:r>
              <a:rPr lang="en-US" altLang="zh-CN" sz="2800" dirty="0">
                <a:latin typeface="Consolas" panose="020B0609020204030204" pitchFamily="49" charset="0"/>
                <a:cs typeface="Consolas" panose="020B0609020204030204" pitchFamily="49" charset="0"/>
              </a:rPr>
              <a:t>O(N</a:t>
            </a:r>
            <a:r>
              <a:rPr lang="en-US" altLang="zh-CN" sz="2800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zh-CN" sz="2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991" y="1103829"/>
            <a:ext cx="7630036" cy="482045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B7A070-922B-0AC2-BEA1-7DFA9A71B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872702" y="1412776"/>
            <a:ext cx="4415388" cy="52197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  <a:ea typeface="+mj-ea"/>
              </a:rPr>
              <a:t>对于所有可行区间</a:t>
            </a:r>
            <a:r>
              <a:rPr lang="en-US" altLang="zh-CN" sz="2800" dirty="0">
                <a:latin typeface="Consolas" panose="020B0609020204030204" pitchFamily="49" charset="0"/>
                <a:ea typeface="+mj-ea"/>
              </a:rPr>
              <a:t>(i,j):</a:t>
            </a:r>
          </a:p>
        </p:txBody>
      </p:sp>
      <p:sp>
        <p:nvSpPr>
          <p:cNvPr id="8" name="矩形 7"/>
          <p:cNvSpPr/>
          <p:nvPr/>
        </p:nvSpPr>
        <p:spPr>
          <a:xfrm>
            <a:off x="1872702" y="2811274"/>
            <a:ext cx="8455314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  <a:ea typeface="+mj-ea"/>
              </a:rPr>
              <a:t>如果</a:t>
            </a:r>
            <a:r>
              <a:rPr lang="en-US" altLang="zh-CN" sz="2800" dirty="0">
                <a:latin typeface="Consolas" panose="020B0609020204030204" pitchFamily="49" charset="0"/>
                <a:ea typeface="+mj-ea"/>
              </a:rPr>
              <a:t>h[i]&gt;h[</a:t>
            </a:r>
            <a:r>
              <a:rPr lang="en-US" altLang="zh-CN" sz="2800">
                <a:latin typeface="Consolas" panose="020B0609020204030204" pitchFamily="49" charset="0"/>
                <a:ea typeface="+mj-ea"/>
              </a:rPr>
              <a:t>j]:i</a:t>
            </a:r>
            <a:r>
              <a:rPr lang="zh-CN" altLang="en-US" sz="2800">
                <a:latin typeface="Consolas" panose="020B0609020204030204" pitchFamily="49" charset="0"/>
                <a:ea typeface="+mj-ea"/>
              </a:rPr>
              <a:t>为</a:t>
            </a:r>
            <a:r>
              <a:rPr lang="en-US" altLang="zh-CN" sz="2800">
                <a:latin typeface="Consolas" panose="020B0609020204030204" pitchFamily="49" charset="0"/>
                <a:ea typeface="+mj-ea"/>
              </a:rPr>
              <a:t>j</a:t>
            </a:r>
            <a:r>
              <a:rPr lang="zh-CN" altLang="en-US" sz="2800">
                <a:latin typeface="Consolas" panose="020B0609020204030204" pitchFamily="49" charset="0"/>
                <a:ea typeface="+mj-ea"/>
              </a:rPr>
              <a:t>左侧</a:t>
            </a:r>
            <a:r>
              <a:rPr lang="zh-CN" altLang="zh-CN" sz="2800">
                <a:latin typeface="Consolas" panose="020B0609020204030204" pitchFamily="49" charset="0"/>
                <a:ea typeface="+mj-ea"/>
              </a:rPr>
              <a:t>最早</a:t>
            </a:r>
            <a:r>
              <a:rPr lang="zh-CN" altLang="zh-CN" sz="2800" dirty="0">
                <a:latin typeface="Consolas" panose="020B0609020204030204" pitchFamily="49" charset="0"/>
                <a:ea typeface="+mj-ea"/>
              </a:rPr>
              <a:t>出现比</a:t>
            </a:r>
            <a:r>
              <a:rPr lang="en-US" altLang="zh-CN" sz="2800">
                <a:latin typeface="Consolas" panose="020B0609020204030204" pitchFamily="49" charset="0"/>
                <a:ea typeface="+mj-ea"/>
              </a:rPr>
              <a:t>h[j]</a:t>
            </a:r>
            <a:r>
              <a:rPr lang="zh-CN" altLang="en-US" sz="2800">
                <a:latin typeface="Consolas" panose="020B0609020204030204" pitchFamily="49" charset="0"/>
                <a:ea typeface="+mj-ea"/>
              </a:rPr>
              <a:t>大的位置</a:t>
            </a:r>
            <a:endParaRPr lang="en-US" altLang="zh-CN" sz="28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72702" y="2094101"/>
            <a:ext cx="8455314" cy="52197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Consolas" panose="020B0609020204030204" pitchFamily="49" charset="0"/>
                <a:ea typeface="+mj-ea"/>
              </a:rPr>
              <a:t>如果</a:t>
            </a:r>
            <a:r>
              <a:rPr lang="en-US" altLang="zh-CN" sz="2800" dirty="0">
                <a:latin typeface="Consolas" panose="020B0609020204030204" pitchFamily="49" charset="0"/>
                <a:ea typeface="+mj-ea"/>
              </a:rPr>
              <a:t>h[i]&lt;h[j]:j</a:t>
            </a:r>
            <a:r>
              <a:rPr lang="zh-CN" altLang="en-US" sz="2800">
                <a:latin typeface="Consolas" panose="020B0609020204030204" pitchFamily="49" charset="0"/>
                <a:ea typeface="+mj-ea"/>
              </a:rPr>
              <a:t>为</a:t>
            </a:r>
            <a:r>
              <a:rPr lang="en-US" altLang="zh-CN" sz="2800">
                <a:latin typeface="Consolas" panose="020B0609020204030204" pitchFamily="49" charset="0"/>
                <a:ea typeface="+mj-ea"/>
              </a:rPr>
              <a:t>i</a:t>
            </a:r>
            <a:r>
              <a:rPr lang="zh-CN" altLang="en-US" sz="2800">
                <a:latin typeface="Consolas" panose="020B0609020204030204" pitchFamily="49" charset="0"/>
                <a:ea typeface="+mj-ea"/>
              </a:rPr>
              <a:t>右侧</a:t>
            </a:r>
            <a:r>
              <a:rPr lang="zh-CN" altLang="zh-CN" sz="2800">
                <a:latin typeface="Consolas" panose="020B0609020204030204" pitchFamily="49" charset="0"/>
                <a:ea typeface="+mj-ea"/>
              </a:rPr>
              <a:t>最早</a:t>
            </a:r>
            <a:r>
              <a:rPr lang="zh-CN" altLang="zh-CN" sz="2800" dirty="0">
                <a:latin typeface="Consolas" panose="020B0609020204030204" pitchFamily="49" charset="0"/>
                <a:ea typeface="+mj-ea"/>
              </a:rPr>
              <a:t>出现比</a:t>
            </a:r>
            <a:r>
              <a:rPr lang="en-US" altLang="zh-CN" sz="2800" dirty="0">
                <a:latin typeface="Consolas" panose="020B0609020204030204" pitchFamily="49" charset="0"/>
                <a:ea typeface="+mj-ea"/>
              </a:rPr>
              <a:t>h[i]</a:t>
            </a:r>
            <a:r>
              <a:rPr lang="zh-CN" altLang="en-US" sz="2800">
                <a:latin typeface="Consolas" panose="020B0609020204030204" pitchFamily="49" charset="0"/>
                <a:ea typeface="+mj-ea"/>
              </a:rPr>
              <a:t>大的位置</a:t>
            </a:r>
            <a:endParaRPr lang="en-US" altLang="zh-CN" sz="28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zh-CN" altLang="en-US" dirty="0"/>
              <a:t>问题转换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699BEF3-AEC0-08AD-D959-CC900AFD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477288" y="3631525"/>
            <a:ext cx="3747974" cy="130497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970" dirty="0"/>
              <a:t>给定</a:t>
            </a:r>
            <a:r>
              <a:rPr lang="en-US" altLang="zh-CN" sz="1970" dirty="0"/>
              <a:t>1</a:t>
            </a:r>
            <a:r>
              <a:rPr lang="zh-CN" altLang="en-US" sz="1970" dirty="0"/>
              <a:t>到</a:t>
            </a:r>
            <a:r>
              <a:rPr lang="en-US" altLang="zh-CN" sz="1970" dirty="0"/>
              <a:t>n</a:t>
            </a:r>
            <a:r>
              <a:rPr lang="zh-CN" altLang="en-US" sz="1970" dirty="0"/>
              <a:t>的一个排列</a:t>
            </a:r>
            <a:endParaRPr lang="en-US" altLang="zh-CN" sz="1970" dirty="0"/>
          </a:p>
          <a:p>
            <a:pPr algn="ctr"/>
            <a:r>
              <a:rPr lang="zh-CN" altLang="en-US" sz="1970" dirty="0"/>
              <a:t>对每一位问询：</a:t>
            </a:r>
            <a:endParaRPr lang="en-US" altLang="zh-CN" sz="1970" dirty="0"/>
          </a:p>
          <a:p>
            <a:pPr algn="ctr"/>
            <a:r>
              <a:rPr lang="zh-CN" altLang="en-US" sz="1970" dirty="0"/>
              <a:t>它右侧第一个比它大的是几</a:t>
            </a:r>
            <a:r>
              <a:rPr lang="zh-CN" altLang="en-US" sz="1970"/>
              <a:t>号位</a:t>
            </a:r>
            <a:endParaRPr lang="en-US" altLang="zh-CN" sz="1970"/>
          </a:p>
          <a:p>
            <a:pPr algn="ctr"/>
            <a:endParaRPr lang="zh-CN" altLang="zh-CN" sz="1970" dirty="0"/>
          </a:p>
        </p:txBody>
      </p:sp>
      <p:sp>
        <p:nvSpPr>
          <p:cNvPr id="27" name="矩形 26"/>
          <p:cNvSpPr/>
          <p:nvPr/>
        </p:nvSpPr>
        <p:spPr>
          <a:xfrm>
            <a:off x="6477288" y="4942860"/>
            <a:ext cx="3747974" cy="393700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970" dirty="0">
                <a:latin typeface="Consolas" panose="020B0609020204030204" pitchFamily="49" charset="0"/>
              </a:rPr>
              <a:t>右侧更大</a:t>
            </a:r>
            <a:r>
              <a:rPr lang="zh-CN" altLang="en-US" sz="1970">
                <a:latin typeface="Consolas" panose="020B0609020204030204" pitchFamily="49" charset="0"/>
              </a:rPr>
              <a:t>值最近问题</a:t>
            </a:r>
            <a:endParaRPr lang="zh-CN" altLang="zh-CN" sz="1970" dirty="0"/>
          </a:p>
        </p:txBody>
      </p:sp>
      <p:sp>
        <p:nvSpPr>
          <p:cNvPr id="29" name="右箭头 54"/>
          <p:cNvSpPr/>
          <p:nvPr/>
        </p:nvSpPr>
        <p:spPr>
          <a:xfrm>
            <a:off x="5189412" y="3951626"/>
            <a:ext cx="1191208" cy="3336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30" name="矩形 29"/>
          <p:cNvSpPr/>
          <p:nvPr/>
        </p:nvSpPr>
        <p:spPr>
          <a:xfrm>
            <a:off x="1885405" y="3631524"/>
            <a:ext cx="3199075" cy="99885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970" dirty="0"/>
              <a:t>已知</a:t>
            </a:r>
            <a:r>
              <a:rPr lang="en-US" altLang="zh-CN" sz="1970" dirty="0"/>
              <a:t>1</a:t>
            </a:r>
            <a:r>
              <a:rPr lang="zh-CN" altLang="en-US" sz="1970" dirty="0"/>
              <a:t>到</a:t>
            </a:r>
            <a:r>
              <a:rPr lang="en-US" altLang="zh-CN" sz="1970" dirty="0"/>
              <a:t>n</a:t>
            </a:r>
            <a:r>
              <a:rPr lang="zh-CN" altLang="en-US" sz="1970" dirty="0"/>
              <a:t>的一个排列，找到排列中两端大于其中点的区间，对其长度求和</a:t>
            </a:r>
            <a:endParaRPr lang="zh-CN" altLang="zh-CN" sz="1970" dirty="0"/>
          </a:p>
        </p:txBody>
      </p:sp>
      <p:sp>
        <p:nvSpPr>
          <p:cNvPr id="31" name="矩形 30"/>
          <p:cNvSpPr/>
          <p:nvPr/>
        </p:nvSpPr>
        <p:spPr>
          <a:xfrm>
            <a:off x="1885405" y="4942860"/>
            <a:ext cx="3199075" cy="393700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970" dirty="0">
                <a:latin typeface="Consolas" panose="020B0609020204030204" pitchFamily="49" charset="0"/>
              </a:rPr>
              <a:t>原问题</a:t>
            </a:r>
            <a:endParaRPr lang="zh-CN" altLang="zh-CN" sz="197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9AE89F6-85CC-4499-9AC1-F4828BBECF4A}"/>
                  </a:ext>
                </a:extLst>
              </p14:cNvPr>
              <p14:cNvContentPartPr/>
              <p14:nvPr/>
            </p14:nvContentPartPr>
            <p14:xfrm>
              <a:off x="6738155" y="2476524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9AE89F6-85CC-4499-9AC1-F4828BBECF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29155" y="246788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EEC7CC2-720C-411D-AFDE-CB16D38DED63}"/>
                  </a:ext>
                </a:extLst>
              </p14:cNvPr>
              <p14:cNvContentPartPr/>
              <p14:nvPr/>
            </p14:nvContentPartPr>
            <p14:xfrm>
              <a:off x="5442155" y="2299044"/>
              <a:ext cx="36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EEC7CC2-720C-411D-AFDE-CB16D38DED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33155" y="229040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673CA184-6610-46DD-BA3C-26AAD91CA408}"/>
              </a:ext>
            </a:extLst>
          </p:cNvPr>
          <p:cNvSpPr/>
          <p:nvPr/>
        </p:nvSpPr>
        <p:spPr>
          <a:xfrm>
            <a:off x="4871864" y="5587752"/>
            <a:ext cx="6376784" cy="395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970" dirty="0">
                <a:latin typeface="Consolas" panose="020B0609020204030204" pitchFamily="49" charset="0"/>
              </a:rPr>
              <a:t>另一个左侧最大值最近问题怎么办？</a:t>
            </a:r>
            <a:endParaRPr lang="zh-CN" altLang="zh-CN" sz="1970" dirty="0">
              <a:latin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2175084-6D59-4C31-A198-F85A7F138223}"/>
              </a:ext>
            </a:extLst>
          </p:cNvPr>
          <p:cNvSpPr/>
          <p:nvPr/>
        </p:nvSpPr>
        <p:spPr>
          <a:xfrm>
            <a:off x="6477288" y="6217638"/>
            <a:ext cx="3928512" cy="395493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970" dirty="0">
                <a:latin typeface="Consolas" panose="020B0609020204030204" pitchFamily="49" charset="0"/>
              </a:rPr>
              <a:t>反转数组，再做一遍！</a:t>
            </a:r>
            <a:endParaRPr lang="zh-CN" altLang="zh-CN" sz="197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8" grpId="0" bldLvl="0" animBg="1"/>
      <p:bldP spid="11" grpId="0" bldLvl="0" animBg="1"/>
      <p:bldP spid="14" grpId="0" bldLvl="0" animBg="1"/>
      <p:bldP spid="27" grpId="0" bldLvl="0" animBg="1"/>
      <p:bldP spid="29" grpId="0" bldLvl="0" animBg="1"/>
      <p:bldP spid="30" grpId="0" bldLvl="0" animBg="1"/>
      <p:bldP spid="31" grpId="0" bldLvl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7145710" y="1446288"/>
            <a:ext cx="2664296" cy="1076325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挑选最简单的问题是哪个</a:t>
            </a:r>
          </a:p>
        </p:txBody>
      </p:sp>
      <p:sp>
        <p:nvSpPr>
          <p:cNvPr id="5" name="矩形 4"/>
          <p:cNvSpPr/>
          <p:nvPr/>
        </p:nvSpPr>
        <p:spPr>
          <a:xfrm>
            <a:off x="2633727" y="1446603"/>
            <a:ext cx="1146922" cy="107632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</a:rPr>
              <a:t>离线问询</a:t>
            </a:r>
          </a:p>
        </p:txBody>
      </p:sp>
      <p:sp>
        <p:nvSpPr>
          <p:cNvPr id="6" name="矩形 5"/>
          <p:cNvSpPr/>
          <p:nvPr/>
        </p:nvSpPr>
        <p:spPr>
          <a:xfrm>
            <a:off x="3929871" y="1446603"/>
            <a:ext cx="2808312" cy="107632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可以看完问题换顺序回答</a:t>
            </a:r>
          </a:p>
        </p:txBody>
      </p:sp>
      <p:sp>
        <p:nvSpPr>
          <p:cNvPr id="18" name="矩形 17"/>
          <p:cNvSpPr/>
          <p:nvPr/>
        </p:nvSpPr>
        <p:spPr>
          <a:xfrm>
            <a:off x="3960281" y="5111126"/>
            <a:ext cx="2808312" cy="5835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最右侧</a:t>
            </a:r>
          </a:p>
        </p:txBody>
      </p:sp>
      <p:sp>
        <p:nvSpPr>
          <p:cNvPr id="19" name="矩形 18"/>
          <p:cNvSpPr/>
          <p:nvPr/>
        </p:nvSpPr>
        <p:spPr>
          <a:xfrm>
            <a:off x="3960281" y="3240819"/>
            <a:ext cx="2808312" cy="5835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最小</a:t>
            </a:r>
          </a:p>
        </p:txBody>
      </p:sp>
      <p:sp>
        <p:nvSpPr>
          <p:cNvPr id="20" name="矩形 19"/>
          <p:cNvSpPr/>
          <p:nvPr/>
        </p:nvSpPr>
        <p:spPr>
          <a:xfrm>
            <a:off x="3960281" y="4176922"/>
            <a:ext cx="2808312" cy="5835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最大</a:t>
            </a:r>
          </a:p>
        </p:txBody>
      </p:sp>
      <p:sp>
        <p:nvSpPr>
          <p:cNvPr id="21" name="矩形 20"/>
          <p:cNvSpPr/>
          <p:nvPr/>
        </p:nvSpPr>
        <p:spPr>
          <a:xfrm>
            <a:off x="3204585" y="5102495"/>
            <a:ext cx="576064" cy="5835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/>
              <a:t>3</a:t>
            </a:r>
            <a:endParaRPr lang="zh-CN" altLang="en-US" sz="3200" dirty="0"/>
          </a:p>
        </p:txBody>
      </p:sp>
      <p:sp>
        <p:nvSpPr>
          <p:cNvPr id="22" name="矩形 21"/>
          <p:cNvSpPr/>
          <p:nvPr/>
        </p:nvSpPr>
        <p:spPr>
          <a:xfrm>
            <a:off x="3204585" y="3232186"/>
            <a:ext cx="576064" cy="5835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/>
              <a:t>1</a:t>
            </a:r>
            <a:endParaRPr lang="zh-CN" altLang="en-US" sz="3200" dirty="0"/>
          </a:p>
        </p:txBody>
      </p:sp>
      <p:sp>
        <p:nvSpPr>
          <p:cNvPr id="23" name="矩形 22"/>
          <p:cNvSpPr/>
          <p:nvPr/>
        </p:nvSpPr>
        <p:spPr>
          <a:xfrm>
            <a:off x="3204585" y="4168291"/>
            <a:ext cx="576064" cy="5835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/>
              <a:t>2</a:t>
            </a:r>
            <a:endParaRPr lang="zh-CN" altLang="en-US" sz="3200" dirty="0"/>
          </a:p>
        </p:txBody>
      </p:sp>
      <p:sp>
        <p:nvSpPr>
          <p:cNvPr id="24" name="矩形 23"/>
          <p:cNvSpPr/>
          <p:nvPr/>
        </p:nvSpPr>
        <p:spPr>
          <a:xfrm>
            <a:off x="7896200" y="2915037"/>
            <a:ext cx="792088" cy="310769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三种思路都可行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5550" y="47195"/>
            <a:ext cx="8229600" cy="1143000"/>
          </a:xfrm>
        </p:spPr>
        <p:txBody>
          <a:bodyPr/>
          <a:lstStyle/>
          <a:p>
            <a:r>
              <a:rPr lang="zh-CN" altLang="en-US" dirty="0"/>
              <a:t>右侧更大值最近问题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9817C3-91C1-AA38-D654-6F3AE2AA9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 bldLvl="0" animBg="1"/>
      <p:bldP spid="20" grpId="0" bldLvl="0" animBg="1"/>
      <p:bldP spid="21" grpId="0"/>
      <p:bldP spid="22" grpId="0"/>
      <p:bldP spid="23" grpId="0"/>
      <p:bldP spid="24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935760" y="2420889"/>
            <a:ext cx="2808312" cy="583565"/>
          </a:xfrm>
          <a:prstGeom prst="rect">
            <a:avLst/>
          </a:prstGeom>
          <a:solidFill>
            <a:srgbClr val="FFCC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最小</a:t>
            </a:r>
          </a:p>
        </p:txBody>
      </p:sp>
      <p:sp>
        <p:nvSpPr>
          <p:cNvPr id="22" name="矩形 21"/>
          <p:cNvSpPr/>
          <p:nvPr/>
        </p:nvSpPr>
        <p:spPr>
          <a:xfrm>
            <a:off x="3180064" y="2412258"/>
            <a:ext cx="576064" cy="5835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/>
              <a:t>1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3935760" y="3852339"/>
            <a:ext cx="4824536" cy="107632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依次挑选当前最小数值</a:t>
            </a:r>
            <a:endParaRPr lang="en-US" altLang="zh-CN" sz="3200" dirty="0"/>
          </a:p>
          <a:p>
            <a:pPr algn="ctr"/>
            <a:r>
              <a:rPr lang="zh-CN" altLang="en-US" sz="3200" dirty="0"/>
              <a:t>回答问题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E9D969-ADBB-9277-1896-8E21E99B7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/>
          <a:lstStyle/>
          <a:p>
            <a:r>
              <a:rPr lang="zh-CN" altLang="en-US" dirty="0"/>
              <a:t>离线问询</a:t>
            </a:r>
            <a:r>
              <a:rPr lang="en-US" altLang="zh-CN" dirty="0"/>
              <a:t>+</a:t>
            </a:r>
            <a:r>
              <a:rPr lang="zh-CN" altLang="en-US" dirty="0"/>
              <a:t>双链表删除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3863753" y="1404066"/>
            <a:ext cx="338437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双链表处理删除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668371" y="2471296"/>
          <a:ext cx="717628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60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1703513" y="2812866"/>
            <a:ext cx="864095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得分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703513" y="3938373"/>
          <a:ext cx="50405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071665" y="3911456"/>
          <a:ext cx="50405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4439817" y="3938373"/>
          <a:ext cx="50405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5735961" y="3938373"/>
          <a:ext cx="50405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7104113" y="3938373"/>
          <a:ext cx="50405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8400257" y="3938373"/>
          <a:ext cx="50405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任意多边形 23"/>
          <p:cNvSpPr/>
          <p:nvPr/>
        </p:nvSpPr>
        <p:spPr>
          <a:xfrm>
            <a:off x="2207569" y="3927740"/>
            <a:ext cx="766161" cy="146675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 flipH="1" flipV="1">
            <a:off x="2223000" y="4581129"/>
            <a:ext cx="740029" cy="118123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accent3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3647729" y="3933057"/>
            <a:ext cx="766161" cy="146675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 flipH="1" flipV="1">
            <a:off x="3663160" y="4586446"/>
            <a:ext cx="740029" cy="118123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accent3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4943873" y="3953633"/>
            <a:ext cx="766161" cy="146675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 flipH="1" flipV="1">
            <a:off x="4959304" y="4607022"/>
            <a:ext cx="740029" cy="118123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accent3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6312025" y="3953633"/>
            <a:ext cx="766161" cy="146675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 flipH="1" flipV="1">
            <a:off x="6327456" y="4607022"/>
            <a:ext cx="740029" cy="118123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accent3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>
            <a:off x="7608169" y="3953633"/>
            <a:ext cx="766161" cy="146675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 flipH="1" flipV="1">
            <a:off x="7623600" y="4607022"/>
            <a:ext cx="740029" cy="118123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accent3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351584" y="6198255"/>
            <a:ext cx="3109027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/>
              <a:t>如何删除最小数据</a:t>
            </a:r>
          </a:p>
        </p:txBody>
      </p:sp>
      <p:sp>
        <p:nvSpPr>
          <p:cNvPr id="35" name="矩形 34"/>
          <p:cNvSpPr/>
          <p:nvPr/>
        </p:nvSpPr>
        <p:spPr>
          <a:xfrm>
            <a:off x="5618240" y="5772240"/>
            <a:ext cx="3947477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1.</a:t>
            </a:r>
            <a:r>
              <a:rPr lang="zh-CN" altLang="en-US" sz="2400" dirty="0"/>
              <a:t>定位其在哪个位置</a:t>
            </a:r>
          </a:p>
        </p:txBody>
      </p:sp>
      <p:sp>
        <p:nvSpPr>
          <p:cNvPr id="36" name="矩形 35"/>
          <p:cNvSpPr/>
          <p:nvPr/>
        </p:nvSpPr>
        <p:spPr>
          <a:xfrm>
            <a:off x="5618240" y="6279704"/>
            <a:ext cx="3947477" cy="46166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2.</a:t>
            </a:r>
            <a:r>
              <a:rPr lang="zh-CN" altLang="en-US" sz="2400" dirty="0"/>
              <a:t> 左右邻居互相指认</a:t>
            </a:r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9731922" y="3933056"/>
          <a:ext cx="50405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i=7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任意多边形 37"/>
          <p:cNvSpPr/>
          <p:nvPr/>
        </p:nvSpPr>
        <p:spPr>
          <a:xfrm>
            <a:off x="8939834" y="3968892"/>
            <a:ext cx="766161" cy="146675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/>
        </p:nvSpPr>
        <p:spPr>
          <a:xfrm flipH="1" flipV="1">
            <a:off x="8955265" y="4581129"/>
            <a:ext cx="740029" cy="118123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chemeClr val="accent3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 rot="21334748">
            <a:off x="4970937" y="3509991"/>
            <a:ext cx="2118882" cy="452624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 rot="10562784">
            <a:off x="4972147" y="4653637"/>
            <a:ext cx="2118882" cy="452624"/>
          </a:xfrm>
          <a:custGeom>
            <a:avLst/>
            <a:gdLst>
              <a:gd name="connsiteX0" fmla="*/ 0 w 904875"/>
              <a:gd name="connsiteY0" fmla="*/ 63037 h 77325"/>
              <a:gd name="connsiteX1" fmla="*/ 338138 w 904875"/>
              <a:gd name="connsiteY1" fmla="*/ 10650 h 77325"/>
              <a:gd name="connsiteX2" fmla="*/ 595313 w 904875"/>
              <a:gd name="connsiteY2" fmla="*/ 5887 h 77325"/>
              <a:gd name="connsiteX3" fmla="*/ 904875 w 904875"/>
              <a:gd name="connsiteY3" fmla="*/ 77325 h 77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4875" h="77325">
                <a:moveTo>
                  <a:pt x="0" y="63037"/>
                </a:moveTo>
                <a:cubicBezTo>
                  <a:pt x="119459" y="41606"/>
                  <a:pt x="238919" y="20175"/>
                  <a:pt x="338138" y="10650"/>
                </a:cubicBezTo>
                <a:cubicBezTo>
                  <a:pt x="437357" y="1125"/>
                  <a:pt x="500857" y="-5225"/>
                  <a:pt x="595313" y="5887"/>
                </a:cubicBezTo>
                <a:cubicBezTo>
                  <a:pt x="689769" y="16999"/>
                  <a:pt x="797322" y="47162"/>
                  <a:pt x="904875" y="77325"/>
                </a:cubicBezTo>
              </a:path>
            </a:pathLst>
          </a:cu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5375920" y="3861049"/>
            <a:ext cx="216025" cy="194803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6457562" y="4581129"/>
            <a:ext cx="216025" cy="194803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6244F3-ABE0-A08B-C4D4-81109B74D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41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/>
          <a:lstStyle/>
          <a:p>
            <a:r>
              <a:rPr lang="zh-CN" altLang="en-US" dirty="0"/>
              <a:t>双链表删除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B978D2-96F9-83CD-0677-29045969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664138" y="2311247"/>
            <a:ext cx="7431683" cy="460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高度为</a:t>
            </a:r>
            <a:r>
              <a:rPr lang="en-US" altLang="zh-CN" sz="2400" dirty="0"/>
              <a:t>1</a:t>
            </a:r>
            <a:r>
              <a:rPr lang="zh-CN" altLang="en-US" sz="2400" dirty="0"/>
              <a:t>的哨兵，它的答案是此时它贴身右边邻居位置</a:t>
            </a:r>
          </a:p>
        </p:txBody>
      </p:sp>
      <p:sp>
        <p:nvSpPr>
          <p:cNvPr id="7" name="矩形 6"/>
          <p:cNvSpPr/>
          <p:nvPr/>
        </p:nvSpPr>
        <p:spPr>
          <a:xfrm>
            <a:off x="2664138" y="2896380"/>
            <a:ext cx="7431682" cy="4603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高度为</a:t>
            </a:r>
            <a:r>
              <a:rPr lang="en-US" altLang="zh-CN" sz="2400" dirty="0"/>
              <a:t>1</a:t>
            </a:r>
            <a:r>
              <a:rPr lang="zh-CN" altLang="en-US" sz="2400" dirty="0"/>
              <a:t>的哨兵确定后，高度为</a:t>
            </a:r>
            <a:r>
              <a:rPr lang="en-US" altLang="zh-CN" sz="2400" dirty="0"/>
              <a:t>2</a:t>
            </a:r>
            <a:r>
              <a:rPr lang="zh-CN" altLang="en-US" sz="2400" dirty="0"/>
              <a:t>的哨兵能否确定呢</a:t>
            </a:r>
            <a:r>
              <a:rPr lang="en-US" altLang="zh-CN" sz="2400" dirty="0"/>
              <a:t>?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2664136" y="3514255"/>
            <a:ext cx="3215841" cy="8299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将高度为</a:t>
            </a:r>
            <a:r>
              <a:rPr lang="en-US" altLang="zh-CN" sz="2400" dirty="0"/>
              <a:t>1</a:t>
            </a:r>
            <a:r>
              <a:rPr lang="zh-CN" altLang="en-US" sz="2400" dirty="0"/>
              <a:t>的哨兵删除后分析高度为</a:t>
            </a:r>
            <a:r>
              <a:rPr lang="en-US" altLang="zh-CN" sz="2400" dirty="0"/>
              <a:t>2</a:t>
            </a:r>
            <a:r>
              <a:rPr lang="zh-CN" altLang="en-US" sz="2400" dirty="0"/>
              <a:t>的哨兵</a:t>
            </a:r>
          </a:p>
        </p:txBody>
      </p:sp>
      <p:sp>
        <p:nvSpPr>
          <p:cNvPr id="9" name="矩形 8"/>
          <p:cNvSpPr/>
          <p:nvPr/>
        </p:nvSpPr>
        <p:spPr>
          <a:xfrm>
            <a:off x="2668376" y="4522367"/>
            <a:ext cx="3215841" cy="8299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将高度为</a:t>
            </a:r>
            <a:r>
              <a:rPr lang="en-US" altLang="zh-CN" sz="2400" dirty="0"/>
              <a:t>2</a:t>
            </a:r>
            <a:r>
              <a:rPr lang="zh-CN" altLang="en-US" sz="2400" dirty="0"/>
              <a:t>的哨兵删除后分析高度为</a:t>
            </a:r>
            <a:r>
              <a:rPr lang="en-US" altLang="zh-CN" sz="2400" dirty="0"/>
              <a:t>3</a:t>
            </a:r>
            <a:r>
              <a:rPr lang="zh-CN" altLang="en-US" sz="2400" dirty="0"/>
              <a:t>的哨兵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668371" y="1340768"/>
          <a:ext cx="71780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i=2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i=3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i=4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i=5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i=6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3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8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1703514" y="1682338"/>
            <a:ext cx="864095" cy="39878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高度</a:t>
            </a:r>
          </a:p>
        </p:txBody>
      </p:sp>
      <p:sp>
        <p:nvSpPr>
          <p:cNvPr id="16" name="矩形 15"/>
          <p:cNvSpPr/>
          <p:nvPr/>
        </p:nvSpPr>
        <p:spPr>
          <a:xfrm>
            <a:off x="6096001" y="3502060"/>
            <a:ext cx="3744414" cy="82994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它的答案就是此时它贴身右边邻居位置</a:t>
            </a:r>
          </a:p>
        </p:txBody>
      </p:sp>
      <p:sp>
        <p:nvSpPr>
          <p:cNvPr id="17" name="矩形 16"/>
          <p:cNvSpPr/>
          <p:nvPr/>
        </p:nvSpPr>
        <p:spPr>
          <a:xfrm>
            <a:off x="6096001" y="4543271"/>
            <a:ext cx="3744414" cy="829945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它的答案就是此时它贴身右边邻居位置</a:t>
            </a:r>
          </a:p>
        </p:txBody>
      </p:sp>
      <p:sp>
        <p:nvSpPr>
          <p:cNvPr id="18" name="矩形 17"/>
          <p:cNvSpPr/>
          <p:nvPr/>
        </p:nvSpPr>
        <p:spPr>
          <a:xfrm>
            <a:off x="1524002" y="1"/>
            <a:ext cx="864095" cy="398780"/>
          </a:xfrm>
          <a:prstGeom prst="rect">
            <a:avLst/>
          </a:prstGeom>
          <a:solidFill>
            <a:srgbClr val="FFCC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/>
              <a:t>最小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7" grpId="0" bldLvl="0" animBg="1"/>
      <p:bldP spid="8" grpId="0" bldLvl="0" animBg="1"/>
      <p:bldP spid="9" grpId="0" bldLvl="0" animBg="1"/>
      <p:bldP spid="16" grpId="0" bldLvl="0" animBg="1"/>
      <p:bldP spid="17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02980" y="1"/>
            <a:ext cx="1865020" cy="52197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zh-CN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分</a:t>
            </a:r>
            <a:endParaRPr lang="zh-CN" altLang="zh-CN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24000" y="1"/>
            <a:ext cx="1296144" cy="5219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链表</a:t>
            </a:r>
            <a:endParaRPr lang="zh-CN" altLang="zh-CN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/>
          <a:srcRect b="2170"/>
          <a:stretch/>
        </p:blipFill>
        <p:spPr>
          <a:xfrm>
            <a:off x="1792397" y="1471828"/>
            <a:ext cx="8293102" cy="382938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002566-8012-A652-8B8B-B73FDEB5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935760" y="2420889"/>
            <a:ext cx="2808312" cy="583565"/>
          </a:xfrm>
          <a:prstGeom prst="rect">
            <a:avLst/>
          </a:prstGeom>
          <a:solidFill>
            <a:srgbClr val="CCFFFF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最大</a:t>
            </a:r>
          </a:p>
        </p:txBody>
      </p:sp>
      <p:sp>
        <p:nvSpPr>
          <p:cNvPr id="22" name="矩形 21"/>
          <p:cNvSpPr/>
          <p:nvPr/>
        </p:nvSpPr>
        <p:spPr>
          <a:xfrm>
            <a:off x="3180064" y="2412258"/>
            <a:ext cx="576064" cy="5835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/>
              <a:t>2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3935760" y="3852339"/>
            <a:ext cx="4824536" cy="107632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依次挑选当前最大数值</a:t>
            </a:r>
            <a:endParaRPr lang="en-US" altLang="zh-CN" sz="3200" dirty="0"/>
          </a:p>
          <a:p>
            <a:pPr algn="ctr"/>
            <a:r>
              <a:rPr lang="zh-CN" altLang="en-US" sz="3200" dirty="0"/>
              <a:t>回答问题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99FF0F-F671-5132-827D-7FD12315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06600" y="1789546"/>
            <a:ext cx="8609880" cy="1219277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dirty="0"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lower_bound(x)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：</a:t>
            </a:r>
            <a:r>
              <a:rPr lang="zh-CN" altLang="en-US" sz="2400" dirty="0">
                <a:latin typeface="Consolas" pitchFamily="49" charset="0"/>
              </a:rPr>
              <a:t>返回第一个</a:t>
            </a:r>
            <a:r>
              <a:rPr lang="zh-CN" altLang="en-US" sz="3600" b="1" dirty="0">
                <a:solidFill>
                  <a:srgbClr val="FF0000"/>
                </a:solidFill>
                <a:latin typeface="Consolas" pitchFamily="49" charset="0"/>
              </a:rPr>
              <a:t>大于等于</a:t>
            </a:r>
            <a:r>
              <a:rPr lang="en-US" altLang="zh-CN" sz="3600" b="1" dirty="0">
                <a:solidFill>
                  <a:srgbClr val="FF0000"/>
                </a:solidFill>
                <a:latin typeface="Consolas" pitchFamily="49" charset="0"/>
              </a:rPr>
              <a:t>x</a:t>
            </a:r>
            <a:r>
              <a:rPr lang="zh-CN" altLang="en-US" sz="2400" dirty="0">
                <a:latin typeface="Consolas" pitchFamily="49" charset="0"/>
              </a:rPr>
              <a:t>的数的地址</a:t>
            </a:r>
            <a:r>
              <a:rPr lang="en-US" altLang="zh-CN" sz="2400" dirty="0">
                <a:latin typeface="Consolas" pitchFamily="49" charset="0"/>
              </a:rPr>
              <a:t>/</a:t>
            </a:r>
            <a:r>
              <a:rPr lang="zh-CN" altLang="en-US" sz="2400" dirty="0">
                <a:latin typeface="Consolas" pitchFamily="49" charset="0"/>
              </a:rPr>
              <a:t>迭代器，</a:t>
            </a:r>
            <a:br>
              <a:rPr lang="en-US" altLang="zh-CN" sz="2400" dirty="0">
                <a:latin typeface="Consolas" pitchFamily="49" charset="0"/>
              </a:rPr>
            </a:br>
            <a:r>
              <a:rPr lang="en-US" altLang="zh-CN" sz="2400" dirty="0">
                <a:latin typeface="Consolas" pitchFamily="49" charset="0"/>
              </a:rPr>
              <a:t>		    </a:t>
            </a:r>
            <a:r>
              <a:rPr lang="zh-CN" altLang="en-US" sz="2400" dirty="0">
                <a:latin typeface="Consolas" pitchFamily="49" charset="0"/>
              </a:rPr>
              <a:t>如果找不到，就返回末尾的地址</a:t>
            </a:r>
            <a:r>
              <a:rPr lang="en-US" altLang="zh-CN" sz="2400" dirty="0">
                <a:latin typeface="Consolas" pitchFamily="49" charset="0"/>
              </a:rPr>
              <a:t>/</a:t>
            </a:r>
            <a:r>
              <a:rPr lang="zh-CN" altLang="en-US" sz="2400" dirty="0">
                <a:latin typeface="Consolas" pitchFamily="49" charset="0"/>
              </a:rPr>
              <a:t>迭代器。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5600" y="677019"/>
            <a:ext cx="614841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重载</a:t>
            </a:r>
            <a:r>
              <a:rPr lang="zh-CN" altLang="en-US" dirty="0">
                <a:latin typeface="Consolas" pitchFamily="49" charset="0"/>
                <a:cs typeface="Consolas" pitchFamily="49" charset="0"/>
              </a:rPr>
              <a:t>了</a:t>
            </a:r>
            <a:r>
              <a:rPr lang="en-US" altLang="zh-CN" dirty="0">
                <a:latin typeface="Consolas" pitchFamily="49" charset="0"/>
                <a:cs typeface="Consolas" pitchFamily="49" charset="0"/>
              </a:rPr>
              <a:t>lower_bound</a:t>
            </a:r>
            <a:r>
              <a:rPr lang="zh-CN" altLang="en-US" dirty="0">
                <a:latin typeface="Consolas" pitchFamily="49" charset="0"/>
                <a:cs typeface="Consolas" pitchFamily="49" charset="0"/>
              </a:rPr>
              <a:t>和</a:t>
            </a:r>
            <a:r>
              <a:rPr lang="en-US" altLang="zh-CN" dirty="0" err="1">
                <a:latin typeface="Consolas" pitchFamily="49" charset="0"/>
                <a:cs typeface="Consolas" pitchFamily="49" charset="0"/>
              </a:rPr>
              <a:t>upper_bound</a:t>
            </a:r>
            <a:r>
              <a:rPr lang="zh-CN" altLang="en-US" dirty="0">
                <a:latin typeface="Consolas" pitchFamily="49" charset="0"/>
                <a:cs typeface="Consolas" pitchFamily="49" charset="0"/>
              </a:rPr>
              <a:t>函数</a:t>
            </a:r>
            <a:endParaRPr lang="zh-CN" altLang="en-US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1C8DD3F-7935-4EAD-1888-4ACA09C12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E5E1E8-F53A-8795-AD06-C7E33A2EBB60}"/>
              </a:ext>
            </a:extLst>
          </p:cNvPr>
          <p:cNvSpPr txBox="1"/>
          <p:nvPr/>
        </p:nvSpPr>
        <p:spPr>
          <a:xfrm>
            <a:off x="1521872" y="1435"/>
            <a:ext cx="2197864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333333"/>
                </a:solidFill>
                <a:latin typeface="Arial" panose="020B0604020202020204" pitchFamily="34" charset="0"/>
              </a:rPr>
              <a:t>set/multiset</a:t>
            </a:r>
            <a:r>
              <a:rPr lang="zh-CN" altLang="en-US" sz="2000" b="1" dirty="0">
                <a:solidFill>
                  <a:srgbClr val="333333"/>
                </a:solidFill>
                <a:latin typeface="Arial" panose="020B0604020202020204" pitchFamily="34" charset="0"/>
              </a:rPr>
              <a:t>容器</a:t>
            </a:r>
            <a:endParaRPr lang="zh-CN" altLang="en-US" sz="2000" b="1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AC69573-ED05-2671-FB48-DB93B5BE4E1C}"/>
              </a:ext>
            </a:extLst>
          </p:cNvPr>
          <p:cNvSpPr txBox="1">
            <a:spLocks/>
          </p:cNvSpPr>
          <p:nvPr/>
        </p:nvSpPr>
        <p:spPr>
          <a:xfrm>
            <a:off x="1806600" y="3182950"/>
            <a:ext cx="8609880" cy="1398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2400" dirty="0"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upper_bound(x)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：</a:t>
            </a:r>
            <a:r>
              <a:rPr lang="zh-CN" altLang="en-US" sz="2400" dirty="0">
                <a:latin typeface="Consolas" pitchFamily="49" charset="0"/>
              </a:rPr>
              <a:t>返回第一个</a:t>
            </a:r>
            <a:r>
              <a:rPr lang="zh-CN" altLang="en-US" sz="3100" b="1" dirty="0">
                <a:solidFill>
                  <a:srgbClr val="FF0000"/>
                </a:solidFill>
                <a:latin typeface="Consolas" pitchFamily="49" charset="0"/>
              </a:rPr>
              <a:t>大于</a:t>
            </a:r>
            <a:r>
              <a:rPr lang="en-US" altLang="zh-CN" sz="3100" b="1" dirty="0">
                <a:solidFill>
                  <a:srgbClr val="FF0000"/>
                </a:solidFill>
                <a:latin typeface="Consolas" pitchFamily="49" charset="0"/>
              </a:rPr>
              <a:t>x</a:t>
            </a:r>
            <a:r>
              <a:rPr lang="zh-CN" altLang="en-US" sz="2400" dirty="0">
                <a:latin typeface="Consolas" pitchFamily="49" charset="0"/>
              </a:rPr>
              <a:t>的数的地址</a:t>
            </a:r>
            <a:r>
              <a:rPr lang="en-US" altLang="zh-CN" sz="2400" dirty="0">
                <a:latin typeface="Consolas" pitchFamily="49" charset="0"/>
              </a:rPr>
              <a:t>/</a:t>
            </a:r>
            <a:r>
              <a:rPr lang="zh-CN" altLang="en-US" sz="2400" dirty="0">
                <a:latin typeface="Consolas" pitchFamily="49" charset="0"/>
              </a:rPr>
              <a:t>迭代器，</a:t>
            </a:r>
            <a:br>
              <a:rPr lang="en-US" altLang="zh-CN" sz="2400" dirty="0">
                <a:latin typeface="Consolas" pitchFamily="49" charset="0"/>
              </a:rPr>
            </a:br>
            <a:r>
              <a:rPr lang="en-US" altLang="zh-CN" sz="2400" dirty="0">
                <a:latin typeface="Consolas" pitchFamily="49" charset="0"/>
              </a:rPr>
              <a:t>		    </a:t>
            </a:r>
            <a:r>
              <a:rPr lang="zh-CN" altLang="en-US" sz="2400" dirty="0">
                <a:latin typeface="Consolas" pitchFamily="49" charset="0"/>
              </a:rPr>
              <a:t>如果找不到，就返回末尾的地址</a:t>
            </a:r>
            <a:r>
              <a:rPr lang="en-US" altLang="zh-CN" sz="2400" dirty="0">
                <a:latin typeface="Consolas" pitchFamily="49" charset="0"/>
              </a:rPr>
              <a:t>/</a:t>
            </a:r>
            <a:r>
              <a:rPr lang="zh-CN" altLang="en-US" sz="2400" dirty="0">
                <a:latin typeface="Consolas" pitchFamily="49" charset="0"/>
              </a:rPr>
              <a:t>迭代器。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7FDE62F-16F9-B152-49BE-53BBA64C3E6D}"/>
              </a:ext>
            </a:extLst>
          </p:cNvPr>
          <p:cNvSpPr txBox="1">
            <a:spLocks/>
          </p:cNvSpPr>
          <p:nvPr/>
        </p:nvSpPr>
        <p:spPr>
          <a:xfrm>
            <a:off x="1769016" y="5402432"/>
            <a:ext cx="8886160" cy="779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STL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</a:rPr>
              <a:t>中的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lower_bound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upper_bound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</a:rPr>
              <a:t>函数不适合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set/multiset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</a:rPr>
              <a:t>的数据结构。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03BE89-6903-1408-606E-4F8F3ED1D314}"/>
              </a:ext>
            </a:extLst>
          </p:cNvPr>
          <p:cNvSpPr txBox="1"/>
          <p:nvPr/>
        </p:nvSpPr>
        <p:spPr>
          <a:xfrm>
            <a:off x="1806600" y="5202377"/>
            <a:ext cx="2197864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333333"/>
                </a:solidFill>
                <a:latin typeface="Arial" panose="020B0604020202020204" pitchFamily="34" charset="0"/>
              </a:rPr>
              <a:t>为什么要重载？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4387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02980" y="1"/>
            <a:ext cx="1865020" cy="52197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zh-CN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分</a:t>
            </a:r>
            <a:endParaRPr lang="zh-CN" altLang="zh-CN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24000" y="1"/>
            <a:ext cx="1296144" cy="5219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endParaRPr lang="zh-CN" altLang="zh-CN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073" y="1663288"/>
            <a:ext cx="7494013" cy="353142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E2CDAA-8A87-FB6D-D157-472F2C8B5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935760" y="2420889"/>
            <a:ext cx="2808312" cy="583565"/>
          </a:xfrm>
          <a:prstGeom prst="rect">
            <a:avLst/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最右</a:t>
            </a:r>
          </a:p>
        </p:txBody>
      </p:sp>
      <p:sp>
        <p:nvSpPr>
          <p:cNvPr id="22" name="矩形 21"/>
          <p:cNvSpPr/>
          <p:nvPr/>
        </p:nvSpPr>
        <p:spPr>
          <a:xfrm>
            <a:off x="3180064" y="2412258"/>
            <a:ext cx="576064" cy="5835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/>
              <a:t>3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3935760" y="3852339"/>
            <a:ext cx="4824536" cy="107632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依次挑选当前最右位置</a:t>
            </a:r>
            <a:endParaRPr lang="en-US" altLang="zh-CN" sz="3200" dirty="0"/>
          </a:p>
          <a:p>
            <a:pPr algn="ctr"/>
            <a:r>
              <a:rPr lang="zh-CN" altLang="en-US" sz="3200" dirty="0"/>
              <a:t>回答问题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ED4C32-FC86-8750-8AE1-FEF492BC3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02980" y="1"/>
            <a:ext cx="1865020" cy="52197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zh-CN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分</a:t>
            </a:r>
            <a:endParaRPr lang="zh-CN" altLang="zh-CN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24000" y="1"/>
            <a:ext cx="1296144" cy="5219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单调栈</a:t>
            </a:r>
            <a:endParaRPr lang="zh-CN" altLang="zh-CN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984" y="1666636"/>
            <a:ext cx="7791506" cy="352472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9AFA19-A5A4-E5CE-D50C-0B40EC25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524000" y="1"/>
            <a:ext cx="1296144" cy="5219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输出</a:t>
            </a:r>
            <a:endParaRPr lang="zh-CN" altLang="zh-CN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965" y="1201254"/>
            <a:ext cx="6062903" cy="4607387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280442" y="0"/>
            <a:ext cx="2387558" cy="35052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90" dirty="0">
                <a:latin typeface="Consolas" panose="020B0609020204030204" pitchFamily="49" charset="0"/>
                <a:cs typeface="Consolas" panose="020B0609020204030204" pitchFamily="49" charset="0"/>
              </a:rPr>
              <a:t>大小数据分离拿部分分</a:t>
            </a:r>
            <a:endParaRPr lang="en-US" altLang="zh-CN" sz="169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80442" y="324608"/>
            <a:ext cx="2387558" cy="350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90" dirty="0">
                <a:latin typeface="Consolas" panose="020B0609020204030204" pitchFamily="49" charset="0"/>
                <a:cs typeface="Consolas" panose="020B0609020204030204" pitchFamily="49" charset="0"/>
              </a:rPr>
              <a:t>frisbee.cpp</a:t>
            </a:r>
            <a:r>
              <a:rPr lang="zh-CN" altLang="en-US" sz="1690" dirty="0">
                <a:latin typeface="Consolas" panose="020B0609020204030204" pitchFamily="49" charset="0"/>
                <a:cs typeface="Consolas" panose="020B0609020204030204" pitchFamily="49" charset="0"/>
              </a:rPr>
              <a:t>主函数</a:t>
            </a:r>
            <a:endParaRPr lang="en-US" altLang="zh-CN" sz="169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21C50-EF40-38DF-9D82-1E5A6CE7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19536" y="332656"/>
            <a:ext cx="6120680" cy="523220"/>
          </a:xfrm>
          <a:prstGeom prst="rect">
            <a:avLst/>
          </a:prstGeom>
          <a:solidFill>
            <a:srgbClr val="FDEADA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一定要反转数组分两次处理吗？</a:t>
            </a:r>
            <a:endParaRPr lang="zh-CN" altLang="zh-CN" sz="2800" spc="300" dirty="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21C50-EF40-38DF-9D82-1E5A6CE7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3848" y="6356352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1026" name="Picture 2" descr="等等 猫咪脸表情包配文“等等”，可爱又有趣的暂停手势表情包图片gif动图 - 求表情网,斗图从此不求人!">
            <a:extLst>
              <a:ext uri="{FF2B5EF4-FFF2-40B4-BE49-F238E27FC236}">
                <a16:creationId xmlns:a16="http://schemas.microsoft.com/office/drawing/2014/main" id="{F23D052C-D19F-4A17-9837-302066B41A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9" t="15120" r="24401" b="11171"/>
          <a:stretch/>
        </p:blipFill>
        <p:spPr bwMode="auto">
          <a:xfrm>
            <a:off x="32912" y="75663"/>
            <a:ext cx="1800200" cy="2179189"/>
          </a:xfrm>
          <a:prstGeom prst="rect">
            <a:avLst/>
          </a:prstGeom>
          <a:noFill/>
          <a:scene3d>
            <a:camera prst="perspectiveContrastingRightFacing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F8358D2-17C3-46BB-A3F3-0636C921CCDE}"/>
              </a:ext>
            </a:extLst>
          </p:cNvPr>
          <p:cNvSpPr txBox="1"/>
          <p:nvPr/>
        </p:nvSpPr>
        <p:spPr>
          <a:xfrm>
            <a:off x="1919536" y="9734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latin typeface="Consolas" pitchFamily="49" charset="0"/>
              </a:rPr>
              <a:t>尝试从左侧第一个数，找右侧可以配对的区间右端点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6FA7BA-1748-49AF-910D-FED1C9BF3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904" y="1512707"/>
            <a:ext cx="8180992" cy="52213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BBC3851-346F-4E7B-B7CF-155BEBBF2E1F}"/>
              </a:ext>
            </a:extLst>
          </p:cNvPr>
          <p:cNvSpPr/>
          <p:nvPr/>
        </p:nvSpPr>
        <p:spPr>
          <a:xfrm>
            <a:off x="4595069" y="3812460"/>
            <a:ext cx="416575" cy="41657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14867D8-F3FA-45EA-8085-FC9A642CA3BC}"/>
              </a:ext>
            </a:extLst>
          </p:cNvPr>
          <p:cNvSpPr/>
          <p:nvPr/>
        </p:nvSpPr>
        <p:spPr>
          <a:xfrm>
            <a:off x="10028764" y="1782976"/>
            <a:ext cx="760608" cy="295992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5596D6C-77F0-4F3E-A540-1A6BB5644F62}"/>
              </a:ext>
            </a:extLst>
          </p:cNvPr>
          <p:cNvSpPr/>
          <p:nvPr/>
        </p:nvSpPr>
        <p:spPr>
          <a:xfrm>
            <a:off x="5357968" y="4375264"/>
            <a:ext cx="416575" cy="41657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8A575BA-92F8-404E-A2D3-D141C4C25454}"/>
              </a:ext>
            </a:extLst>
          </p:cNvPr>
          <p:cNvSpPr/>
          <p:nvPr/>
        </p:nvSpPr>
        <p:spPr>
          <a:xfrm>
            <a:off x="6115184" y="5600463"/>
            <a:ext cx="416575" cy="41657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B639862-1BC0-44B1-9BD7-F43B758EFC1F}"/>
              </a:ext>
            </a:extLst>
          </p:cNvPr>
          <p:cNvSpPr/>
          <p:nvPr/>
        </p:nvSpPr>
        <p:spPr>
          <a:xfrm>
            <a:off x="10028764" y="2110020"/>
            <a:ext cx="760608" cy="295992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51D8824-5E84-41FE-B5D1-652E07103BDF}"/>
              </a:ext>
            </a:extLst>
          </p:cNvPr>
          <p:cNvSpPr/>
          <p:nvPr/>
        </p:nvSpPr>
        <p:spPr>
          <a:xfrm>
            <a:off x="6886952" y="5023336"/>
            <a:ext cx="416575" cy="41657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CCB6144-3FBD-40F1-AB60-5C7DF1F54E40}"/>
              </a:ext>
            </a:extLst>
          </p:cNvPr>
          <p:cNvSpPr/>
          <p:nvPr/>
        </p:nvSpPr>
        <p:spPr>
          <a:xfrm>
            <a:off x="10976618" y="2456812"/>
            <a:ext cx="760608" cy="295992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219BDF6E-48F9-4D0B-8C76-5510CECCC8C1}"/>
              </a:ext>
            </a:extLst>
          </p:cNvPr>
          <p:cNvSpPr/>
          <p:nvPr/>
        </p:nvSpPr>
        <p:spPr>
          <a:xfrm>
            <a:off x="10976618" y="2121612"/>
            <a:ext cx="760608" cy="295992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6DA7333-1782-4DC2-8F7D-FEDCB88BE726}"/>
              </a:ext>
            </a:extLst>
          </p:cNvPr>
          <p:cNvSpPr/>
          <p:nvPr/>
        </p:nvSpPr>
        <p:spPr>
          <a:xfrm>
            <a:off x="7631544" y="3220712"/>
            <a:ext cx="416575" cy="41657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80BB49D-98CB-47B0-80B3-221393C61F6C}"/>
              </a:ext>
            </a:extLst>
          </p:cNvPr>
          <p:cNvSpPr/>
          <p:nvPr/>
        </p:nvSpPr>
        <p:spPr>
          <a:xfrm>
            <a:off x="10028764" y="2798484"/>
            <a:ext cx="760608" cy="295992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FCB54619-D026-4A88-AE73-E61843E48545}"/>
              </a:ext>
            </a:extLst>
          </p:cNvPr>
          <p:cNvSpPr/>
          <p:nvPr/>
        </p:nvSpPr>
        <p:spPr>
          <a:xfrm>
            <a:off x="10028764" y="2453742"/>
            <a:ext cx="760608" cy="295992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621A4575-21A7-4C9E-9897-3C1CD6317FD5}"/>
              </a:ext>
            </a:extLst>
          </p:cNvPr>
          <p:cNvSpPr/>
          <p:nvPr/>
        </p:nvSpPr>
        <p:spPr>
          <a:xfrm>
            <a:off x="10976618" y="1783637"/>
            <a:ext cx="760608" cy="295992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A9D8582-DC80-44A6-B1F5-A37848274828}"/>
              </a:ext>
            </a:extLst>
          </p:cNvPr>
          <p:cNvSpPr/>
          <p:nvPr/>
        </p:nvSpPr>
        <p:spPr>
          <a:xfrm>
            <a:off x="8405968" y="2637268"/>
            <a:ext cx="416575" cy="41657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F06CD5F-C503-4836-86CA-09ADBF7B785C}"/>
              </a:ext>
            </a:extLst>
          </p:cNvPr>
          <p:cNvSpPr/>
          <p:nvPr/>
        </p:nvSpPr>
        <p:spPr>
          <a:xfrm>
            <a:off x="10976618" y="2792584"/>
            <a:ext cx="760608" cy="295992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55E74B5-9C01-428D-8ADD-DDC197AF1D28}"/>
              </a:ext>
            </a:extLst>
          </p:cNvPr>
          <p:cNvSpPr/>
          <p:nvPr/>
        </p:nvSpPr>
        <p:spPr>
          <a:xfrm>
            <a:off x="9159936" y="2047262"/>
            <a:ext cx="416575" cy="41657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592A629F-5CE0-48F5-9D54-3AF7DB3B4F9A}"/>
              </a:ext>
            </a:extLst>
          </p:cNvPr>
          <p:cNvSpPr/>
          <p:nvPr/>
        </p:nvSpPr>
        <p:spPr>
          <a:xfrm>
            <a:off x="10028764" y="3135233"/>
            <a:ext cx="760608" cy="295992"/>
          </a:xfrm>
          <a:prstGeom prst="round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053BABE-B24D-4053-A2D9-CF1B38A60FCA}"/>
              </a:ext>
            </a:extLst>
          </p:cNvPr>
          <p:cNvSpPr txBox="1"/>
          <p:nvPr/>
        </p:nvSpPr>
        <p:spPr>
          <a:xfrm>
            <a:off x="185545" y="2339817"/>
            <a:ext cx="3600488" cy="8811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>
                <a:latin typeface="Consolas" pitchFamily="49" charset="0"/>
              </a:rPr>
              <a:t>用栈记录有可能成为后续配对区间的左端点</a:t>
            </a:r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F603428-9EBE-48EF-A487-E4010BCDAE18}"/>
              </a:ext>
            </a:extLst>
          </p:cNvPr>
          <p:cNvSpPr txBox="1"/>
          <p:nvPr/>
        </p:nvSpPr>
        <p:spPr>
          <a:xfrm>
            <a:off x="185545" y="3248141"/>
            <a:ext cx="3600488" cy="17121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Consolas" pitchFamily="49" charset="0"/>
              </a:rPr>
              <a:t>枚举每一个新的位置时，从栈顶开始检测，比当期位置低，和第一个比自己位置高的元素，都可以配对。</a:t>
            </a:r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4027D33-1FBB-42BB-B966-2CCBFDECE744}"/>
              </a:ext>
            </a:extLst>
          </p:cNvPr>
          <p:cNvSpPr txBox="1"/>
          <p:nvPr/>
        </p:nvSpPr>
        <p:spPr>
          <a:xfrm>
            <a:off x="189464" y="5003305"/>
            <a:ext cx="3600488" cy="8811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Consolas" pitchFamily="49" charset="0"/>
              </a:rPr>
              <a:t>同时淘汰掉栈内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</a:rPr>
              <a:t>比当前位置低</a:t>
            </a:r>
            <a:r>
              <a:rPr lang="zh-CN" altLang="en-US">
                <a:latin typeface="Consolas" pitchFamily="49" charset="0"/>
              </a:rPr>
              <a:t>的元素。</a:t>
            </a:r>
            <a:r>
              <a:rPr lang="zh-CN" altLang="en-US">
                <a:highlight>
                  <a:srgbClr val="FFFF00"/>
                </a:highlight>
                <a:latin typeface="Consolas" pitchFamily="49" charset="0"/>
              </a:rPr>
              <a:t>新位置的数据一定进栈。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583697E-EDD7-4F06-9AF4-09B1553642BB}"/>
              </a:ext>
            </a:extLst>
          </p:cNvPr>
          <p:cNvSpPr txBox="1"/>
          <p:nvPr/>
        </p:nvSpPr>
        <p:spPr>
          <a:xfrm>
            <a:off x="164520" y="5915782"/>
            <a:ext cx="3600488" cy="8811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Consolas" pitchFamily="49" charset="0"/>
              </a:rPr>
              <a:t>栈内存储的数据具有</a:t>
            </a:r>
            <a:r>
              <a:rPr lang="zh-CN" altLang="en-US" b="1">
                <a:highlight>
                  <a:srgbClr val="FFFF00"/>
                </a:highlight>
                <a:latin typeface="Consolas" pitchFamily="49" charset="0"/>
              </a:rPr>
              <a:t>单调性</a:t>
            </a:r>
            <a:r>
              <a:rPr lang="zh-CN" altLang="en-US">
                <a:latin typeface="Consolas" pitchFamily="49" charset="0"/>
              </a:rPr>
              <a:t>（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</a:rPr>
              <a:t>下降序列</a:t>
            </a:r>
            <a:r>
              <a:rPr lang="zh-CN" altLang="en-US">
                <a:latin typeface="Consolas" pitchFamily="49" charset="0"/>
              </a:rPr>
              <a:t>）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7737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6" grpId="0" animBg="1"/>
      <p:bldP spid="6" grpId="1" animBg="1"/>
      <p:bldP spid="42" grpId="0" animBg="1"/>
      <p:bldP spid="43" grpId="0" animBg="1"/>
      <p:bldP spid="43" grpId="1" animBg="1"/>
      <p:bldP spid="46" grpId="0" animBg="1"/>
      <p:bldP spid="46" grpId="1" animBg="1"/>
      <p:bldP spid="47" grpId="0" animBg="1"/>
      <p:bldP spid="48" grpId="0" animBg="1"/>
      <p:bldP spid="48" grpId="1" animBg="1"/>
      <p:bldP spid="49" grpId="0" animBg="1"/>
      <p:bldP spid="50" grpId="0" animBg="1"/>
      <p:bldP spid="51" grpId="0" animBg="1"/>
      <p:bldP spid="51" grpId="1" animBg="1"/>
      <p:bldP spid="53" grpId="0" animBg="1"/>
      <p:bldP spid="55" grpId="0" animBg="1"/>
      <p:bldP spid="56" grpId="0" animBg="1"/>
      <p:bldP spid="59" grpId="0" animBg="1"/>
      <p:bldP spid="59" grpId="1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35360" y="188640"/>
            <a:ext cx="1512168" cy="523220"/>
          </a:xfrm>
          <a:prstGeom prst="rect">
            <a:avLst/>
          </a:prstGeom>
          <a:solidFill>
            <a:srgbClr val="FDEADA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单调栈</a:t>
            </a:r>
            <a:endParaRPr lang="zh-CN" altLang="zh-CN" sz="2800" spc="300" dirty="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021C50-EF40-38DF-9D82-1E5A6CE7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131A273-592A-4E9F-A5B1-5071C67C6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3" y="908720"/>
            <a:ext cx="11966054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2467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 dirty="0"/>
              <a:t>T4  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35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336601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037A0C-02DA-974C-7EA0-20B2B115A5B4}"/>
              </a:ext>
            </a:extLst>
          </p:cNvPr>
          <p:cNvSpPr/>
          <p:nvPr/>
        </p:nvSpPr>
        <p:spPr>
          <a:xfrm>
            <a:off x="3503712" y="980729"/>
            <a:ext cx="5330452" cy="1200329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Consolas" pitchFamily="49" charset="0"/>
                <a:cs typeface="Consolas" pitchFamily="49" charset="0"/>
              </a:rPr>
              <a:t>请同学写出题目大意</a:t>
            </a:r>
            <a:endParaRPr lang="en-US" altLang="zh-CN" sz="3600" dirty="0"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zh-CN" altLang="en-US" sz="3600" dirty="0">
                <a:latin typeface="Consolas" pitchFamily="49" charset="0"/>
                <a:cs typeface="Consolas" pitchFamily="49" charset="0"/>
              </a:rPr>
              <a:t>已知什么求什么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E282AC-317D-5183-EE87-7B639BEC9DF4}"/>
              </a:ext>
            </a:extLst>
          </p:cNvPr>
          <p:cNvSpPr/>
          <p:nvPr/>
        </p:nvSpPr>
        <p:spPr>
          <a:xfrm>
            <a:off x="3503712" y="2708921"/>
            <a:ext cx="5330452" cy="1143390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从每个集合选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1</a:t>
            </a: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个数，求选出数字组成的可重集合的极差最小值。</a:t>
            </a:r>
            <a:endParaRPr lang="zh-CN" altLang="zh-CN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6979E6B-7FE9-433E-BB37-E47B98F0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48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>
            <a:spLocks/>
          </p:cNvSpPr>
          <p:nvPr/>
        </p:nvSpPr>
        <p:spPr>
          <a:xfrm>
            <a:off x="2329064" y="320998"/>
            <a:ext cx="7505700" cy="4437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0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部分分策略讨论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0B6AB5-8455-2E92-C494-142C7DA27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120" y="1938034"/>
            <a:ext cx="6949280" cy="255822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CEA9FC-7D6C-4315-8323-3644EB07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4874A-FD18-4C5C-B40B-3149EB8D5DDE}"/>
              </a:ext>
            </a:extLst>
          </p:cNvPr>
          <p:cNvSpPr/>
          <p:nvPr/>
        </p:nvSpPr>
        <p:spPr>
          <a:xfrm>
            <a:off x="2877558" y="4680855"/>
            <a:ext cx="6408712" cy="1438855"/>
          </a:xfrm>
          <a:prstGeom prst="rect">
            <a:avLst/>
          </a:prstGeom>
          <a:solidFill>
            <a:srgbClr val="FDEADA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分类处理：</a:t>
            </a:r>
            <a:endParaRPr lang="en-US" altLang="zh-CN" sz="2000" spc="30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1</a:t>
            </a:r>
            <a:r>
              <a:rPr lang="zh-CN" altLang="en-US" sz="20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、确保得分</a:t>
            </a:r>
            <a:endParaRPr lang="en-US" altLang="zh-CN" sz="2000" spc="30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2</a:t>
            </a:r>
            <a:r>
              <a:rPr lang="zh-CN" altLang="en-US" sz="20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、可以启发正解的思路</a:t>
            </a:r>
            <a:endParaRPr lang="zh-CN" altLang="zh-CN" sz="2000" spc="300" dirty="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93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EA58B9C-6A3A-7547-783B-ABAE71B27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075115"/>
            <a:ext cx="7326255" cy="5455916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BB5912-257A-4D3A-9A4A-9E923654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C669B-3DAE-4825-9E2C-4B1DF178B44F}"/>
              </a:ext>
            </a:extLst>
          </p:cNvPr>
          <p:cNvSpPr txBox="1"/>
          <p:nvPr/>
        </p:nvSpPr>
        <p:spPr>
          <a:xfrm>
            <a:off x="1127448" y="260648"/>
            <a:ext cx="9649072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Consolas" panose="020B0609020204030204" pitchFamily="49" charset="0"/>
              </a:rPr>
              <a:t>数据分流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CF60C1-49B5-48D4-AE81-519D073A042E}"/>
              </a:ext>
            </a:extLst>
          </p:cNvPr>
          <p:cNvSpPr/>
          <p:nvPr/>
        </p:nvSpPr>
        <p:spPr>
          <a:xfrm>
            <a:off x="6528048" y="5589240"/>
            <a:ext cx="4608512" cy="523220"/>
          </a:xfrm>
          <a:prstGeom prst="rect">
            <a:avLst/>
          </a:prstGeom>
          <a:solidFill>
            <a:srgbClr val="FDEADA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思考：输入数据如何管理？</a:t>
            </a:r>
            <a:endParaRPr lang="zh-CN" altLang="zh-CN" sz="2800" spc="300" dirty="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85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E09EAE8-B1A7-E3AF-92C4-B8D88BDC0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980728"/>
            <a:ext cx="8593596" cy="465661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C5285AF-8E02-4922-8E0B-9F32C589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7296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29FA67C-CE8E-81F0-09DD-4D4CC7A1F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1196752"/>
            <a:ext cx="8828162" cy="324756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9D7E07-590D-40A6-A092-B214CFE2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5480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0D1AE3-8461-626E-A706-34B822F3B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93" y="1907201"/>
            <a:ext cx="10058400" cy="3043598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1D5200E1-FA64-47EA-9A3D-CE6D5E3FA61A}"/>
              </a:ext>
            </a:extLst>
          </p:cNvPr>
          <p:cNvSpPr txBox="1"/>
          <p:nvPr/>
        </p:nvSpPr>
        <p:spPr>
          <a:xfrm>
            <a:off x="1488657" y="395206"/>
            <a:ext cx="964907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Consolas" panose="020B0609020204030204" pitchFamily="49" charset="0"/>
              </a:rPr>
              <a:t>特判</a:t>
            </a:r>
            <a:r>
              <a:rPr lang="en-US" altLang="zh-CN" sz="3200" dirty="0">
                <a:latin typeface="Consolas" panose="020B0609020204030204" pitchFamily="49" charset="0"/>
              </a:rPr>
              <a:t>k=2</a:t>
            </a:r>
            <a:endParaRPr lang="zh-CN" altLang="en-US" sz="3200" dirty="0">
              <a:latin typeface="Consolas" panose="020B0609020204030204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62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3E3D86-5F3E-18D2-2EAF-8C3549EC2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1412776"/>
            <a:ext cx="11064240" cy="48115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D45769-57D8-4707-B9EB-343EE94B8BB1}"/>
              </a:ext>
            </a:extLst>
          </p:cNvPr>
          <p:cNvSpPr txBox="1"/>
          <p:nvPr/>
        </p:nvSpPr>
        <p:spPr>
          <a:xfrm>
            <a:off x="1271464" y="362855"/>
            <a:ext cx="964907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Consolas" panose="020B0609020204030204" pitchFamily="49" charset="0"/>
              </a:rPr>
              <a:t>特判</a:t>
            </a:r>
            <a:r>
              <a:rPr lang="en-US" altLang="zh-CN" sz="3200" dirty="0">
                <a:latin typeface="Consolas" panose="020B0609020204030204" pitchFamily="49" charset="0"/>
              </a:rPr>
              <a:t>: </a:t>
            </a:r>
            <a:r>
              <a:rPr lang="zh-CN" altLang="zh-CN" sz="3200" dirty="0">
                <a:latin typeface="Consolas" panose="020B0609020204030204" pitchFamily="49" charset="0"/>
              </a:rPr>
              <a:t>所有人的身高均不超过</a:t>
            </a:r>
            <a:r>
              <a:rPr lang="en-US" altLang="zh-CN" sz="3200" dirty="0">
                <a:latin typeface="Consolas" panose="020B0609020204030204" pitchFamily="49" charset="0"/>
              </a:rPr>
              <a:t>2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88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E9BE87-37A6-4E43-DCB9-8EBB2CDDA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020" y="1772816"/>
            <a:ext cx="9627215" cy="3817297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AEB87CDE-BFD1-43DC-8ABC-2CB37AFDFE0C}"/>
              </a:ext>
            </a:extLst>
          </p:cNvPr>
          <p:cNvSpPr txBox="1"/>
          <p:nvPr/>
        </p:nvSpPr>
        <p:spPr>
          <a:xfrm>
            <a:off x="1282392" y="532131"/>
            <a:ext cx="964907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Consolas" panose="020B0609020204030204" pitchFamily="49" charset="0"/>
              </a:rPr>
              <a:t>特判</a:t>
            </a:r>
            <a:r>
              <a:rPr lang="en-US" altLang="zh-CN" sz="3200" dirty="0">
                <a:latin typeface="Consolas" panose="020B0609020204030204" pitchFamily="49" charset="0"/>
              </a:rPr>
              <a:t>: </a:t>
            </a:r>
            <a:r>
              <a:rPr lang="zh-CN" altLang="en-US" sz="3200" dirty="0">
                <a:latin typeface="Consolas" panose="020B0609020204030204" pitchFamily="49" charset="0"/>
              </a:rPr>
              <a:t>所有</a:t>
            </a:r>
            <a:r>
              <a:rPr lang="en-US" altLang="zh-CN" sz="3200" dirty="0">
                <a:latin typeface="Consolas" panose="020B0609020204030204" pitchFamily="49" charset="0"/>
              </a:rPr>
              <a:t>ci</a:t>
            </a:r>
            <a:r>
              <a:rPr lang="zh-CN" altLang="en-US" sz="3200" dirty="0">
                <a:latin typeface="Consolas" panose="020B0609020204030204" pitchFamily="49" charset="0"/>
              </a:rPr>
              <a:t>均为</a:t>
            </a:r>
            <a:r>
              <a:rPr lang="en-US" altLang="zh-CN" sz="3200" dirty="0">
                <a:latin typeface="Consolas" panose="020B0609020204030204" pitchFamily="49" charset="0"/>
              </a:rPr>
              <a:t>1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82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125EFB2-658C-4637-ABA4-24089364B6D2}"/>
              </a:ext>
            </a:extLst>
          </p:cNvPr>
          <p:cNvSpPr txBox="1"/>
          <p:nvPr/>
        </p:nvSpPr>
        <p:spPr>
          <a:xfrm>
            <a:off x="1282392" y="532131"/>
            <a:ext cx="964907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Consolas" panose="020B0609020204030204" pitchFamily="49" charset="0"/>
              </a:rPr>
              <a:t>特判</a:t>
            </a:r>
            <a:r>
              <a:rPr lang="en-US" altLang="zh-CN" sz="3200" dirty="0">
                <a:latin typeface="Consolas" panose="020B0609020204030204" pitchFamily="49" charset="0"/>
              </a:rPr>
              <a:t>: </a:t>
            </a:r>
            <a:r>
              <a:rPr lang="zh-CN" altLang="en-US" sz="3200" dirty="0">
                <a:latin typeface="Consolas" panose="020B0609020204030204" pitchFamily="49" charset="0"/>
              </a:rPr>
              <a:t>所有</a:t>
            </a:r>
            <a:r>
              <a:rPr lang="en-US" altLang="zh-CN" sz="3200" dirty="0">
                <a:latin typeface="Consolas" panose="020B0609020204030204" pitchFamily="49" charset="0"/>
              </a:rPr>
              <a:t>ci</a:t>
            </a:r>
            <a:r>
              <a:rPr lang="zh-CN" altLang="en-US" sz="3200" dirty="0">
                <a:latin typeface="Consolas" panose="020B0609020204030204" pitchFamily="49" charset="0"/>
              </a:rPr>
              <a:t>均为</a:t>
            </a:r>
            <a:r>
              <a:rPr lang="en-US" altLang="zh-CN" sz="3200" dirty="0">
                <a:latin typeface="Consolas" panose="020B0609020204030204" pitchFamily="49" charset="0"/>
              </a:rPr>
              <a:t>2</a:t>
            </a:r>
            <a:endParaRPr lang="zh-CN" altLang="en-US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975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396DFD5-D0A5-23F8-0FB6-FB7DC07AE29B}"/>
              </a:ext>
            </a:extLst>
          </p:cNvPr>
          <p:cNvSpPr txBox="1"/>
          <p:nvPr/>
        </p:nvSpPr>
        <p:spPr>
          <a:xfrm>
            <a:off x="1343472" y="2069556"/>
            <a:ext cx="9649072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Consolas" pitchFamily="49" charset="0"/>
                <a:cs typeface="Consolas" pitchFamily="49" charset="0"/>
              </a:rPr>
              <a:t>正解分析</a:t>
            </a:r>
          </a:p>
        </p:txBody>
      </p:sp>
    </p:spTree>
    <p:extLst>
      <p:ext uri="{BB962C8B-B14F-4D97-AF65-F5344CB8AC3E}">
        <p14:creationId xmlns:p14="http://schemas.microsoft.com/office/powerpoint/2010/main" val="26970407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B2D3B1-19EE-FC77-B97E-A96815D25A3A}"/>
              </a:ext>
            </a:extLst>
          </p:cNvPr>
          <p:cNvSpPr txBox="1"/>
          <p:nvPr/>
        </p:nvSpPr>
        <p:spPr>
          <a:xfrm>
            <a:off x="1343472" y="1988841"/>
            <a:ext cx="964907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每人都有两个属性：身高，班级编号</a:t>
            </a:r>
            <a:endParaRPr lang="zh-CN" altLang="en-US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43A9002-3A33-4AD8-E8B0-17BB672D0A95}"/>
              </a:ext>
            </a:extLst>
          </p:cNvPr>
          <p:cNvSpPr txBox="1"/>
          <p:nvPr/>
        </p:nvSpPr>
        <p:spPr>
          <a:xfrm>
            <a:off x="1347141" y="3212977"/>
            <a:ext cx="964907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二维平面点可视化</a:t>
            </a:r>
            <a:endParaRPr lang="zh-CN" altLang="en-US" sz="32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07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7566FFA-A23F-1FAA-1793-D0746D9E9767}"/>
              </a:ext>
            </a:extLst>
          </p:cNvPr>
          <p:cNvCxnSpPr>
            <a:cxnSpLocks/>
          </p:cNvCxnSpPr>
          <p:nvPr/>
        </p:nvCxnSpPr>
        <p:spPr>
          <a:xfrm>
            <a:off x="2927648" y="5868481"/>
            <a:ext cx="5904656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87A91C8-3312-39E8-6F83-3233676B5B3B}"/>
              </a:ext>
            </a:extLst>
          </p:cNvPr>
          <p:cNvCxnSpPr>
            <a:cxnSpLocks/>
          </p:cNvCxnSpPr>
          <p:nvPr/>
        </p:nvCxnSpPr>
        <p:spPr>
          <a:xfrm flipV="1">
            <a:off x="3215680" y="1268760"/>
            <a:ext cx="0" cy="4752528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4C48ADF5-19E7-3C9B-B856-05AB02BFA0B3}"/>
              </a:ext>
            </a:extLst>
          </p:cNvPr>
          <p:cNvSpPr txBox="1"/>
          <p:nvPr/>
        </p:nvSpPr>
        <p:spPr>
          <a:xfrm>
            <a:off x="8616281" y="5868481"/>
            <a:ext cx="115212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班级编号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90E7AD7-6AAA-0EBD-8DD0-4E7F99E43C7E}"/>
              </a:ext>
            </a:extLst>
          </p:cNvPr>
          <p:cNvSpPr/>
          <p:nvPr/>
        </p:nvSpPr>
        <p:spPr>
          <a:xfrm>
            <a:off x="7180249" y="3539771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2E489B8-834B-D51E-9023-329544C4C398}"/>
              </a:ext>
            </a:extLst>
          </p:cNvPr>
          <p:cNvSpPr/>
          <p:nvPr/>
        </p:nvSpPr>
        <p:spPr>
          <a:xfrm>
            <a:off x="6608359" y="4956219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66F43DB-318F-D476-D2D0-0A74C1691F30}"/>
              </a:ext>
            </a:extLst>
          </p:cNvPr>
          <p:cNvSpPr/>
          <p:nvPr/>
        </p:nvSpPr>
        <p:spPr>
          <a:xfrm>
            <a:off x="7743893" y="4848436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A1DCDC6-E529-EF44-86C1-75D5BE77F00C}"/>
              </a:ext>
            </a:extLst>
          </p:cNvPr>
          <p:cNvSpPr/>
          <p:nvPr/>
        </p:nvSpPr>
        <p:spPr>
          <a:xfrm>
            <a:off x="5449438" y="2066196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B936D9F-168D-78C2-DB6A-D17A4CF2003F}"/>
              </a:ext>
            </a:extLst>
          </p:cNvPr>
          <p:cNvSpPr/>
          <p:nvPr/>
        </p:nvSpPr>
        <p:spPr>
          <a:xfrm>
            <a:off x="6028121" y="1703569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76EF526-6D99-ABB8-C995-D0645D252414}"/>
              </a:ext>
            </a:extLst>
          </p:cNvPr>
          <p:cNvSpPr/>
          <p:nvPr/>
        </p:nvSpPr>
        <p:spPr>
          <a:xfrm>
            <a:off x="6608359" y="2490891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96EFF8-103D-6799-3D4E-A404614A166D}"/>
              </a:ext>
            </a:extLst>
          </p:cNvPr>
          <p:cNvSpPr/>
          <p:nvPr/>
        </p:nvSpPr>
        <p:spPr>
          <a:xfrm>
            <a:off x="4877550" y="2592733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481574D-81D3-91DA-8A89-AFCBC620C152}"/>
              </a:ext>
            </a:extLst>
          </p:cNvPr>
          <p:cNvSpPr/>
          <p:nvPr/>
        </p:nvSpPr>
        <p:spPr>
          <a:xfrm>
            <a:off x="8328253" y="2294721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4637352-2BB0-0466-EEF0-5C46103BA5F5}"/>
              </a:ext>
            </a:extLst>
          </p:cNvPr>
          <p:cNvSpPr/>
          <p:nvPr/>
        </p:nvSpPr>
        <p:spPr>
          <a:xfrm>
            <a:off x="4289491" y="4720077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DF4E6C4-7239-9A55-41AB-C1E3608404A8}"/>
              </a:ext>
            </a:extLst>
          </p:cNvPr>
          <p:cNvSpPr/>
          <p:nvPr/>
        </p:nvSpPr>
        <p:spPr>
          <a:xfrm>
            <a:off x="4877550" y="3611778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8881872-CF67-477D-EF56-DC3F9AA73201}"/>
              </a:ext>
            </a:extLst>
          </p:cNvPr>
          <p:cNvSpPr/>
          <p:nvPr/>
        </p:nvSpPr>
        <p:spPr>
          <a:xfrm>
            <a:off x="7172003" y="4524109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89401D0-3E87-5D29-71AE-A6A821D0D5C8}"/>
              </a:ext>
            </a:extLst>
          </p:cNvPr>
          <p:cNvSpPr/>
          <p:nvPr/>
        </p:nvSpPr>
        <p:spPr>
          <a:xfrm>
            <a:off x="5449439" y="3974405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94FC18E-AB74-5D49-3D89-2512454C8960}"/>
              </a:ext>
            </a:extLst>
          </p:cNvPr>
          <p:cNvSpPr/>
          <p:nvPr/>
        </p:nvSpPr>
        <p:spPr>
          <a:xfrm>
            <a:off x="6028121" y="3278923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BDD6F13-EDD1-A76F-DCF5-137CF22BFF56}"/>
              </a:ext>
            </a:extLst>
          </p:cNvPr>
          <p:cNvSpPr/>
          <p:nvPr/>
        </p:nvSpPr>
        <p:spPr>
          <a:xfrm>
            <a:off x="7743892" y="2541275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8D53E42-0BE2-5E0F-C303-D76713DF3042}"/>
              </a:ext>
            </a:extLst>
          </p:cNvPr>
          <p:cNvSpPr/>
          <p:nvPr/>
        </p:nvSpPr>
        <p:spPr>
          <a:xfrm>
            <a:off x="8332377" y="3611778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1608E0DF-33FC-B214-5C96-FC38B0032AB9}"/>
              </a:ext>
            </a:extLst>
          </p:cNvPr>
          <p:cNvSpPr txBox="1"/>
          <p:nvPr/>
        </p:nvSpPr>
        <p:spPr>
          <a:xfrm>
            <a:off x="2307435" y="989518"/>
            <a:ext cx="115212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身高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373CF0C-3EE3-6A32-2BBF-524D3297E060}"/>
              </a:ext>
            </a:extLst>
          </p:cNvPr>
          <p:cNvCxnSpPr>
            <a:cxnSpLocks/>
          </p:cNvCxnSpPr>
          <p:nvPr/>
        </p:nvCxnSpPr>
        <p:spPr>
          <a:xfrm flipV="1">
            <a:off x="3791744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24C79E2-51CE-E366-DC07-13969AD02CA7}"/>
              </a:ext>
            </a:extLst>
          </p:cNvPr>
          <p:cNvCxnSpPr>
            <a:cxnSpLocks/>
          </p:cNvCxnSpPr>
          <p:nvPr/>
        </p:nvCxnSpPr>
        <p:spPr>
          <a:xfrm flipV="1">
            <a:off x="4367808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8A9E9B2-0D42-52F2-2C30-EC50FE44D7FD}"/>
              </a:ext>
            </a:extLst>
          </p:cNvPr>
          <p:cNvCxnSpPr>
            <a:cxnSpLocks/>
          </p:cNvCxnSpPr>
          <p:nvPr/>
        </p:nvCxnSpPr>
        <p:spPr>
          <a:xfrm flipV="1">
            <a:off x="4943872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C2EE0A3-BF17-35D0-9240-F6B55B5BDACE}"/>
              </a:ext>
            </a:extLst>
          </p:cNvPr>
          <p:cNvCxnSpPr>
            <a:cxnSpLocks/>
          </p:cNvCxnSpPr>
          <p:nvPr/>
        </p:nvCxnSpPr>
        <p:spPr>
          <a:xfrm flipV="1">
            <a:off x="5519936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55DCD2C-3562-08BF-2424-2CDDCB3E7B72}"/>
              </a:ext>
            </a:extLst>
          </p:cNvPr>
          <p:cNvCxnSpPr>
            <a:cxnSpLocks/>
          </p:cNvCxnSpPr>
          <p:nvPr/>
        </p:nvCxnSpPr>
        <p:spPr>
          <a:xfrm flipV="1">
            <a:off x="6096000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6BB90EE-7540-355D-AF00-71EC2DF27E8C}"/>
              </a:ext>
            </a:extLst>
          </p:cNvPr>
          <p:cNvCxnSpPr>
            <a:cxnSpLocks/>
          </p:cNvCxnSpPr>
          <p:nvPr/>
        </p:nvCxnSpPr>
        <p:spPr>
          <a:xfrm flipV="1">
            <a:off x="6672064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502B886-7306-BFFF-20D5-BA67CE5AEF66}"/>
              </a:ext>
            </a:extLst>
          </p:cNvPr>
          <p:cNvCxnSpPr>
            <a:cxnSpLocks/>
          </p:cNvCxnSpPr>
          <p:nvPr/>
        </p:nvCxnSpPr>
        <p:spPr>
          <a:xfrm flipV="1">
            <a:off x="7248128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D664783-E785-FA4A-E2F7-8B1A095E24CA}"/>
              </a:ext>
            </a:extLst>
          </p:cNvPr>
          <p:cNvCxnSpPr>
            <a:cxnSpLocks/>
          </p:cNvCxnSpPr>
          <p:nvPr/>
        </p:nvCxnSpPr>
        <p:spPr>
          <a:xfrm flipV="1">
            <a:off x="7824192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F69FCE4-D6C6-38CF-44D4-6B195168A58D}"/>
              </a:ext>
            </a:extLst>
          </p:cNvPr>
          <p:cNvCxnSpPr>
            <a:cxnSpLocks/>
          </p:cNvCxnSpPr>
          <p:nvPr/>
        </p:nvCxnSpPr>
        <p:spPr>
          <a:xfrm flipV="1">
            <a:off x="8400256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CCCAD0A5-9D29-02B4-6E82-BA99428B5773}"/>
              </a:ext>
            </a:extLst>
          </p:cNvPr>
          <p:cNvSpPr/>
          <p:nvPr/>
        </p:nvSpPr>
        <p:spPr>
          <a:xfrm>
            <a:off x="3726687" y="3112826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9922C15-B910-D488-A389-E61B2C88D338}"/>
              </a:ext>
            </a:extLst>
          </p:cNvPr>
          <p:cNvSpPr/>
          <p:nvPr/>
        </p:nvSpPr>
        <p:spPr>
          <a:xfrm>
            <a:off x="3724960" y="3811568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44053482-3B80-5FE1-5194-F37E46CF3CDF}"/>
              </a:ext>
            </a:extLst>
          </p:cNvPr>
          <p:cNvSpPr/>
          <p:nvPr/>
        </p:nvSpPr>
        <p:spPr>
          <a:xfrm>
            <a:off x="4284687" y="3108339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TextBox 1">
            <a:extLst>
              <a:ext uri="{FF2B5EF4-FFF2-40B4-BE49-F238E27FC236}">
                <a16:creationId xmlns:a16="http://schemas.microsoft.com/office/drawing/2014/main" id="{74FAAE0B-D590-D631-8CB7-9E7E585CC188}"/>
              </a:ext>
            </a:extLst>
          </p:cNvPr>
          <p:cNvSpPr txBox="1"/>
          <p:nvPr/>
        </p:nvSpPr>
        <p:spPr>
          <a:xfrm>
            <a:off x="9552385" y="81236"/>
            <a:ext cx="115212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Consolas" panose="020B0609020204030204" pitchFamily="49" charset="0"/>
              </a:rPr>
              <a:t>c</a:t>
            </a:r>
            <a:r>
              <a:rPr lang="en-US" altLang="zh-CN" sz="2800" baseline="-25000" dirty="0">
                <a:latin typeface="Consolas" panose="020B0609020204030204" pitchFamily="49" charset="0"/>
              </a:rPr>
              <a:t>i</a:t>
            </a:r>
            <a:r>
              <a:rPr lang="en-US" altLang="zh-CN" sz="2800" dirty="0">
                <a:latin typeface="Consolas" panose="020B0609020204030204" pitchFamily="49" charset="0"/>
              </a:rPr>
              <a:t>=2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D818A50-4785-4432-9732-E3B029A8EF3F}"/>
              </a:ext>
            </a:extLst>
          </p:cNvPr>
          <p:cNvSpPr/>
          <p:nvPr/>
        </p:nvSpPr>
        <p:spPr>
          <a:xfrm>
            <a:off x="1923653" y="3050000"/>
            <a:ext cx="8208936" cy="73764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041E263-7B9A-4072-BAF8-CA796A64E547}"/>
              </a:ext>
            </a:extLst>
          </p:cNvPr>
          <p:cNvSpPr/>
          <p:nvPr/>
        </p:nvSpPr>
        <p:spPr>
          <a:xfrm>
            <a:off x="3575720" y="289729"/>
            <a:ext cx="4608512" cy="523220"/>
          </a:xfrm>
          <a:prstGeom prst="rect">
            <a:avLst/>
          </a:prstGeom>
          <a:solidFill>
            <a:srgbClr val="FDEADA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思考：有什么启发？</a:t>
            </a:r>
            <a:endParaRPr lang="zh-CN" altLang="zh-CN" sz="2800" spc="300" dirty="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71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7566FFA-A23F-1FAA-1793-D0746D9E9767}"/>
              </a:ext>
            </a:extLst>
          </p:cNvPr>
          <p:cNvCxnSpPr>
            <a:cxnSpLocks/>
          </p:cNvCxnSpPr>
          <p:nvPr/>
        </p:nvCxnSpPr>
        <p:spPr>
          <a:xfrm>
            <a:off x="2927648" y="5868481"/>
            <a:ext cx="5904656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B87A91C8-3312-39E8-6F83-3233676B5B3B}"/>
              </a:ext>
            </a:extLst>
          </p:cNvPr>
          <p:cNvCxnSpPr>
            <a:cxnSpLocks/>
          </p:cNvCxnSpPr>
          <p:nvPr/>
        </p:nvCxnSpPr>
        <p:spPr>
          <a:xfrm flipV="1">
            <a:off x="3215680" y="1268760"/>
            <a:ext cx="0" cy="4752528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>
            <a:extLst>
              <a:ext uri="{FF2B5EF4-FFF2-40B4-BE49-F238E27FC236}">
                <a16:creationId xmlns:a16="http://schemas.microsoft.com/office/drawing/2014/main" id="{4C48ADF5-19E7-3C9B-B856-05AB02BFA0B3}"/>
              </a:ext>
            </a:extLst>
          </p:cNvPr>
          <p:cNvSpPr txBox="1"/>
          <p:nvPr/>
        </p:nvSpPr>
        <p:spPr>
          <a:xfrm>
            <a:off x="8616281" y="5868481"/>
            <a:ext cx="115212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班级编号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90E7AD7-6AAA-0EBD-8DD0-4E7F99E43C7E}"/>
              </a:ext>
            </a:extLst>
          </p:cNvPr>
          <p:cNvSpPr/>
          <p:nvPr/>
        </p:nvSpPr>
        <p:spPr>
          <a:xfrm>
            <a:off x="7755323" y="3983796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2E489B8-834B-D51E-9023-329544C4C398}"/>
              </a:ext>
            </a:extLst>
          </p:cNvPr>
          <p:cNvSpPr/>
          <p:nvPr/>
        </p:nvSpPr>
        <p:spPr>
          <a:xfrm>
            <a:off x="6608359" y="4956219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66F43DB-318F-D476-D2D0-0A74C1691F30}"/>
              </a:ext>
            </a:extLst>
          </p:cNvPr>
          <p:cNvSpPr/>
          <p:nvPr/>
        </p:nvSpPr>
        <p:spPr>
          <a:xfrm>
            <a:off x="7755323" y="4848436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A1DCDC6-E529-EF44-86C1-75D5BE77F00C}"/>
              </a:ext>
            </a:extLst>
          </p:cNvPr>
          <p:cNvSpPr/>
          <p:nvPr/>
        </p:nvSpPr>
        <p:spPr>
          <a:xfrm>
            <a:off x="5449438" y="2066196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B936D9F-168D-78C2-DB6A-D17A4CF2003F}"/>
              </a:ext>
            </a:extLst>
          </p:cNvPr>
          <p:cNvSpPr/>
          <p:nvPr/>
        </p:nvSpPr>
        <p:spPr>
          <a:xfrm>
            <a:off x="6028121" y="1703569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76EF526-6D99-ABB8-C995-D0645D252414}"/>
              </a:ext>
            </a:extLst>
          </p:cNvPr>
          <p:cNvSpPr/>
          <p:nvPr/>
        </p:nvSpPr>
        <p:spPr>
          <a:xfrm>
            <a:off x="6608359" y="2490891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96EFF8-103D-6799-3D4E-A404614A166D}"/>
              </a:ext>
            </a:extLst>
          </p:cNvPr>
          <p:cNvSpPr/>
          <p:nvPr/>
        </p:nvSpPr>
        <p:spPr>
          <a:xfrm>
            <a:off x="8328253" y="2936276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481574D-81D3-91DA-8A89-AFCBC620C152}"/>
              </a:ext>
            </a:extLst>
          </p:cNvPr>
          <p:cNvSpPr/>
          <p:nvPr/>
        </p:nvSpPr>
        <p:spPr>
          <a:xfrm>
            <a:off x="8328253" y="2294721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5C74367-C721-7519-009B-A43777CF7156}"/>
              </a:ext>
            </a:extLst>
          </p:cNvPr>
          <p:cNvSpPr/>
          <p:nvPr/>
        </p:nvSpPr>
        <p:spPr>
          <a:xfrm>
            <a:off x="4289491" y="2340091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4637352-2BB0-0466-EEF0-5C46103BA5F5}"/>
              </a:ext>
            </a:extLst>
          </p:cNvPr>
          <p:cNvSpPr/>
          <p:nvPr/>
        </p:nvSpPr>
        <p:spPr>
          <a:xfrm>
            <a:off x="4289491" y="4720077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FD678EF-34ED-8729-D3EC-8614A74F9909}"/>
              </a:ext>
            </a:extLst>
          </p:cNvPr>
          <p:cNvSpPr/>
          <p:nvPr/>
        </p:nvSpPr>
        <p:spPr>
          <a:xfrm>
            <a:off x="3726057" y="4920443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DF4E6C4-7239-9A55-41AB-C1E3608404A8}"/>
              </a:ext>
            </a:extLst>
          </p:cNvPr>
          <p:cNvSpPr/>
          <p:nvPr/>
        </p:nvSpPr>
        <p:spPr>
          <a:xfrm>
            <a:off x="4877550" y="3611778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8881872-CF67-477D-EF56-DC3F9AA73201}"/>
              </a:ext>
            </a:extLst>
          </p:cNvPr>
          <p:cNvSpPr/>
          <p:nvPr/>
        </p:nvSpPr>
        <p:spPr>
          <a:xfrm>
            <a:off x="7172003" y="4524109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489401D0-3E87-5D29-71AE-A6A821D0D5C8}"/>
              </a:ext>
            </a:extLst>
          </p:cNvPr>
          <p:cNvSpPr/>
          <p:nvPr/>
        </p:nvSpPr>
        <p:spPr>
          <a:xfrm>
            <a:off x="5449439" y="3974405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94FC18E-AB74-5D49-3D89-2512454C8960}"/>
              </a:ext>
            </a:extLst>
          </p:cNvPr>
          <p:cNvSpPr/>
          <p:nvPr/>
        </p:nvSpPr>
        <p:spPr>
          <a:xfrm>
            <a:off x="6028121" y="3278923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BDD6F13-EDD1-A76F-DCF5-137CF22BFF56}"/>
              </a:ext>
            </a:extLst>
          </p:cNvPr>
          <p:cNvSpPr/>
          <p:nvPr/>
        </p:nvSpPr>
        <p:spPr>
          <a:xfrm>
            <a:off x="7755322" y="2541275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8D53E42-0BE2-5E0F-C303-D76713DF3042}"/>
              </a:ext>
            </a:extLst>
          </p:cNvPr>
          <p:cNvSpPr/>
          <p:nvPr/>
        </p:nvSpPr>
        <p:spPr>
          <a:xfrm>
            <a:off x="8332377" y="3611778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1608E0DF-33FC-B214-5C96-FC38B0032AB9}"/>
              </a:ext>
            </a:extLst>
          </p:cNvPr>
          <p:cNvSpPr txBox="1"/>
          <p:nvPr/>
        </p:nvSpPr>
        <p:spPr>
          <a:xfrm>
            <a:off x="2307435" y="989518"/>
            <a:ext cx="115212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</a:rPr>
              <a:t>身高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373CF0C-3EE3-6A32-2BBF-524D3297E060}"/>
              </a:ext>
            </a:extLst>
          </p:cNvPr>
          <p:cNvCxnSpPr>
            <a:cxnSpLocks/>
          </p:cNvCxnSpPr>
          <p:nvPr/>
        </p:nvCxnSpPr>
        <p:spPr>
          <a:xfrm flipV="1">
            <a:off x="3791744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24C79E2-51CE-E366-DC07-13969AD02CA7}"/>
              </a:ext>
            </a:extLst>
          </p:cNvPr>
          <p:cNvCxnSpPr>
            <a:cxnSpLocks/>
          </p:cNvCxnSpPr>
          <p:nvPr/>
        </p:nvCxnSpPr>
        <p:spPr>
          <a:xfrm flipV="1">
            <a:off x="4367808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78A9E9B2-0D42-52F2-2C30-EC50FE44D7FD}"/>
              </a:ext>
            </a:extLst>
          </p:cNvPr>
          <p:cNvCxnSpPr>
            <a:cxnSpLocks/>
          </p:cNvCxnSpPr>
          <p:nvPr/>
        </p:nvCxnSpPr>
        <p:spPr>
          <a:xfrm flipV="1">
            <a:off x="4943872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C2EE0A3-BF17-35D0-9240-F6B55B5BDACE}"/>
              </a:ext>
            </a:extLst>
          </p:cNvPr>
          <p:cNvCxnSpPr>
            <a:cxnSpLocks/>
          </p:cNvCxnSpPr>
          <p:nvPr/>
        </p:nvCxnSpPr>
        <p:spPr>
          <a:xfrm flipV="1">
            <a:off x="5519936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55DCD2C-3562-08BF-2424-2CDDCB3E7B72}"/>
              </a:ext>
            </a:extLst>
          </p:cNvPr>
          <p:cNvCxnSpPr>
            <a:cxnSpLocks/>
          </p:cNvCxnSpPr>
          <p:nvPr/>
        </p:nvCxnSpPr>
        <p:spPr>
          <a:xfrm flipV="1">
            <a:off x="6096000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6BB90EE-7540-355D-AF00-71EC2DF27E8C}"/>
              </a:ext>
            </a:extLst>
          </p:cNvPr>
          <p:cNvCxnSpPr>
            <a:cxnSpLocks/>
          </p:cNvCxnSpPr>
          <p:nvPr/>
        </p:nvCxnSpPr>
        <p:spPr>
          <a:xfrm flipV="1">
            <a:off x="6672064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502B886-7306-BFFF-20D5-BA67CE5AEF66}"/>
              </a:ext>
            </a:extLst>
          </p:cNvPr>
          <p:cNvCxnSpPr>
            <a:cxnSpLocks/>
          </p:cNvCxnSpPr>
          <p:nvPr/>
        </p:nvCxnSpPr>
        <p:spPr>
          <a:xfrm flipV="1">
            <a:off x="7248128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D664783-E785-FA4A-E2F7-8B1A095E24CA}"/>
              </a:ext>
            </a:extLst>
          </p:cNvPr>
          <p:cNvCxnSpPr>
            <a:cxnSpLocks/>
          </p:cNvCxnSpPr>
          <p:nvPr/>
        </p:nvCxnSpPr>
        <p:spPr>
          <a:xfrm flipV="1">
            <a:off x="7824192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0F69FCE4-D6C6-38CF-44D4-6B195168A58D}"/>
              </a:ext>
            </a:extLst>
          </p:cNvPr>
          <p:cNvCxnSpPr>
            <a:cxnSpLocks/>
          </p:cNvCxnSpPr>
          <p:nvPr/>
        </p:nvCxnSpPr>
        <p:spPr>
          <a:xfrm flipV="1">
            <a:off x="8400256" y="1268760"/>
            <a:ext cx="0" cy="475252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CCCAD0A5-9D29-02B4-6E82-BA99428B5773}"/>
              </a:ext>
            </a:extLst>
          </p:cNvPr>
          <p:cNvSpPr/>
          <p:nvPr/>
        </p:nvSpPr>
        <p:spPr>
          <a:xfrm>
            <a:off x="3726687" y="3112826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29922C15-B910-D488-A389-E61B2C88D338}"/>
              </a:ext>
            </a:extLst>
          </p:cNvPr>
          <p:cNvSpPr/>
          <p:nvPr/>
        </p:nvSpPr>
        <p:spPr>
          <a:xfrm>
            <a:off x="3724960" y="3811568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44053482-3B80-5FE1-5194-F37E46CF3CDF}"/>
              </a:ext>
            </a:extLst>
          </p:cNvPr>
          <p:cNvSpPr/>
          <p:nvPr/>
        </p:nvSpPr>
        <p:spPr>
          <a:xfrm>
            <a:off x="4284687" y="3108339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58E9FB8-DC79-CFD1-9A3E-8CAC7A6A234B}"/>
              </a:ext>
            </a:extLst>
          </p:cNvPr>
          <p:cNvSpPr/>
          <p:nvPr/>
        </p:nvSpPr>
        <p:spPr>
          <a:xfrm>
            <a:off x="5454249" y="3383124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C0AC846-50A3-6974-B4A2-440763363280}"/>
              </a:ext>
            </a:extLst>
          </p:cNvPr>
          <p:cNvSpPr/>
          <p:nvPr/>
        </p:nvSpPr>
        <p:spPr>
          <a:xfrm>
            <a:off x="5459059" y="2791843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2931040-0937-8A35-63DB-965AB32DEEBB}"/>
              </a:ext>
            </a:extLst>
          </p:cNvPr>
          <p:cNvSpPr/>
          <p:nvPr/>
        </p:nvSpPr>
        <p:spPr>
          <a:xfrm>
            <a:off x="6603497" y="3868758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18A41A1F-2634-8D4F-A960-B47EEEA444F8}"/>
              </a:ext>
            </a:extLst>
          </p:cNvPr>
          <p:cNvSpPr/>
          <p:nvPr/>
        </p:nvSpPr>
        <p:spPr>
          <a:xfrm>
            <a:off x="6608307" y="3277477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DA1D464-2701-A989-2AC5-C9D5C85385B0}"/>
              </a:ext>
            </a:extLst>
          </p:cNvPr>
          <p:cNvSpPr/>
          <p:nvPr/>
        </p:nvSpPr>
        <p:spPr>
          <a:xfrm>
            <a:off x="7752745" y="4354392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886F468A-3C76-CC61-DC80-CA33B3A9E04C}"/>
              </a:ext>
            </a:extLst>
          </p:cNvPr>
          <p:cNvSpPr/>
          <p:nvPr/>
        </p:nvSpPr>
        <p:spPr>
          <a:xfrm>
            <a:off x="7757555" y="3763111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8394E822-1F68-019D-E7A9-FC9699D01011}"/>
              </a:ext>
            </a:extLst>
          </p:cNvPr>
          <p:cNvSpPr/>
          <p:nvPr/>
        </p:nvSpPr>
        <p:spPr>
          <a:xfrm>
            <a:off x="3723865" y="4191246"/>
            <a:ext cx="144007" cy="14401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D573839-0A55-48D1-8FCE-BB233C4230FC}"/>
              </a:ext>
            </a:extLst>
          </p:cNvPr>
          <p:cNvSpPr/>
          <p:nvPr/>
        </p:nvSpPr>
        <p:spPr>
          <a:xfrm>
            <a:off x="1923653" y="3046432"/>
            <a:ext cx="8208936" cy="74565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EE184A2-F38E-435D-846A-CCF731400540}"/>
              </a:ext>
            </a:extLst>
          </p:cNvPr>
          <p:cNvSpPr/>
          <p:nvPr/>
        </p:nvSpPr>
        <p:spPr>
          <a:xfrm>
            <a:off x="2859886" y="301379"/>
            <a:ext cx="6624483" cy="523220"/>
          </a:xfrm>
          <a:prstGeom prst="rect">
            <a:avLst/>
          </a:prstGeom>
          <a:solidFill>
            <a:srgbClr val="FDEADA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最终选择的元素，集中在某一个区间</a:t>
            </a:r>
            <a:endParaRPr lang="zh-CN" altLang="zh-CN" sz="2800" spc="300" dirty="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</p:txBody>
      </p:sp>
      <p:sp>
        <p:nvSpPr>
          <p:cNvPr id="45" name="TextBox 1">
            <a:extLst>
              <a:ext uri="{FF2B5EF4-FFF2-40B4-BE49-F238E27FC236}">
                <a16:creationId xmlns:a16="http://schemas.microsoft.com/office/drawing/2014/main" id="{24E66388-61FC-4BE0-B976-2325F0BF04A2}"/>
              </a:ext>
            </a:extLst>
          </p:cNvPr>
          <p:cNvSpPr txBox="1"/>
          <p:nvPr/>
        </p:nvSpPr>
        <p:spPr>
          <a:xfrm>
            <a:off x="10488488" y="8911"/>
            <a:ext cx="115212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>
                <a:latin typeface="Consolas" panose="020B0609020204030204" pitchFamily="49" charset="0"/>
              </a:rPr>
              <a:t>c</a:t>
            </a:r>
            <a:r>
              <a:rPr lang="en-US" altLang="zh-CN" sz="2800" baseline="-25000">
                <a:latin typeface="Consolas" panose="020B0609020204030204" pitchFamily="49" charset="0"/>
              </a:rPr>
              <a:t>i</a:t>
            </a:r>
            <a:r>
              <a:rPr lang="en-US" altLang="zh-CN" sz="2800">
                <a:latin typeface="Consolas" panose="020B0609020204030204" pitchFamily="49" charset="0"/>
              </a:rPr>
              <a:t>&gt;2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CC2B1C-979E-4A68-B31E-FB17716D3338}"/>
              </a:ext>
            </a:extLst>
          </p:cNvPr>
          <p:cNvSpPr/>
          <p:nvPr/>
        </p:nvSpPr>
        <p:spPr>
          <a:xfrm>
            <a:off x="209222" y="922789"/>
            <a:ext cx="2297185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输入时，</a:t>
            </a:r>
            <a:endParaRPr lang="en-US" altLang="zh-CN" sz="2800" spc="30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  <a:p>
            <a:r>
              <a:rPr lang="zh-CN" altLang="en-US" sz="28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已经对数据进行了</a:t>
            </a:r>
            <a:r>
              <a:rPr lang="zh-CN" altLang="en-US" sz="2800" b="1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排序</a:t>
            </a:r>
            <a:endParaRPr lang="zh-CN" altLang="zh-CN" sz="2800" b="1" spc="300" dirty="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9244271-D94C-4F8F-AB68-B50E72B344AA}"/>
              </a:ext>
            </a:extLst>
          </p:cNvPr>
          <p:cNvSpPr/>
          <p:nvPr/>
        </p:nvSpPr>
        <p:spPr>
          <a:xfrm>
            <a:off x="1175018" y="4289145"/>
            <a:ext cx="9706206" cy="13311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问题转化为对一个有序区间，</a:t>
            </a:r>
            <a:endParaRPr lang="en-US" altLang="zh-CN" sz="2800" spc="30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spc="300">
                <a:solidFill>
                  <a:srgbClr val="FF0000"/>
                </a:solidFill>
                <a:latin typeface="造字工房悦黑体验版常规体" pitchFamily="50" charset="-122"/>
                <a:ea typeface="造字工房悦黑体验版常规体" pitchFamily="50" charset="-122"/>
                <a:cs typeface="Consolas" panose="020B0609020204030204" pitchFamily="49" charset="0"/>
              </a:rPr>
              <a:t>找到一个最短的连续子区间，包含所有班级的学生。</a:t>
            </a:r>
            <a:endParaRPr lang="zh-CN" altLang="zh-CN" sz="2800" b="1" spc="300" dirty="0">
              <a:solidFill>
                <a:srgbClr val="FF0000"/>
              </a:solidFill>
              <a:latin typeface="造字工房悦黑体验版常规体" pitchFamily="50" charset="-122"/>
              <a:ea typeface="造字工房悦黑体验版常规体" pitchFamily="50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36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6" grpId="0" animBg="1"/>
      <p:bldP spid="4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0D2E64-11A4-EA3E-F073-7F3D2F56E78D}"/>
              </a:ext>
            </a:extLst>
          </p:cNvPr>
          <p:cNvSpPr txBox="1"/>
          <p:nvPr/>
        </p:nvSpPr>
        <p:spPr>
          <a:xfrm>
            <a:off x="1343472" y="1052737"/>
            <a:ext cx="9649072" cy="584775"/>
          </a:xfrm>
          <a:prstGeom prst="rect">
            <a:avLst/>
          </a:prstGeom>
          <a:solidFill>
            <a:srgbClr val="CC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蠕动区间</a:t>
            </a:r>
            <a:r>
              <a:rPr lang="en-US" altLang="zh-CN" sz="3200" dirty="0"/>
              <a:t>/</a:t>
            </a:r>
            <a:r>
              <a:rPr lang="zh-CN" altLang="en-US" sz="3200" dirty="0"/>
              <a:t>双游标</a:t>
            </a:r>
            <a:endParaRPr lang="zh-CN" altLang="en-US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B5F8FA0-DE3C-3685-A23C-D1E524E061B3}"/>
              </a:ext>
            </a:extLst>
          </p:cNvPr>
          <p:cNvSpPr txBox="1"/>
          <p:nvPr/>
        </p:nvSpPr>
        <p:spPr>
          <a:xfrm>
            <a:off x="4547828" y="3068961"/>
            <a:ext cx="3096344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实现方法很多</a:t>
            </a:r>
          </a:p>
        </p:txBody>
      </p:sp>
    </p:spTree>
    <p:extLst>
      <p:ext uri="{BB962C8B-B14F-4D97-AF65-F5344CB8AC3E}">
        <p14:creationId xmlns:p14="http://schemas.microsoft.com/office/powerpoint/2010/main" val="2984091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0D2E64-11A4-EA3E-F073-7F3D2F56E78D}"/>
              </a:ext>
            </a:extLst>
          </p:cNvPr>
          <p:cNvSpPr txBox="1"/>
          <p:nvPr/>
        </p:nvSpPr>
        <p:spPr>
          <a:xfrm>
            <a:off x="1343472" y="1052737"/>
            <a:ext cx="9649072" cy="584775"/>
          </a:xfrm>
          <a:prstGeom prst="rect">
            <a:avLst/>
          </a:prstGeom>
          <a:solidFill>
            <a:srgbClr val="CC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蠕动区间</a:t>
            </a:r>
            <a:r>
              <a:rPr lang="en-US" altLang="zh-CN" sz="3200" dirty="0"/>
              <a:t>/</a:t>
            </a:r>
            <a:r>
              <a:rPr lang="zh-CN" altLang="en-US" sz="3200" dirty="0"/>
              <a:t>双游标</a:t>
            </a:r>
            <a:endParaRPr lang="zh-CN" altLang="en-US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B5F8FA0-DE3C-3685-A23C-D1E524E061B3}"/>
              </a:ext>
            </a:extLst>
          </p:cNvPr>
          <p:cNvSpPr txBox="1"/>
          <p:nvPr/>
        </p:nvSpPr>
        <p:spPr>
          <a:xfrm>
            <a:off x="2711624" y="2276873"/>
            <a:ext cx="74168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对于所有学生排序：先看身高再看班级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1EE91421-E5E7-49F2-7A28-39EEE2881D19}"/>
              </a:ext>
            </a:extLst>
          </p:cNvPr>
          <p:cNvSpPr txBox="1"/>
          <p:nvPr/>
        </p:nvSpPr>
        <p:spPr>
          <a:xfrm>
            <a:off x="2711624" y="3147066"/>
            <a:ext cx="74168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主要游标</a:t>
            </a:r>
            <a:r>
              <a:rPr lang="en-US" altLang="zh-CN" sz="2400" dirty="0" err="1"/>
              <a:t>i</a:t>
            </a:r>
            <a:r>
              <a:rPr lang="zh-CN" altLang="en-US" sz="2400" dirty="0"/>
              <a:t>：表示</a:t>
            </a:r>
            <a:r>
              <a:rPr lang="en-US" altLang="zh-CN" sz="2400" dirty="0" err="1"/>
              <a:t>i</a:t>
            </a:r>
            <a:r>
              <a:rPr lang="zh-CN" altLang="en-US" sz="2400" dirty="0"/>
              <a:t>号学生作为选出的最高人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5CCED70-D92D-1D73-B114-C39DF75426A6}"/>
              </a:ext>
            </a:extLst>
          </p:cNvPr>
          <p:cNvSpPr txBox="1"/>
          <p:nvPr/>
        </p:nvSpPr>
        <p:spPr>
          <a:xfrm>
            <a:off x="2711624" y="4017259"/>
            <a:ext cx="74168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辅助游标</a:t>
            </a:r>
            <a:r>
              <a:rPr lang="en-US" altLang="zh-CN" sz="2400" dirty="0"/>
              <a:t>j</a:t>
            </a:r>
            <a:r>
              <a:rPr lang="zh-CN" altLang="en-US" sz="2400" dirty="0"/>
              <a:t>：表示</a:t>
            </a:r>
            <a:r>
              <a:rPr lang="en-US" altLang="zh-CN" sz="2400" dirty="0"/>
              <a:t>j</a:t>
            </a:r>
            <a:r>
              <a:rPr lang="zh-CN" altLang="en-US" sz="2400" dirty="0"/>
              <a:t>号学生作为选出的最矮人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76CA71EB-A238-BA44-228D-0B3C08A2E22F}"/>
              </a:ext>
            </a:extLst>
          </p:cNvPr>
          <p:cNvSpPr txBox="1"/>
          <p:nvPr/>
        </p:nvSpPr>
        <p:spPr>
          <a:xfrm>
            <a:off x="2714013" y="4899358"/>
            <a:ext cx="74168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确保从</a:t>
            </a:r>
            <a:r>
              <a:rPr lang="en-US" altLang="zh-CN" sz="2400" dirty="0"/>
              <a:t>j</a:t>
            </a:r>
            <a:r>
              <a:rPr lang="zh-CN" altLang="en-US" sz="2400" dirty="0"/>
              <a:t>号到</a:t>
            </a:r>
            <a:r>
              <a:rPr lang="en-US" altLang="zh-CN" sz="2400" dirty="0" err="1"/>
              <a:t>i</a:t>
            </a:r>
            <a:r>
              <a:rPr lang="zh-CN" altLang="en-US" sz="2400" dirty="0"/>
              <a:t>号的学生包含所有班级</a:t>
            </a:r>
          </a:p>
        </p:txBody>
      </p:sp>
    </p:spTree>
    <p:extLst>
      <p:ext uri="{BB962C8B-B14F-4D97-AF65-F5344CB8AC3E}">
        <p14:creationId xmlns:p14="http://schemas.microsoft.com/office/powerpoint/2010/main" val="343324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64704" y="116633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0D2E64-11A4-EA3E-F073-7F3D2F56E78D}"/>
              </a:ext>
            </a:extLst>
          </p:cNvPr>
          <p:cNvSpPr txBox="1"/>
          <p:nvPr/>
        </p:nvSpPr>
        <p:spPr>
          <a:xfrm>
            <a:off x="1343472" y="1052737"/>
            <a:ext cx="9649072" cy="584775"/>
          </a:xfrm>
          <a:prstGeom prst="rect">
            <a:avLst/>
          </a:prstGeom>
          <a:solidFill>
            <a:srgbClr val="CCF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蠕动区间</a:t>
            </a:r>
            <a:r>
              <a:rPr lang="en-US" altLang="zh-CN" sz="3200" dirty="0"/>
              <a:t>/</a:t>
            </a:r>
            <a:r>
              <a:rPr lang="zh-CN" altLang="en-US" sz="3200" dirty="0"/>
              <a:t>双游标</a:t>
            </a:r>
            <a:endParaRPr lang="zh-CN" altLang="en-US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B5F8FA0-DE3C-3685-A23C-D1E524E061B3}"/>
              </a:ext>
            </a:extLst>
          </p:cNvPr>
          <p:cNvSpPr txBox="1"/>
          <p:nvPr/>
        </p:nvSpPr>
        <p:spPr>
          <a:xfrm>
            <a:off x="2711624" y="2276873"/>
            <a:ext cx="74168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从矮到高枚举</a:t>
            </a:r>
            <a:r>
              <a:rPr lang="en-US" altLang="zh-CN" sz="2400" dirty="0" err="1"/>
              <a:t>i</a:t>
            </a:r>
            <a:r>
              <a:rPr lang="zh-CN" altLang="en-US" sz="2400" dirty="0"/>
              <a:t>号学生作为选出的最高人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1EE91421-E5E7-49F2-7A28-39EEE2881D19}"/>
              </a:ext>
            </a:extLst>
          </p:cNvPr>
          <p:cNvSpPr txBox="1"/>
          <p:nvPr/>
        </p:nvSpPr>
        <p:spPr>
          <a:xfrm>
            <a:off x="3719736" y="3147066"/>
            <a:ext cx="640871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当</a:t>
            </a:r>
            <a:r>
              <a:rPr lang="en-US" altLang="zh-CN" sz="2400" dirty="0"/>
              <a:t>j</a:t>
            </a:r>
            <a:r>
              <a:rPr lang="zh-CN" altLang="en-US" sz="2400" dirty="0"/>
              <a:t>号学生所在班级被选中不止一人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5CCED70-D92D-1D73-B114-C39DF75426A6}"/>
              </a:ext>
            </a:extLst>
          </p:cNvPr>
          <p:cNvSpPr txBox="1"/>
          <p:nvPr/>
        </p:nvSpPr>
        <p:spPr>
          <a:xfrm>
            <a:off x="4583832" y="4017259"/>
            <a:ext cx="554461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j</a:t>
            </a:r>
            <a:r>
              <a:rPr lang="zh-CN" altLang="en-US" sz="2400" dirty="0"/>
              <a:t>号学生不用选，将</a:t>
            </a:r>
            <a:r>
              <a:rPr lang="en-US" altLang="zh-CN" sz="2400" dirty="0"/>
              <a:t>j</a:t>
            </a:r>
            <a:r>
              <a:rPr lang="zh-CN" altLang="en-US" sz="2400" dirty="0"/>
              <a:t>加</a:t>
            </a:r>
            <a:r>
              <a:rPr lang="en-US" altLang="zh-CN" sz="2400" dirty="0"/>
              <a:t>1</a:t>
            </a:r>
            <a:endParaRPr lang="zh-CN" altLang="en-US" sz="2400" dirty="0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76CA71EB-A238-BA44-228D-0B3C08A2E22F}"/>
              </a:ext>
            </a:extLst>
          </p:cNvPr>
          <p:cNvSpPr txBox="1"/>
          <p:nvPr/>
        </p:nvSpPr>
        <p:spPr>
          <a:xfrm>
            <a:off x="3719736" y="4899358"/>
            <a:ext cx="641110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如果从</a:t>
            </a:r>
            <a:r>
              <a:rPr lang="en-US" altLang="zh-CN" sz="2400" dirty="0"/>
              <a:t>j</a:t>
            </a:r>
            <a:r>
              <a:rPr lang="zh-CN" altLang="en-US" sz="2400" dirty="0"/>
              <a:t>号到</a:t>
            </a:r>
            <a:r>
              <a:rPr lang="en-US" altLang="zh-CN" sz="2400" dirty="0" err="1"/>
              <a:t>i</a:t>
            </a:r>
            <a:r>
              <a:rPr lang="zh-CN" altLang="en-US" sz="2400" dirty="0"/>
              <a:t>号的学生包含所有班级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2E7F69A6-4152-AFA2-90A1-00734A8BA24F}"/>
              </a:ext>
            </a:extLst>
          </p:cNvPr>
          <p:cNvSpPr txBox="1"/>
          <p:nvPr/>
        </p:nvSpPr>
        <p:spPr>
          <a:xfrm>
            <a:off x="4583832" y="5769551"/>
            <a:ext cx="554461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尝试用</a:t>
            </a:r>
            <a:r>
              <a:rPr lang="en-US" altLang="zh-CN" sz="2400" dirty="0" err="1"/>
              <a:t>i</a:t>
            </a:r>
            <a:r>
              <a:rPr lang="zh-CN" altLang="en-US" sz="2400" dirty="0"/>
              <a:t>号身高减</a:t>
            </a:r>
            <a:r>
              <a:rPr lang="en-US" altLang="zh-CN" sz="2400" dirty="0"/>
              <a:t>j</a:t>
            </a:r>
            <a:r>
              <a:rPr lang="zh-CN" altLang="en-US" sz="2400" dirty="0"/>
              <a:t>号身高更新答案</a:t>
            </a:r>
          </a:p>
        </p:txBody>
      </p:sp>
    </p:spTree>
    <p:extLst>
      <p:ext uri="{BB962C8B-B14F-4D97-AF65-F5344CB8AC3E}">
        <p14:creationId xmlns:p14="http://schemas.microsoft.com/office/powerpoint/2010/main" val="409528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767441" y="130831"/>
            <a:ext cx="15121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耗时约</a:t>
            </a:r>
            <a:endParaRPr lang="en-US" altLang="zh-CN" sz="2400" dirty="0"/>
          </a:p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分钟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18BF2B-D873-8942-CF40-BB00BF2C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620688"/>
            <a:ext cx="9623310" cy="506490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5DA37FB-72BD-6490-F9D1-7F1A2DDF8BDA}"/>
              </a:ext>
            </a:extLst>
          </p:cNvPr>
          <p:cNvSpPr/>
          <p:nvPr/>
        </p:nvSpPr>
        <p:spPr>
          <a:xfrm>
            <a:off x="2212943" y="2589337"/>
            <a:ext cx="7056784" cy="34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931EA9-093E-848D-BF94-7670E78B5E1F}"/>
              </a:ext>
            </a:extLst>
          </p:cNvPr>
          <p:cNvSpPr/>
          <p:nvPr/>
        </p:nvSpPr>
        <p:spPr>
          <a:xfrm>
            <a:off x="2212943" y="2978878"/>
            <a:ext cx="5328592" cy="34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114D27-CD98-7CB1-9A0F-9A3B93E8554B}"/>
              </a:ext>
            </a:extLst>
          </p:cNvPr>
          <p:cNvSpPr/>
          <p:nvPr/>
        </p:nvSpPr>
        <p:spPr>
          <a:xfrm>
            <a:off x="2212943" y="3368419"/>
            <a:ext cx="5328592" cy="34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530AEE-F8B8-066A-26FF-FC7E765FBD6F}"/>
              </a:ext>
            </a:extLst>
          </p:cNvPr>
          <p:cNvSpPr/>
          <p:nvPr/>
        </p:nvSpPr>
        <p:spPr>
          <a:xfrm>
            <a:off x="2212943" y="3768470"/>
            <a:ext cx="5688632" cy="34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65DE98-9C5E-0287-2117-5C078E6FDB4E}"/>
              </a:ext>
            </a:extLst>
          </p:cNvPr>
          <p:cNvSpPr/>
          <p:nvPr/>
        </p:nvSpPr>
        <p:spPr>
          <a:xfrm>
            <a:off x="2212942" y="4163278"/>
            <a:ext cx="7782239" cy="34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5F7AF3-0A3A-4A2E-8B0D-9D8D9132794A}"/>
              </a:ext>
            </a:extLst>
          </p:cNvPr>
          <p:cNvSpPr/>
          <p:nvPr/>
        </p:nvSpPr>
        <p:spPr>
          <a:xfrm>
            <a:off x="9404403" y="2567228"/>
            <a:ext cx="265442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7030A0"/>
                </a:solidFill>
                <a:latin typeface="+mn-ea"/>
                <a:cs typeface="Consolas" panose="020B0609020204030204" pitchFamily="49" charset="0"/>
              </a:rPr>
              <a:t>记录已有班级的数量</a:t>
            </a:r>
            <a:endParaRPr lang="zh-CN" altLang="zh-CN" sz="2000" dirty="0">
              <a:solidFill>
                <a:srgbClr val="7030A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90103B-F1DC-448F-984A-103175D03D1D}"/>
              </a:ext>
            </a:extLst>
          </p:cNvPr>
          <p:cNvSpPr/>
          <p:nvPr/>
        </p:nvSpPr>
        <p:spPr>
          <a:xfrm>
            <a:off x="9404403" y="2985054"/>
            <a:ext cx="2654422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7030A0"/>
                </a:solidFill>
                <a:latin typeface="+mn-ea"/>
                <a:cs typeface="Consolas" panose="020B0609020204030204" pitchFamily="49" charset="0"/>
              </a:rPr>
              <a:t>收缩左边界</a:t>
            </a:r>
            <a:endParaRPr lang="en-US" altLang="zh-CN" sz="2000">
              <a:solidFill>
                <a:srgbClr val="7030A0"/>
              </a:solidFill>
              <a:latin typeface="+mn-ea"/>
              <a:cs typeface="Consolas" panose="020B0609020204030204" pitchFamily="49" charset="0"/>
            </a:endParaRPr>
          </a:p>
          <a:p>
            <a:r>
              <a:rPr lang="zh-CN" altLang="en-US" sz="2000">
                <a:solidFill>
                  <a:srgbClr val="7030A0"/>
                </a:solidFill>
                <a:latin typeface="+mn-ea"/>
                <a:cs typeface="Consolas" panose="020B0609020204030204" pitchFamily="49" charset="0"/>
              </a:rPr>
              <a:t>移除冗余的学生</a:t>
            </a:r>
            <a:endParaRPr lang="zh-CN" altLang="zh-CN" sz="2000" dirty="0">
              <a:solidFill>
                <a:srgbClr val="7030A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49950A-4340-43DB-8989-3E9DD0567695}"/>
              </a:ext>
            </a:extLst>
          </p:cNvPr>
          <p:cNvSpPr/>
          <p:nvPr/>
        </p:nvSpPr>
        <p:spPr>
          <a:xfrm>
            <a:off x="8454041" y="3735014"/>
            <a:ext cx="3604784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7030A0"/>
                </a:solidFill>
                <a:latin typeface="+mn-ea"/>
                <a:cs typeface="Consolas" panose="020B0609020204030204" pitchFamily="49" charset="0"/>
              </a:rPr>
              <a:t>检测是否包含全部班级</a:t>
            </a:r>
            <a:endParaRPr lang="zh-CN" altLang="zh-CN" sz="2000" dirty="0">
              <a:solidFill>
                <a:srgbClr val="7030A0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FAFA07-CD91-4B7E-836F-FC0B0C30293B}"/>
              </a:ext>
            </a:extLst>
          </p:cNvPr>
          <p:cNvSpPr/>
          <p:nvPr/>
        </p:nvSpPr>
        <p:spPr>
          <a:xfrm>
            <a:off x="10056440" y="4177198"/>
            <a:ext cx="2002385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>
                <a:solidFill>
                  <a:srgbClr val="7030A0"/>
                </a:solidFill>
                <a:latin typeface="+mn-ea"/>
                <a:cs typeface="Consolas" panose="020B0609020204030204" pitchFamily="49" charset="0"/>
              </a:rPr>
              <a:t>比较记录当前区间内的极差值</a:t>
            </a:r>
            <a:endParaRPr lang="zh-CN" altLang="zh-CN" sz="2000" dirty="0">
              <a:solidFill>
                <a:srgbClr val="7030A0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67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E976-E7D6-8426-B05A-DB40C48F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58AF0DB1-FA76-B53F-770F-A54555503574}"/>
              </a:ext>
            </a:extLst>
          </p:cNvPr>
          <p:cNvSpPr txBox="1"/>
          <p:nvPr/>
        </p:nvSpPr>
        <p:spPr>
          <a:xfrm>
            <a:off x="-210616" y="2636912"/>
            <a:ext cx="12613232" cy="1015659"/>
          </a:xfrm>
          <a:prstGeom prst="rect">
            <a:avLst/>
          </a:prstGeom>
          <a:solidFill>
            <a:srgbClr val="F2F2F2"/>
          </a:solidFill>
          <a:ln w="12700">
            <a:solidFill>
              <a:srgbClr val="4A452A"/>
            </a:solidFill>
          </a:ln>
        </p:spPr>
        <p:txBody>
          <a:bodyPr wrap="square" lIns="45718" tIns="45718" rIns="45718" bIns="45718">
            <a:spAutoFit/>
          </a:bodyPr>
          <a:lstStyle>
            <a:defPPr>
              <a:defRPr lang="zh-CN"/>
            </a:defPPr>
            <a:lvl1pPr algn="ctr" defTabSz="914367">
              <a:defRPr sz="3937">
                <a:latin typeface="Calibri"/>
                <a:ea typeface="Calibri"/>
                <a:cs typeface="Calibri"/>
              </a:defRPr>
            </a:lvl1pPr>
          </a:lstStyle>
          <a:p>
            <a:pPr>
              <a:defRPr sz="5600">
                <a:latin typeface="Calibri"/>
                <a:ea typeface="Calibri"/>
                <a:cs typeface="Calibri"/>
                <a:sym typeface="Calibri"/>
              </a:defRPr>
            </a:pPr>
            <a:r>
              <a:rPr lang="en-US" altLang="zh-CN" sz="6000" dirty="0"/>
              <a:t>T5</a:t>
            </a:r>
            <a:r>
              <a:rPr lang="zh-CN" altLang="en-US" sz="6000"/>
              <a:t>车站分级</a:t>
            </a:r>
            <a:endParaRPr lang="zh-CN" altLang="en-US" sz="6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79162-2E5E-2A96-CC9E-D0A2FD5748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53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184930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9757" y="0"/>
            <a:ext cx="8938243" cy="1143000"/>
          </a:xfrm>
        </p:spPr>
        <p:txBody>
          <a:bodyPr/>
          <a:lstStyle/>
          <a:p>
            <a:r>
              <a:rPr lang="zh-CN" altLang="en-US" dirty="0"/>
              <a:t>车站分级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7237888-EFE0-BC00-9325-DEB1BEA7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7A89C61-40A6-4A58-8A7C-5510140AB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556792"/>
            <a:ext cx="10564167" cy="333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10995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749871" y="2898443"/>
            <a:ext cx="1466046" cy="120032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图的识别</a:t>
            </a:r>
            <a:endParaRPr lang="en-US" altLang="zh-CN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点的含义</a:t>
            </a:r>
            <a:endParaRPr lang="en-US" altLang="zh-CN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边的含义</a:t>
            </a:r>
            <a:endParaRPr lang="en-US" altLang="zh-CN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16151" y="2898443"/>
            <a:ext cx="2375793" cy="76944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/>
              <a:t>i</a:t>
            </a:r>
            <a:r>
              <a:rPr lang="zh-CN" altLang="en-US" sz="2200" dirty="0"/>
              <a:t>号节点对应</a:t>
            </a:r>
            <a:endParaRPr lang="en-US" altLang="zh-CN" sz="2200" dirty="0"/>
          </a:p>
          <a:p>
            <a:pPr algn="ctr"/>
            <a:r>
              <a:rPr lang="en-US" altLang="zh-CN" sz="2200" dirty="0"/>
              <a:t>i</a:t>
            </a:r>
            <a:r>
              <a:rPr lang="zh-CN" altLang="en-US" sz="2200" dirty="0"/>
              <a:t>号车站</a:t>
            </a:r>
            <a:endParaRPr lang="zh-CN" altLang="zh-CN" sz="2200" dirty="0"/>
          </a:p>
        </p:txBody>
      </p:sp>
      <p:sp>
        <p:nvSpPr>
          <p:cNvPr id="11" name="矩形 10"/>
          <p:cNvSpPr/>
          <p:nvPr/>
        </p:nvSpPr>
        <p:spPr>
          <a:xfrm>
            <a:off x="3215916" y="3685876"/>
            <a:ext cx="2375793" cy="76944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/>
              <a:t>(i,j)</a:t>
            </a:r>
            <a:r>
              <a:rPr lang="zh-CN" altLang="en-US" sz="2200" dirty="0"/>
              <a:t>有向边代表</a:t>
            </a:r>
            <a:endParaRPr lang="en-US" altLang="zh-CN" sz="2200" dirty="0"/>
          </a:p>
          <a:p>
            <a:pPr algn="ctr"/>
            <a:r>
              <a:rPr lang="en-US" altLang="zh-CN" sz="2200" dirty="0"/>
              <a:t>i</a:t>
            </a:r>
            <a:r>
              <a:rPr lang="zh-CN" altLang="en-US" sz="2200" dirty="0"/>
              <a:t>的级别高于</a:t>
            </a:r>
            <a:r>
              <a:rPr lang="en-US" altLang="zh-CN" sz="2200" dirty="0"/>
              <a:t>j</a:t>
            </a:r>
            <a:endParaRPr lang="zh-CN" altLang="zh-CN" sz="2200" dirty="0"/>
          </a:p>
        </p:txBody>
      </p:sp>
      <p:sp>
        <p:nvSpPr>
          <p:cNvPr id="12" name="矩形 11"/>
          <p:cNvSpPr/>
          <p:nvPr/>
        </p:nvSpPr>
        <p:spPr>
          <a:xfrm>
            <a:off x="1749870" y="1196752"/>
            <a:ext cx="1466046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输入样例</a:t>
            </a:r>
            <a:endParaRPr lang="en-US" altLang="zh-CN" dirty="0"/>
          </a:p>
          <a:p>
            <a:r>
              <a:rPr lang="en-US" altLang="zh-CN" dirty="0"/>
              <a:t>6 2</a:t>
            </a:r>
          </a:p>
          <a:p>
            <a:r>
              <a:rPr lang="en-US" altLang="zh-CN" dirty="0"/>
              <a:t>3 1 3 5</a:t>
            </a:r>
          </a:p>
          <a:p>
            <a:r>
              <a:rPr lang="en-US" altLang="zh-CN" dirty="0"/>
              <a:t>2 3 6</a:t>
            </a:r>
            <a:endParaRPr lang="zh-CN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3575720" y="1196752"/>
            <a:ext cx="1656185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输出样例</a:t>
            </a:r>
            <a:endParaRPr lang="en-US" altLang="zh-CN" dirty="0"/>
          </a:p>
          <a:p>
            <a:r>
              <a:rPr lang="en-US" altLang="zh-CN" dirty="0"/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6315" y="1681565"/>
            <a:ext cx="504056" cy="58477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32632" y="1776432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endParaRPr lang="zh-CN" altLang="en-US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48949" y="1681565"/>
            <a:ext cx="504056" cy="58477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5266" y="1776432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2">
                    <a:lumMod val="50000"/>
                  </a:schemeClr>
                </a:solidFill>
              </a:rPr>
              <a:t>4</a:t>
            </a:r>
            <a:endParaRPr lang="zh-CN" altLang="en-US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81583" y="1681565"/>
            <a:ext cx="504056" cy="58477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5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48949" y="3121725"/>
            <a:ext cx="504056" cy="584775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65266" y="3257030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881583" y="3257029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397900" y="3121725"/>
            <a:ext cx="504056" cy="584775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>
                    <a:lumMod val="50000"/>
                  </a:schemeClr>
                </a:solidFill>
              </a:rPr>
              <a:t>6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3032B4-2F39-0936-FCAC-2F43338C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8981A50-174D-460D-9A49-FA2FE1EBF402}"/>
              </a:ext>
            </a:extLst>
          </p:cNvPr>
          <p:cNvSpPr/>
          <p:nvPr/>
        </p:nvSpPr>
        <p:spPr>
          <a:xfrm>
            <a:off x="1749870" y="4886205"/>
            <a:ext cx="2015988" cy="46166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DAG</a:t>
            </a:r>
            <a:r>
              <a:rPr lang="zh-CN" altLang="en-US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Arial Unicode MS" pitchFamily="34" charset="-122"/>
              </a:rPr>
              <a:t>图</a:t>
            </a:r>
            <a:endParaRPr lang="en-US" altLang="zh-CN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80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2279576" y="3132258"/>
            <a:ext cx="504056" cy="58477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95893" y="4104287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endParaRPr lang="zh-CN" altLang="en-US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12210" y="3132258"/>
            <a:ext cx="504056" cy="58477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28527" y="4104287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2">
                    <a:lumMod val="50000"/>
                  </a:schemeClr>
                </a:solidFill>
              </a:rPr>
              <a:t>4</a:t>
            </a:r>
            <a:endParaRPr lang="zh-CN" altLang="en-US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44844" y="3132258"/>
            <a:ext cx="504056" cy="58477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5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24471" y="5157193"/>
            <a:ext cx="504056" cy="584775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19958" y="6129210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36275" y="6129209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73422" y="5157193"/>
            <a:ext cx="504056" cy="584775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>
                    <a:lumMod val="50000"/>
                  </a:schemeClr>
                </a:solidFill>
              </a:rPr>
              <a:t>6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6" name="直接箭头连接符 5"/>
          <p:cNvCxnSpPr>
            <a:endCxn id="22" idx="0"/>
          </p:cNvCxnSpPr>
          <p:nvPr/>
        </p:nvCxnSpPr>
        <p:spPr>
          <a:xfrm>
            <a:off x="2795893" y="3717032"/>
            <a:ext cx="252028" cy="38725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2795894" y="3717033"/>
            <a:ext cx="1044895" cy="391957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3" idx="2"/>
            <a:endCxn id="29" idx="0"/>
          </p:cNvCxnSpPr>
          <p:nvPr/>
        </p:nvCxnSpPr>
        <p:spPr>
          <a:xfrm>
            <a:off x="3564239" y="3717032"/>
            <a:ext cx="516317" cy="38725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23" idx="2"/>
            <a:endCxn id="22" idx="0"/>
          </p:cNvCxnSpPr>
          <p:nvPr/>
        </p:nvCxnSpPr>
        <p:spPr>
          <a:xfrm flipH="1">
            <a:off x="3047922" y="3717032"/>
            <a:ext cx="516317" cy="38725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0" idx="2"/>
            <a:endCxn id="29" idx="0"/>
          </p:cNvCxnSpPr>
          <p:nvPr/>
        </p:nvCxnSpPr>
        <p:spPr>
          <a:xfrm flipH="1">
            <a:off x="4080556" y="3717032"/>
            <a:ext cx="516317" cy="38725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30" idx="2"/>
          </p:cNvCxnSpPr>
          <p:nvPr/>
        </p:nvCxnSpPr>
        <p:spPr>
          <a:xfrm flipH="1">
            <a:off x="3066314" y="3717032"/>
            <a:ext cx="1530559" cy="39666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endCxn id="33" idx="0"/>
          </p:cNvCxnSpPr>
          <p:nvPr/>
        </p:nvCxnSpPr>
        <p:spPr>
          <a:xfrm>
            <a:off x="3816267" y="5741954"/>
            <a:ext cx="772037" cy="38725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endCxn id="33" idx="0"/>
          </p:cNvCxnSpPr>
          <p:nvPr/>
        </p:nvCxnSpPr>
        <p:spPr>
          <a:xfrm flipH="1">
            <a:off x="4588303" y="5741954"/>
            <a:ext cx="285120" cy="38725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endCxn id="32" idx="0"/>
          </p:cNvCxnSpPr>
          <p:nvPr/>
        </p:nvCxnSpPr>
        <p:spPr>
          <a:xfrm>
            <a:off x="3816266" y="5741955"/>
            <a:ext cx="255720" cy="38725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endCxn id="32" idx="0"/>
          </p:cNvCxnSpPr>
          <p:nvPr/>
        </p:nvCxnSpPr>
        <p:spPr>
          <a:xfrm flipH="1">
            <a:off x="4071986" y="5741955"/>
            <a:ext cx="768346" cy="38725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816080" y="3717033"/>
            <a:ext cx="504056" cy="58477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1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332397" y="3811900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endParaRPr lang="zh-CN" altLang="en-US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848714" y="3717033"/>
            <a:ext cx="504056" cy="58477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3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365031" y="3811900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2">
                    <a:lumMod val="50000"/>
                  </a:schemeClr>
                </a:solidFill>
              </a:rPr>
              <a:t>4</a:t>
            </a:r>
            <a:endParaRPr lang="zh-CN" altLang="en-US" sz="32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881348" y="3717033"/>
            <a:ext cx="504056" cy="58477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5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848714" y="5157193"/>
            <a:ext cx="504056" cy="584775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365031" y="5292498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881348" y="5292497"/>
            <a:ext cx="5040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397665" y="5157193"/>
            <a:ext cx="504056" cy="584775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>
                    <a:lumMod val="50000"/>
                  </a:schemeClr>
                </a:solidFill>
              </a:rPr>
              <a:t>6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46956" y="1296133"/>
            <a:ext cx="5040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63273" y="2268162"/>
            <a:ext cx="5040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>
                <a:solidFill>
                  <a:srgbClr val="C00000"/>
                </a:solidFill>
              </a:defRPr>
            </a:lvl1pPr>
          </a:lstStyle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67329" y="297181"/>
            <a:ext cx="5040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595907" y="2268162"/>
            <a:ext cx="5040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200">
                <a:solidFill>
                  <a:srgbClr val="C00000"/>
                </a:solidFill>
              </a:defRPr>
            </a:lvl1pPr>
          </a:lstStyle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112224" y="1296133"/>
            <a:ext cx="5040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6563273" y="1880907"/>
            <a:ext cx="252028" cy="38725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41" idx="2"/>
            <a:endCxn id="42" idx="0"/>
          </p:cNvCxnSpPr>
          <p:nvPr/>
        </p:nvCxnSpPr>
        <p:spPr>
          <a:xfrm>
            <a:off x="7319357" y="881955"/>
            <a:ext cx="528578" cy="13862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41" idx="2"/>
            <a:endCxn id="39" idx="0"/>
          </p:cNvCxnSpPr>
          <p:nvPr/>
        </p:nvCxnSpPr>
        <p:spPr>
          <a:xfrm flipH="1">
            <a:off x="6815301" y="881955"/>
            <a:ext cx="504056" cy="13862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4" idx="2"/>
            <a:endCxn id="42" idx="0"/>
          </p:cNvCxnSpPr>
          <p:nvPr/>
        </p:nvCxnSpPr>
        <p:spPr>
          <a:xfrm flipH="1">
            <a:off x="7847936" y="1880907"/>
            <a:ext cx="516317" cy="38725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4" idx="2"/>
          </p:cNvCxnSpPr>
          <p:nvPr/>
        </p:nvCxnSpPr>
        <p:spPr>
          <a:xfrm flipH="1">
            <a:off x="6833694" y="1880907"/>
            <a:ext cx="1530559" cy="3966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616280" y="297179"/>
            <a:ext cx="5040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>
            <a:off x="7583646" y="881954"/>
            <a:ext cx="759776" cy="414179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53" idx="2"/>
          </p:cNvCxnSpPr>
          <p:nvPr/>
        </p:nvCxnSpPr>
        <p:spPr>
          <a:xfrm flipH="1">
            <a:off x="8343422" y="881954"/>
            <a:ext cx="524886" cy="414179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7583647" y="881953"/>
            <a:ext cx="516317" cy="138620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53" idx="2"/>
          </p:cNvCxnSpPr>
          <p:nvPr/>
        </p:nvCxnSpPr>
        <p:spPr>
          <a:xfrm flipH="1">
            <a:off x="8099964" y="881953"/>
            <a:ext cx="768344" cy="138620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endCxn id="42" idx="0"/>
          </p:cNvCxnSpPr>
          <p:nvPr/>
        </p:nvCxnSpPr>
        <p:spPr>
          <a:xfrm>
            <a:off x="6516727" y="1880907"/>
            <a:ext cx="1331208" cy="38725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2776438" y="1359614"/>
            <a:ext cx="2349012" cy="43088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/>
              <a:t>需要分</a:t>
            </a:r>
            <a:r>
              <a:rPr lang="en-US" altLang="zh-CN" sz="2200" dirty="0"/>
              <a:t>3</a:t>
            </a:r>
            <a:r>
              <a:rPr lang="zh-CN" altLang="en-US" sz="2200" dirty="0"/>
              <a:t>个等级</a:t>
            </a:r>
            <a:endParaRPr lang="zh-CN" altLang="zh-CN" sz="2200" dirty="0"/>
          </a:p>
        </p:txBody>
      </p:sp>
      <p:cxnSp>
        <p:nvCxnSpPr>
          <p:cNvPr id="28" name="直接连接符 27"/>
          <p:cNvCxnSpPr/>
          <p:nvPr/>
        </p:nvCxnSpPr>
        <p:spPr>
          <a:xfrm>
            <a:off x="1379476" y="4941168"/>
            <a:ext cx="94330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1330432" y="2996952"/>
            <a:ext cx="94330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1524000" y="539970"/>
            <a:ext cx="3601450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ea typeface="+mj-ea"/>
              </a:rPr>
              <a:t>DAG</a:t>
            </a:r>
            <a:r>
              <a:rPr lang="zh-CN" altLang="en-US" sz="3200" b="1" dirty="0">
                <a:ea typeface="+mj-ea"/>
              </a:rPr>
              <a:t>最长路径</a:t>
            </a:r>
            <a:endParaRPr lang="en-US" altLang="zh-CN" sz="3200" b="1" dirty="0">
              <a:ea typeface="+mj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5250B0-C117-960E-702C-F2BCBE94E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0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38" grpId="0" animBg="1"/>
      <p:bldP spid="39" grpId="0" animBg="1"/>
      <p:bldP spid="41" grpId="0" animBg="1"/>
      <p:bldP spid="42" grpId="0" animBg="1"/>
      <p:bldP spid="44" grpId="0" animBg="1"/>
      <p:bldP spid="53" grpId="0" animBg="1"/>
      <p:bldP spid="74" grpId="0" animBg="1"/>
      <p:bldP spid="7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08"/>
          <a:stretch/>
        </p:blipFill>
        <p:spPr bwMode="auto">
          <a:xfrm>
            <a:off x="1596008" y="2330795"/>
            <a:ext cx="8172400" cy="449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512"/>
          <a:stretch/>
        </p:blipFill>
        <p:spPr bwMode="auto">
          <a:xfrm>
            <a:off x="1596008" y="29320"/>
            <a:ext cx="8172400" cy="2031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矩形 16"/>
          <p:cNvSpPr/>
          <p:nvPr/>
        </p:nvSpPr>
        <p:spPr>
          <a:xfrm>
            <a:off x="7889924" y="1916832"/>
            <a:ext cx="2771800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建图存图</a:t>
            </a:r>
            <a:endParaRPr lang="en-US" altLang="zh-CN" sz="3200" dirty="0"/>
          </a:p>
          <a:p>
            <a:pPr algn="ctr"/>
            <a:r>
              <a:rPr lang="zh-CN" altLang="en-US" sz="3200" dirty="0"/>
              <a:t>占据大量篇幅</a:t>
            </a:r>
            <a:endParaRPr lang="en-US" altLang="zh-CN" sz="3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A7AC783-17DF-39E9-AC52-A9DBD5EA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72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337C-89E2-BB33-7EC1-A18697C1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CD21827-D5F6-2D5F-5DCF-88072AB1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878" y="332656"/>
            <a:ext cx="8938243" cy="1143000"/>
          </a:xfrm>
        </p:spPr>
        <p:txBody>
          <a:bodyPr/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SH-B260101 </a:t>
            </a:r>
            <a:r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t>订正题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号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5F4312-E6EF-E718-6BCE-D59EA72B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77BCA7-B341-470E-8EAA-B660BA824AA3}"/>
              </a:ext>
            </a:extLst>
          </p:cNvPr>
          <p:cNvSpPr txBox="1"/>
          <p:nvPr/>
        </p:nvSpPr>
        <p:spPr>
          <a:xfrm>
            <a:off x="3215680" y="1916832"/>
            <a:ext cx="5544616" cy="3710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latin typeface="等线" panose="02010600030101010101" pitchFamily="2" charset="-122"/>
              </a:rPr>
              <a:t>T1	</a:t>
            </a:r>
            <a:r>
              <a:rPr lang="zh-CN" altLang="en-US" sz="3200">
                <a:latin typeface="等线" panose="02010600030101010101" pitchFamily="2" charset="-122"/>
              </a:rPr>
              <a:t>3306	人员分配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等线" panose="02010600030101010101" pitchFamily="2" charset="-122"/>
              </a:rPr>
              <a:t>T2	</a:t>
            </a:r>
            <a:r>
              <a:rPr lang="zh-CN" altLang="en-US" sz="3200">
                <a:latin typeface="等线" panose="02010600030101010101" pitchFamily="2" charset="-122"/>
              </a:rPr>
              <a:t>3133	高频词汇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等线" panose="02010600030101010101" pitchFamily="2" charset="-122"/>
              </a:rPr>
              <a:t>T3	</a:t>
            </a:r>
            <a:r>
              <a:rPr lang="zh-CN" altLang="en-US" sz="3200">
                <a:latin typeface="等线" panose="02010600030101010101" pitchFamily="2" charset="-122"/>
              </a:rPr>
              <a:t>3120	飞盘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等线" panose="02010600030101010101" pitchFamily="2" charset="-122"/>
              </a:rPr>
              <a:t>T4	</a:t>
            </a:r>
            <a:r>
              <a:rPr lang="zh-CN" altLang="en-US" sz="3200">
                <a:latin typeface="等线" panose="02010600030101010101" pitchFamily="2" charset="-122"/>
              </a:rPr>
              <a:t>3467	仪仗队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等线" panose="02010600030101010101" pitchFamily="2" charset="-122"/>
              </a:rPr>
              <a:t>T5	</a:t>
            </a:r>
            <a:r>
              <a:rPr lang="zh-CN" altLang="en-US" sz="3200">
                <a:latin typeface="等线" panose="02010600030101010101" pitchFamily="2" charset="-122"/>
              </a:rPr>
              <a:t>495	车站分级</a:t>
            </a:r>
          </a:p>
        </p:txBody>
      </p:sp>
    </p:spTree>
    <p:extLst>
      <p:ext uri="{BB962C8B-B14F-4D97-AF65-F5344CB8AC3E}">
        <p14:creationId xmlns:p14="http://schemas.microsoft.com/office/powerpoint/2010/main" val="92917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400,&quot;width&quot;:119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1902</Words>
  <Application>Microsoft Office PowerPoint</Application>
  <PresentationFormat>宽屏</PresentationFormat>
  <Paragraphs>461</Paragraphs>
  <Slides>58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7" baseType="lpstr">
      <vt:lpstr>Adobe 黑体 Std R</vt:lpstr>
      <vt:lpstr>等线</vt:lpstr>
      <vt:lpstr>等线 Light</vt:lpstr>
      <vt:lpstr>微软雅黑</vt:lpstr>
      <vt:lpstr>造字工房悦黑体验版常规体</vt:lpstr>
      <vt:lpstr>Arial</vt:lpstr>
      <vt:lpstr>Calibri</vt:lpstr>
      <vt:lpstr>Consolas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map做频率统计</vt:lpstr>
      <vt:lpstr>map映射</vt:lpstr>
      <vt:lpstr>(while-cin)+字符串转数字</vt:lpstr>
      <vt:lpstr>迭代器iterator</vt:lpstr>
      <vt:lpstr>sort自定义排序规则</vt:lpstr>
      <vt:lpstr>PowerPoint 演示文稿</vt:lpstr>
      <vt:lpstr>PowerPoint 演示文稿</vt:lpstr>
      <vt:lpstr>PowerPoint 演示文稿</vt:lpstr>
      <vt:lpstr>暴力枚举</vt:lpstr>
      <vt:lpstr>PowerPoint 演示文稿</vt:lpstr>
      <vt:lpstr>问题转换</vt:lpstr>
      <vt:lpstr>右侧更大值最近问题</vt:lpstr>
      <vt:lpstr>PowerPoint 演示文稿</vt:lpstr>
      <vt:lpstr>离线问询+双链表删除</vt:lpstr>
      <vt:lpstr>双链表删除</vt:lpstr>
      <vt:lpstr>PowerPoint 演示文稿</vt:lpstr>
      <vt:lpstr>PowerPoint 演示文稿</vt:lpstr>
      <vt:lpstr>lower_bound(x)：返回第一个大于等于x的数的地址/迭代器，       如果找不到，就返回末尾的地址/迭代器。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车站分级</vt:lpstr>
      <vt:lpstr>PowerPoint 演示文稿</vt:lpstr>
      <vt:lpstr>PowerPoint 演示文稿</vt:lpstr>
      <vt:lpstr>PowerPoint 演示文稿</vt:lpstr>
      <vt:lpstr>SH-B260101 订正题号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2364</cp:revision>
  <dcterms:created xsi:type="dcterms:W3CDTF">2019-05-16T12:24:14Z</dcterms:created>
  <dcterms:modified xsi:type="dcterms:W3CDTF">2026-01-25T15:58:52Z</dcterms:modified>
</cp:coreProperties>
</file>