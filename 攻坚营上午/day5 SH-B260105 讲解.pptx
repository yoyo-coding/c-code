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2"/>
  </p:notesMasterIdLst>
  <p:sldIdLst>
    <p:sldId id="652" r:id="rId2"/>
    <p:sldId id="1536" r:id="rId3"/>
    <p:sldId id="464" r:id="rId4"/>
    <p:sldId id="448" r:id="rId5"/>
    <p:sldId id="476" r:id="rId6"/>
    <p:sldId id="494" r:id="rId7"/>
    <p:sldId id="1152" r:id="rId8"/>
    <p:sldId id="487" r:id="rId9"/>
    <p:sldId id="1543" r:id="rId10"/>
    <p:sldId id="418" r:id="rId11"/>
    <p:sldId id="470" r:id="rId12"/>
    <p:sldId id="468" r:id="rId13"/>
    <p:sldId id="471" r:id="rId14"/>
    <p:sldId id="482" r:id="rId15"/>
    <p:sldId id="472" r:id="rId16"/>
    <p:sldId id="2287" r:id="rId17"/>
    <p:sldId id="475" r:id="rId18"/>
    <p:sldId id="477" r:id="rId19"/>
    <p:sldId id="479" r:id="rId20"/>
    <p:sldId id="480" r:id="rId21"/>
    <p:sldId id="481" r:id="rId22"/>
    <p:sldId id="2288" r:id="rId23"/>
    <p:sldId id="1544" r:id="rId24"/>
    <p:sldId id="1548" r:id="rId25"/>
    <p:sldId id="1549" r:id="rId26"/>
    <p:sldId id="1550" r:id="rId27"/>
    <p:sldId id="2270" r:id="rId28"/>
    <p:sldId id="1206" r:id="rId29"/>
    <p:sldId id="2271" r:id="rId30"/>
    <p:sldId id="465" r:id="rId31"/>
    <p:sldId id="2272" r:id="rId32"/>
    <p:sldId id="2273" r:id="rId33"/>
    <p:sldId id="2275" r:id="rId34"/>
    <p:sldId id="2276" r:id="rId35"/>
    <p:sldId id="2277" r:id="rId36"/>
    <p:sldId id="2278" r:id="rId37"/>
    <p:sldId id="2281" r:id="rId38"/>
    <p:sldId id="2274" r:id="rId39"/>
    <p:sldId id="2279" r:id="rId40"/>
    <p:sldId id="2283" r:id="rId41"/>
    <p:sldId id="2284" r:id="rId42"/>
    <p:sldId id="2285" r:id="rId43"/>
    <p:sldId id="1545" r:id="rId44"/>
    <p:sldId id="1270" r:id="rId45"/>
    <p:sldId id="1271" r:id="rId46"/>
    <p:sldId id="1274" r:id="rId47"/>
    <p:sldId id="1272" r:id="rId48"/>
    <p:sldId id="1291" r:id="rId49"/>
    <p:sldId id="1308" r:id="rId50"/>
    <p:sldId id="1309" r:id="rId51"/>
    <p:sldId id="1310" r:id="rId52"/>
    <p:sldId id="1311" r:id="rId53"/>
    <p:sldId id="1296" r:id="rId54"/>
    <p:sldId id="1312" r:id="rId55"/>
    <p:sldId id="1313" r:id="rId56"/>
    <p:sldId id="1314" r:id="rId57"/>
    <p:sldId id="1315" r:id="rId58"/>
    <p:sldId id="1316" r:id="rId59"/>
    <p:sldId id="1546" r:id="rId60"/>
    <p:sldId id="2290" r:id="rId61"/>
    <p:sldId id="353" r:id="rId62"/>
    <p:sldId id="354" r:id="rId63"/>
    <p:sldId id="2291" r:id="rId64"/>
    <p:sldId id="2292" r:id="rId65"/>
    <p:sldId id="375" r:id="rId66"/>
    <p:sldId id="395" r:id="rId67"/>
    <p:sldId id="2293" r:id="rId68"/>
    <p:sldId id="2294" r:id="rId69"/>
    <p:sldId id="405" r:id="rId70"/>
    <p:sldId id="1535" r:id="rId7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FF8F"/>
    <a:srgbClr val="FFFF99"/>
    <a:srgbClr val="FF66CC"/>
    <a:srgbClr val="70AD47"/>
    <a:srgbClr val="CCFFFF"/>
    <a:srgbClr val="FFFFCC"/>
    <a:srgbClr val="7F7F7F"/>
    <a:srgbClr val="CCC1DA"/>
    <a:srgbClr val="FDEAD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323" autoAdjust="0"/>
    <p:restoredTop sz="97630" autoAdjust="0"/>
  </p:normalViewPr>
  <p:slideViewPr>
    <p:cSldViewPr>
      <p:cViewPr>
        <p:scale>
          <a:sx n="66" d="100"/>
          <a:sy n="66" d="100"/>
        </p:scale>
        <p:origin x="552" y="605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2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5A777B-5971-487C-8674-87B93550FBC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6F8E0-F49C-4E93-9A21-7BC557BE61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17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6F8E0-F49C-4E93-9A21-7BC557BE61F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803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6F8E0-F49C-4E93-9A21-7BC557BE61F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021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B940A-4B55-4E6A-8F18-E17760013B0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189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`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B940A-4B55-4E6A-8F18-E17760013B0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28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`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B940A-4B55-4E6A-8F18-E17760013B0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399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`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B940A-4B55-4E6A-8F18-E17760013B0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57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6F8E0-F49C-4E93-9A21-7BC557BE61F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353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6F8E0-F49C-4E93-9A21-7BC557BE61F6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325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6F8E0-F49C-4E93-9A21-7BC557BE61F6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3027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6F8E0-F49C-4E93-9A21-7BC557BE61F6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57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6F8E0-F49C-4E93-9A21-7BC557BE61F6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091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331194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6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963848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705028F-7131-FB0E-F166-1DA6025452E4}"/>
              </a:ext>
            </a:extLst>
          </p:cNvPr>
          <p:cNvSpPr txBox="1">
            <a:spLocks/>
          </p:cNvSpPr>
          <p:nvPr userDrawn="1"/>
        </p:nvSpPr>
        <p:spPr>
          <a:xfrm>
            <a:off x="9192344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/70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650ED-5D37-DCE0-9FF3-51118D055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0C0CDAC-A0F6-2473-E145-30FC649823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 trans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03"/>
          <a:stretch/>
        </p:blipFill>
        <p:spPr bwMode="auto">
          <a:xfrm>
            <a:off x="-41149" y="-891480"/>
            <a:ext cx="12230363" cy="77494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5">
            <a:extLst>
              <a:ext uri="{FF2B5EF4-FFF2-40B4-BE49-F238E27FC236}">
                <a16:creationId xmlns:a16="http://schemas.microsoft.com/office/drawing/2014/main" id="{6C8C61F7-EAC1-0068-A016-4A66881184B4}"/>
              </a:ext>
            </a:extLst>
          </p:cNvPr>
          <p:cNvSpPr txBox="1"/>
          <p:nvPr/>
        </p:nvSpPr>
        <p:spPr>
          <a:xfrm>
            <a:off x="0" y="4653136"/>
            <a:ext cx="12192000" cy="110799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anose="020B0609020204030204" pitchFamily="49" charset="0"/>
                <a:ea typeface="+mj-ea"/>
                <a:cs typeface="+mn-ea"/>
              </a:rPr>
              <a:t>day5 SH-B260105 </a:t>
            </a:r>
            <a:r>
              <a:rPr lang="zh-CN" altLang="en-US" sz="66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anose="020B0609020204030204" pitchFamily="49" charset="0"/>
                <a:ea typeface="+mj-ea"/>
                <a:cs typeface="+mn-ea"/>
              </a:rPr>
              <a:t>集训</a:t>
            </a:r>
            <a:r>
              <a:rPr lang="en-US" altLang="zh-CN" sz="6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anose="020B0609020204030204" pitchFamily="49" charset="0"/>
                <a:ea typeface="+mj-ea"/>
                <a:cs typeface="+mn-ea"/>
              </a:rPr>
              <a:t>-</a:t>
            </a:r>
            <a:r>
              <a:rPr lang="zh-CN" altLang="en-US" sz="6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anose="020B0609020204030204" pitchFamily="49" charset="0"/>
                <a:ea typeface="+mj-ea"/>
                <a:cs typeface="+mn-ea"/>
              </a:rPr>
              <a:t>讲解</a:t>
            </a:r>
            <a:endParaRPr lang="zh-CN" altLang="en-US" sz="6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99DA6F-3538-408A-46E5-D64CF01522FE}"/>
              </a:ext>
            </a:extLst>
          </p:cNvPr>
          <p:cNvSpPr/>
          <p:nvPr/>
        </p:nvSpPr>
        <p:spPr>
          <a:xfrm>
            <a:off x="657096" y="428715"/>
            <a:ext cx="5400600" cy="255454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en-US" altLang="zh-CN" sz="16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Adobe 黑体 Std R" panose="020B0400000000000000" pitchFamily="34" charset="-122"/>
                <a:ea typeface="Adobe 黑体 Std R" panose="020B0400000000000000" pitchFamily="34" charset="-122"/>
              </a:rPr>
              <a:t>C++</a:t>
            </a:r>
            <a:endParaRPr lang="zh-CN" altLang="en-US" sz="160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95887D4-41B9-7CE2-B449-1030F6631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722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E976-E7D6-8426-B05A-DB40C48F6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58AF0DB1-FA76-B53F-770F-A54555503574}"/>
              </a:ext>
            </a:extLst>
          </p:cNvPr>
          <p:cNvSpPr txBox="1"/>
          <p:nvPr/>
        </p:nvSpPr>
        <p:spPr>
          <a:xfrm>
            <a:off x="-210616" y="2636912"/>
            <a:ext cx="12613232" cy="1015659"/>
          </a:xfrm>
          <a:prstGeom prst="rect">
            <a:avLst/>
          </a:prstGeom>
          <a:solidFill>
            <a:srgbClr val="F2F2F2"/>
          </a:solidFill>
          <a:ln w="12700">
            <a:solidFill>
              <a:srgbClr val="4A452A"/>
            </a:solidFill>
          </a:ln>
        </p:spPr>
        <p:txBody>
          <a:bodyPr wrap="square" lIns="45718" tIns="45718" rIns="45718" bIns="45718">
            <a:spAutoFit/>
          </a:bodyPr>
          <a:lstStyle>
            <a:defPPr>
              <a:defRPr lang="zh-CN"/>
            </a:defPPr>
            <a:lvl1pPr algn="ctr" defTabSz="914367">
              <a:defRPr sz="3937">
                <a:latin typeface="Calibri"/>
                <a:ea typeface="Calibri"/>
                <a:cs typeface="Calibri"/>
              </a:defRPr>
            </a:lvl1pPr>
          </a:lstStyle>
          <a:p>
            <a:pPr>
              <a:defRPr sz="5600">
                <a:latin typeface="Calibri"/>
                <a:ea typeface="Calibri"/>
                <a:cs typeface="Calibri"/>
                <a:sym typeface="Calibri"/>
              </a:defRPr>
            </a:pPr>
            <a:r>
              <a:rPr lang="en-US" altLang="zh-CN" sz="6000" dirty="0"/>
              <a:t>T1 </a:t>
            </a:r>
            <a:r>
              <a:rPr lang="zh-CN" altLang="en-US" sz="6000"/>
              <a:t>星际探险</a:t>
            </a:r>
            <a:endParaRPr lang="zh-CN" altLang="en-US" sz="6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79162-2E5E-2A96-CC9E-D0A2FD57488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3280051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361424" y="1412777"/>
            <a:ext cx="5330452" cy="83099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请同学写出题目大意</a:t>
            </a:r>
            <a:endParaRPr lang="en-US" altLang="zh-CN" sz="2400" dirty="0">
              <a:latin typeface="Consolas" pitchFamily="49" charset="0"/>
              <a:cs typeface="Consolas" pitchFamily="49" charset="0"/>
            </a:endParaRPr>
          </a:p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已知什么求什么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40433F-954B-4140-A4F0-0AABA2561B0A}"/>
              </a:ext>
            </a:extLst>
          </p:cNvPr>
          <p:cNvSpPr/>
          <p:nvPr/>
        </p:nvSpPr>
        <p:spPr>
          <a:xfrm>
            <a:off x="3361424" y="3429001"/>
            <a:ext cx="5330452" cy="114339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请同学阅读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[</a:t>
            </a: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数据规模和约定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]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识别部分得分点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27FBCF2-0052-4B20-89AB-2E9090AD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817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9757" y="0"/>
            <a:ext cx="8938243" cy="1143000"/>
          </a:xfrm>
        </p:spPr>
        <p:txBody>
          <a:bodyPr/>
          <a:lstStyle/>
          <a:p>
            <a:r>
              <a:rPr lang="zh-CN" altLang="en-US" dirty="0"/>
              <a:t>模拟算法</a:t>
            </a:r>
            <a:endParaRPr lang="zh-CN" altLang="zh-CN" dirty="0"/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488213D2-CF1E-6CEA-BBCC-55C9854407EE}"/>
              </a:ext>
            </a:extLst>
          </p:cNvPr>
          <p:cNvSpPr txBox="1"/>
          <p:nvPr/>
        </p:nvSpPr>
        <p:spPr>
          <a:xfrm>
            <a:off x="2567608" y="3025483"/>
            <a:ext cx="5328592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Consolas" panose="020B0609020204030204" pitchFamily="49" charset="0"/>
              </a:rPr>
              <a:t>对地点</a:t>
            </a:r>
            <a:r>
              <a:rPr lang="en-US" altLang="zh-CN" sz="2400" dirty="0">
                <a:latin typeface="Consolas" panose="020B0609020204030204" pitchFamily="49" charset="0"/>
              </a:rPr>
              <a:t>[l,r]</a:t>
            </a:r>
            <a:r>
              <a:rPr lang="zh-CN" altLang="en-US" sz="2400" dirty="0">
                <a:latin typeface="Consolas" panose="020B0609020204030204" pitchFamily="49" charset="0"/>
              </a:rPr>
              <a:t>高度进行修改</a:t>
            </a:r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E5780EF5-A1D7-A9C7-9A0E-977F6CBEF79C}"/>
              </a:ext>
            </a:extLst>
          </p:cNvPr>
          <p:cNvSpPr txBox="1"/>
          <p:nvPr/>
        </p:nvSpPr>
        <p:spPr>
          <a:xfrm>
            <a:off x="2063552" y="2448711"/>
            <a:ext cx="2160240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对于每个问询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48C07CF2-A061-112B-D4AD-F924A56B1205}"/>
              </a:ext>
            </a:extLst>
          </p:cNvPr>
          <p:cNvSpPr txBox="1"/>
          <p:nvPr/>
        </p:nvSpPr>
        <p:spPr>
          <a:xfrm>
            <a:off x="3387152" y="3629106"/>
            <a:ext cx="5949208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从</a:t>
            </a:r>
            <a:r>
              <a:rPr lang="en-US" altLang="zh-CN" sz="2400" dirty="0"/>
              <a:t>0</a:t>
            </a:r>
            <a:r>
              <a:rPr lang="zh-CN" altLang="en-US" sz="2400" dirty="0"/>
              <a:t>号点出发，计算</a:t>
            </a:r>
            <a:r>
              <a:rPr lang="en-US" altLang="zh-CN" sz="2400"/>
              <a:t>i</a:t>
            </a:r>
            <a:r>
              <a:rPr lang="zh-CN" altLang="en-US" sz="2400" dirty="0"/>
              <a:t>号点与</a:t>
            </a:r>
            <a:r>
              <a:rPr lang="en-US" altLang="zh-CN" sz="2400" dirty="0"/>
              <a:t>i-1</a:t>
            </a:r>
            <a:r>
              <a:rPr lang="zh-CN" altLang="en-US" sz="2400" dirty="0"/>
              <a:t>号点海拔差</a:t>
            </a:r>
            <a:r>
              <a:rPr lang="en-US" altLang="zh-CN" sz="2400" dirty="0"/>
              <a:t>d</a:t>
            </a:r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5897703D-9BA6-E166-602C-9F95A7A08818}"/>
              </a:ext>
            </a:extLst>
          </p:cNvPr>
          <p:cNvSpPr txBox="1"/>
          <p:nvPr/>
        </p:nvSpPr>
        <p:spPr>
          <a:xfrm>
            <a:off x="4462252" y="4291887"/>
            <a:ext cx="1872208" cy="461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如果</a:t>
            </a:r>
            <a:r>
              <a:rPr lang="en-US" altLang="zh-CN" sz="2400" dirty="0"/>
              <a:t>d</a:t>
            </a:r>
            <a:r>
              <a:rPr lang="zh-CN" altLang="en-US" sz="2400" dirty="0"/>
              <a:t>大于</a:t>
            </a:r>
            <a:r>
              <a:rPr lang="en-US" altLang="zh-CN" sz="2400" dirty="0"/>
              <a:t>0</a:t>
            </a:r>
            <a:endParaRPr lang="zh-CN" altLang="en-US" sz="2400" dirty="0"/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51624DB4-F67E-BB76-49E3-AE23E1B9A214}"/>
              </a:ext>
            </a:extLst>
          </p:cNvPr>
          <p:cNvSpPr txBox="1"/>
          <p:nvPr/>
        </p:nvSpPr>
        <p:spPr>
          <a:xfrm>
            <a:off x="2063552" y="1812380"/>
            <a:ext cx="460624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Consolas" panose="020B0609020204030204" pitchFamily="49" charset="0"/>
              </a:rPr>
              <a:t>输入每个地点的初始高度</a:t>
            </a:r>
            <a:r>
              <a:rPr lang="en-US" altLang="zh-CN" sz="2400" dirty="0">
                <a:latin typeface="Consolas" panose="020B0609020204030204" pitchFamily="49" charset="0"/>
              </a:rPr>
              <a:t>a[i]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1EB1E8-EEE5-1789-55B0-6702A9EB76DF}"/>
              </a:ext>
            </a:extLst>
          </p:cNvPr>
          <p:cNvSpPr/>
          <p:nvPr/>
        </p:nvSpPr>
        <p:spPr>
          <a:xfrm>
            <a:off x="8184233" y="6237312"/>
            <a:ext cx="1550711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Consolas" panose="020B0609020204030204" pitchFamily="49" charset="0"/>
              </a:rPr>
              <a:t>时间复杂度？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79D2DD8B-CD72-2BB4-963B-A2AD23192971}"/>
              </a:ext>
            </a:extLst>
          </p:cNvPr>
          <p:cNvSpPr txBox="1"/>
          <p:nvPr/>
        </p:nvSpPr>
        <p:spPr>
          <a:xfrm>
            <a:off x="4462252" y="4948980"/>
            <a:ext cx="1872208" cy="461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如果</a:t>
            </a:r>
            <a:r>
              <a:rPr lang="en-US" altLang="zh-CN" sz="2400" dirty="0"/>
              <a:t>d</a:t>
            </a:r>
            <a:r>
              <a:rPr lang="zh-CN" altLang="en-US" sz="2400" dirty="0"/>
              <a:t>小于</a:t>
            </a:r>
            <a:r>
              <a:rPr lang="en-US" altLang="zh-CN" sz="2400" dirty="0"/>
              <a:t>0</a:t>
            </a:r>
            <a:endParaRPr lang="zh-CN" altLang="en-US" sz="2400" dirty="0"/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F1E06F9B-B0E2-D54D-783C-B04EACE34DA6}"/>
              </a:ext>
            </a:extLst>
          </p:cNvPr>
          <p:cNvSpPr txBox="1"/>
          <p:nvPr/>
        </p:nvSpPr>
        <p:spPr>
          <a:xfrm>
            <a:off x="6456040" y="4291887"/>
            <a:ext cx="2736304" cy="461665"/>
          </a:xfrm>
          <a:prstGeom prst="rect">
            <a:avLst/>
          </a:prstGeom>
          <a:solidFill>
            <a:srgbClr val="CBEBF5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减少</a:t>
            </a:r>
            <a:r>
              <a:rPr lang="en-US" altLang="zh-CN" sz="2400" dirty="0"/>
              <a:t>d*t</a:t>
            </a:r>
            <a:r>
              <a:rPr lang="zh-CN" altLang="en-US" sz="2400" dirty="0"/>
              <a:t>的电量</a:t>
            </a: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4F48BE3E-E55F-F613-9D0A-62556A4F2A1E}"/>
              </a:ext>
            </a:extLst>
          </p:cNvPr>
          <p:cNvSpPr txBox="1"/>
          <p:nvPr/>
        </p:nvSpPr>
        <p:spPr>
          <a:xfrm>
            <a:off x="6456040" y="4939614"/>
            <a:ext cx="2736304" cy="461665"/>
          </a:xfrm>
          <a:prstGeom prst="rect">
            <a:avLst/>
          </a:prstGeom>
          <a:solidFill>
            <a:srgbClr val="CBEBF5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累加</a:t>
            </a:r>
            <a:r>
              <a:rPr lang="en-US" altLang="zh-CN" sz="2400" dirty="0"/>
              <a:t>(-d)*t</a:t>
            </a:r>
            <a:r>
              <a:rPr lang="zh-CN" altLang="en-US" sz="2400" dirty="0"/>
              <a:t>的电量</a:t>
            </a: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C18B93C7-AFCA-46BA-A231-C27D7449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383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5" grpId="0" animBg="1"/>
      <p:bldP spid="3" grpId="0" animBg="1"/>
      <p:bldP spid="4" grpId="0" animBg="1"/>
      <p:bldP spid="6" grpId="0" animBg="1"/>
      <p:bldP spid="7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D6395A01-80BE-78CB-84E2-2413C5A24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0021" y="575548"/>
            <a:ext cx="8111959" cy="570690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525F78E-24F4-A1D9-0093-6F5BDFB1FCFD}"/>
              </a:ext>
            </a:extLst>
          </p:cNvPr>
          <p:cNvSpPr/>
          <p:nvPr/>
        </p:nvSpPr>
        <p:spPr>
          <a:xfrm>
            <a:off x="7320136" y="2674561"/>
            <a:ext cx="2664296" cy="338554"/>
          </a:xfrm>
          <a:prstGeom prst="rect">
            <a:avLst/>
          </a:prstGeom>
          <a:solidFill>
            <a:srgbClr val="E6FEE9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Consolas" panose="020B0609020204030204" pitchFamily="49" charset="0"/>
              </a:rPr>
              <a:t>对地点</a:t>
            </a:r>
            <a:r>
              <a:rPr lang="en-US" altLang="zh-CN" sz="1600" dirty="0">
                <a:latin typeface="Consolas" panose="020B0609020204030204" pitchFamily="49" charset="0"/>
              </a:rPr>
              <a:t>[l,r]</a:t>
            </a:r>
            <a:r>
              <a:rPr lang="zh-CN" altLang="en-US" sz="1600" dirty="0">
                <a:latin typeface="Consolas" panose="020B0609020204030204" pitchFamily="49" charset="0"/>
              </a:rPr>
              <a:t>高度进行修改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0354F08-2D62-7005-896D-8532758B8855}"/>
              </a:ext>
            </a:extLst>
          </p:cNvPr>
          <p:cNvSpPr/>
          <p:nvPr/>
        </p:nvSpPr>
        <p:spPr>
          <a:xfrm>
            <a:off x="4249386" y="4005064"/>
            <a:ext cx="2422679" cy="86409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102D13-2817-1E37-00AD-BA71546451B9}"/>
              </a:ext>
            </a:extLst>
          </p:cNvPr>
          <p:cNvSpPr txBox="1"/>
          <p:nvPr/>
        </p:nvSpPr>
        <p:spPr>
          <a:xfrm>
            <a:off x="9677344" y="0"/>
            <a:ext cx="990657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暴力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E061215-37F2-4624-B82B-191F9548E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323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A433E54C-714F-610D-FAAE-901C4110A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0021" y="575548"/>
            <a:ext cx="8111959" cy="570690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CBDADDA-8D48-CFA4-65F9-751EC891EDFE}"/>
              </a:ext>
            </a:extLst>
          </p:cNvPr>
          <p:cNvSpPr/>
          <p:nvPr/>
        </p:nvSpPr>
        <p:spPr>
          <a:xfrm>
            <a:off x="8112225" y="6206934"/>
            <a:ext cx="1550711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Consolas" panose="020B0609020204030204" pitchFamily="49" charset="0"/>
              </a:rPr>
              <a:t>时间复杂度？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6CCE73-6FC4-33CB-E9FA-018269590930}"/>
              </a:ext>
            </a:extLst>
          </p:cNvPr>
          <p:cNvSpPr/>
          <p:nvPr/>
        </p:nvSpPr>
        <p:spPr>
          <a:xfrm>
            <a:off x="9662935" y="6209019"/>
            <a:ext cx="855712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</a:rPr>
              <a:t>O(nq)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75616552-3873-ED38-3D57-A7B719591031}"/>
              </a:ext>
            </a:extLst>
          </p:cNvPr>
          <p:cNvSpPr txBox="1"/>
          <p:nvPr/>
        </p:nvSpPr>
        <p:spPr>
          <a:xfrm>
            <a:off x="9677344" y="0"/>
            <a:ext cx="990657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暴力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5136C58-B1FA-4D7B-8D66-A99CB0C53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984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18402" y="1844825"/>
            <a:ext cx="5330452" cy="646331"/>
          </a:xfrm>
          <a:prstGeom prst="rect">
            <a:avLst/>
          </a:prstGeom>
          <a:solidFill>
            <a:srgbClr val="CCFFFF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latin typeface="Consolas" pitchFamily="49" charset="0"/>
                <a:cs typeface="Consolas" pitchFamily="49" charset="0"/>
              </a:rPr>
              <a:t>如何想到加速算法</a:t>
            </a:r>
          </a:p>
        </p:txBody>
      </p:sp>
      <p:sp>
        <p:nvSpPr>
          <p:cNvPr id="7" name="矩形 6"/>
          <p:cNvSpPr/>
          <p:nvPr/>
        </p:nvSpPr>
        <p:spPr>
          <a:xfrm>
            <a:off x="3518402" y="3068960"/>
            <a:ext cx="5330452" cy="523220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区间更新</a:t>
            </a:r>
          </a:p>
        </p:txBody>
      </p:sp>
      <p:sp>
        <p:nvSpPr>
          <p:cNvPr id="11" name="矩形 10"/>
          <p:cNvSpPr/>
          <p:nvPr/>
        </p:nvSpPr>
        <p:spPr>
          <a:xfrm>
            <a:off x="3518402" y="3592180"/>
            <a:ext cx="5330452" cy="523220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只标记两端</a:t>
            </a:r>
          </a:p>
        </p:txBody>
      </p:sp>
      <p:sp>
        <p:nvSpPr>
          <p:cNvPr id="12" name="矩形 11"/>
          <p:cNvSpPr/>
          <p:nvPr/>
        </p:nvSpPr>
        <p:spPr>
          <a:xfrm>
            <a:off x="2498973" y="4560951"/>
            <a:ext cx="7369310" cy="954107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重大发现：区间内的相对海拔是不变的因此电量也不会变。只有区间的边界可能受到影响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CF95679-BA98-4D88-80CD-70215273B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225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9BE1A56-2FD5-920D-F3DC-EBF62AE82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571" y="1733075"/>
            <a:ext cx="6267347" cy="475793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0699D38-0810-D5F4-1F24-E8900DB14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513" y="319475"/>
            <a:ext cx="5363323" cy="122889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AB1902F-3773-998A-28F6-F4E092A1445A}"/>
              </a:ext>
            </a:extLst>
          </p:cNvPr>
          <p:cNvSpPr/>
          <p:nvPr/>
        </p:nvSpPr>
        <p:spPr>
          <a:xfrm>
            <a:off x="6564051" y="318658"/>
            <a:ext cx="291632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</a:rPr>
              <a:t>change(x)</a:t>
            </a:r>
            <a:r>
              <a:rPr lang="zh-CN" altLang="en-US" sz="1600" dirty="0">
                <a:latin typeface="Consolas" panose="020B0609020204030204" pitchFamily="49" charset="0"/>
              </a:rPr>
              <a:t>表示高度差为</a:t>
            </a:r>
            <a:r>
              <a:rPr lang="en-US" altLang="zh-CN" sz="1600" dirty="0">
                <a:latin typeface="Consolas" panose="020B0609020204030204" pitchFamily="49" charset="0"/>
              </a:rPr>
              <a:t>h</a:t>
            </a:r>
            <a:r>
              <a:rPr lang="zh-CN" altLang="en-US" sz="1600" dirty="0">
                <a:latin typeface="Consolas" panose="020B0609020204030204" pitchFamily="49" charset="0"/>
              </a:rPr>
              <a:t>时对应电量变化量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0F75E6-056F-18F9-CD4E-FEA71EFCB17C}"/>
              </a:ext>
            </a:extLst>
          </p:cNvPr>
          <p:cNvSpPr/>
          <p:nvPr/>
        </p:nvSpPr>
        <p:spPr>
          <a:xfrm>
            <a:off x="5956911" y="3974283"/>
            <a:ext cx="2664296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Consolas" panose="020B0609020204030204" pitchFamily="49" charset="0"/>
              </a:rPr>
              <a:t>对左端进行电量修正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C466D618-A421-46EC-F37B-8E7D3A2A41EA}"/>
              </a:ext>
            </a:extLst>
          </p:cNvPr>
          <p:cNvSpPr txBox="1"/>
          <p:nvPr/>
        </p:nvSpPr>
        <p:spPr>
          <a:xfrm>
            <a:off x="9677344" y="0"/>
            <a:ext cx="990657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差分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116D7C-E14C-747D-794E-650FFBDEAA40}"/>
              </a:ext>
            </a:extLst>
          </p:cNvPr>
          <p:cNvSpPr/>
          <p:nvPr/>
        </p:nvSpPr>
        <p:spPr>
          <a:xfrm>
            <a:off x="6240016" y="5063368"/>
            <a:ext cx="2664296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Consolas" panose="020B0609020204030204" pitchFamily="49" charset="0"/>
              </a:rPr>
              <a:t>对右端进行电量修正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5D549F0-B553-46BF-9219-895AEC512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7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E976-E7D6-8426-B05A-DB40C48F6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58AF0DB1-FA76-B53F-770F-A54555503574}"/>
              </a:ext>
            </a:extLst>
          </p:cNvPr>
          <p:cNvSpPr txBox="1"/>
          <p:nvPr/>
        </p:nvSpPr>
        <p:spPr>
          <a:xfrm>
            <a:off x="-210616" y="2636912"/>
            <a:ext cx="12613232" cy="1015659"/>
          </a:xfrm>
          <a:prstGeom prst="rect">
            <a:avLst/>
          </a:prstGeom>
          <a:solidFill>
            <a:srgbClr val="F2F2F2"/>
          </a:solidFill>
          <a:ln w="12700">
            <a:solidFill>
              <a:srgbClr val="4A452A"/>
            </a:solidFill>
          </a:ln>
        </p:spPr>
        <p:txBody>
          <a:bodyPr wrap="square" lIns="45718" tIns="45718" rIns="45718" bIns="45718">
            <a:spAutoFit/>
          </a:bodyPr>
          <a:lstStyle>
            <a:defPPr>
              <a:defRPr lang="zh-CN"/>
            </a:defPPr>
            <a:lvl1pPr algn="ctr" defTabSz="914367">
              <a:defRPr sz="3937">
                <a:latin typeface="Calibri"/>
                <a:ea typeface="Calibri"/>
                <a:cs typeface="Calibri"/>
              </a:defRPr>
            </a:lvl1pPr>
          </a:lstStyle>
          <a:p>
            <a:pPr>
              <a:defRPr sz="5600">
                <a:latin typeface="Calibri"/>
                <a:ea typeface="Calibri"/>
                <a:cs typeface="Calibri"/>
                <a:sym typeface="Calibri"/>
              </a:defRPr>
            </a:pPr>
            <a:r>
              <a:rPr lang="en-US" altLang="zh-CN" sz="6000" dirty="0"/>
              <a:t>T2 </a:t>
            </a:r>
            <a:r>
              <a:rPr lang="zh-CN" altLang="en-US" sz="6000"/>
              <a:t>删除子数组</a:t>
            </a:r>
            <a:endParaRPr lang="zh-CN" altLang="en-US" sz="6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79162-2E5E-2A96-CC9E-D0A2FD57488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92086638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430774" y="1212263"/>
            <a:ext cx="5330452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600"/>
              <a:t>题意</a:t>
            </a:r>
            <a:endParaRPr lang="en-US" altLang="zh-CN" sz="3600" dirty="0"/>
          </a:p>
        </p:txBody>
      </p:sp>
      <p:sp>
        <p:nvSpPr>
          <p:cNvPr id="7" name="矩形 6"/>
          <p:cNvSpPr/>
          <p:nvPr/>
        </p:nvSpPr>
        <p:spPr>
          <a:xfrm>
            <a:off x="3430774" y="2475865"/>
            <a:ext cx="5330452" cy="95313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dirty="0"/>
              <a:t>给定数组，求删除最短的子数组，使得剩余元素的和可以被</a:t>
            </a:r>
            <a:r>
              <a:rPr lang="en-US" altLang="zh-CN" sz="2800" dirty="0"/>
              <a:t>x</a:t>
            </a:r>
            <a:r>
              <a:rPr lang="zh-CN" altLang="en-US" sz="2800" dirty="0"/>
              <a:t>整除</a:t>
            </a:r>
          </a:p>
        </p:txBody>
      </p:sp>
      <p:sp>
        <p:nvSpPr>
          <p:cNvPr id="3" name="矩形 2"/>
          <p:cNvSpPr/>
          <p:nvPr/>
        </p:nvSpPr>
        <p:spPr>
          <a:xfrm>
            <a:off x="3459539" y="3845597"/>
            <a:ext cx="5112568" cy="2307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数据规模：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2</a:t>
            </a:r>
            <a:r>
              <a:rPr lang="zh-TW" altLang="zh-CN" sz="2000" dirty="0"/>
              <a:t>0%</a:t>
            </a:r>
            <a:r>
              <a:rPr lang="zh-CN" altLang="zh-CN" sz="2000" dirty="0"/>
              <a:t>数据， </a:t>
            </a:r>
            <a:r>
              <a:rPr lang="zh-TW" altLang="zh-CN" sz="2000" dirty="0"/>
              <a:t>n</a:t>
            </a:r>
            <a:r>
              <a:rPr lang="en-US" altLang="zh-CN" sz="2000" dirty="0"/>
              <a:t>&lt;=100</a:t>
            </a:r>
            <a:endParaRPr lang="zh-CN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5</a:t>
            </a:r>
            <a:r>
              <a:rPr lang="zh-TW" altLang="zh-CN" sz="2000" dirty="0"/>
              <a:t>0%</a:t>
            </a:r>
            <a:r>
              <a:rPr lang="zh-CN" altLang="zh-CN" sz="2000" dirty="0"/>
              <a:t>数据， </a:t>
            </a:r>
            <a:r>
              <a:rPr lang="zh-TW" altLang="zh-CN" sz="2000" dirty="0"/>
              <a:t>n</a:t>
            </a:r>
            <a:r>
              <a:rPr lang="en-US" altLang="zh-CN" sz="2000" dirty="0"/>
              <a:t>&lt;=1000</a:t>
            </a:r>
            <a:endParaRPr lang="zh-CN" altLang="zh-CN" sz="2000" dirty="0"/>
          </a:p>
          <a:p>
            <a:pPr>
              <a:lnSpc>
                <a:spcPct val="150000"/>
              </a:lnSpc>
            </a:pPr>
            <a:r>
              <a:rPr lang="zh-TW" altLang="zh-CN" sz="2000" dirty="0"/>
              <a:t>10</a:t>
            </a:r>
            <a:r>
              <a:rPr lang="en-US" altLang="zh-CN" sz="2000" dirty="0"/>
              <a:t>0</a:t>
            </a:r>
            <a:r>
              <a:rPr lang="zh-TW" altLang="zh-CN" sz="2000" dirty="0"/>
              <a:t>%</a:t>
            </a:r>
            <a:r>
              <a:rPr lang="zh-CN" altLang="zh-CN" sz="2000" dirty="0"/>
              <a:t>数据，</a:t>
            </a:r>
            <a:r>
              <a:rPr lang="en-US" altLang="zh-CN" sz="2000" dirty="0"/>
              <a:t>n&lt;=100000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数组中每个元素</a:t>
            </a:r>
            <a:r>
              <a:rPr lang="en-US" altLang="zh-CN" sz="2000" dirty="0"/>
              <a:t>&lt;10^9</a:t>
            </a:r>
            <a:r>
              <a:rPr lang="zh-CN" altLang="en-US" sz="2000"/>
              <a:t>、</a:t>
            </a:r>
            <a:r>
              <a:rPr lang="en-US" altLang="zh-CN" sz="2000" dirty="0"/>
              <a:t>x&lt;10^9</a:t>
            </a:r>
            <a:endParaRPr lang="zh-CN" altLang="en-US" sz="20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79CD844-C00B-4270-BF77-29F538BE0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9757" y="0"/>
            <a:ext cx="8938243" cy="1143000"/>
          </a:xfrm>
        </p:spPr>
        <p:txBody>
          <a:bodyPr/>
          <a:lstStyle/>
          <a:p>
            <a:r>
              <a:rPr lang="zh-CN" altLang="en-US" dirty="0"/>
              <a:t>暴力解法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307591" y="2723198"/>
            <a:ext cx="75774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>
                <a:latin typeface="+mn-ea"/>
                <a:cs typeface="微软雅黑" panose="020B0503020204020204" charset="-122"/>
              </a:rPr>
              <a:t>2.</a:t>
            </a:r>
            <a:r>
              <a:rPr lang="zh-CN" altLang="en-US" sz="2600">
                <a:latin typeface="+mn-ea"/>
                <a:cs typeface="微软雅黑" panose="020B0503020204020204" charset="-122"/>
              </a:rPr>
              <a:t>从小到大枚举删除子数组的长度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307591" y="3867786"/>
            <a:ext cx="7577455" cy="1221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latin typeface="+mn-ea"/>
                <a:cs typeface="微软雅黑" panose="020B0503020204020204" charset="-122"/>
              </a:rPr>
              <a:t>3.</a:t>
            </a:r>
            <a:r>
              <a:rPr lang="zh-CN" altLang="en-US" sz="2600">
                <a:latin typeface="+mn-ea"/>
                <a:cs typeface="微软雅黑" panose="020B0503020204020204" charset="-122"/>
              </a:rPr>
              <a:t>从左往右枚举该长度下的所    有子数组，</a:t>
            </a:r>
            <a:endParaRPr lang="en-US" altLang="zh-CN" sz="2600" dirty="0">
              <a:latin typeface="+mn-ea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>
                <a:latin typeface="+mn-ea"/>
                <a:cs typeface="微软雅黑" panose="020B0503020204020204" charset="-122"/>
              </a:rPr>
              <a:t>如果删除后剩余元素和可以整除</a:t>
            </a:r>
            <a:r>
              <a:rPr lang="en-US" altLang="zh-CN" sz="2600" dirty="0">
                <a:latin typeface="+mn-ea"/>
                <a:cs typeface="微软雅黑" panose="020B0503020204020204" charset="-122"/>
              </a:rPr>
              <a:t>x,</a:t>
            </a:r>
            <a:r>
              <a:rPr lang="zh-CN" altLang="en-US" sz="2600">
                <a:latin typeface="+mn-ea"/>
                <a:cs typeface="微软雅黑" panose="020B0503020204020204" charset="-122"/>
              </a:rPr>
              <a:t>返回该长度。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307591" y="1578610"/>
            <a:ext cx="75774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>
                <a:latin typeface="+mn-ea"/>
                <a:cs typeface="微软雅黑" panose="020B0503020204020204" charset="-122"/>
              </a:rPr>
              <a:t>1.</a:t>
            </a:r>
            <a:r>
              <a:rPr lang="zh-CN" altLang="en-US" sz="2600">
                <a:latin typeface="+mn-ea"/>
                <a:cs typeface="微软雅黑" panose="020B0503020204020204" charset="-122"/>
              </a:rPr>
              <a:t>如果数组元素和 </a:t>
            </a:r>
            <a:r>
              <a:rPr lang="en-US" altLang="zh-CN" sz="2600" dirty="0">
                <a:latin typeface="+mn-ea"/>
                <a:cs typeface="微软雅黑" panose="020B0503020204020204" charset="-122"/>
              </a:rPr>
              <a:t>mod x=0,</a:t>
            </a:r>
            <a:r>
              <a:rPr lang="zh-CN" altLang="en-US" sz="2600">
                <a:latin typeface="+mn-ea"/>
                <a:cs typeface="微软雅黑" panose="020B0503020204020204" charset="-122"/>
              </a:rPr>
              <a:t>返回</a:t>
            </a:r>
            <a:r>
              <a:rPr lang="en-US" altLang="zh-CN" sz="2600" dirty="0">
                <a:latin typeface="+mn-ea"/>
                <a:cs typeface="微软雅黑" panose="020B0503020204020204" charset="-122"/>
              </a:rPr>
              <a:t>0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0452BE-6533-461A-BF1C-BB025D580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9757" y="0"/>
            <a:ext cx="8938243" cy="1143000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暴力解法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137661" y="1143000"/>
            <a:ext cx="41230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>
                <a:latin typeface="+mn-ea"/>
                <a:cs typeface="微软雅黑" panose="020B0503020204020204" charset="-122"/>
              </a:rPr>
              <a:t>当</a:t>
            </a:r>
            <a:r>
              <a:rPr lang="en-US" altLang="zh-CN" sz="2600" dirty="0">
                <a:latin typeface="+mn-ea"/>
                <a:cs typeface="微软雅黑" panose="020B0503020204020204" charset="-122"/>
              </a:rPr>
              <a:t>x=</a:t>
            </a:r>
            <a:r>
              <a:rPr lang="en-US" altLang="zh-CN" sz="2600" dirty="0">
                <a:solidFill>
                  <a:srgbClr val="FF0000"/>
                </a:solidFill>
                <a:latin typeface="+mn-ea"/>
                <a:cs typeface="微软雅黑" panose="020B0503020204020204" charset="-122"/>
              </a:rPr>
              <a:t>9</a:t>
            </a:r>
            <a:r>
              <a:rPr lang="zh-CN" altLang="en-US" sz="2600">
                <a:latin typeface="+mn-ea"/>
                <a:cs typeface="微软雅黑" panose="020B0503020204020204" charset="-122"/>
              </a:rPr>
              <a:t>时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245871" y="1976120"/>
            <a:ext cx="41230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600" dirty="0">
                <a:latin typeface="+mn-ea"/>
                <a:cs typeface="微软雅黑" panose="020B0503020204020204" charset="-122"/>
              </a:rPr>
              <a:t>A</a:t>
            </a:r>
            <a:r>
              <a:rPr lang="zh-CN" altLang="en-US" sz="2600">
                <a:latin typeface="+mn-ea"/>
                <a:cs typeface="微软雅黑" panose="020B0503020204020204" charset="-122"/>
              </a:rPr>
              <a:t>数组为：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491106" y="2832100"/>
            <a:ext cx="75774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>
                <a:latin typeface="+mn-ea"/>
                <a:cs typeface="微软雅黑" panose="020B0503020204020204" charset="-122"/>
              </a:rPr>
              <a:t>原数组不可以整除</a:t>
            </a:r>
            <a:r>
              <a:rPr lang="en-US" altLang="zh-CN" sz="2600" dirty="0">
                <a:latin typeface="+mn-ea"/>
                <a:cs typeface="微软雅黑" panose="020B0503020204020204" charset="-122"/>
              </a:rPr>
              <a:t>9</a:t>
            </a:r>
          </a:p>
        </p:txBody>
      </p:sp>
      <p:graphicFrame>
        <p:nvGraphicFramePr>
          <p:cNvPr id="11" name="表格 10"/>
          <p:cNvGraphicFramePr/>
          <p:nvPr>
            <p:extLst>
              <p:ext uri="{D42A27DB-BD31-4B8C-83A1-F6EECF244321}">
                <p14:modId xmlns:p14="http://schemas.microsoft.com/office/powerpoint/2010/main" val="2930054410"/>
              </p:ext>
            </p:extLst>
          </p:nvPr>
        </p:nvGraphicFramePr>
        <p:xfrm>
          <a:off x="4133215" y="3818890"/>
          <a:ext cx="474472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6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2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/>
          <p:nvPr>
            <p:extLst>
              <p:ext uri="{D42A27DB-BD31-4B8C-83A1-F6EECF244321}">
                <p14:modId xmlns:p14="http://schemas.microsoft.com/office/powerpoint/2010/main" val="4256774742"/>
              </p:ext>
            </p:extLst>
          </p:nvPr>
        </p:nvGraphicFramePr>
        <p:xfrm>
          <a:off x="4502785" y="2009140"/>
          <a:ext cx="474472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6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2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/>
          <p:nvPr>
            <p:extLst>
              <p:ext uri="{D42A27DB-BD31-4B8C-83A1-F6EECF244321}">
                <p14:modId xmlns:p14="http://schemas.microsoft.com/office/powerpoint/2010/main" val="3538362246"/>
              </p:ext>
            </p:extLst>
          </p:nvPr>
        </p:nvGraphicFramePr>
        <p:xfrm>
          <a:off x="4133215" y="4578985"/>
          <a:ext cx="474472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6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2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/>
          <p:nvPr>
            <p:extLst>
              <p:ext uri="{D42A27DB-BD31-4B8C-83A1-F6EECF244321}">
                <p14:modId xmlns:p14="http://schemas.microsoft.com/office/powerpoint/2010/main" val="1611489616"/>
              </p:ext>
            </p:extLst>
          </p:nvPr>
        </p:nvGraphicFramePr>
        <p:xfrm>
          <a:off x="4133215" y="5380990"/>
          <a:ext cx="474472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6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2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3183097339"/>
              </p:ext>
            </p:extLst>
          </p:nvPr>
        </p:nvGraphicFramePr>
        <p:xfrm>
          <a:off x="4133215" y="6172200"/>
          <a:ext cx="474472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6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2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6" name="直接连接符 15"/>
          <p:cNvCxnSpPr/>
          <p:nvPr/>
        </p:nvCxnSpPr>
        <p:spPr>
          <a:xfrm>
            <a:off x="4433570" y="3858260"/>
            <a:ext cx="693420" cy="539750"/>
          </a:xfrm>
          <a:prstGeom prst="line">
            <a:avLst/>
          </a:prstGeom>
          <a:ln w="98425">
            <a:solidFill>
              <a:srgbClr val="F8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5551805" y="4618355"/>
            <a:ext cx="693420" cy="539750"/>
          </a:xfrm>
          <a:prstGeom prst="line">
            <a:avLst/>
          </a:prstGeom>
          <a:ln w="98425">
            <a:solidFill>
              <a:srgbClr val="F8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731635" y="5420360"/>
            <a:ext cx="693420" cy="539750"/>
          </a:xfrm>
          <a:prstGeom prst="line">
            <a:avLst/>
          </a:prstGeom>
          <a:ln w="98425">
            <a:solidFill>
              <a:srgbClr val="F8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7891145" y="6211570"/>
            <a:ext cx="693420" cy="539750"/>
          </a:xfrm>
          <a:prstGeom prst="line">
            <a:avLst/>
          </a:prstGeom>
          <a:ln w="98425">
            <a:solidFill>
              <a:srgbClr val="F8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479376" y="4164966"/>
            <a:ext cx="365447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>
                <a:latin typeface="+mn-ea"/>
                <a:cs typeface="微软雅黑" panose="020B0503020204020204" charset="-122"/>
              </a:rPr>
              <a:t>枚举长度为</a:t>
            </a:r>
            <a:r>
              <a:rPr lang="en-US" altLang="zh-CN" sz="2600" dirty="0">
                <a:latin typeface="+mn-ea"/>
                <a:cs typeface="微软雅黑" panose="020B0503020204020204" charset="-122"/>
              </a:rPr>
              <a:t>1</a:t>
            </a:r>
            <a:r>
              <a:rPr lang="zh-CN" altLang="en-US" sz="2600">
                <a:latin typeface="+mn-ea"/>
                <a:cs typeface="微软雅黑" panose="020B0503020204020204" charset="-122"/>
              </a:rPr>
              <a:t>的子数组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8877936" y="3106420"/>
            <a:ext cx="19970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600">
                <a:latin typeface="+mn-ea"/>
                <a:cs typeface="微软雅黑" panose="020B0503020204020204" charset="-122"/>
              </a:defRPr>
            </a:lvl1pPr>
          </a:lstStyle>
          <a:p>
            <a:r>
              <a:rPr lang="zh-CN" altLang="en-US"/>
              <a:t>余数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9439911" y="3876040"/>
            <a:ext cx="114744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9439911" y="4636135"/>
            <a:ext cx="114744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9439911" y="5380990"/>
            <a:ext cx="114744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9439911" y="6220460"/>
            <a:ext cx="114744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04EDAAF-52D3-4757-8777-5C83CE2C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/>
          <p:cNvGraphicFramePr/>
          <p:nvPr>
            <p:extLst>
              <p:ext uri="{D42A27DB-BD31-4B8C-83A1-F6EECF244321}">
                <p14:modId xmlns:p14="http://schemas.microsoft.com/office/powerpoint/2010/main" val="1211634856"/>
              </p:ext>
            </p:extLst>
          </p:nvPr>
        </p:nvGraphicFramePr>
        <p:xfrm>
          <a:off x="4000500" y="704850"/>
          <a:ext cx="474472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6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2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/>
          <p:nvPr>
            <p:extLst>
              <p:ext uri="{D42A27DB-BD31-4B8C-83A1-F6EECF244321}">
                <p14:modId xmlns:p14="http://schemas.microsoft.com/office/powerpoint/2010/main" val="2946861159"/>
              </p:ext>
            </p:extLst>
          </p:nvPr>
        </p:nvGraphicFramePr>
        <p:xfrm>
          <a:off x="4000500" y="1464945"/>
          <a:ext cx="474472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6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2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/>
          <p:nvPr>
            <p:extLst>
              <p:ext uri="{D42A27DB-BD31-4B8C-83A1-F6EECF244321}">
                <p14:modId xmlns:p14="http://schemas.microsoft.com/office/powerpoint/2010/main" val="1599049895"/>
              </p:ext>
            </p:extLst>
          </p:nvPr>
        </p:nvGraphicFramePr>
        <p:xfrm>
          <a:off x="4000500" y="2266950"/>
          <a:ext cx="474472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6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2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6" name="直接连接符 15"/>
          <p:cNvCxnSpPr/>
          <p:nvPr/>
        </p:nvCxnSpPr>
        <p:spPr>
          <a:xfrm>
            <a:off x="4300855" y="744220"/>
            <a:ext cx="693420" cy="539750"/>
          </a:xfrm>
          <a:prstGeom prst="line">
            <a:avLst/>
          </a:prstGeom>
          <a:ln w="98425">
            <a:solidFill>
              <a:srgbClr val="F8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5419090" y="1504315"/>
            <a:ext cx="693420" cy="539750"/>
          </a:xfrm>
          <a:prstGeom prst="line">
            <a:avLst/>
          </a:prstGeom>
          <a:ln w="98425">
            <a:solidFill>
              <a:srgbClr val="F8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670675" y="1504315"/>
            <a:ext cx="693420" cy="539750"/>
          </a:xfrm>
          <a:prstGeom prst="line">
            <a:avLst/>
          </a:prstGeom>
          <a:ln w="98425">
            <a:solidFill>
              <a:srgbClr val="F8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119336" y="802006"/>
            <a:ext cx="37389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600">
                <a:latin typeface="+mn-ea"/>
                <a:cs typeface="微软雅黑" panose="020B0503020204020204" charset="-122"/>
              </a:defRPr>
            </a:lvl1pPr>
          </a:lstStyle>
          <a:p>
            <a:r>
              <a:rPr lang="zh-CN" altLang="en-US"/>
              <a:t>枚举长度为</a:t>
            </a:r>
            <a:r>
              <a:rPr lang="en-US" altLang="zh-CN" dirty="0"/>
              <a:t>2</a:t>
            </a:r>
            <a:r>
              <a:rPr lang="zh-CN" altLang="en-US"/>
              <a:t>的子数组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9307196" y="657225"/>
            <a:ext cx="11474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9307196" y="1417320"/>
            <a:ext cx="11474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9307196" y="2162175"/>
            <a:ext cx="11474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0000"/>
                </a:solidFill>
              </a:rPr>
              <a:t>0</a:t>
            </a:r>
          </a:p>
        </p:txBody>
      </p:sp>
      <p:cxnSp>
        <p:nvCxnSpPr>
          <p:cNvPr id="2" name="直接连接符 1"/>
          <p:cNvCxnSpPr/>
          <p:nvPr/>
        </p:nvCxnSpPr>
        <p:spPr>
          <a:xfrm>
            <a:off x="5419090" y="762000"/>
            <a:ext cx="693420" cy="539750"/>
          </a:xfrm>
          <a:prstGeom prst="line">
            <a:avLst/>
          </a:prstGeom>
          <a:ln w="98425">
            <a:solidFill>
              <a:srgbClr val="F8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6670675" y="2264410"/>
            <a:ext cx="693420" cy="539750"/>
          </a:xfrm>
          <a:prstGeom prst="line">
            <a:avLst/>
          </a:prstGeom>
          <a:ln w="98425">
            <a:solidFill>
              <a:srgbClr val="F8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7717790" y="2306320"/>
            <a:ext cx="693420" cy="539750"/>
          </a:xfrm>
          <a:prstGeom prst="line">
            <a:avLst/>
          </a:prstGeom>
          <a:ln w="98425">
            <a:solidFill>
              <a:srgbClr val="F8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8882380" y="64609"/>
            <a:ext cx="19970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600">
                <a:latin typeface="+mn-ea"/>
                <a:cs typeface="微软雅黑" panose="020B0503020204020204" charset="-122"/>
              </a:defRPr>
            </a:lvl1pPr>
          </a:lstStyle>
          <a:p>
            <a:r>
              <a:rPr lang="zh-CN" altLang="en-US"/>
              <a:t>余数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113972" y="2962790"/>
            <a:ext cx="19970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600">
                <a:latin typeface="+mn-ea"/>
                <a:cs typeface="微软雅黑" panose="020B0503020204020204" charset="-122"/>
              </a:defRPr>
            </a:lvl1pPr>
          </a:lstStyle>
          <a:p>
            <a:r>
              <a:rPr lang="zh-CN" altLang="en-US"/>
              <a:t>答案为</a:t>
            </a:r>
            <a:r>
              <a:rPr lang="en-US" altLang="zh-CN" dirty="0"/>
              <a:t>2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83768" y="3824448"/>
            <a:ext cx="1077818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600">
                <a:latin typeface="+mn-ea"/>
                <a:cs typeface="微软雅黑" panose="020B0503020204020204" charset="-122"/>
              </a:defRPr>
            </a:lvl1pPr>
          </a:lstStyle>
          <a:p>
            <a:r>
              <a:rPr lang="en-US" altLang="zh-CN" dirty="0"/>
              <a:t>1.</a:t>
            </a:r>
            <a:r>
              <a:rPr lang="zh-CN" altLang="en-US"/>
              <a:t>为了防止</a:t>
            </a:r>
            <a:r>
              <a:rPr lang="en-US" altLang="zh-CN" dirty="0"/>
              <a:t>int</a:t>
            </a:r>
            <a:r>
              <a:rPr lang="zh-CN" altLang="en-US"/>
              <a:t>溢出，在计算过程中，每次加法的结果都需要和</a:t>
            </a:r>
            <a:r>
              <a:rPr lang="en-US" altLang="zh-CN" dirty="0"/>
              <a:t>x</a:t>
            </a:r>
            <a:r>
              <a:rPr lang="zh-CN" altLang="en-US"/>
              <a:t>取余数。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83768" y="4826518"/>
            <a:ext cx="888370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600">
                <a:latin typeface="+mn-ea"/>
                <a:cs typeface="微软雅黑" panose="020B0503020204020204" charset="-122"/>
              </a:defRPr>
            </a:lvl1pPr>
          </a:lstStyle>
          <a:p>
            <a:r>
              <a:rPr lang="en-US" altLang="zh-CN" dirty="0"/>
              <a:t>2.</a:t>
            </a:r>
            <a:r>
              <a:rPr lang="zh-CN" altLang="en-US" dirty="0"/>
              <a:t>计算删除子数组和时，可以使用前缀和做差计算连续和。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962150" y="5765482"/>
            <a:ext cx="76073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600">
                <a:latin typeface="+mn-ea"/>
                <a:cs typeface="微软雅黑" panose="020B0503020204020204" charset="-122"/>
              </a:defRPr>
            </a:lvl1pPr>
          </a:lstStyle>
          <a:p>
            <a:r>
              <a:rPr lang="zh-CN" altLang="en-US">
                <a:solidFill>
                  <a:srgbClr val="FF0000"/>
                </a:solidFill>
              </a:rPr>
              <a:t>时间复杂度为多少？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42B166-BA40-49EB-BA89-1116586FB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1A51F31-04E9-05F2-4531-6345F023F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840" y="0"/>
            <a:ext cx="6481704" cy="6858000"/>
          </a:xfrm>
          <a:prstGeom prst="rect">
            <a:avLst/>
          </a:prstGeom>
          <a:noFill/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D6F4C59-B988-43A1-8552-C392E09A94FA}"/>
              </a:ext>
            </a:extLst>
          </p:cNvPr>
          <p:cNvSpPr txBox="1"/>
          <p:nvPr/>
        </p:nvSpPr>
        <p:spPr>
          <a:xfrm>
            <a:off x="1271464" y="99844"/>
            <a:ext cx="1656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/>
              <a:t>暴力解法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CEBA37-E693-40C3-AD30-E287204B6DA9}"/>
              </a:ext>
            </a:extLst>
          </p:cNvPr>
          <p:cNvSpPr txBox="1"/>
          <p:nvPr/>
        </p:nvSpPr>
        <p:spPr>
          <a:xfrm>
            <a:off x="226364" y="764704"/>
            <a:ext cx="4069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/>
              <a:t>、枚举删除不同长度的子数组区间</a:t>
            </a:r>
            <a:endParaRPr lang="en-US" altLang="zh-CN" dirty="0"/>
          </a:p>
          <a:p>
            <a:r>
              <a:rPr lang="zh-CN" altLang="en-US"/>
              <a:t>      （长度依次从小到大）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B385D94-876A-4E12-9335-7E3A8B155932}"/>
              </a:ext>
            </a:extLst>
          </p:cNvPr>
          <p:cNvSpPr txBox="1"/>
          <p:nvPr/>
        </p:nvSpPr>
        <p:spPr>
          <a:xfrm>
            <a:off x="226364" y="1597442"/>
            <a:ext cx="4069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/>
              <a:t>、当删除的子数组区间为</a:t>
            </a:r>
            <a:r>
              <a:rPr lang="en-US" altLang="zh-CN" spc="300" dirty="0">
                <a:solidFill>
                  <a:srgbClr val="FF0000"/>
                </a:solidFill>
              </a:rPr>
              <a:t>[i,j]</a:t>
            </a:r>
            <a:r>
              <a:rPr lang="zh-CN" altLang="en-US"/>
              <a:t>时，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F9034B-C993-4F9C-8A33-EFA12FC947B5}"/>
              </a:ext>
            </a:extLst>
          </p:cNvPr>
          <p:cNvSpPr txBox="1"/>
          <p:nvPr/>
        </p:nvSpPr>
        <p:spPr>
          <a:xfrm>
            <a:off x="623392" y="1966774"/>
            <a:ext cx="3744416" cy="742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剩余元素的和为：</a:t>
            </a:r>
            <a:endParaRPr lang="en-US" altLang="zh-CN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pc="300" dirty="0">
                <a:solidFill>
                  <a:srgbClr val="FF0000"/>
                </a:solidFill>
              </a:rPr>
              <a:t>[1,i-1]</a:t>
            </a:r>
            <a:r>
              <a:rPr lang="zh-CN" altLang="en-US">
                <a:solidFill>
                  <a:schemeClr val="accent1"/>
                </a:solidFill>
              </a:rPr>
              <a:t>的和 </a:t>
            </a:r>
            <a:r>
              <a:rPr lang="en-US" altLang="zh-CN" spc="300" dirty="0">
                <a:solidFill>
                  <a:srgbClr val="FF0000"/>
                </a:solidFill>
              </a:rPr>
              <a:t>+ [j+1,n]</a:t>
            </a:r>
            <a:r>
              <a:rPr lang="zh-CN" altLang="en-US">
                <a:solidFill>
                  <a:schemeClr val="accent1"/>
                </a:solidFill>
              </a:rPr>
              <a:t>的和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CC28623-B815-42ED-9533-FD41F1C4C54A}"/>
              </a:ext>
            </a:extLst>
          </p:cNvPr>
          <p:cNvSpPr txBox="1"/>
          <p:nvPr/>
        </p:nvSpPr>
        <p:spPr>
          <a:xfrm>
            <a:off x="712774" y="3248364"/>
            <a:ext cx="2360587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pc="300" dirty="0">
                <a:solidFill>
                  <a:srgbClr val="FF0000"/>
                </a:solidFill>
              </a:rPr>
              <a:t>[1,i-1]</a:t>
            </a:r>
            <a:r>
              <a:rPr lang="zh-CN" altLang="en-US">
                <a:solidFill>
                  <a:schemeClr val="accent1"/>
                </a:solidFill>
              </a:rPr>
              <a:t>为前缀和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5582852-C3EE-45C6-B07F-9295BB963517}"/>
              </a:ext>
            </a:extLst>
          </p:cNvPr>
          <p:cNvSpPr txBox="1"/>
          <p:nvPr/>
        </p:nvSpPr>
        <p:spPr>
          <a:xfrm>
            <a:off x="623392" y="2912608"/>
            <a:ext cx="936104" cy="335756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预计算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45141CF-B7E1-4ECB-A73F-F54FA207B686}"/>
              </a:ext>
            </a:extLst>
          </p:cNvPr>
          <p:cNvSpPr txBox="1"/>
          <p:nvPr/>
        </p:nvSpPr>
        <p:spPr>
          <a:xfrm>
            <a:off x="712774" y="3714004"/>
            <a:ext cx="2360587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pc="300" dirty="0">
                <a:solidFill>
                  <a:srgbClr val="FF0000"/>
                </a:solidFill>
              </a:rPr>
              <a:t>[j+1,n]</a:t>
            </a:r>
            <a:r>
              <a:rPr lang="zh-CN" altLang="en-US">
                <a:solidFill>
                  <a:schemeClr val="accent1"/>
                </a:solidFill>
              </a:rPr>
              <a:t>为后缀和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9736793-7E10-4170-A9AF-5D8CAF25EB6D}"/>
              </a:ext>
            </a:extLst>
          </p:cNvPr>
          <p:cNvSpPr txBox="1"/>
          <p:nvPr/>
        </p:nvSpPr>
        <p:spPr>
          <a:xfrm>
            <a:off x="226364" y="4460618"/>
            <a:ext cx="4069436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3</a:t>
            </a:r>
            <a:r>
              <a:rPr lang="zh-CN" altLang="en-US"/>
              <a:t>、</a:t>
            </a:r>
            <a:r>
              <a:rPr lang="zh-CN" altLang="en-US" b="1">
                <a:solidFill>
                  <a:srgbClr val="FF0000"/>
                </a:solidFill>
              </a:rPr>
              <a:t>第一次</a:t>
            </a:r>
            <a:r>
              <a:rPr lang="zh-CN" altLang="en-US"/>
              <a:t>找到符合条件的子数组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</a:t>
            </a:r>
            <a:r>
              <a:rPr lang="zh-CN" altLang="en-US"/>
              <a:t>即可以结束。，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9DAE5261-BC95-4261-973E-9BDA44AB7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50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 animBg="1"/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5760" y="347282"/>
            <a:ext cx="3686201" cy="754504"/>
          </a:xfrm>
        </p:spPr>
        <p:txBody>
          <a:bodyPr>
            <a:normAutofit/>
          </a:bodyPr>
          <a:lstStyle/>
          <a:p>
            <a:r>
              <a:rPr lang="zh-CN" altLang="en-US" sz="3600"/>
              <a:t>优化思路</a:t>
            </a:r>
            <a:endParaRPr lang="en-US" altLang="zh-CN" sz="3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03DEA76-7D12-47A4-91FC-8BBB0080281A}"/>
              </a:ext>
            </a:extLst>
          </p:cNvPr>
          <p:cNvSpPr txBox="1"/>
          <p:nvPr/>
        </p:nvSpPr>
        <p:spPr>
          <a:xfrm>
            <a:off x="828310" y="1715747"/>
            <a:ext cx="1512168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</a:rPr>
              <a:t>问题描述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76F223-DB11-4357-A593-CAAFFF74040C}"/>
              </a:ext>
            </a:extLst>
          </p:cNvPr>
          <p:cNvSpPr txBox="1"/>
          <p:nvPr/>
        </p:nvSpPr>
        <p:spPr>
          <a:xfrm>
            <a:off x="2470701" y="1628800"/>
            <a:ext cx="6616318" cy="10564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/>
              <a:t>删除一个子数组后剩余元素之和能被 </a:t>
            </a:r>
            <a:r>
              <a:rPr lang="en-US" altLang="zh-CN" sz="2200" dirty="0"/>
              <a:t>x </a:t>
            </a:r>
            <a:r>
              <a:rPr lang="zh-CN" altLang="en-US" sz="2200"/>
              <a:t>整除，</a:t>
            </a:r>
            <a:endParaRPr lang="en-US" altLang="zh-CN" sz="2200" dirty="0"/>
          </a:p>
          <a:p>
            <a:pPr>
              <a:lnSpc>
                <a:spcPct val="150000"/>
              </a:lnSpc>
            </a:pPr>
            <a:r>
              <a:rPr lang="zh-CN" altLang="en-US" sz="2200"/>
              <a:t>等价于</a:t>
            </a:r>
            <a:r>
              <a:rPr lang="zh-CN" altLang="en-US" sz="2200" b="1">
                <a:solidFill>
                  <a:schemeClr val="accent1"/>
                </a:solidFill>
              </a:rPr>
              <a:t>删除的子数组之和模 </a:t>
            </a:r>
            <a:r>
              <a:rPr lang="en-US" altLang="zh-CN" sz="2200" b="1" dirty="0">
                <a:solidFill>
                  <a:schemeClr val="accent1"/>
                </a:solidFill>
              </a:rPr>
              <a:t>x  </a:t>
            </a:r>
            <a:r>
              <a:rPr lang="zh-CN" altLang="en-US" sz="2200" b="1">
                <a:solidFill>
                  <a:srgbClr val="FF0000"/>
                </a:solidFill>
              </a:rPr>
              <a:t>等于 </a:t>
            </a:r>
            <a:r>
              <a:rPr lang="zh-CN" altLang="en-US" sz="2200" b="1">
                <a:solidFill>
                  <a:srgbClr val="0070C0"/>
                </a:solidFill>
              </a:rPr>
              <a:t>整个数组和模 </a:t>
            </a:r>
            <a:r>
              <a:rPr lang="en-US" altLang="zh-CN" sz="2200" b="1" dirty="0">
                <a:solidFill>
                  <a:srgbClr val="0070C0"/>
                </a:solidFill>
              </a:rPr>
              <a:t>x</a:t>
            </a:r>
            <a:r>
              <a:rPr lang="zh-CN" altLang="en-US" sz="2200"/>
              <a:t>。</a:t>
            </a:r>
            <a:endParaRPr lang="zh-CN" altLang="en-US" sz="2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401BE5C-76FD-4B08-AC69-5F950486803D}"/>
              </a:ext>
            </a:extLst>
          </p:cNvPr>
          <p:cNvSpPr txBox="1"/>
          <p:nvPr/>
        </p:nvSpPr>
        <p:spPr>
          <a:xfrm>
            <a:off x="824366" y="4185562"/>
            <a:ext cx="1512168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</a:rPr>
              <a:t>目标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BC2700-442B-4B34-BC45-F28368F42D40}"/>
              </a:ext>
            </a:extLst>
          </p:cNvPr>
          <p:cNvSpPr txBox="1"/>
          <p:nvPr/>
        </p:nvSpPr>
        <p:spPr>
          <a:xfrm>
            <a:off x="2470701" y="3017382"/>
            <a:ext cx="2844314" cy="7694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200"/>
              <a:t>设整个数组和模 </a:t>
            </a:r>
            <a:r>
              <a:rPr lang="en-US" altLang="zh-CN" sz="2200" dirty="0"/>
              <a:t>x</a:t>
            </a:r>
            <a:r>
              <a:rPr lang="zh-CN" altLang="en-US" sz="2200"/>
              <a:t>为</a:t>
            </a:r>
            <a:endParaRPr lang="en-US" altLang="zh-CN" sz="2200" dirty="0"/>
          </a:p>
          <a:p>
            <a:r>
              <a:rPr lang="en-US" altLang="zh-CN" sz="2200" b="1" dirty="0" err="1">
                <a:solidFill>
                  <a:schemeClr val="accent2"/>
                </a:solidFill>
              </a:rPr>
              <a:t>total_mod</a:t>
            </a:r>
            <a:endParaRPr lang="zh-CN" altLang="en-US" sz="2200" b="1" dirty="0">
              <a:solidFill>
                <a:schemeClr val="accent2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8A02F7F-102E-457D-9A99-D669692310EE}"/>
              </a:ext>
            </a:extLst>
          </p:cNvPr>
          <p:cNvSpPr txBox="1"/>
          <p:nvPr/>
        </p:nvSpPr>
        <p:spPr>
          <a:xfrm>
            <a:off x="6215777" y="3017381"/>
            <a:ext cx="2844314" cy="7694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200" dirty="0"/>
              <a:t>total_mod=0 </a:t>
            </a:r>
          </a:p>
          <a:p>
            <a:r>
              <a:rPr lang="zh-CN" altLang="en-US" sz="2200"/>
              <a:t>不需要删除任何元素</a:t>
            </a:r>
            <a:endParaRPr lang="zh-CN" altLang="en-US" sz="22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95B892B-0FAC-409A-B3F7-7A36BCEC951C}"/>
              </a:ext>
            </a:extLst>
          </p:cNvPr>
          <p:cNvSpPr txBox="1"/>
          <p:nvPr/>
        </p:nvSpPr>
        <p:spPr>
          <a:xfrm>
            <a:off x="2470701" y="4008351"/>
            <a:ext cx="7272808" cy="10564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zh-CN" altLang="en-US"/>
              <a:t>找到一个连续子数组，其元素之和模 x等于 </a:t>
            </a:r>
            <a:r>
              <a:rPr lang="zh-CN" altLang="en-US" b="1">
                <a:solidFill>
                  <a:schemeClr val="accent2"/>
                </a:solidFill>
              </a:rPr>
              <a:t>total_mod </a:t>
            </a:r>
            <a:r>
              <a:rPr lang="zh-CN" altLang="en-US"/>
              <a:t>，且该子数组不能是整个数组。 目标是使该</a:t>
            </a:r>
            <a:r>
              <a:rPr lang="zh-CN" altLang="en-US" b="1">
                <a:solidFill>
                  <a:schemeClr val="accent1"/>
                </a:solidFill>
              </a:rPr>
              <a:t>子数组长度最短</a:t>
            </a:r>
            <a:r>
              <a:rPr lang="zh-CN" altLang="en-US"/>
              <a:t>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9839479-1DCE-4533-ABF1-4068DFCD6821}"/>
              </a:ext>
            </a:extLst>
          </p:cNvPr>
          <p:cNvSpPr txBox="1"/>
          <p:nvPr/>
        </p:nvSpPr>
        <p:spPr>
          <a:xfrm>
            <a:off x="2336534" y="5616528"/>
            <a:ext cx="42484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>
                <a:solidFill>
                  <a:srgbClr val="FF0000"/>
                </a:solidFill>
              </a:rPr>
              <a:t>思考如何找到符合要求的子区间？</a:t>
            </a:r>
            <a:endParaRPr lang="zh-CN" altLang="en-US" sz="22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05B2E61-6DC4-41B8-901D-A70FDE7ED118}"/>
              </a:ext>
            </a:extLst>
          </p:cNvPr>
          <p:cNvSpPr txBox="1"/>
          <p:nvPr/>
        </p:nvSpPr>
        <p:spPr>
          <a:xfrm>
            <a:off x="6585006" y="5616528"/>
            <a:ext cx="33412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>
                <a:solidFill>
                  <a:srgbClr val="FF0000"/>
                </a:solidFill>
              </a:rPr>
              <a:t>如何确定最小长度？</a:t>
            </a:r>
            <a:endParaRPr lang="zh-CN" altLang="en-US" sz="2200"/>
          </a:p>
        </p:txBody>
      </p:sp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C972851E-19E7-4ADB-AF69-16B78980E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8">
            <a:extLst>
              <a:ext uri="{FF2B5EF4-FFF2-40B4-BE49-F238E27FC236}">
                <a16:creationId xmlns:a16="http://schemas.microsoft.com/office/drawing/2014/main" id="{7B9F3EC5-F0DD-4A12-BD1C-959039791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850781"/>
              </p:ext>
            </p:extLst>
          </p:nvPr>
        </p:nvGraphicFramePr>
        <p:xfrm>
          <a:off x="84489" y="559813"/>
          <a:ext cx="9707708" cy="448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932">
                  <a:extLst>
                    <a:ext uri="{9D8B030D-6E8A-4147-A177-3AD203B41FA5}">
                      <a16:colId xmlns:a16="http://schemas.microsoft.com/office/drawing/2014/main" val="623114292"/>
                    </a:ext>
                  </a:extLst>
                </a:gridCol>
                <a:gridCol w="510932">
                  <a:extLst>
                    <a:ext uri="{9D8B030D-6E8A-4147-A177-3AD203B41FA5}">
                      <a16:colId xmlns:a16="http://schemas.microsoft.com/office/drawing/2014/main" val="1484045100"/>
                    </a:ext>
                  </a:extLst>
                </a:gridCol>
                <a:gridCol w="510932">
                  <a:extLst>
                    <a:ext uri="{9D8B030D-6E8A-4147-A177-3AD203B41FA5}">
                      <a16:colId xmlns:a16="http://schemas.microsoft.com/office/drawing/2014/main" val="4040662515"/>
                    </a:ext>
                  </a:extLst>
                </a:gridCol>
                <a:gridCol w="510932">
                  <a:extLst>
                    <a:ext uri="{9D8B030D-6E8A-4147-A177-3AD203B41FA5}">
                      <a16:colId xmlns:a16="http://schemas.microsoft.com/office/drawing/2014/main" val="2776151981"/>
                    </a:ext>
                  </a:extLst>
                </a:gridCol>
                <a:gridCol w="510932">
                  <a:extLst>
                    <a:ext uri="{9D8B030D-6E8A-4147-A177-3AD203B41FA5}">
                      <a16:colId xmlns:a16="http://schemas.microsoft.com/office/drawing/2014/main" val="1004746735"/>
                    </a:ext>
                  </a:extLst>
                </a:gridCol>
                <a:gridCol w="510932">
                  <a:extLst>
                    <a:ext uri="{9D8B030D-6E8A-4147-A177-3AD203B41FA5}">
                      <a16:colId xmlns:a16="http://schemas.microsoft.com/office/drawing/2014/main" val="2964682269"/>
                    </a:ext>
                  </a:extLst>
                </a:gridCol>
                <a:gridCol w="510932">
                  <a:extLst>
                    <a:ext uri="{9D8B030D-6E8A-4147-A177-3AD203B41FA5}">
                      <a16:colId xmlns:a16="http://schemas.microsoft.com/office/drawing/2014/main" val="2944210313"/>
                    </a:ext>
                  </a:extLst>
                </a:gridCol>
                <a:gridCol w="510932">
                  <a:extLst>
                    <a:ext uri="{9D8B030D-6E8A-4147-A177-3AD203B41FA5}">
                      <a16:colId xmlns:a16="http://schemas.microsoft.com/office/drawing/2014/main" val="2493876797"/>
                    </a:ext>
                  </a:extLst>
                </a:gridCol>
                <a:gridCol w="510932">
                  <a:extLst>
                    <a:ext uri="{9D8B030D-6E8A-4147-A177-3AD203B41FA5}">
                      <a16:colId xmlns:a16="http://schemas.microsoft.com/office/drawing/2014/main" val="62649098"/>
                    </a:ext>
                  </a:extLst>
                </a:gridCol>
                <a:gridCol w="510932">
                  <a:extLst>
                    <a:ext uri="{9D8B030D-6E8A-4147-A177-3AD203B41FA5}">
                      <a16:colId xmlns:a16="http://schemas.microsoft.com/office/drawing/2014/main" val="2185558106"/>
                    </a:ext>
                  </a:extLst>
                </a:gridCol>
                <a:gridCol w="510932">
                  <a:extLst>
                    <a:ext uri="{9D8B030D-6E8A-4147-A177-3AD203B41FA5}">
                      <a16:colId xmlns:a16="http://schemas.microsoft.com/office/drawing/2014/main" val="1206394222"/>
                    </a:ext>
                  </a:extLst>
                </a:gridCol>
                <a:gridCol w="510932">
                  <a:extLst>
                    <a:ext uri="{9D8B030D-6E8A-4147-A177-3AD203B41FA5}">
                      <a16:colId xmlns:a16="http://schemas.microsoft.com/office/drawing/2014/main" val="2754127857"/>
                    </a:ext>
                  </a:extLst>
                </a:gridCol>
                <a:gridCol w="510932">
                  <a:extLst>
                    <a:ext uri="{9D8B030D-6E8A-4147-A177-3AD203B41FA5}">
                      <a16:colId xmlns:a16="http://schemas.microsoft.com/office/drawing/2014/main" val="815880774"/>
                    </a:ext>
                  </a:extLst>
                </a:gridCol>
                <a:gridCol w="510932">
                  <a:extLst>
                    <a:ext uri="{9D8B030D-6E8A-4147-A177-3AD203B41FA5}">
                      <a16:colId xmlns:a16="http://schemas.microsoft.com/office/drawing/2014/main" val="1109251549"/>
                    </a:ext>
                  </a:extLst>
                </a:gridCol>
                <a:gridCol w="510932">
                  <a:extLst>
                    <a:ext uri="{9D8B030D-6E8A-4147-A177-3AD203B41FA5}">
                      <a16:colId xmlns:a16="http://schemas.microsoft.com/office/drawing/2014/main" val="1868848903"/>
                    </a:ext>
                  </a:extLst>
                </a:gridCol>
                <a:gridCol w="510932">
                  <a:extLst>
                    <a:ext uri="{9D8B030D-6E8A-4147-A177-3AD203B41FA5}">
                      <a16:colId xmlns:a16="http://schemas.microsoft.com/office/drawing/2014/main" val="2391021194"/>
                    </a:ext>
                  </a:extLst>
                </a:gridCol>
                <a:gridCol w="510932">
                  <a:extLst>
                    <a:ext uri="{9D8B030D-6E8A-4147-A177-3AD203B41FA5}">
                      <a16:colId xmlns:a16="http://schemas.microsoft.com/office/drawing/2014/main" val="3206520486"/>
                    </a:ext>
                  </a:extLst>
                </a:gridCol>
                <a:gridCol w="510932">
                  <a:extLst>
                    <a:ext uri="{9D8B030D-6E8A-4147-A177-3AD203B41FA5}">
                      <a16:colId xmlns:a16="http://schemas.microsoft.com/office/drawing/2014/main" val="1091705240"/>
                    </a:ext>
                  </a:extLst>
                </a:gridCol>
                <a:gridCol w="510932">
                  <a:extLst>
                    <a:ext uri="{9D8B030D-6E8A-4147-A177-3AD203B41FA5}">
                      <a16:colId xmlns:a16="http://schemas.microsoft.com/office/drawing/2014/main" val="4042481584"/>
                    </a:ext>
                  </a:extLst>
                </a:gridCol>
              </a:tblGrid>
              <a:tr h="448716">
                <a:tc>
                  <a:txBody>
                    <a:bodyPr/>
                    <a:lstStyle/>
                    <a:p>
                      <a:pPr algn="ctr"/>
                      <a:endParaRPr lang="zh-CN" altLang="en-US" sz="2200" dirty="0"/>
                    </a:p>
                  </a:txBody>
                  <a:tcPr marL="147265" marR="147265" marT="55321" marB="5532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/>
                    </a:p>
                  </a:txBody>
                  <a:tcPr marL="147265" marR="147265" marT="55321" marB="5532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/>
                    </a:p>
                  </a:txBody>
                  <a:tcPr marL="147265" marR="147265" marT="55321" marB="5532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/>
                    </a:p>
                  </a:txBody>
                  <a:tcPr marL="147265" marR="147265" marT="55321" marB="5532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/>
                    </a:p>
                  </a:txBody>
                  <a:tcPr marL="147265" marR="147265" marT="55321" marB="5532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/>
                    </a:p>
                  </a:txBody>
                  <a:tcPr marL="147265" marR="147265" marT="55321" marB="5532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/>
                    </a:p>
                  </a:txBody>
                  <a:tcPr marL="147265" marR="147265" marT="55321" marB="5532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/>
                    </a:p>
                  </a:txBody>
                  <a:tcPr marL="147265" marR="147265" marT="55321" marB="5532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/>
                    </a:p>
                  </a:txBody>
                  <a:tcPr marL="147265" marR="147265" marT="55321" marB="5532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/>
                    </a:p>
                  </a:txBody>
                  <a:tcPr marL="147265" marR="147265" marT="55321" marB="5532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/>
                    </a:p>
                  </a:txBody>
                  <a:tcPr marL="147265" marR="147265" marT="55321" marB="5532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/>
                    </a:p>
                  </a:txBody>
                  <a:tcPr marL="147265" marR="147265" marT="55321" marB="5532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/>
                    </a:p>
                  </a:txBody>
                  <a:tcPr marL="147265" marR="147265" marT="55321" marB="5532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/>
                    </a:p>
                  </a:txBody>
                  <a:tcPr marL="147265" marR="147265" marT="55321" marB="5532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/>
                    </a:p>
                  </a:txBody>
                  <a:tcPr marL="147265" marR="147265" marT="55321" marB="5532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/>
                    </a:p>
                  </a:txBody>
                  <a:tcPr marL="147265" marR="147265" marT="55321" marB="5532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/>
                    </a:p>
                  </a:txBody>
                  <a:tcPr marL="147265" marR="147265" marT="55321" marB="5532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/>
                    </a:p>
                  </a:txBody>
                  <a:tcPr marL="147265" marR="147265" marT="55321" marB="5532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dirty="0"/>
                    </a:p>
                  </a:txBody>
                  <a:tcPr marL="147265" marR="147265" marT="55321" marB="5532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458570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64B6ED81-A9A2-4CE8-BC34-F56CFC1DDDB0}"/>
              </a:ext>
            </a:extLst>
          </p:cNvPr>
          <p:cNvSpPr/>
          <p:nvPr/>
        </p:nvSpPr>
        <p:spPr>
          <a:xfrm>
            <a:off x="1914823" y="539453"/>
            <a:ext cx="2448272" cy="425501"/>
          </a:xfrm>
          <a:prstGeom prst="rect">
            <a:avLst/>
          </a:prstGeom>
          <a:solidFill>
            <a:schemeClr val="accent2">
              <a:alpha val="46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B0199C9D-7557-40C8-BA75-E49AA482B215}"/>
              </a:ext>
            </a:extLst>
          </p:cNvPr>
          <p:cNvSpPr txBox="1">
            <a:spLocks/>
          </p:cNvSpPr>
          <p:nvPr/>
        </p:nvSpPr>
        <p:spPr>
          <a:xfrm>
            <a:off x="1371376" y="588763"/>
            <a:ext cx="448938" cy="370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bg1"/>
                </a:solidFill>
              </a:rPr>
              <a:t>j</a:t>
            </a:r>
            <a:endParaRPr lang="zh-CN" altLang="en-US" sz="1800" b="1" dirty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bg1"/>
              </a:solidFill>
            </a:endParaRPr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E1C61ACF-DCD9-46F0-AB96-25A90FB60D73}"/>
              </a:ext>
            </a:extLst>
          </p:cNvPr>
          <p:cNvSpPr txBox="1">
            <a:spLocks/>
          </p:cNvSpPr>
          <p:nvPr/>
        </p:nvSpPr>
        <p:spPr>
          <a:xfrm>
            <a:off x="3728887" y="633149"/>
            <a:ext cx="448938" cy="33712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zh-CN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600">
                <a:solidFill>
                  <a:srgbClr val="FF0000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sz="1800" b="1" dirty="0">
                <a:solidFill>
                  <a:schemeClr val="bg1"/>
                </a:solidFill>
              </a:rPr>
              <a:t>i</a:t>
            </a:r>
            <a:endParaRPr lang="zh-CN" altLang="en-US" sz="1800" b="1" dirty="0">
              <a:solidFill>
                <a:schemeClr val="bg1"/>
              </a:solidFill>
            </a:endParaRPr>
          </a:p>
          <a:p>
            <a:endParaRPr lang="zh-CN" altLang="en-US" sz="1800" b="1" dirty="0">
              <a:solidFill>
                <a:schemeClr val="bg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3D209A2-1C21-421D-88DF-A7503D95EDA7}"/>
              </a:ext>
            </a:extLst>
          </p:cNvPr>
          <p:cNvSpPr txBox="1"/>
          <p:nvPr/>
        </p:nvSpPr>
        <p:spPr>
          <a:xfrm>
            <a:off x="1820314" y="98076"/>
            <a:ext cx="22599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/>
              <a:t>若该区间满足要求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6A75F44-A075-4F0B-9F84-8D5FB3F1B79A}"/>
              </a:ext>
            </a:extLst>
          </p:cNvPr>
          <p:cNvSpPr txBox="1"/>
          <p:nvPr/>
        </p:nvSpPr>
        <p:spPr>
          <a:xfrm>
            <a:off x="153939" y="1742166"/>
            <a:ext cx="59011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>
                <a:latin typeface="Consolas" panose="020B0609020204030204" pitchFamily="49" charset="0"/>
              </a:rPr>
              <a:t>则</a:t>
            </a:r>
            <a:r>
              <a:rPr lang="en-US" altLang="zh-CN" sz="2400" dirty="0">
                <a:solidFill>
                  <a:srgbClr val="00B050"/>
                </a:solidFill>
                <a:latin typeface="Consolas" panose="020B0609020204030204" pitchFamily="49" charset="0"/>
              </a:rPr>
              <a:t> (s[i]–s[j]) % X =</a:t>
            </a:r>
            <a:r>
              <a:rPr lang="zh-CN" altLang="en-US" sz="240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zh-CN" altLang="en-US" sz="2400" b="1">
                <a:solidFill>
                  <a:schemeClr val="accent2"/>
                </a:solidFill>
                <a:latin typeface="Consolas" panose="020B0609020204030204" pitchFamily="49" charset="0"/>
              </a:rPr>
              <a:t>total_mod</a:t>
            </a:r>
            <a:r>
              <a:rPr lang="en-US" altLang="zh-CN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endParaRPr lang="zh-CN" altLang="en-US" sz="240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内容占位符 2">
            <a:extLst>
              <a:ext uri="{FF2B5EF4-FFF2-40B4-BE49-F238E27FC236}">
                <a16:creationId xmlns:a16="http://schemas.microsoft.com/office/drawing/2014/main" id="{A07BB092-D5F2-422F-AC97-662506674EAA}"/>
              </a:ext>
            </a:extLst>
          </p:cNvPr>
          <p:cNvSpPr txBox="1">
            <a:spLocks/>
          </p:cNvSpPr>
          <p:nvPr/>
        </p:nvSpPr>
        <p:spPr>
          <a:xfrm>
            <a:off x="153939" y="2357453"/>
            <a:ext cx="5901103" cy="4754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(s[i] % X) - (s[j] % X) = </a:t>
            </a:r>
            <a:r>
              <a:rPr lang="zh-CN" altLang="en-US" sz="2200" b="1">
                <a:solidFill>
                  <a:schemeClr val="accent2"/>
                </a:solidFill>
                <a:latin typeface="Consolas" panose="020B0609020204030204" pitchFamily="49" charset="0"/>
              </a:rPr>
              <a:t>total_mod</a:t>
            </a:r>
            <a:r>
              <a:rPr lang="en-US" altLang="zh-CN" sz="2200" dirty="0">
                <a:latin typeface="Consolas" panose="020B0609020204030204" pitchFamily="49" charset="0"/>
              </a:rPr>
              <a:t> 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EC3427EB-179A-419D-810A-262393251396}"/>
              </a:ext>
            </a:extLst>
          </p:cNvPr>
          <p:cNvSpPr txBox="1">
            <a:spLocks/>
          </p:cNvSpPr>
          <p:nvPr/>
        </p:nvSpPr>
        <p:spPr>
          <a:xfrm>
            <a:off x="153939" y="3031601"/>
            <a:ext cx="5901103" cy="4754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s[j] % X = (s[i] % X) - </a:t>
            </a:r>
            <a:r>
              <a:rPr lang="zh-CN" altLang="en-US" sz="2200" b="1">
                <a:solidFill>
                  <a:schemeClr val="accent2"/>
                </a:solidFill>
                <a:latin typeface="Consolas" panose="020B0609020204030204" pitchFamily="49" charset="0"/>
              </a:rPr>
              <a:t>total_mod</a:t>
            </a:r>
            <a:r>
              <a:rPr lang="en-US" altLang="zh-CN" sz="2200" dirty="0">
                <a:latin typeface="Consolas" panose="020B0609020204030204" pitchFamily="49" charset="0"/>
              </a:rPr>
              <a:t> 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  <p:sp>
        <p:nvSpPr>
          <p:cNvPr id="25" name="内容占位符 2">
            <a:extLst>
              <a:ext uri="{FF2B5EF4-FFF2-40B4-BE49-F238E27FC236}">
                <a16:creationId xmlns:a16="http://schemas.microsoft.com/office/drawing/2014/main" id="{6EF21833-A46F-4B07-91B6-F783C8AA748C}"/>
              </a:ext>
            </a:extLst>
          </p:cNvPr>
          <p:cNvSpPr txBox="1">
            <a:spLocks/>
          </p:cNvSpPr>
          <p:nvPr/>
        </p:nvSpPr>
        <p:spPr>
          <a:xfrm>
            <a:off x="153939" y="3711851"/>
            <a:ext cx="5901103" cy="4754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s[j] % X  =  ( s[i] – </a:t>
            </a:r>
            <a:r>
              <a:rPr lang="zh-CN" altLang="en-US" sz="2200" b="1">
                <a:solidFill>
                  <a:schemeClr val="accent2"/>
                </a:solidFill>
                <a:latin typeface="Consolas" panose="020B0609020204030204" pitchFamily="49" charset="0"/>
              </a:rPr>
              <a:t>total_mod</a:t>
            </a:r>
            <a:r>
              <a:rPr lang="en-US" altLang="zh-CN" sz="2200" dirty="0">
                <a:latin typeface="Consolas" panose="020B0609020204030204" pitchFamily="49" charset="0"/>
              </a:rPr>
              <a:t> ) % X 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  <p:sp>
        <p:nvSpPr>
          <p:cNvPr id="26" name="内容占位符 2">
            <a:extLst>
              <a:ext uri="{FF2B5EF4-FFF2-40B4-BE49-F238E27FC236}">
                <a16:creationId xmlns:a16="http://schemas.microsoft.com/office/drawing/2014/main" id="{3F193671-FC22-4387-813B-F205626D61A0}"/>
              </a:ext>
            </a:extLst>
          </p:cNvPr>
          <p:cNvSpPr txBox="1">
            <a:spLocks/>
          </p:cNvSpPr>
          <p:nvPr/>
        </p:nvSpPr>
        <p:spPr>
          <a:xfrm>
            <a:off x="2005584" y="616292"/>
            <a:ext cx="720080" cy="370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bg1"/>
                </a:solidFill>
              </a:rPr>
              <a:t>j+1</a:t>
            </a:r>
            <a:endParaRPr lang="zh-CN" altLang="en-US" sz="1800" b="1" dirty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bg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4BC5F87-C4E8-4A57-B6BC-79F966274550}"/>
              </a:ext>
            </a:extLst>
          </p:cNvPr>
          <p:cNvSpPr txBox="1"/>
          <p:nvPr/>
        </p:nvSpPr>
        <p:spPr>
          <a:xfrm>
            <a:off x="1528767" y="1000870"/>
            <a:ext cx="33843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tx2"/>
                </a:solidFill>
              </a:rPr>
              <a:t>i-j </a:t>
            </a:r>
            <a:r>
              <a:rPr lang="zh-CN" altLang="en-US" sz="2000">
                <a:solidFill>
                  <a:schemeClr val="tx2"/>
                </a:solidFill>
              </a:rPr>
              <a:t>为符合要求的子数组长度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ABB29C0-07FA-4C81-A51D-5F6F42E3E0ED}"/>
              </a:ext>
            </a:extLst>
          </p:cNvPr>
          <p:cNvSpPr txBox="1"/>
          <p:nvPr/>
        </p:nvSpPr>
        <p:spPr>
          <a:xfrm>
            <a:off x="225960" y="4316761"/>
            <a:ext cx="5760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rgbClr val="0070C0"/>
                </a:solidFill>
              </a:rPr>
              <a:t>可以检查每一个前缀和减去</a:t>
            </a:r>
            <a:r>
              <a:rPr lang="zh-CN" altLang="en-US" sz="2000" b="1">
                <a:solidFill>
                  <a:schemeClr val="accent2"/>
                </a:solidFill>
                <a:latin typeface="Consolas" panose="020B0609020204030204" pitchFamily="49" charset="0"/>
              </a:rPr>
              <a:t>total_mod</a:t>
            </a:r>
            <a:r>
              <a:rPr lang="zh-CN" altLang="en-US" sz="2000">
                <a:solidFill>
                  <a:srgbClr val="0070C0"/>
                </a:solidFill>
                <a:latin typeface="Consolas" panose="020B0609020204030204" pitchFamily="49" charset="0"/>
              </a:rPr>
              <a:t>对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X</a:t>
            </a:r>
            <a:r>
              <a:rPr lang="zh-CN" altLang="en-US" sz="2000">
                <a:solidFill>
                  <a:srgbClr val="0070C0"/>
                </a:solidFill>
                <a:latin typeface="Consolas" panose="020B0609020204030204" pitchFamily="49" charset="0"/>
              </a:rPr>
              <a:t>取模的结果 在</a:t>
            </a:r>
            <a:r>
              <a:rPr lang="zh-CN" altLang="en-US" sz="2000" b="1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之前</a:t>
            </a:r>
            <a:r>
              <a:rPr lang="zh-CN" altLang="en-US" sz="2000">
                <a:solidFill>
                  <a:srgbClr val="0070C0"/>
                </a:solidFill>
                <a:latin typeface="Consolas" panose="020B0609020204030204" pitchFamily="49" charset="0"/>
              </a:rPr>
              <a:t>有没有出现过？</a:t>
            </a:r>
            <a:endParaRPr lang="zh-CN" altLang="en-US" sz="2000">
              <a:solidFill>
                <a:srgbClr val="0070C0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EFB7EBA-22A6-4F84-AB70-41EF196ABDD7}"/>
              </a:ext>
            </a:extLst>
          </p:cNvPr>
          <p:cNvSpPr txBox="1"/>
          <p:nvPr/>
        </p:nvSpPr>
        <p:spPr>
          <a:xfrm>
            <a:off x="8023000" y="1322857"/>
            <a:ext cx="14548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b="1">
                <a:solidFill>
                  <a:schemeClr val="accent2"/>
                </a:solidFill>
              </a:rPr>
              <a:t>计算过程</a:t>
            </a:r>
            <a:endParaRPr lang="zh-CN" altLang="en-US" sz="2200">
              <a:solidFill>
                <a:schemeClr val="accent2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7AF3735-FE14-4EC9-A74E-DFE5EFFB47F9}"/>
              </a:ext>
            </a:extLst>
          </p:cNvPr>
          <p:cNvSpPr txBox="1"/>
          <p:nvPr/>
        </p:nvSpPr>
        <p:spPr>
          <a:xfrm>
            <a:off x="225960" y="5252746"/>
            <a:ext cx="57232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rgbClr val="00B050"/>
                </a:solidFill>
              </a:rPr>
              <a:t>如果出现过，则该区间为满足要求的区间。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89A2592-E6BE-49EC-98C9-245C98F9DB4C}"/>
              </a:ext>
            </a:extLst>
          </p:cNvPr>
          <p:cNvSpPr txBox="1"/>
          <p:nvPr/>
        </p:nvSpPr>
        <p:spPr>
          <a:xfrm>
            <a:off x="6266137" y="1899601"/>
            <a:ext cx="49685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2"/>
                </a:solidFill>
              </a:rPr>
              <a:t>1</a:t>
            </a:r>
            <a:r>
              <a:rPr lang="zh-CN" altLang="en-US" sz="2000">
                <a:solidFill>
                  <a:schemeClr val="tx2"/>
                </a:solidFill>
              </a:rPr>
              <a:t>、依次计算前缀和 </a:t>
            </a:r>
            <a:r>
              <a:rPr lang="en-US" altLang="zh-CN" sz="2000" dirty="0">
                <a:solidFill>
                  <a:schemeClr val="tx2"/>
                </a:solidFill>
              </a:rPr>
              <a:t>s[i]</a:t>
            </a:r>
            <a:endParaRPr lang="zh-CN" altLang="en-US" sz="2000">
              <a:solidFill>
                <a:schemeClr val="tx2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F72281C-68C5-4AA1-BB3C-986F5FA77BCC}"/>
              </a:ext>
            </a:extLst>
          </p:cNvPr>
          <p:cNvSpPr txBox="1"/>
          <p:nvPr/>
        </p:nvSpPr>
        <p:spPr>
          <a:xfrm>
            <a:off x="6266137" y="2390148"/>
            <a:ext cx="49685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2"/>
                </a:solidFill>
              </a:rPr>
              <a:t>2</a:t>
            </a:r>
            <a:r>
              <a:rPr lang="zh-CN" altLang="en-US" sz="2000">
                <a:solidFill>
                  <a:schemeClr val="tx2"/>
                </a:solidFill>
              </a:rPr>
              <a:t>、计算 </a:t>
            </a:r>
            <a:r>
              <a:rPr lang="en-US" altLang="zh-CN" sz="2000" dirty="0">
                <a:solidFill>
                  <a:schemeClr val="tx2"/>
                </a:solidFill>
              </a:rPr>
              <a:t>(s[i] – total_mod) % X  =  </a:t>
            </a:r>
            <a:r>
              <a:rPr lang="en-US" altLang="zh-CN" sz="2000" b="1" dirty="0">
                <a:solidFill>
                  <a:srgbClr val="FF0000"/>
                </a:solidFill>
              </a:rPr>
              <a:t>cur_mod </a:t>
            </a:r>
            <a:r>
              <a:rPr lang="zh-CN" altLang="en-US" sz="2000" b="1">
                <a:solidFill>
                  <a:srgbClr val="FF0000"/>
                </a:solidFill>
              </a:rPr>
              <a:t> </a:t>
            </a:r>
            <a:r>
              <a:rPr lang="zh-CN" altLang="en-US" sz="200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1D1BB36-CF84-44E2-AA13-25E3CF673A58}"/>
              </a:ext>
            </a:extLst>
          </p:cNvPr>
          <p:cNvSpPr txBox="1"/>
          <p:nvPr/>
        </p:nvSpPr>
        <p:spPr>
          <a:xfrm>
            <a:off x="6266137" y="2880695"/>
            <a:ext cx="53002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2"/>
                </a:solidFill>
              </a:rPr>
              <a:t>3</a:t>
            </a:r>
            <a:r>
              <a:rPr lang="zh-CN" altLang="en-US" sz="2000">
                <a:solidFill>
                  <a:schemeClr val="tx2"/>
                </a:solidFill>
              </a:rPr>
              <a:t>、检查之前有没有出现过和</a:t>
            </a:r>
            <a:r>
              <a:rPr lang="en-US" altLang="zh-CN" sz="2000" b="1" dirty="0">
                <a:solidFill>
                  <a:srgbClr val="FF0000"/>
                </a:solidFill>
              </a:rPr>
              <a:t>cur_mod</a:t>
            </a:r>
            <a:r>
              <a:rPr lang="zh-CN" altLang="en-US" sz="2000">
                <a:solidFill>
                  <a:schemeClr val="tx2"/>
                </a:solidFill>
              </a:rPr>
              <a:t>的结果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zh-CN" altLang="en-US" sz="2000" b="1">
                <a:solidFill>
                  <a:srgbClr val="FF0000"/>
                </a:solidFill>
              </a:rPr>
              <a:t> </a:t>
            </a:r>
            <a:r>
              <a:rPr lang="zh-CN" altLang="en-US" sz="200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44F6A53-04BB-48E8-9894-4EA9F9567E7D}"/>
              </a:ext>
            </a:extLst>
          </p:cNvPr>
          <p:cNvSpPr txBox="1"/>
          <p:nvPr/>
        </p:nvSpPr>
        <p:spPr>
          <a:xfrm>
            <a:off x="6266137" y="3371242"/>
            <a:ext cx="5901103" cy="9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2"/>
                </a:solidFill>
              </a:rPr>
              <a:t>4</a:t>
            </a:r>
            <a:r>
              <a:rPr lang="zh-CN" altLang="en-US" sz="2000">
                <a:solidFill>
                  <a:schemeClr val="tx2"/>
                </a:solidFill>
              </a:rPr>
              <a:t>、记录当前</a:t>
            </a:r>
            <a:r>
              <a:rPr lang="en-US" altLang="zh-CN" sz="2000" b="1" dirty="0">
                <a:solidFill>
                  <a:srgbClr val="FF0000"/>
                </a:solidFill>
              </a:rPr>
              <a:t>cur_mod</a:t>
            </a:r>
            <a:r>
              <a:rPr lang="zh-CN" altLang="en-US" sz="2000">
                <a:solidFill>
                  <a:schemeClr val="tx2"/>
                </a:solidFill>
              </a:rPr>
              <a:t>的结果和出现位置</a:t>
            </a:r>
            <a:r>
              <a:rPr lang="en-US" altLang="zh-CN" sz="2000" b="1" dirty="0">
                <a:solidFill>
                  <a:srgbClr val="FF0000"/>
                </a:solidFill>
              </a:rPr>
              <a:t>i 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</a:rPr>
              <a:t>      </a:t>
            </a:r>
            <a:r>
              <a:rPr lang="zh-CN" altLang="en-US" sz="2000" b="1">
                <a:solidFill>
                  <a:srgbClr val="FF0000"/>
                </a:solidFill>
              </a:rPr>
              <a:t>供后面的</a:t>
            </a:r>
            <a:r>
              <a:rPr lang="en-US" altLang="zh-CN" sz="2000" dirty="0">
                <a:solidFill>
                  <a:srgbClr val="00B050"/>
                </a:solidFill>
                <a:latin typeface="Consolas" panose="020B0609020204030204" pitchFamily="49" charset="0"/>
              </a:rPr>
              <a:t>(s[i] – total_mod) % X </a:t>
            </a:r>
            <a:r>
              <a:rPr lang="zh-CN" altLang="en-US" sz="2000">
                <a:solidFill>
                  <a:schemeClr val="tx2"/>
                </a:solidFill>
              </a:rPr>
              <a:t>配对使用。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CD968D4-645C-4B6A-94E5-59C9D87DEE78}"/>
              </a:ext>
            </a:extLst>
          </p:cNvPr>
          <p:cNvSpPr txBox="1"/>
          <p:nvPr/>
        </p:nvSpPr>
        <p:spPr>
          <a:xfrm>
            <a:off x="6837288" y="4573693"/>
            <a:ext cx="49685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</a:rPr>
              <a:t>思考：如何记录已有的 </a:t>
            </a:r>
            <a:r>
              <a:rPr lang="en-US" altLang="zh-CN" sz="2000" b="1" dirty="0">
                <a:solidFill>
                  <a:schemeClr val="accent2"/>
                </a:solidFill>
              </a:rPr>
              <a:t>cur_mod </a:t>
            </a:r>
            <a:r>
              <a:rPr lang="zh-CN" altLang="en-US" sz="2000" b="1">
                <a:solidFill>
                  <a:srgbClr val="FF0000"/>
                </a:solidFill>
              </a:rPr>
              <a:t>和 </a:t>
            </a:r>
            <a:r>
              <a:rPr lang="zh-CN" altLang="en-US" sz="2000" b="1">
                <a:solidFill>
                  <a:schemeClr val="accent2"/>
                </a:solidFill>
              </a:rPr>
              <a:t>位置 </a:t>
            </a:r>
            <a:r>
              <a:rPr lang="zh-CN" altLang="en-US" sz="2000" b="1">
                <a:solidFill>
                  <a:srgbClr val="FF0000"/>
                </a:solidFill>
              </a:rPr>
              <a:t>？ </a:t>
            </a:r>
            <a:endParaRPr lang="zh-CN" altLang="en-US" sz="200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A8376B0-4045-4EEC-B7D6-0AA8E83259CE}"/>
              </a:ext>
            </a:extLst>
          </p:cNvPr>
          <p:cNvSpPr txBox="1"/>
          <p:nvPr/>
        </p:nvSpPr>
        <p:spPr>
          <a:xfrm>
            <a:off x="6981305" y="5148571"/>
            <a:ext cx="48729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rgbClr val="00B050"/>
                </a:solidFill>
              </a:rPr>
              <a:t>使用</a:t>
            </a:r>
            <a:r>
              <a:rPr lang="en-US" altLang="zh-CN" sz="2000" b="1" dirty="0">
                <a:solidFill>
                  <a:schemeClr val="accent2"/>
                </a:solidFill>
                <a:latin typeface="Consolas" panose="020B0609020204030204" pitchFamily="49" charset="0"/>
              </a:rPr>
              <a:t>map&lt;int,int&gt; m </a:t>
            </a:r>
            <a:r>
              <a:rPr lang="zh-CN" altLang="en-US" sz="2000">
                <a:solidFill>
                  <a:srgbClr val="00B050"/>
                </a:solidFill>
              </a:rPr>
              <a:t>存储 </a:t>
            </a:r>
            <a:r>
              <a:rPr lang="en-US" altLang="zh-CN" sz="2000" dirty="0">
                <a:solidFill>
                  <a:srgbClr val="00B050"/>
                </a:solidFill>
              </a:rPr>
              <a:t>(hash</a:t>
            </a:r>
            <a:r>
              <a:rPr lang="zh-CN" altLang="en-US" sz="2000">
                <a:solidFill>
                  <a:srgbClr val="00B050"/>
                </a:solidFill>
              </a:rPr>
              <a:t>表</a:t>
            </a:r>
            <a:r>
              <a:rPr lang="en-US" altLang="zh-CN" sz="2000" dirty="0">
                <a:solidFill>
                  <a:srgbClr val="00B050"/>
                </a:solidFill>
              </a:rPr>
              <a:t>)</a:t>
            </a:r>
            <a:endParaRPr lang="zh-CN" altLang="en-US" sz="2000">
              <a:solidFill>
                <a:srgbClr val="00B050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F6EEDC3-134D-469A-AC25-3C13BF9EDE68}"/>
              </a:ext>
            </a:extLst>
          </p:cNvPr>
          <p:cNvSpPr/>
          <p:nvPr/>
        </p:nvSpPr>
        <p:spPr>
          <a:xfrm>
            <a:off x="6282432" y="1268760"/>
            <a:ext cx="5858768" cy="547260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48D6866-AF9E-46D6-B028-5A20315B4D97}"/>
              </a:ext>
            </a:extLst>
          </p:cNvPr>
          <p:cNvSpPr txBox="1"/>
          <p:nvPr/>
        </p:nvSpPr>
        <p:spPr>
          <a:xfrm>
            <a:off x="6314662" y="5782918"/>
            <a:ext cx="4200515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</a:rPr>
              <a:t>注意：减法取模，可能会出现负数</a:t>
            </a:r>
            <a:endParaRPr lang="zh-CN" altLang="en-US" sz="200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EA0E6D6-BCFB-4251-B3C5-C7EFF79052F0}"/>
              </a:ext>
            </a:extLst>
          </p:cNvPr>
          <p:cNvSpPr txBox="1"/>
          <p:nvPr/>
        </p:nvSpPr>
        <p:spPr>
          <a:xfrm>
            <a:off x="6314662" y="6223668"/>
            <a:ext cx="4200515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B050"/>
                </a:solidFill>
                <a:latin typeface="Consolas" panose="020B0609020204030204" pitchFamily="49" charset="0"/>
              </a:rPr>
              <a:t>(s[i] – total_mod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+ X</a:t>
            </a:r>
            <a:r>
              <a:rPr lang="en-US" altLang="zh-CN" sz="2000" dirty="0">
                <a:solidFill>
                  <a:srgbClr val="00B050"/>
                </a:solidFill>
                <a:latin typeface="Consolas" panose="020B0609020204030204" pitchFamily="49" charset="0"/>
              </a:rPr>
              <a:t>) % X</a:t>
            </a:r>
            <a:endParaRPr lang="zh-CN" altLang="en-US" sz="2000"/>
          </a:p>
        </p:txBody>
      </p:sp>
      <p:sp>
        <p:nvSpPr>
          <p:cNvPr id="40" name="标题 1">
            <a:extLst>
              <a:ext uri="{FF2B5EF4-FFF2-40B4-BE49-F238E27FC236}">
                <a16:creationId xmlns:a16="http://schemas.microsoft.com/office/drawing/2014/main" id="{8B5FC1A9-925A-46C4-9261-9E67C96FF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96" y="6223668"/>
            <a:ext cx="4235238" cy="645195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优化解法：前缀和</a:t>
            </a:r>
            <a:r>
              <a:rPr lang="en-US" altLang="zh-CN" sz="2800" b="1" dirty="0">
                <a:solidFill>
                  <a:schemeClr val="bg1"/>
                </a:solidFill>
              </a:rPr>
              <a:t>+Hash</a:t>
            </a:r>
          </a:p>
        </p:txBody>
      </p:sp>
      <p:sp>
        <p:nvSpPr>
          <p:cNvPr id="41" name="灯片编号占位符 40">
            <a:extLst>
              <a:ext uri="{FF2B5EF4-FFF2-40B4-BE49-F238E27FC236}">
                <a16:creationId xmlns:a16="http://schemas.microsoft.com/office/drawing/2014/main" id="{37CDCB66-5699-4744-A94D-44DC1E12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96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9" grpId="0"/>
      <p:bldP spid="20" grpId="0"/>
      <p:bldP spid="21" grpId="0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 animBg="1"/>
      <p:bldP spid="38" grpId="0" animBg="1"/>
      <p:bldP spid="39" grpId="0" animBg="1"/>
      <p:bldP spid="4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/>
          <p:nvPr/>
        </p:nvGraphicFramePr>
        <p:xfrm>
          <a:off x="4871720" y="992505"/>
          <a:ext cx="474472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200" dirty="0"/>
                        <a:t>6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200" dirty="0"/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200" dirty="0"/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200" dirty="0"/>
                        <a:t>2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035051" y="815975"/>
            <a:ext cx="41230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>
                <a:latin typeface="+mn-ea"/>
                <a:cs typeface="微软雅黑" panose="020B0503020204020204" charset="-122"/>
              </a:rPr>
              <a:t>当</a:t>
            </a:r>
            <a:r>
              <a:rPr lang="en-US" altLang="zh-CN" sz="3600" dirty="0">
                <a:latin typeface="+mn-ea"/>
                <a:cs typeface="微软雅黑" panose="020B0503020204020204" charset="-122"/>
              </a:rPr>
              <a:t>x=</a:t>
            </a:r>
            <a:r>
              <a:rPr lang="en-US" altLang="zh-CN" sz="3600" dirty="0">
                <a:solidFill>
                  <a:srgbClr val="FF0000"/>
                </a:solidFill>
                <a:latin typeface="+mn-ea"/>
                <a:cs typeface="微软雅黑" panose="020B0503020204020204" charset="-122"/>
              </a:rPr>
              <a:t>9</a:t>
            </a:r>
            <a:r>
              <a:rPr lang="zh-CN" altLang="en-US" sz="3600">
                <a:latin typeface="+mn-ea"/>
                <a:cs typeface="微软雅黑" panose="020B0503020204020204" charset="-122"/>
              </a:rPr>
              <a:t>时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1771965" y="4144630"/>
            <a:ext cx="2170432" cy="152439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</a:rPr>
              <a:t>m[0] = 0</a:t>
            </a:r>
          </a:p>
          <a:p>
            <a:pPr algn="ctr">
              <a:lnSpc>
                <a:spcPct val="150000"/>
              </a:lnSpc>
            </a:pPr>
            <a:endParaRPr lang="en-US" altLang="zh-CN" sz="2400" dirty="0">
              <a:latin typeface="Consolas" panose="020B0609020204030204" pitchFamily="49" charset="0"/>
            </a:endParaRPr>
          </a:p>
        </p:txBody>
      </p:sp>
      <p:sp>
        <p:nvSpPr>
          <p:cNvPr id="10" name="左大括号 9"/>
          <p:cNvSpPr/>
          <p:nvPr/>
        </p:nvSpPr>
        <p:spPr>
          <a:xfrm rot="5400000">
            <a:off x="7087236" y="-1569720"/>
            <a:ext cx="381635" cy="4676140"/>
          </a:xfrm>
          <a:prstGeom prst="leftBrace">
            <a:avLst>
              <a:gd name="adj1" fmla="val 128868"/>
              <a:gd name="adj2" fmla="val 48893"/>
            </a:avLst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940301" y="0"/>
            <a:ext cx="41230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+mn-ea"/>
                <a:cs typeface="微软雅黑" panose="020B0503020204020204" charset="-122"/>
              </a:rPr>
              <a:t>total_mod=</a:t>
            </a:r>
            <a:r>
              <a:rPr lang="en-US" altLang="zh-CN" sz="3600" dirty="0">
                <a:solidFill>
                  <a:srgbClr val="FF0000"/>
                </a:solidFill>
                <a:latin typeface="+mn-ea"/>
                <a:cs typeface="微软雅黑" panose="020B0503020204020204" charset="-122"/>
              </a:rPr>
              <a:t>7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364606" y="2250510"/>
            <a:ext cx="2667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+mn-ea"/>
                <a:cs typeface="微软雅黑" panose="020B0503020204020204" charset="-122"/>
              </a:rPr>
              <a:t>cur_mod </a:t>
            </a:r>
            <a:r>
              <a:rPr lang="en-US" altLang="zh-CN" sz="2800" dirty="0">
                <a:latin typeface="+mn-ea"/>
                <a:cs typeface="微软雅黑" panose="020B0503020204020204" charset="-122"/>
              </a:rPr>
              <a:t>= 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cs typeface="微软雅黑" panose="020B0503020204020204" charset="-122"/>
              </a:rPr>
              <a:t>6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769493" y="2954347"/>
            <a:ext cx="6650542" cy="2601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b="1" dirty="0">
                <a:latin typeface="+mn-ea"/>
                <a:cs typeface="微软雅黑" panose="020B0503020204020204" charset="-122"/>
              </a:rPr>
              <a:t>target_mod </a:t>
            </a:r>
            <a:r>
              <a:rPr lang="en-US" altLang="zh-CN" sz="2800" dirty="0">
                <a:latin typeface="+mn-ea"/>
                <a:cs typeface="微软雅黑" panose="020B0503020204020204" charset="-122"/>
              </a:rPr>
              <a:t>=</a:t>
            </a:r>
          </a:p>
          <a:p>
            <a:pPr algn="ctr">
              <a:lnSpc>
                <a:spcPct val="150000"/>
              </a:lnSpc>
            </a:pPr>
            <a:r>
              <a:rPr lang="en-US" altLang="zh-CN" sz="2800" dirty="0">
                <a:latin typeface="+mn-ea"/>
                <a:cs typeface="微软雅黑" panose="020B0503020204020204" charset="-122"/>
              </a:rPr>
              <a:t>cur_mod - total_mod + x</a:t>
            </a:r>
          </a:p>
          <a:p>
            <a:pPr algn="ctr">
              <a:lnSpc>
                <a:spcPct val="150000"/>
              </a:lnSpc>
            </a:pPr>
            <a:r>
              <a:rPr lang="en-US" altLang="zh-CN" sz="2800" dirty="0">
                <a:latin typeface="+mn-ea"/>
                <a:cs typeface="微软雅黑" panose="020B0503020204020204" charset="-122"/>
              </a:rPr>
              <a:t>=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cs typeface="微软雅黑" panose="020B0503020204020204" charset="-122"/>
              </a:rPr>
              <a:t>8</a:t>
            </a:r>
            <a:endParaRPr lang="en-US" altLang="zh-CN" sz="2800" dirty="0">
              <a:latin typeface="+mn-ea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2800" dirty="0">
              <a:solidFill>
                <a:srgbClr val="FF0000"/>
              </a:solidFill>
              <a:latin typeface="+mn-ea"/>
              <a:cs typeface="微软雅黑" panose="020B0503020204020204" charset="-122"/>
            </a:endParaRPr>
          </a:p>
        </p:txBody>
      </p:sp>
      <p:sp>
        <p:nvSpPr>
          <p:cNvPr id="14" name="上箭头 13"/>
          <p:cNvSpPr/>
          <p:nvPr/>
        </p:nvSpPr>
        <p:spPr>
          <a:xfrm rot="16200000">
            <a:off x="5029835" y="3524886"/>
            <a:ext cx="557530" cy="22218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708526" y="4914901"/>
            <a:ext cx="1466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+mn-ea"/>
              </a:rPr>
              <a:t>查表，无</a:t>
            </a: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5509896" y="1628776"/>
            <a:ext cx="9525" cy="619125"/>
          </a:xfrm>
          <a:prstGeom prst="straightConnector1">
            <a:avLst/>
          </a:prstGeom>
          <a:ln w="50800">
            <a:solidFill>
              <a:srgbClr val="FFC81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C2060D0C-279E-4F8A-BBF8-A0076253699E}"/>
              </a:ext>
            </a:extLst>
          </p:cNvPr>
          <p:cNvSpPr txBox="1"/>
          <p:nvPr/>
        </p:nvSpPr>
        <p:spPr>
          <a:xfrm>
            <a:off x="1936208" y="4919963"/>
            <a:ext cx="1959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  <a:latin typeface="Consolas" panose="020B0609020204030204" pitchFamily="49" charset="0"/>
              </a:rPr>
              <a:t>m[6] = 1</a:t>
            </a:r>
            <a:endParaRPr lang="en-US" altLang="zh-CN" sz="2400" b="1" dirty="0">
              <a:solidFill>
                <a:schemeClr val="accent2"/>
              </a:solidFill>
              <a:latin typeface="Consolas" panose="020B0609020204030204" pitchFamily="49" charset="0"/>
              <a:cs typeface="微软雅黑" panose="020B050302020402020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F056055-E897-4DE9-8BA6-DBE077DA8C2D}"/>
              </a:ext>
            </a:extLst>
          </p:cNvPr>
          <p:cNvSpPr txBox="1"/>
          <p:nvPr/>
        </p:nvSpPr>
        <p:spPr>
          <a:xfrm>
            <a:off x="143877" y="1699578"/>
            <a:ext cx="3340783" cy="16973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2"/>
                </a:solidFill>
                <a:latin typeface="Consolas" panose="020B0609020204030204" pitchFamily="49" charset="0"/>
              </a:rPr>
              <a:t>map&lt;int,int&gt;</a:t>
            </a:r>
            <a:r>
              <a:rPr lang="zh-CN" altLang="en-US" sz="2400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latin typeface="Consolas" panose="020B0609020204030204" pitchFamily="49" charset="0"/>
              </a:rPr>
              <a:t>m ;</a:t>
            </a:r>
          </a:p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chemeClr val="tx2"/>
                </a:solidFill>
                <a:latin typeface="Consolas" panose="020B0609020204030204" pitchFamily="49" charset="0"/>
              </a:rPr>
              <a:t>映射</a:t>
            </a:r>
            <a:endParaRPr lang="en-US" altLang="zh-CN" sz="24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chemeClr val="tx2"/>
                </a:solidFill>
                <a:latin typeface="Consolas" panose="020B0609020204030204" pitchFamily="49" charset="0"/>
              </a:rPr>
              <a:t>也是</a:t>
            </a:r>
            <a:r>
              <a:rPr lang="en-US" altLang="zh-CN" sz="2400" dirty="0">
                <a:solidFill>
                  <a:schemeClr val="tx2"/>
                </a:solidFill>
                <a:latin typeface="Consolas" panose="020B0609020204030204" pitchFamily="49" charset="0"/>
              </a:rPr>
              <a:t>hash</a:t>
            </a:r>
            <a:r>
              <a:rPr lang="zh-CN" altLang="en-US" sz="2400">
                <a:solidFill>
                  <a:schemeClr val="tx2"/>
                </a:solidFill>
                <a:latin typeface="Consolas" panose="020B0609020204030204" pitchFamily="49" charset="0"/>
              </a:rPr>
              <a:t>表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9E67248-451A-4659-A2D9-F953D4885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 animBg="1"/>
      <p:bldP spid="15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/>
          <p:nvPr/>
        </p:nvGraphicFramePr>
        <p:xfrm>
          <a:off x="4871720" y="992505"/>
          <a:ext cx="474472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200" dirty="0"/>
                        <a:t>6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200" dirty="0"/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200" dirty="0"/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200" dirty="0"/>
                        <a:t>2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035051" y="815975"/>
            <a:ext cx="41230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>
                <a:latin typeface="+mn-ea"/>
                <a:cs typeface="微软雅黑" panose="020B0503020204020204" charset="-122"/>
              </a:rPr>
              <a:t>当</a:t>
            </a:r>
            <a:r>
              <a:rPr lang="en-US" altLang="zh-CN" sz="3600" dirty="0">
                <a:latin typeface="+mn-ea"/>
                <a:cs typeface="微软雅黑" panose="020B0503020204020204" charset="-122"/>
              </a:rPr>
              <a:t>x=</a:t>
            </a:r>
            <a:r>
              <a:rPr lang="en-US" altLang="zh-CN" sz="3600" dirty="0">
                <a:solidFill>
                  <a:srgbClr val="FF0000"/>
                </a:solidFill>
                <a:latin typeface="+mn-ea"/>
                <a:cs typeface="微软雅黑" panose="020B0503020204020204" charset="-122"/>
              </a:rPr>
              <a:t>9</a:t>
            </a:r>
            <a:r>
              <a:rPr lang="zh-CN" altLang="en-US" sz="3600">
                <a:latin typeface="+mn-ea"/>
                <a:cs typeface="微软雅黑" panose="020B0503020204020204" charset="-122"/>
              </a:rPr>
              <a:t>时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1725296" y="4089401"/>
            <a:ext cx="2221866" cy="201612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</a:rPr>
              <a:t>m[0] = 0</a:t>
            </a:r>
          </a:p>
          <a:p>
            <a:pPr algn="ctr"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</a:rPr>
              <a:t>m[6] = 1</a:t>
            </a:r>
          </a:p>
          <a:p>
            <a:pPr algn="ctr">
              <a:lnSpc>
                <a:spcPct val="150000"/>
              </a:lnSpc>
            </a:pPr>
            <a:endParaRPr lang="en-US" altLang="zh-CN" sz="2400" dirty="0">
              <a:latin typeface="Consolas" panose="020B0609020204030204" pitchFamily="49" charset="0"/>
            </a:endParaRPr>
          </a:p>
        </p:txBody>
      </p:sp>
      <p:sp>
        <p:nvSpPr>
          <p:cNvPr id="10" name="左大括号 9"/>
          <p:cNvSpPr/>
          <p:nvPr/>
        </p:nvSpPr>
        <p:spPr>
          <a:xfrm rot="5400000">
            <a:off x="7087236" y="-1569720"/>
            <a:ext cx="381635" cy="4676140"/>
          </a:xfrm>
          <a:prstGeom prst="leftBrace">
            <a:avLst>
              <a:gd name="adj1" fmla="val 128868"/>
              <a:gd name="adj2" fmla="val 48893"/>
            </a:avLst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940301" y="0"/>
            <a:ext cx="41230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+mn-ea"/>
                <a:cs typeface="微软雅黑" panose="020B0503020204020204" charset="-122"/>
              </a:rPr>
              <a:t>total_mod=</a:t>
            </a:r>
            <a:r>
              <a:rPr lang="en-US" altLang="zh-CN" sz="3600" dirty="0">
                <a:solidFill>
                  <a:srgbClr val="FF0000"/>
                </a:solidFill>
                <a:latin typeface="+mn-ea"/>
                <a:cs typeface="微软雅黑" panose="020B0503020204020204" charset="-122"/>
              </a:rPr>
              <a:t>7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708526" y="2202683"/>
            <a:ext cx="4123055" cy="673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b="1" dirty="0">
                <a:latin typeface="+mn-ea"/>
                <a:cs typeface="微软雅黑" panose="020B0503020204020204" charset="-122"/>
              </a:rPr>
              <a:t>cur_mod </a:t>
            </a:r>
            <a:r>
              <a:rPr lang="en-US" altLang="zh-CN" sz="2800" dirty="0">
                <a:latin typeface="+mn-ea"/>
                <a:cs typeface="微软雅黑" panose="020B0503020204020204" charset="-122"/>
              </a:rPr>
              <a:t>= 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cs typeface="微软雅黑" panose="020B0503020204020204" charset="-122"/>
              </a:rPr>
              <a:t>0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791744" y="2929032"/>
            <a:ext cx="6217285" cy="2601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b="1" dirty="0">
                <a:latin typeface="+mn-ea"/>
                <a:cs typeface="微软雅黑" panose="020B0503020204020204" charset="-122"/>
              </a:rPr>
              <a:t>target_mod </a:t>
            </a:r>
            <a:r>
              <a:rPr lang="en-US" altLang="zh-CN" sz="2800" dirty="0">
                <a:latin typeface="+mn-ea"/>
                <a:cs typeface="微软雅黑" panose="020B0503020204020204" charset="-122"/>
              </a:rPr>
              <a:t>=</a:t>
            </a:r>
          </a:p>
          <a:p>
            <a:pPr algn="ctr">
              <a:lnSpc>
                <a:spcPct val="150000"/>
              </a:lnSpc>
            </a:pPr>
            <a:r>
              <a:rPr lang="en-US" altLang="zh-CN" sz="2800" dirty="0">
                <a:latin typeface="+mn-ea"/>
                <a:cs typeface="微软雅黑" panose="020B0503020204020204" charset="-122"/>
              </a:rPr>
              <a:t>cur_mod - total_mod + x</a:t>
            </a:r>
          </a:p>
          <a:p>
            <a:pPr algn="ctr">
              <a:lnSpc>
                <a:spcPct val="150000"/>
              </a:lnSpc>
            </a:pPr>
            <a:r>
              <a:rPr lang="en-US" altLang="zh-CN" sz="2800" dirty="0">
                <a:latin typeface="+mn-ea"/>
                <a:cs typeface="微软雅黑" panose="020B0503020204020204" charset="-122"/>
              </a:rPr>
              <a:t>=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cs typeface="微软雅黑" panose="020B0503020204020204" charset="-122"/>
              </a:rPr>
              <a:t>2</a:t>
            </a:r>
            <a:endParaRPr lang="en-US" altLang="zh-CN" sz="2800" dirty="0">
              <a:latin typeface="+mn-ea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2800" dirty="0">
              <a:solidFill>
                <a:srgbClr val="FF0000"/>
              </a:solidFill>
              <a:latin typeface="+mn-ea"/>
              <a:cs typeface="微软雅黑" panose="020B0503020204020204" charset="-122"/>
            </a:endParaRPr>
          </a:p>
        </p:txBody>
      </p:sp>
      <p:sp>
        <p:nvSpPr>
          <p:cNvPr id="14" name="上箭头 13"/>
          <p:cNvSpPr/>
          <p:nvPr/>
        </p:nvSpPr>
        <p:spPr>
          <a:xfrm rot="16200000">
            <a:off x="5029835" y="3524886"/>
            <a:ext cx="557530" cy="22218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708526" y="4914901"/>
            <a:ext cx="1466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+mn-ea"/>
              </a:rPr>
              <a:t>查表，无</a:t>
            </a: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6685281" y="1632586"/>
            <a:ext cx="9525" cy="619125"/>
          </a:xfrm>
          <a:prstGeom prst="straightConnector1">
            <a:avLst/>
          </a:prstGeom>
          <a:ln w="50800">
            <a:solidFill>
              <a:srgbClr val="FFC81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B2DA68AD-D552-4423-BED0-BD0EEF557CEE}"/>
              </a:ext>
            </a:extLst>
          </p:cNvPr>
          <p:cNvSpPr txBox="1"/>
          <p:nvPr/>
        </p:nvSpPr>
        <p:spPr>
          <a:xfrm>
            <a:off x="3267299" y="4381835"/>
            <a:ext cx="308421" cy="492443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chemeClr val="accent2"/>
                </a:solidFill>
                <a:latin typeface="Consolas" panose="020B0609020204030204" pitchFamily="49" charset="0"/>
              </a:rPr>
              <a:t>2</a:t>
            </a:r>
            <a:endParaRPr lang="en-US" altLang="zh-CN" sz="2600" b="1" dirty="0">
              <a:solidFill>
                <a:schemeClr val="accent2"/>
              </a:solidFill>
              <a:latin typeface="Consolas" panose="020B0609020204030204" pitchFamily="49" charset="0"/>
              <a:cs typeface="微软雅黑" panose="020B050302020402020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14D5172-985A-4CB6-A25E-EFB4994BF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 animBg="1"/>
      <p:bldP spid="15" grpId="0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/>
          <p:nvPr/>
        </p:nvGraphicFramePr>
        <p:xfrm>
          <a:off x="4871720" y="992505"/>
          <a:ext cx="474472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200" dirty="0"/>
                        <a:t>6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200" dirty="0"/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200" dirty="0"/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200" dirty="0"/>
                        <a:t>2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035051" y="815975"/>
            <a:ext cx="41230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>
                <a:latin typeface="+mn-ea"/>
                <a:cs typeface="微软雅黑" panose="020B0503020204020204" charset="-122"/>
              </a:rPr>
              <a:t>当</a:t>
            </a:r>
            <a:r>
              <a:rPr lang="en-US" altLang="zh-CN" sz="3600" dirty="0">
                <a:latin typeface="+mn-ea"/>
                <a:cs typeface="微软雅黑" panose="020B0503020204020204" charset="-122"/>
              </a:rPr>
              <a:t>x=</a:t>
            </a:r>
            <a:r>
              <a:rPr lang="en-US" altLang="zh-CN" sz="3600" dirty="0">
                <a:solidFill>
                  <a:srgbClr val="FF0000"/>
                </a:solidFill>
                <a:latin typeface="+mn-ea"/>
                <a:cs typeface="微软雅黑" panose="020B0503020204020204" charset="-122"/>
              </a:rPr>
              <a:t>9</a:t>
            </a:r>
            <a:r>
              <a:rPr lang="zh-CN" altLang="en-US" sz="3600">
                <a:latin typeface="+mn-ea"/>
                <a:cs typeface="微软雅黑" panose="020B0503020204020204" charset="-122"/>
              </a:rPr>
              <a:t>时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1776730" y="4089401"/>
            <a:ext cx="2170432" cy="201612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</a:rPr>
              <a:t>m[0] = 2</a:t>
            </a:r>
          </a:p>
          <a:p>
            <a:pPr algn="ctr"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</a:rPr>
              <a:t>m[6] = 1</a:t>
            </a:r>
          </a:p>
          <a:p>
            <a:pPr algn="ctr">
              <a:lnSpc>
                <a:spcPct val="150000"/>
              </a:lnSpc>
            </a:pPr>
            <a:endParaRPr lang="en-US" altLang="zh-CN" sz="2400" dirty="0">
              <a:latin typeface="Consolas" panose="020B0609020204030204" pitchFamily="49" charset="0"/>
            </a:endParaRPr>
          </a:p>
        </p:txBody>
      </p:sp>
      <p:sp>
        <p:nvSpPr>
          <p:cNvPr id="10" name="左大括号 9"/>
          <p:cNvSpPr/>
          <p:nvPr/>
        </p:nvSpPr>
        <p:spPr>
          <a:xfrm rot="5400000">
            <a:off x="7087236" y="-1569720"/>
            <a:ext cx="381635" cy="4676140"/>
          </a:xfrm>
          <a:prstGeom prst="leftBrace">
            <a:avLst>
              <a:gd name="adj1" fmla="val 128868"/>
              <a:gd name="adj2" fmla="val 48893"/>
            </a:avLst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940301" y="0"/>
            <a:ext cx="41230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+mn-ea"/>
                <a:cs typeface="微软雅黑" panose="020B0503020204020204" charset="-122"/>
              </a:rPr>
              <a:t>total_mod=</a:t>
            </a:r>
            <a:r>
              <a:rPr lang="en-US" altLang="zh-CN" sz="3600" dirty="0">
                <a:solidFill>
                  <a:srgbClr val="FF0000"/>
                </a:solidFill>
                <a:latin typeface="+mn-ea"/>
                <a:cs typeface="微软雅黑" panose="020B0503020204020204" charset="-122"/>
              </a:rPr>
              <a:t>7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675313" y="2056960"/>
            <a:ext cx="4123055" cy="673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b="1" dirty="0">
                <a:latin typeface="+mn-ea"/>
                <a:cs typeface="微软雅黑" panose="020B0503020204020204" charset="-122"/>
              </a:rPr>
              <a:t>cur_mod</a:t>
            </a:r>
            <a:r>
              <a:rPr lang="en-US" altLang="zh-CN" sz="2800" dirty="0">
                <a:latin typeface="+mn-ea"/>
                <a:cs typeface="微软雅黑" panose="020B0503020204020204" charset="-122"/>
              </a:rPr>
              <a:t>=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cs typeface="微软雅黑" panose="020B0503020204020204" charset="-122"/>
              </a:rPr>
              <a:t>5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977313" y="3236014"/>
            <a:ext cx="6217285" cy="2601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b="1" dirty="0">
                <a:latin typeface="+mn-ea"/>
                <a:cs typeface="微软雅黑" panose="020B0503020204020204" charset="-122"/>
              </a:rPr>
              <a:t>target_mod </a:t>
            </a:r>
            <a:r>
              <a:rPr lang="en-US" altLang="zh-CN" sz="2800" dirty="0">
                <a:latin typeface="+mn-ea"/>
                <a:cs typeface="微软雅黑" panose="020B0503020204020204" charset="-122"/>
              </a:rPr>
              <a:t>=</a:t>
            </a:r>
          </a:p>
          <a:p>
            <a:pPr algn="ctr">
              <a:lnSpc>
                <a:spcPct val="150000"/>
              </a:lnSpc>
            </a:pPr>
            <a:r>
              <a:rPr lang="en-US" altLang="zh-CN" sz="2800" dirty="0">
                <a:latin typeface="+mn-ea"/>
                <a:cs typeface="微软雅黑" panose="020B0503020204020204" charset="-122"/>
              </a:rPr>
              <a:t>cur_mod - total_mod + x</a:t>
            </a:r>
          </a:p>
          <a:p>
            <a:pPr algn="ctr">
              <a:lnSpc>
                <a:spcPct val="150000"/>
              </a:lnSpc>
            </a:pPr>
            <a:r>
              <a:rPr lang="en-US" altLang="zh-CN" sz="2800" dirty="0">
                <a:latin typeface="+mn-ea"/>
                <a:cs typeface="微软雅黑" panose="020B0503020204020204" charset="-122"/>
              </a:rPr>
              <a:t>=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cs typeface="微软雅黑" panose="020B0503020204020204" charset="-122"/>
              </a:rPr>
              <a:t>7</a:t>
            </a:r>
            <a:endParaRPr lang="en-US" altLang="zh-CN" sz="2800" dirty="0">
              <a:latin typeface="+mn-ea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2800" dirty="0">
              <a:solidFill>
                <a:srgbClr val="FF0000"/>
              </a:solidFill>
              <a:latin typeface="+mn-ea"/>
              <a:cs typeface="微软雅黑" panose="020B0503020204020204" charset="-122"/>
            </a:endParaRPr>
          </a:p>
        </p:txBody>
      </p:sp>
      <p:sp>
        <p:nvSpPr>
          <p:cNvPr id="14" name="上箭头 13"/>
          <p:cNvSpPr/>
          <p:nvPr/>
        </p:nvSpPr>
        <p:spPr>
          <a:xfrm rot="16200000">
            <a:off x="5030154" y="3815647"/>
            <a:ext cx="557530" cy="22218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708845" y="5205662"/>
            <a:ext cx="1466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+mn-ea"/>
              </a:rPr>
              <a:t>查表，无</a:t>
            </a: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7727316" y="1588136"/>
            <a:ext cx="9525" cy="619125"/>
          </a:xfrm>
          <a:prstGeom prst="straightConnector1">
            <a:avLst/>
          </a:prstGeom>
          <a:ln w="50800">
            <a:solidFill>
              <a:srgbClr val="FFC81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FB4BFD1B-B90C-4497-A25D-A865584BA4A0}"/>
              </a:ext>
            </a:extLst>
          </p:cNvPr>
          <p:cNvSpPr txBox="1"/>
          <p:nvPr/>
        </p:nvSpPr>
        <p:spPr>
          <a:xfrm>
            <a:off x="2109829" y="5435849"/>
            <a:ext cx="1959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  <a:latin typeface="Consolas" panose="020B0609020204030204" pitchFamily="49" charset="0"/>
              </a:rPr>
              <a:t>m[5] = 3</a:t>
            </a:r>
            <a:endParaRPr lang="en-US" altLang="zh-CN" sz="2400" b="1" dirty="0">
              <a:solidFill>
                <a:schemeClr val="accent2"/>
              </a:solidFill>
              <a:latin typeface="Consolas" panose="020B0609020204030204" pitchFamily="49" charset="0"/>
              <a:cs typeface="微软雅黑" panose="020B050302020402020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B08841E-5C04-4455-9AB3-DEDC0FE58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 animBg="1"/>
      <p:bldP spid="15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/>
          <p:nvPr/>
        </p:nvGraphicFramePr>
        <p:xfrm>
          <a:off x="4871720" y="992505"/>
          <a:ext cx="474472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200" dirty="0"/>
                        <a:t>6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200" dirty="0"/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200" dirty="0"/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200" dirty="0"/>
                        <a:t>2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035051" y="815975"/>
            <a:ext cx="41230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>
                <a:latin typeface="+mn-ea"/>
                <a:cs typeface="微软雅黑" panose="020B0503020204020204" charset="-122"/>
              </a:rPr>
              <a:t>当</a:t>
            </a:r>
            <a:r>
              <a:rPr lang="en-US" altLang="zh-CN" sz="3600" dirty="0">
                <a:latin typeface="+mn-ea"/>
                <a:cs typeface="微软雅黑" panose="020B0503020204020204" charset="-122"/>
              </a:rPr>
              <a:t>x=</a:t>
            </a:r>
            <a:r>
              <a:rPr lang="en-US" altLang="zh-CN" sz="3600" dirty="0">
                <a:solidFill>
                  <a:srgbClr val="FF0000"/>
                </a:solidFill>
                <a:latin typeface="+mn-ea"/>
                <a:cs typeface="微软雅黑" panose="020B0503020204020204" charset="-122"/>
              </a:rPr>
              <a:t>9</a:t>
            </a:r>
            <a:r>
              <a:rPr lang="zh-CN" altLang="en-US" sz="3600">
                <a:latin typeface="+mn-ea"/>
                <a:cs typeface="微软雅黑" panose="020B0503020204020204" charset="-122"/>
              </a:rPr>
              <a:t>时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1725296" y="4089401"/>
            <a:ext cx="2221866" cy="201612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</a:rPr>
              <a:t>m[0] = 2</a:t>
            </a:r>
          </a:p>
          <a:p>
            <a:pPr algn="ctr"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</a:rPr>
              <a:t>m[5] = 3</a:t>
            </a:r>
          </a:p>
          <a:p>
            <a:pPr algn="ctr"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</a:rPr>
              <a:t>m[6] = 1</a:t>
            </a:r>
          </a:p>
        </p:txBody>
      </p:sp>
      <p:sp>
        <p:nvSpPr>
          <p:cNvPr id="10" name="左大括号 9"/>
          <p:cNvSpPr/>
          <p:nvPr/>
        </p:nvSpPr>
        <p:spPr>
          <a:xfrm rot="5400000">
            <a:off x="7087236" y="-1569720"/>
            <a:ext cx="381635" cy="4676140"/>
          </a:xfrm>
          <a:prstGeom prst="leftBrace">
            <a:avLst>
              <a:gd name="adj1" fmla="val 128868"/>
              <a:gd name="adj2" fmla="val 48893"/>
            </a:avLst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940301" y="0"/>
            <a:ext cx="41230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+mn-ea"/>
                <a:cs typeface="微软雅黑" panose="020B0503020204020204" charset="-122"/>
              </a:rPr>
              <a:t>total_mod=</a:t>
            </a:r>
            <a:r>
              <a:rPr lang="en-US" altLang="zh-CN" sz="3600" dirty="0">
                <a:solidFill>
                  <a:srgbClr val="FF0000"/>
                </a:solidFill>
                <a:latin typeface="+mn-ea"/>
                <a:cs typeface="微软雅黑" panose="020B0503020204020204" charset="-122"/>
              </a:rPr>
              <a:t>7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011353" y="2031820"/>
            <a:ext cx="4123055" cy="673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b="1" dirty="0">
                <a:latin typeface="+mn-ea"/>
                <a:cs typeface="微软雅黑" panose="020B0503020204020204" charset="-122"/>
              </a:rPr>
              <a:t>cur_mod </a:t>
            </a:r>
            <a:r>
              <a:rPr lang="en-US" altLang="zh-CN" sz="2800" dirty="0">
                <a:latin typeface="+mn-ea"/>
                <a:cs typeface="微软雅黑" panose="020B0503020204020204" charset="-122"/>
              </a:rPr>
              <a:t>= 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cs typeface="微软雅黑" panose="020B0503020204020204" charset="-122"/>
              </a:rPr>
              <a:t>7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863708" y="2928955"/>
            <a:ext cx="6264740" cy="2601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b="1" dirty="0">
                <a:latin typeface="+mn-ea"/>
                <a:cs typeface="微软雅黑" panose="020B0503020204020204" charset="-122"/>
              </a:rPr>
              <a:t>target_mod </a:t>
            </a:r>
            <a:r>
              <a:rPr lang="en-US" altLang="zh-CN" sz="2800" dirty="0">
                <a:latin typeface="+mn-ea"/>
                <a:cs typeface="微软雅黑" panose="020B0503020204020204" charset="-122"/>
              </a:rPr>
              <a:t>=</a:t>
            </a:r>
          </a:p>
          <a:p>
            <a:pPr algn="ctr">
              <a:lnSpc>
                <a:spcPct val="150000"/>
              </a:lnSpc>
            </a:pPr>
            <a:r>
              <a:rPr lang="en-US" altLang="zh-CN" sz="2800" dirty="0">
                <a:latin typeface="+mn-ea"/>
                <a:cs typeface="微软雅黑" panose="020B0503020204020204" charset="-122"/>
              </a:rPr>
              <a:t>cur_mod - total_mod</a:t>
            </a:r>
          </a:p>
          <a:p>
            <a:pPr algn="ctr">
              <a:lnSpc>
                <a:spcPct val="150000"/>
              </a:lnSpc>
            </a:pPr>
            <a:r>
              <a:rPr lang="en-US" altLang="zh-CN" sz="2800" dirty="0">
                <a:latin typeface="+mn-ea"/>
                <a:cs typeface="微软雅黑" panose="020B0503020204020204" charset="-122"/>
              </a:rPr>
              <a:t>=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cs typeface="微软雅黑" panose="020B0503020204020204" charset="-122"/>
              </a:rPr>
              <a:t>0</a:t>
            </a:r>
            <a:endParaRPr lang="en-US" altLang="zh-CN" sz="2800" dirty="0">
              <a:latin typeface="+mn-ea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2800" dirty="0">
              <a:solidFill>
                <a:srgbClr val="FF0000"/>
              </a:solidFill>
              <a:latin typeface="+mn-ea"/>
              <a:cs typeface="微软雅黑" panose="020B0503020204020204" charset="-122"/>
            </a:endParaRPr>
          </a:p>
        </p:txBody>
      </p:sp>
      <p:sp>
        <p:nvSpPr>
          <p:cNvPr id="14" name="上箭头 13"/>
          <p:cNvSpPr/>
          <p:nvPr/>
        </p:nvSpPr>
        <p:spPr>
          <a:xfrm rot="16200000">
            <a:off x="5029835" y="3524886"/>
            <a:ext cx="557530" cy="22218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708526" y="4914901"/>
            <a:ext cx="1466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+mn-ea"/>
              </a:rPr>
              <a:t>查表</a:t>
            </a: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9063356" y="1588136"/>
            <a:ext cx="9525" cy="619125"/>
          </a:xfrm>
          <a:prstGeom prst="straightConnector1">
            <a:avLst/>
          </a:prstGeom>
          <a:ln w="50800">
            <a:solidFill>
              <a:srgbClr val="FFC81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419533" y="5202584"/>
            <a:ext cx="3924939" cy="114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>
                <a:solidFill>
                  <a:srgbClr val="FF0000"/>
                </a:solidFill>
                <a:latin typeface="+mn-ea"/>
                <a:cs typeface="微软雅黑" panose="020B0503020204020204" charset="-122"/>
              </a:rPr>
              <a:t>最短子数组长度为</a:t>
            </a:r>
          </a:p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+mn-ea"/>
                <a:cs typeface="微软雅黑" panose="020B0503020204020204" charset="-122"/>
              </a:rPr>
              <a:t>4-2 = 2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49CBC4F-F48A-42AC-BA12-01BE23A88D02}"/>
              </a:ext>
            </a:extLst>
          </p:cNvPr>
          <p:cNvSpPr txBox="1"/>
          <p:nvPr/>
        </p:nvSpPr>
        <p:spPr>
          <a:xfrm>
            <a:off x="4459804" y="5634662"/>
            <a:ext cx="1959729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m[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] = 1</a:t>
            </a:r>
            <a:endParaRPr lang="en-US" altLang="zh-CN" sz="2400" b="1" dirty="0">
              <a:solidFill>
                <a:srgbClr val="00B050"/>
              </a:solidFill>
              <a:latin typeface="Consolas" panose="020B0609020204030204" pitchFamily="49" charset="0"/>
              <a:cs typeface="微软雅黑" panose="020B050302020402020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268284B-F894-40B1-B40B-34452CA1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/>
      <p:bldP spid="2" grpId="0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ED528E4-72EE-4F86-8403-B0FFB0A8F7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203"/>
          <a:stretch/>
        </p:blipFill>
        <p:spPr>
          <a:xfrm>
            <a:off x="687344" y="1196752"/>
            <a:ext cx="9105308" cy="3453054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63805CA-769F-407A-B117-E71F2709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278686-DF98-4074-A8D5-5E7249595A04}"/>
              </a:ext>
            </a:extLst>
          </p:cNvPr>
          <p:cNvSpPr/>
          <p:nvPr/>
        </p:nvSpPr>
        <p:spPr>
          <a:xfrm>
            <a:off x="5148000" y="2607746"/>
            <a:ext cx="2587752" cy="2806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2B4737-79B8-4B71-AD98-AB1952DC3DE7}"/>
              </a:ext>
            </a:extLst>
          </p:cNvPr>
          <p:cNvSpPr/>
          <p:nvPr/>
        </p:nvSpPr>
        <p:spPr>
          <a:xfrm>
            <a:off x="4277696" y="3680483"/>
            <a:ext cx="238839" cy="23194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C85916F-51D4-462F-B0E4-651E67FD51E4}"/>
              </a:ext>
            </a:extLst>
          </p:cNvPr>
          <p:cNvSpPr txBox="1"/>
          <p:nvPr/>
        </p:nvSpPr>
        <p:spPr>
          <a:xfrm>
            <a:off x="8912028" y="2548015"/>
            <a:ext cx="2896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/>
              <a:t>计算总数组和模</a:t>
            </a:r>
            <a:r>
              <a:rPr lang="en-US" altLang="zh-CN" dirty="0"/>
              <a:t>X</a:t>
            </a:r>
            <a:r>
              <a:rPr lang="zh-CN" altLang="en-US"/>
              <a:t>的结果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ED528E4-72EE-4F86-8403-B0FFB0A8F7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797"/>
          <a:stretch/>
        </p:blipFill>
        <p:spPr>
          <a:xfrm>
            <a:off x="589624" y="269605"/>
            <a:ext cx="9105308" cy="593113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63805CA-769F-407A-B117-E71F2709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0711FBA-D466-4481-A854-F6DD485AC11B}"/>
              </a:ext>
            </a:extLst>
          </p:cNvPr>
          <p:cNvSpPr/>
          <p:nvPr/>
        </p:nvSpPr>
        <p:spPr>
          <a:xfrm>
            <a:off x="4697170" y="1717817"/>
            <a:ext cx="2352505" cy="29012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F65D2D-6076-4324-B14C-58915E16B293}"/>
              </a:ext>
            </a:extLst>
          </p:cNvPr>
          <p:cNvSpPr/>
          <p:nvPr/>
        </p:nvSpPr>
        <p:spPr>
          <a:xfrm>
            <a:off x="3267566" y="1012544"/>
            <a:ext cx="288995" cy="2806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A385B06-7126-404E-B341-42EF410E8049}"/>
              </a:ext>
            </a:extLst>
          </p:cNvPr>
          <p:cNvSpPr txBox="1"/>
          <p:nvPr/>
        </p:nvSpPr>
        <p:spPr>
          <a:xfrm>
            <a:off x="5025901" y="660295"/>
            <a:ext cx="2942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/>
              <a:t>记录当前前缀和模</a:t>
            </a:r>
            <a:r>
              <a:rPr lang="en-US" altLang="zh-CN" dirty="0"/>
              <a:t>X</a:t>
            </a:r>
            <a:r>
              <a:rPr lang="zh-CN" altLang="en-US"/>
              <a:t>的结果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2478A0-BCB3-4309-807D-48DA5745F166}"/>
              </a:ext>
            </a:extLst>
          </p:cNvPr>
          <p:cNvSpPr txBox="1"/>
          <p:nvPr/>
        </p:nvSpPr>
        <p:spPr>
          <a:xfrm>
            <a:off x="3770838" y="1009236"/>
            <a:ext cx="5184712" cy="3357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/>
              <a:t>初始化：前缀和模</a:t>
            </a:r>
            <a:r>
              <a:rPr lang="en-US" altLang="zh-CN" dirty="0"/>
              <a:t>x</a:t>
            </a:r>
            <a:r>
              <a:rPr lang="zh-CN" altLang="en-US"/>
              <a:t>为</a:t>
            </a:r>
            <a:r>
              <a:rPr lang="en-US" altLang="zh-CN" dirty="0"/>
              <a:t>0</a:t>
            </a:r>
            <a:r>
              <a:rPr lang="zh-CN" altLang="en-US"/>
              <a:t>出现在索引</a:t>
            </a:r>
            <a:r>
              <a:rPr lang="en-US" altLang="zh-CN" dirty="0"/>
              <a:t>0</a:t>
            </a:r>
            <a:r>
              <a:rPr lang="zh-CN" altLang="en-US"/>
              <a:t>（虚拟位置）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A7A729F-CB79-4CE3-BB99-ED5B98C7E756}"/>
              </a:ext>
            </a:extLst>
          </p:cNvPr>
          <p:cNvSpPr/>
          <p:nvPr/>
        </p:nvSpPr>
        <p:spPr>
          <a:xfrm>
            <a:off x="5490949" y="2062124"/>
            <a:ext cx="3247579" cy="3047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A1C4E20-92E7-4051-803F-9AE443087843}"/>
              </a:ext>
            </a:extLst>
          </p:cNvPr>
          <p:cNvSpPr txBox="1"/>
          <p:nvPr/>
        </p:nvSpPr>
        <p:spPr>
          <a:xfrm>
            <a:off x="8215359" y="1662135"/>
            <a:ext cx="2896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/>
              <a:t>计算当前前缀和模</a:t>
            </a:r>
            <a:r>
              <a:rPr lang="en-US" altLang="zh-CN" dirty="0"/>
              <a:t>X</a:t>
            </a:r>
            <a:r>
              <a:rPr lang="zh-CN" altLang="en-US"/>
              <a:t>的结果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3FFDE91-CA08-4A55-AB33-61AA0ACBB307}"/>
              </a:ext>
            </a:extLst>
          </p:cNvPr>
          <p:cNvSpPr txBox="1"/>
          <p:nvPr/>
        </p:nvSpPr>
        <p:spPr>
          <a:xfrm>
            <a:off x="9418389" y="1987595"/>
            <a:ext cx="19682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/>
              <a:t>计算需要寻找之前某个前缀模值</a:t>
            </a:r>
            <a:r>
              <a:rPr lang="en-US" altLang="zh-CN" dirty="0"/>
              <a:t>target_mod</a:t>
            </a:r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6C0D41A-8419-48D8-942F-3B1E37701FFE}"/>
              </a:ext>
            </a:extLst>
          </p:cNvPr>
          <p:cNvSpPr/>
          <p:nvPr/>
        </p:nvSpPr>
        <p:spPr>
          <a:xfrm>
            <a:off x="3363123" y="2416479"/>
            <a:ext cx="3131185" cy="29012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CDF4C1B-FBF4-48B9-A6CB-73C475E590D6}"/>
              </a:ext>
            </a:extLst>
          </p:cNvPr>
          <p:cNvSpPr txBox="1"/>
          <p:nvPr/>
        </p:nvSpPr>
        <p:spPr>
          <a:xfrm>
            <a:off x="6726587" y="2375995"/>
            <a:ext cx="2641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/>
              <a:t>如果</a:t>
            </a:r>
            <a:r>
              <a:rPr lang="en-US" altLang="zh-CN" dirty="0"/>
              <a:t>target_mod</a:t>
            </a:r>
            <a:r>
              <a:rPr lang="zh-CN" altLang="en-US"/>
              <a:t>出现过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5523754-957C-48CA-B1C1-6696CBE31721}"/>
              </a:ext>
            </a:extLst>
          </p:cNvPr>
          <p:cNvSpPr txBox="1"/>
          <p:nvPr/>
        </p:nvSpPr>
        <p:spPr>
          <a:xfrm>
            <a:off x="1671433" y="2366878"/>
            <a:ext cx="115241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/>
              <a:t>查</a:t>
            </a:r>
            <a:r>
              <a:rPr lang="en-US" altLang="zh-CN" dirty="0"/>
              <a:t>hash</a:t>
            </a:r>
            <a:r>
              <a:rPr lang="zh-CN" altLang="en-US"/>
              <a:t>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7BD3C85-D301-4DB0-B37B-6182F9AF3C8B}"/>
              </a:ext>
            </a:extLst>
          </p:cNvPr>
          <p:cNvSpPr/>
          <p:nvPr/>
        </p:nvSpPr>
        <p:spPr>
          <a:xfrm>
            <a:off x="4938763" y="3429000"/>
            <a:ext cx="288995" cy="2806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5A22556-E9CE-462E-9EB1-82DF969F5872}"/>
              </a:ext>
            </a:extLst>
          </p:cNvPr>
          <p:cNvSpPr txBox="1"/>
          <p:nvPr/>
        </p:nvSpPr>
        <p:spPr>
          <a:xfrm>
            <a:off x="5424752" y="3441016"/>
            <a:ext cx="3623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/>
              <a:t>记录当前</a:t>
            </a:r>
            <a:r>
              <a:rPr lang="en-US" altLang="zh-CN" dirty="0"/>
              <a:t>target_mod</a:t>
            </a:r>
            <a:r>
              <a:rPr lang="zh-CN" altLang="en-US"/>
              <a:t>出现的位置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A426263-D4AF-493A-A396-E2B67ABB5D2A}"/>
              </a:ext>
            </a:extLst>
          </p:cNvPr>
          <p:cNvSpPr/>
          <p:nvPr/>
        </p:nvSpPr>
        <p:spPr>
          <a:xfrm>
            <a:off x="2678721" y="4156377"/>
            <a:ext cx="1327928" cy="2806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980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/>
      <p:bldP spid="19" grpId="0" animBg="1"/>
      <p:bldP spid="20" grpId="0" animBg="1"/>
      <p:bldP spid="21" grpId="0"/>
      <p:bldP spid="2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E976-E7D6-8426-B05A-DB40C48F6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58AF0DB1-FA76-B53F-770F-A54555503574}"/>
              </a:ext>
            </a:extLst>
          </p:cNvPr>
          <p:cNvSpPr txBox="1"/>
          <p:nvPr/>
        </p:nvSpPr>
        <p:spPr>
          <a:xfrm>
            <a:off x="-210616" y="2636912"/>
            <a:ext cx="12613232" cy="1015659"/>
          </a:xfrm>
          <a:prstGeom prst="rect">
            <a:avLst/>
          </a:prstGeom>
          <a:solidFill>
            <a:srgbClr val="F2F2F2"/>
          </a:solidFill>
          <a:ln w="12700">
            <a:solidFill>
              <a:srgbClr val="4A452A"/>
            </a:solidFill>
          </a:ln>
        </p:spPr>
        <p:txBody>
          <a:bodyPr wrap="square" lIns="45718" tIns="45718" rIns="45718" bIns="45718">
            <a:spAutoFit/>
          </a:bodyPr>
          <a:lstStyle>
            <a:defPPr>
              <a:defRPr lang="zh-CN"/>
            </a:defPPr>
            <a:lvl1pPr algn="ctr" defTabSz="914367">
              <a:defRPr sz="3937">
                <a:latin typeface="Calibri"/>
                <a:ea typeface="Calibri"/>
                <a:cs typeface="Calibri"/>
              </a:defRPr>
            </a:lvl1pPr>
          </a:lstStyle>
          <a:p>
            <a:pPr>
              <a:defRPr sz="5600">
                <a:latin typeface="Calibri"/>
                <a:ea typeface="Calibri"/>
                <a:cs typeface="Calibri"/>
                <a:sym typeface="Calibri"/>
              </a:defRPr>
            </a:pPr>
            <a:r>
              <a:rPr lang="en-US" altLang="zh-CN" sz="6000" dirty="0"/>
              <a:t>T3 </a:t>
            </a:r>
            <a:r>
              <a:rPr lang="zh-CN" altLang="en-US" sz="6000"/>
              <a:t>轮流值班</a:t>
            </a:r>
            <a:endParaRPr lang="zh-CN" altLang="en-US" sz="6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79162-2E5E-2A96-CC9E-D0A2FD57488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23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08118808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791744" y="1340769"/>
            <a:ext cx="4896544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600"/>
              <a:t>题意</a:t>
            </a:r>
            <a:endParaRPr lang="en-US" altLang="zh-CN" sz="3600" dirty="0"/>
          </a:p>
          <a:p>
            <a:pPr algn="ctr"/>
            <a:r>
              <a:rPr lang="zh-CN" altLang="en-US" sz="3600"/>
              <a:t>突出核心要点</a:t>
            </a:r>
            <a:endParaRPr lang="zh-CN" altLang="zh-CN" sz="3600" dirty="0"/>
          </a:p>
        </p:txBody>
      </p:sp>
      <p:sp>
        <p:nvSpPr>
          <p:cNvPr id="6" name="矩形 5"/>
          <p:cNvSpPr/>
          <p:nvPr/>
        </p:nvSpPr>
        <p:spPr>
          <a:xfrm>
            <a:off x="3791744" y="3176950"/>
            <a:ext cx="4896544" cy="196566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dirty="0"/>
              <a:t>一维坐标轴上有</a:t>
            </a:r>
            <a:r>
              <a:rPr lang="en-US" altLang="zh-CN" sz="2800" dirty="0"/>
              <a:t>N</a:t>
            </a:r>
            <a:r>
              <a:rPr lang="zh-CN" altLang="en-US" sz="2800" dirty="0"/>
              <a:t>条线段</a:t>
            </a:r>
            <a:endParaRPr lang="en-US" altLang="zh-CN" sz="2800" dirty="0"/>
          </a:p>
          <a:p>
            <a:pPr algn="ctr">
              <a:lnSpc>
                <a:spcPct val="150000"/>
              </a:lnSpc>
            </a:pPr>
            <a:r>
              <a:rPr lang="zh-CN" altLang="en-US" sz="2800" dirty="0"/>
              <a:t>选择其中</a:t>
            </a:r>
            <a:r>
              <a:rPr lang="en-US" altLang="zh-CN" sz="2800" dirty="0"/>
              <a:t>N-1</a:t>
            </a:r>
            <a:r>
              <a:rPr lang="zh-CN" altLang="en-US" sz="2800" dirty="0"/>
              <a:t>条</a:t>
            </a:r>
            <a:endParaRPr lang="en-US" altLang="zh-CN" sz="2800" dirty="0"/>
          </a:p>
          <a:p>
            <a:pPr algn="ctr">
              <a:lnSpc>
                <a:spcPct val="150000"/>
              </a:lnSpc>
            </a:pPr>
            <a:r>
              <a:rPr lang="zh-CN" altLang="en-US" sz="2800" dirty="0"/>
              <a:t>求最多能覆盖的长度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53C7A8B-6718-4C9E-993D-8B0D66101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662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91544" y="910462"/>
            <a:ext cx="1152128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输入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5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134 203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186 288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274 380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46 138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373 451</a:t>
            </a: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979911-3698-AE47-3C73-43D5F07E78AB}"/>
              </a:ext>
            </a:extLst>
          </p:cNvPr>
          <p:cNvSpPr/>
          <p:nvPr/>
        </p:nvSpPr>
        <p:spPr>
          <a:xfrm>
            <a:off x="1991544" y="3214718"/>
            <a:ext cx="115212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输出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357</a:t>
            </a: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E86955-CADD-EEBB-6F01-D6B56F605D1C}"/>
              </a:ext>
            </a:extLst>
          </p:cNvPr>
          <p:cNvSpPr/>
          <p:nvPr/>
        </p:nvSpPr>
        <p:spPr>
          <a:xfrm>
            <a:off x="3863752" y="2810848"/>
            <a:ext cx="1584176" cy="1415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1BEAB9-EEDC-3648-7A5D-2E8789B3E67E}"/>
              </a:ext>
            </a:extLst>
          </p:cNvPr>
          <p:cNvSpPr/>
          <p:nvPr/>
        </p:nvSpPr>
        <p:spPr>
          <a:xfrm>
            <a:off x="7536160" y="2399750"/>
            <a:ext cx="1692188" cy="1415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FB83CA-938C-FDBF-B2A0-2A5A2EDDB87F}"/>
              </a:ext>
            </a:extLst>
          </p:cNvPr>
          <p:cNvSpPr/>
          <p:nvPr/>
        </p:nvSpPr>
        <p:spPr>
          <a:xfrm>
            <a:off x="5159896" y="1430344"/>
            <a:ext cx="1296144" cy="1415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39F1D28-CBD6-251E-C002-9C7EE3B63F6B}"/>
              </a:ext>
            </a:extLst>
          </p:cNvPr>
          <p:cNvSpPr/>
          <p:nvPr/>
        </p:nvSpPr>
        <p:spPr>
          <a:xfrm>
            <a:off x="6059996" y="1919346"/>
            <a:ext cx="1692188" cy="1415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F06BA6-B88C-8DF7-C995-EDD1BC2E08ED}"/>
              </a:ext>
            </a:extLst>
          </p:cNvPr>
          <p:cNvSpPr/>
          <p:nvPr/>
        </p:nvSpPr>
        <p:spPr>
          <a:xfrm>
            <a:off x="9048328" y="3446568"/>
            <a:ext cx="1296144" cy="1415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2CD0D9-807B-E8D0-3EB9-BBB7C69246BA}"/>
              </a:ext>
            </a:extLst>
          </p:cNvPr>
          <p:cNvSpPr/>
          <p:nvPr/>
        </p:nvSpPr>
        <p:spPr>
          <a:xfrm>
            <a:off x="4727848" y="1124744"/>
            <a:ext cx="81059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</a:rPr>
              <a:t>134</a:t>
            </a:r>
            <a:endParaRPr lang="zh-CN" altLang="zh-CN" sz="1600" dirty="0">
              <a:latin typeface="Consolas" panose="020B0609020204030204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4FDD017-0528-B776-68C3-DF225A91AC44}"/>
              </a:ext>
            </a:extLst>
          </p:cNvPr>
          <p:cNvSpPr/>
          <p:nvPr/>
        </p:nvSpPr>
        <p:spPr>
          <a:xfrm>
            <a:off x="6030762" y="1124744"/>
            <a:ext cx="81059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</a:rPr>
              <a:t>203</a:t>
            </a:r>
            <a:endParaRPr lang="zh-CN" altLang="zh-CN" sz="1600" dirty="0">
              <a:latin typeface="Consolas" panose="020B0609020204030204" pitchFamily="49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22D1DF5-85E4-18BE-2F66-92A50B6F0CF5}"/>
              </a:ext>
            </a:extLst>
          </p:cNvPr>
          <p:cNvSpPr/>
          <p:nvPr/>
        </p:nvSpPr>
        <p:spPr>
          <a:xfrm>
            <a:off x="1988628" y="4593480"/>
            <a:ext cx="34563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(138-46)+(451-186)=357</a:t>
            </a: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3DD0C34-E238-5518-CA4F-03C709845283}"/>
              </a:ext>
            </a:extLst>
          </p:cNvPr>
          <p:cNvSpPr/>
          <p:nvPr/>
        </p:nvSpPr>
        <p:spPr>
          <a:xfrm>
            <a:off x="5690704" y="1599620"/>
            <a:ext cx="81059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</a:rPr>
              <a:t>186</a:t>
            </a:r>
            <a:endParaRPr lang="zh-CN" altLang="zh-CN" sz="1600" dirty="0">
              <a:latin typeface="Consolas" panose="020B0609020204030204" pitchFamily="49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3D0B963-E92B-F387-147D-A8B07B1123CD}"/>
              </a:ext>
            </a:extLst>
          </p:cNvPr>
          <p:cNvSpPr/>
          <p:nvPr/>
        </p:nvSpPr>
        <p:spPr>
          <a:xfrm>
            <a:off x="7301632" y="1599620"/>
            <a:ext cx="81059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</a:rPr>
              <a:t>288</a:t>
            </a:r>
            <a:endParaRPr lang="zh-CN" altLang="zh-CN" sz="1600" dirty="0">
              <a:latin typeface="Consolas" panose="020B0609020204030204" pitchFamily="49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7D6383B-9630-75F9-EEC3-2A78934D22CA}"/>
              </a:ext>
            </a:extLst>
          </p:cNvPr>
          <p:cNvSpPr/>
          <p:nvPr/>
        </p:nvSpPr>
        <p:spPr>
          <a:xfrm>
            <a:off x="7176120" y="2109923"/>
            <a:ext cx="81059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</a:rPr>
              <a:t>274</a:t>
            </a:r>
            <a:endParaRPr lang="zh-CN" altLang="zh-CN" sz="1600" dirty="0">
              <a:latin typeface="Consolas" panose="020B0609020204030204" pitchFamily="49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B478B09-02D9-4B1C-6D2E-0727E2F113A1}"/>
              </a:ext>
            </a:extLst>
          </p:cNvPr>
          <p:cNvSpPr/>
          <p:nvPr/>
        </p:nvSpPr>
        <p:spPr>
          <a:xfrm>
            <a:off x="8787048" y="2109923"/>
            <a:ext cx="81059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</a:rPr>
              <a:t>380</a:t>
            </a:r>
            <a:endParaRPr lang="zh-CN" altLang="zh-CN" sz="1600" dirty="0">
              <a:latin typeface="Consolas" panose="020B0609020204030204" pitchFamily="49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1CA2513-0C7E-72E5-D826-BD1285C75A38}"/>
              </a:ext>
            </a:extLst>
          </p:cNvPr>
          <p:cNvSpPr/>
          <p:nvPr/>
        </p:nvSpPr>
        <p:spPr>
          <a:xfrm>
            <a:off x="3483606" y="2528461"/>
            <a:ext cx="81059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</a:rPr>
              <a:t>46</a:t>
            </a:r>
            <a:endParaRPr lang="zh-CN" altLang="zh-CN" sz="1600" dirty="0">
              <a:latin typeface="Consolas" panose="020B0609020204030204" pitchFamily="49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5B9BDD-4579-2801-4749-D7991DED109C}"/>
              </a:ext>
            </a:extLst>
          </p:cNvPr>
          <p:cNvSpPr/>
          <p:nvPr/>
        </p:nvSpPr>
        <p:spPr>
          <a:xfrm>
            <a:off x="5094534" y="2528461"/>
            <a:ext cx="81059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</a:rPr>
              <a:t>138</a:t>
            </a:r>
            <a:endParaRPr lang="zh-CN" altLang="zh-CN" sz="1600" dirty="0">
              <a:latin typeface="Consolas" panose="020B0609020204030204" pitchFamily="49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55CC536-E6C7-D36F-5BC1-CA84A1D566F5}"/>
              </a:ext>
            </a:extLst>
          </p:cNvPr>
          <p:cNvSpPr/>
          <p:nvPr/>
        </p:nvSpPr>
        <p:spPr>
          <a:xfrm>
            <a:off x="8624549" y="3184515"/>
            <a:ext cx="81059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</a:rPr>
              <a:t>373</a:t>
            </a:r>
            <a:endParaRPr lang="zh-CN" altLang="zh-CN" sz="1600" dirty="0">
              <a:latin typeface="Consolas" panose="020B0609020204030204" pitchFamily="49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2B62D6F-5F09-97B1-C897-14EE01FF5FFE}"/>
              </a:ext>
            </a:extLst>
          </p:cNvPr>
          <p:cNvSpPr/>
          <p:nvPr/>
        </p:nvSpPr>
        <p:spPr>
          <a:xfrm>
            <a:off x="9927463" y="3184515"/>
            <a:ext cx="81059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</a:rPr>
              <a:t>451</a:t>
            </a:r>
            <a:endParaRPr lang="zh-CN" altLang="zh-CN" sz="1600" dirty="0">
              <a:latin typeface="Consolas" panose="020B0609020204030204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DF75A97-323D-4893-A4DF-A4DF1D5EB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63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  <p:bldP spid="9" grpId="0" animBg="1"/>
      <p:bldP spid="10" grpId="0" animBg="1"/>
      <p:bldP spid="11" grpId="0" animBg="1"/>
      <p:bldP spid="12" grpId="0"/>
      <p:bldP spid="17" grpId="0"/>
      <p:bldP spid="18" grpId="0" animBg="1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791744" y="1340769"/>
            <a:ext cx="489654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/>
              <a:t>请同学分析数据范围</a:t>
            </a:r>
            <a:endParaRPr lang="zh-CN" altLang="zh-CN" sz="3600" dirty="0"/>
          </a:p>
        </p:txBody>
      </p:sp>
      <p:sp>
        <p:nvSpPr>
          <p:cNvPr id="6" name="矩形 5"/>
          <p:cNvSpPr/>
          <p:nvPr/>
        </p:nvSpPr>
        <p:spPr>
          <a:xfrm>
            <a:off x="3791744" y="2852936"/>
            <a:ext cx="4896544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zh-CN" sz="1600" dirty="0"/>
              <a:t>【数据规模与约定】  测试数据共</a:t>
            </a:r>
            <a:r>
              <a:rPr lang="en-US" altLang="zh-CN" sz="1600" dirty="0"/>
              <a:t>10</a:t>
            </a:r>
            <a:r>
              <a:rPr lang="zh-CN" altLang="zh-CN" sz="1600" dirty="0"/>
              <a:t>组</a:t>
            </a:r>
          </a:p>
          <a:p>
            <a:r>
              <a:rPr lang="en-US" altLang="zh-CN" sz="1600" dirty="0"/>
              <a:t>1</a:t>
            </a:r>
            <a:r>
              <a:rPr lang="zh-CN" altLang="zh-CN" sz="1600" dirty="0"/>
              <a:t>号数据：</a:t>
            </a:r>
            <a:r>
              <a:rPr lang="en-US" altLang="zh-CN" sz="1600" dirty="0"/>
              <a:t>n=3</a:t>
            </a:r>
            <a:endParaRPr lang="zh-CN" altLang="zh-CN" sz="1600" dirty="0"/>
          </a:p>
          <a:p>
            <a:r>
              <a:rPr lang="en-US" altLang="zh-CN" sz="1600" dirty="0"/>
              <a:t>2</a:t>
            </a:r>
            <a:r>
              <a:rPr lang="zh-CN" altLang="zh-CN" sz="1600" dirty="0"/>
              <a:t>号数据：</a:t>
            </a:r>
            <a:r>
              <a:rPr lang="en-US" altLang="zh-CN" sz="1600" dirty="0"/>
              <a:t>n=5</a:t>
            </a:r>
            <a:endParaRPr lang="zh-CN" altLang="zh-CN" sz="1600" dirty="0"/>
          </a:p>
          <a:p>
            <a:r>
              <a:rPr lang="en-US" altLang="zh-CN" sz="1600" dirty="0"/>
              <a:t>3</a:t>
            </a:r>
            <a:r>
              <a:rPr lang="zh-CN" altLang="zh-CN" sz="1600" dirty="0"/>
              <a:t>号数据：</a:t>
            </a:r>
            <a:r>
              <a:rPr lang="en-US" altLang="zh-CN" sz="1600" dirty="0"/>
              <a:t>n&lt;=10, 0&lt;=a</a:t>
            </a:r>
            <a:r>
              <a:rPr lang="en-US" altLang="zh-CN" sz="1600" baseline="-25000" dirty="0"/>
              <a:t>i</a:t>
            </a:r>
            <a:r>
              <a:rPr lang="en-US" altLang="zh-CN" sz="1600" dirty="0"/>
              <a:t>&lt;=b</a:t>
            </a:r>
            <a:r>
              <a:rPr lang="en-US" altLang="zh-CN" sz="1600" baseline="-25000" dirty="0"/>
              <a:t>i</a:t>
            </a:r>
            <a:r>
              <a:rPr lang="en-US" altLang="zh-CN" sz="1600" dirty="0"/>
              <a:t>&lt;=1000</a:t>
            </a:r>
            <a:endParaRPr lang="zh-CN" altLang="zh-CN" sz="1600" dirty="0"/>
          </a:p>
          <a:p>
            <a:r>
              <a:rPr lang="en-US" altLang="zh-CN" sz="1600" dirty="0"/>
              <a:t>4</a:t>
            </a:r>
            <a:r>
              <a:rPr lang="zh-CN" altLang="zh-CN" sz="1600" dirty="0"/>
              <a:t>号数据：</a:t>
            </a:r>
            <a:r>
              <a:rPr lang="en-US" altLang="zh-CN" sz="1600" dirty="0"/>
              <a:t>n&lt;=100, 0&lt;=a</a:t>
            </a:r>
            <a:r>
              <a:rPr lang="en-US" altLang="zh-CN" sz="1600" baseline="-25000" dirty="0"/>
              <a:t>i</a:t>
            </a:r>
            <a:r>
              <a:rPr lang="en-US" altLang="zh-CN" sz="1600" dirty="0"/>
              <a:t>&lt;=b</a:t>
            </a:r>
            <a:r>
              <a:rPr lang="en-US" altLang="zh-CN" sz="1600" baseline="-25000" dirty="0"/>
              <a:t>i</a:t>
            </a:r>
            <a:r>
              <a:rPr lang="en-US" altLang="zh-CN" sz="1600" dirty="0"/>
              <a:t>&lt;=1000</a:t>
            </a:r>
            <a:endParaRPr lang="zh-CN" altLang="zh-CN" sz="1600" dirty="0"/>
          </a:p>
          <a:p>
            <a:r>
              <a:rPr lang="zh-CN" altLang="zh-CN" sz="1600" dirty="0"/>
              <a:t>所有数据：</a:t>
            </a:r>
            <a:r>
              <a:rPr lang="en-US" altLang="zh-CN" sz="1600" dirty="0"/>
              <a:t>2&lt;=n&lt;=100000, 0&lt;=a</a:t>
            </a:r>
            <a:r>
              <a:rPr lang="en-US" altLang="zh-CN" sz="1600" baseline="-25000" dirty="0"/>
              <a:t>i</a:t>
            </a:r>
            <a:r>
              <a:rPr lang="en-US" altLang="zh-CN" sz="1600" dirty="0"/>
              <a:t>&lt;=b</a:t>
            </a:r>
            <a:r>
              <a:rPr lang="en-US" altLang="zh-CN" sz="1600" baseline="-25000" dirty="0"/>
              <a:t>i</a:t>
            </a:r>
            <a:r>
              <a:rPr lang="en-US" altLang="zh-CN" sz="1600" dirty="0"/>
              <a:t>&lt;=1000000000</a:t>
            </a:r>
            <a:endParaRPr lang="zh-CN" altLang="zh-CN" sz="16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779E09-E424-452C-A914-29AED583D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51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23792" y="620689"/>
            <a:ext cx="403244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易错点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9610CDE-F4CB-331E-7B20-C86AD4E502C0}"/>
              </a:ext>
            </a:extLst>
          </p:cNvPr>
          <p:cNvSpPr txBox="1"/>
          <p:nvPr/>
        </p:nvSpPr>
        <p:spPr>
          <a:xfrm>
            <a:off x="4223792" y="1700809"/>
            <a:ext cx="4032448" cy="83099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编号的两种含义</a:t>
            </a:r>
            <a:endParaRPr lang="en-US" altLang="zh-CN" sz="2400" dirty="0">
              <a:latin typeface="Consolas" pitchFamily="49" charset="0"/>
              <a:cs typeface="Consolas" pitchFamily="49" charset="0"/>
            </a:endParaRPr>
          </a:p>
          <a:p>
            <a:pPr algn="ctr"/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坐标刻度和单位小段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D6E7D1A-520C-503B-C7CC-82991A9FE9FF}"/>
              </a:ext>
            </a:extLst>
          </p:cNvPr>
          <p:cNvCxnSpPr>
            <a:cxnSpLocks/>
          </p:cNvCxnSpPr>
          <p:nvPr/>
        </p:nvCxnSpPr>
        <p:spPr>
          <a:xfrm>
            <a:off x="4511824" y="3053073"/>
            <a:ext cx="3528392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07EE1E3-002F-436F-6D07-51E057763943}"/>
              </a:ext>
            </a:extLst>
          </p:cNvPr>
          <p:cNvCxnSpPr>
            <a:cxnSpLocks/>
          </p:cNvCxnSpPr>
          <p:nvPr/>
        </p:nvCxnSpPr>
        <p:spPr>
          <a:xfrm flipV="1">
            <a:off x="5137671" y="2975467"/>
            <a:ext cx="0" cy="16528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4DB5706-3C9D-EAE7-6126-3878FB559DF5}"/>
              </a:ext>
            </a:extLst>
          </p:cNvPr>
          <p:cNvCxnSpPr>
            <a:cxnSpLocks/>
          </p:cNvCxnSpPr>
          <p:nvPr/>
        </p:nvCxnSpPr>
        <p:spPr>
          <a:xfrm flipV="1">
            <a:off x="5641727" y="2975467"/>
            <a:ext cx="0" cy="16528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52E08D6-4C30-1446-98D6-BD7BF5BC34B3}"/>
              </a:ext>
            </a:extLst>
          </p:cNvPr>
          <p:cNvCxnSpPr>
            <a:cxnSpLocks/>
          </p:cNvCxnSpPr>
          <p:nvPr/>
        </p:nvCxnSpPr>
        <p:spPr>
          <a:xfrm flipV="1">
            <a:off x="6145783" y="2975467"/>
            <a:ext cx="0" cy="16528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335DEF88-CBD9-CD96-2B3B-59A8F1C958C6}"/>
              </a:ext>
            </a:extLst>
          </p:cNvPr>
          <p:cNvCxnSpPr>
            <a:cxnSpLocks/>
          </p:cNvCxnSpPr>
          <p:nvPr/>
        </p:nvCxnSpPr>
        <p:spPr>
          <a:xfrm flipV="1">
            <a:off x="6649839" y="2975467"/>
            <a:ext cx="0" cy="16528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0644F2F-0575-E67D-E024-1C8D6BDEF316}"/>
              </a:ext>
            </a:extLst>
          </p:cNvPr>
          <p:cNvCxnSpPr>
            <a:cxnSpLocks/>
          </p:cNvCxnSpPr>
          <p:nvPr/>
        </p:nvCxnSpPr>
        <p:spPr>
          <a:xfrm flipV="1">
            <a:off x="7153895" y="2975467"/>
            <a:ext cx="0" cy="16528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FB6BDBF-C7AC-88E2-2A5E-29A58A528468}"/>
              </a:ext>
            </a:extLst>
          </p:cNvPr>
          <p:cNvCxnSpPr>
            <a:cxnSpLocks/>
          </p:cNvCxnSpPr>
          <p:nvPr/>
        </p:nvCxnSpPr>
        <p:spPr>
          <a:xfrm flipV="1">
            <a:off x="7657951" y="2975467"/>
            <a:ext cx="0" cy="16528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1">
            <a:extLst>
              <a:ext uri="{FF2B5EF4-FFF2-40B4-BE49-F238E27FC236}">
                <a16:creationId xmlns:a16="http://schemas.microsoft.com/office/drawing/2014/main" id="{D292315F-9CEC-F53B-5522-2E3A9EF7772D}"/>
              </a:ext>
            </a:extLst>
          </p:cNvPr>
          <p:cNvSpPr txBox="1"/>
          <p:nvPr/>
        </p:nvSpPr>
        <p:spPr>
          <a:xfrm>
            <a:off x="5008471" y="2708920"/>
            <a:ext cx="2584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1</a:t>
            </a:r>
            <a:endParaRPr lang="zh-CN" altLang="en-US" sz="1600" dirty="0"/>
          </a:p>
        </p:txBody>
      </p:sp>
      <p:sp>
        <p:nvSpPr>
          <p:cNvPr id="35" name="TextBox 1">
            <a:extLst>
              <a:ext uri="{FF2B5EF4-FFF2-40B4-BE49-F238E27FC236}">
                <a16:creationId xmlns:a16="http://schemas.microsoft.com/office/drawing/2014/main" id="{E406B171-130C-C649-CA40-AAC1E5CFA121}"/>
              </a:ext>
            </a:extLst>
          </p:cNvPr>
          <p:cNvSpPr txBox="1"/>
          <p:nvPr/>
        </p:nvSpPr>
        <p:spPr>
          <a:xfrm>
            <a:off x="5512527" y="2708920"/>
            <a:ext cx="2584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2</a:t>
            </a:r>
            <a:endParaRPr lang="zh-CN" altLang="en-US" sz="1600" dirty="0"/>
          </a:p>
        </p:txBody>
      </p:sp>
      <p:sp>
        <p:nvSpPr>
          <p:cNvPr id="36" name="TextBox 1">
            <a:extLst>
              <a:ext uri="{FF2B5EF4-FFF2-40B4-BE49-F238E27FC236}">
                <a16:creationId xmlns:a16="http://schemas.microsoft.com/office/drawing/2014/main" id="{B967E8F9-734B-999E-C222-8722999B69D8}"/>
              </a:ext>
            </a:extLst>
          </p:cNvPr>
          <p:cNvSpPr txBox="1"/>
          <p:nvPr/>
        </p:nvSpPr>
        <p:spPr>
          <a:xfrm>
            <a:off x="6016583" y="2708920"/>
            <a:ext cx="2584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3</a:t>
            </a:r>
            <a:endParaRPr lang="zh-CN" altLang="en-US" sz="1600" dirty="0"/>
          </a:p>
        </p:txBody>
      </p:sp>
      <p:sp>
        <p:nvSpPr>
          <p:cNvPr id="37" name="TextBox 1">
            <a:extLst>
              <a:ext uri="{FF2B5EF4-FFF2-40B4-BE49-F238E27FC236}">
                <a16:creationId xmlns:a16="http://schemas.microsoft.com/office/drawing/2014/main" id="{89037325-66EE-3CE0-8C08-5DDD15A9B82B}"/>
              </a:ext>
            </a:extLst>
          </p:cNvPr>
          <p:cNvSpPr txBox="1"/>
          <p:nvPr/>
        </p:nvSpPr>
        <p:spPr>
          <a:xfrm>
            <a:off x="6520639" y="2708920"/>
            <a:ext cx="2584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4</a:t>
            </a:r>
            <a:endParaRPr lang="zh-CN" altLang="en-US" sz="1600" dirty="0"/>
          </a:p>
        </p:txBody>
      </p:sp>
      <p:sp>
        <p:nvSpPr>
          <p:cNvPr id="38" name="TextBox 1">
            <a:extLst>
              <a:ext uri="{FF2B5EF4-FFF2-40B4-BE49-F238E27FC236}">
                <a16:creationId xmlns:a16="http://schemas.microsoft.com/office/drawing/2014/main" id="{DB08C26A-3574-E9CC-F9BD-35CF67C20855}"/>
              </a:ext>
            </a:extLst>
          </p:cNvPr>
          <p:cNvSpPr txBox="1"/>
          <p:nvPr/>
        </p:nvSpPr>
        <p:spPr>
          <a:xfrm>
            <a:off x="7024695" y="2708920"/>
            <a:ext cx="2584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5</a:t>
            </a:r>
            <a:endParaRPr lang="zh-CN" altLang="en-US" sz="1600" dirty="0"/>
          </a:p>
        </p:txBody>
      </p:sp>
      <p:sp>
        <p:nvSpPr>
          <p:cNvPr id="39" name="TextBox 1">
            <a:extLst>
              <a:ext uri="{FF2B5EF4-FFF2-40B4-BE49-F238E27FC236}">
                <a16:creationId xmlns:a16="http://schemas.microsoft.com/office/drawing/2014/main" id="{3906C848-7B18-64BD-5887-4D5BD757ECA7}"/>
              </a:ext>
            </a:extLst>
          </p:cNvPr>
          <p:cNvSpPr txBox="1"/>
          <p:nvPr/>
        </p:nvSpPr>
        <p:spPr>
          <a:xfrm>
            <a:off x="7528751" y="2708920"/>
            <a:ext cx="2584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6</a:t>
            </a:r>
            <a:endParaRPr lang="zh-CN" altLang="en-US" sz="1600" dirty="0"/>
          </a:p>
        </p:txBody>
      </p:sp>
      <p:sp>
        <p:nvSpPr>
          <p:cNvPr id="40" name="TextBox 1">
            <a:extLst>
              <a:ext uri="{FF2B5EF4-FFF2-40B4-BE49-F238E27FC236}">
                <a16:creationId xmlns:a16="http://schemas.microsoft.com/office/drawing/2014/main" id="{A7624E76-01E6-DE69-120D-932EDF6B6F07}"/>
              </a:ext>
            </a:extLst>
          </p:cNvPr>
          <p:cNvSpPr txBox="1"/>
          <p:nvPr/>
        </p:nvSpPr>
        <p:spPr>
          <a:xfrm>
            <a:off x="5266473" y="3144743"/>
            <a:ext cx="258400" cy="33855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1</a:t>
            </a:r>
            <a:endParaRPr lang="zh-CN" altLang="en-US" sz="1600" dirty="0"/>
          </a:p>
        </p:txBody>
      </p:sp>
      <p:sp>
        <p:nvSpPr>
          <p:cNvPr id="41" name="TextBox 1">
            <a:extLst>
              <a:ext uri="{FF2B5EF4-FFF2-40B4-BE49-F238E27FC236}">
                <a16:creationId xmlns:a16="http://schemas.microsoft.com/office/drawing/2014/main" id="{922C9B24-602A-356D-48D1-F619B15768CB}"/>
              </a:ext>
            </a:extLst>
          </p:cNvPr>
          <p:cNvSpPr txBox="1"/>
          <p:nvPr/>
        </p:nvSpPr>
        <p:spPr>
          <a:xfrm>
            <a:off x="5770529" y="3144743"/>
            <a:ext cx="258400" cy="33855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2</a:t>
            </a:r>
            <a:endParaRPr lang="zh-CN" altLang="en-US" sz="1600" dirty="0"/>
          </a:p>
        </p:txBody>
      </p:sp>
      <p:sp>
        <p:nvSpPr>
          <p:cNvPr id="42" name="TextBox 1">
            <a:extLst>
              <a:ext uri="{FF2B5EF4-FFF2-40B4-BE49-F238E27FC236}">
                <a16:creationId xmlns:a16="http://schemas.microsoft.com/office/drawing/2014/main" id="{7E356BAA-B405-D9F5-8CD7-79E13A2EE0B9}"/>
              </a:ext>
            </a:extLst>
          </p:cNvPr>
          <p:cNvSpPr txBox="1"/>
          <p:nvPr/>
        </p:nvSpPr>
        <p:spPr>
          <a:xfrm>
            <a:off x="6274585" y="3144743"/>
            <a:ext cx="258400" cy="33855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3</a:t>
            </a:r>
            <a:endParaRPr lang="zh-CN" altLang="en-US" sz="1600" dirty="0"/>
          </a:p>
        </p:txBody>
      </p:sp>
      <p:sp>
        <p:nvSpPr>
          <p:cNvPr id="43" name="TextBox 1">
            <a:extLst>
              <a:ext uri="{FF2B5EF4-FFF2-40B4-BE49-F238E27FC236}">
                <a16:creationId xmlns:a16="http://schemas.microsoft.com/office/drawing/2014/main" id="{A4A86C16-6855-B7D0-7A9B-913220D3BE84}"/>
              </a:ext>
            </a:extLst>
          </p:cNvPr>
          <p:cNvSpPr txBox="1"/>
          <p:nvPr/>
        </p:nvSpPr>
        <p:spPr>
          <a:xfrm>
            <a:off x="6778641" y="3144743"/>
            <a:ext cx="258400" cy="33855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4</a:t>
            </a:r>
            <a:endParaRPr lang="zh-CN" altLang="en-US" sz="1600" dirty="0"/>
          </a:p>
        </p:txBody>
      </p:sp>
      <p:sp>
        <p:nvSpPr>
          <p:cNvPr id="44" name="TextBox 1">
            <a:extLst>
              <a:ext uri="{FF2B5EF4-FFF2-40B4-BE49-F238E27FC236}">
                <a16:creationId xmlns:a16="http://schemas.microsoft.com/office/drawing/2014/main" id="{E56A49BF-C18F-AFEB-D4FB-A3D4E8441106}"/>
              </a:ext>
            </a:extLst>
          </p:cNvPr>
          <p:cNvSpPr txBox="1"/>
          <p:nvPr/>
        </p:nvSpPr>
        <p:spPr>
          <a:xfrm>
            <a:off x="7282697" y="3144743"/>
            <a:ext cx="258400" cy="33855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5</a:t>
            </a:r>
            <a:endParaRPr lang="zh-CN" altLang="en-US" sz="16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109D68-8068-9D34-6AF8-3CE72393906A}"/>
              </a:ext>
            </a:extLst>
          </p:cNvPr>
          <p:cNvSpPr/>
          <p:nvPr/>
        </p:nvSpPr>
        <p:spPr>
          <a:xfrm>
            <a:off x="4223793" y="4132374"/>
            <a:ext cx="4032447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坐标点对应右侧短边</a:t>
            </a:r>
            <a:endParaRPr lang="zh-CN" altLang="zh-CN" sz="2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F37107-39E0-37B8-4C03-D1DDD17CD4D3}"/>
              </a:ext>
            </a:extLst>
          </p:cNvPr>
          <p:cNvSpPr/>
          <p:nvPr/>
        </p:nvSpPr>
        <p:spPr>
          <a:xfrm>
            <a:off x="5482497" y="5172363"/>
            <a:ext cx="1296144" cy="1415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1077662-6381-72B3-60BF-E67878569295}"/>
              </a:ext>
            </a:extLst>
          </p:cNvPr>
          <p:cNvSpPr/>
          <p:nvPr/>
        </p:nvSpPr>
        <p:spPr>
          <a:xfrm>
            <a:off x="4852929" y="4866763"/>
            <a:ext cx="120563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Consolas" panose="020B0609020204030204" pitchFamily="49" charset="0"/>
              </a:rPr>
              <a:t>坐标</a:t>
            </a:r>
            <a:r>
              <a:rPr lang="en-US" altLang="zh-CN" sz="1600" dirty="0">
                <a:latin typeface="Consolas" panose="020B0609020204030204" pitchFamily="49" charset="0"/>
              </a:rPr>
              <a:t>x</a:t>
            </a:r>
            <a:endParaRPr lang="zh-CN" altLang="zh-CN" sz="1600" dirty="0">
              <a:latin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00FC81E-4CC4-0836-B26A-55D89D64E562}"/>
              </a:ext>
            </a:extLst>
          </p:cNvPr>
          <p:cNvSpPr/>
          <p:nvPr/>
        </p:nvSpPr>
        <p:spPr>
          <a:xfrm>
            <a:off x="6155843" y="4866763"/>
            <a:ext cx="120563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Consolas" panose="020B0609020204030204" pitchFamily="49" charset="0"/>
              </a:rPr>
              <a:t>坐标</a:t>
            </a:r>
            <a:r>
              <a:rPr lang="en-US" altLang="zh-CN" sz="1600" dirty="0">
                <a:latin typeface="Consolas" panose="020B0609020204030204" pitchFamily="49" charset="0"/>
              </a:rPr>
              <a:t>x+1</a:t>
            </a:r>
            <a:endParaRPr lang="zh-CN" altLang="zh-CN" sz="1600" dirty="0">
              <a:latin typeface="Consolas" panose="020B06090202040302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E4D2BB0-E390-C702-E35A-E586396DF653}"/>
              </a:ext>
            </a:extLst>
          </p:cNvPr>
          <p:cNvSpPr/>
          <p:nvPr/>
        </p:nvSpPr>
        <p:spPr>
          <a:xfrm>
            <a:off x="5624839" y="5313865"/>
            <a:ext cx="1025000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Consolas" panose="020B0609020204030204" pitchFamily="49" charset="0"/>
              </a:rPr>
              <a:t>x</a:t>
            </a:r>
            <a:r>
              <a:rPr lang="zh-CN" altLang="en-US" sz="1600" dirty="0">
                <a:latin typeface="Consolas" panose="020B0609020204030204" pitchFamily="49" charset="0"/>
              </a:rPr>
              <a:t>号小段</a:t>
            </a:r>
            <a:endParaRPr lang="zh-CN" altLang="zh-CN" sz="1600" dirty="0">
              <a:latin typeface="Consolas" panose="020B0609020204030204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FAFF66-8080-4ECE-83A7-CDD60B8D9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54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/>
      <p:bldP spid="10" grpId="0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764A77A-7723-41C2-91D4-1A84F4A125E5}"/>
              </a:ext>
            </a:extLst>
          </p:cNvPr>
          <p:cNvSpPr/>
          <p:nvPr/>
        </p:nvSpPr>
        <p:spPr>
          <a:xfrm>
            <a:off x="3502174" y="876612"/>
            <a:ext cx="5330452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识别无效区间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4058271-B8D6-4E49-8689-C6E92555E298}"/>
              </a:ext>
            </a:extLst>
          </p:cNvPr>
          <p:cNvSpPr/>
          <p:nvPr/>
        </p:nvSpPr>
        <p:spPr>
          <a:xfrm>
            <a:off x="3502174" y="1849022"/>
            <a:ext cx="5330452" cy="169738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Consolas" panose="020B0609020204030204" pitchFamily="49" charset="0"/>
              </a:rPr>
              <a:t>若某个区间</a:t>
            </a:r>
            <a:r>
              <a:rPr lang="en-US" altLang="zh-CN" sz="2400" dirty="0">
                <a:latin typeface="Consolas" panose="020B0609020204030204" pitchFamily="49" charset="0"/>
              </a:rPr>
              <a:t>A</a:t>
            </a:r>
            <a:r>
              <a:rPr lang="zh-CN" altLang="en-US" sz="2400" dirty="0">
                <a:latin typeface="Consolas" panose="020B0609020204030204" pitchFamily="49" charset="0"/>
              </a:rPr>
              <a:t>被别的区间</a:t>
            </a:r>
            <a:r>
              <a:rPr lang="en-US" altLang="zh-CN" sz="2400" dirty="0">
                <a:latin typeface="Consolas" panose="020B0609020204030204" pitchFamily="49" charset="0"/>
              </a:rPr>
              <a:t>B</a:t>
            </a:r>
            <a:r>
              <a:rPr lang="zh-CN" altLang="en-US" sz="2400" dirty="0">
                <a:latin typeface="Consolas" panose="020B0609020204030204" pitchFamily="49" charset="0"/>
              </a:rPr>
              <a:t>包含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Consolas" panose="020B0609020204030204" pitchFamily="49" charset="0"/>
              </a:rPr>
              <a:t>则区间</a:t>
            </a:r>
            <a:r>
              <a:rPr lang="en-US" altLang="zh-CN" sz="2400" dirty="0">
                <a:latin typeface="Consolas" panose="020B0609020204030204" pitchFamily="49" charset="0"/>
              </a:rPr>
              <a:t>A</a:t>
            </a:r>
            <a:r>
              <a:rPr lang="zh-CN" altLang="en-US" sz="2400" dirty="0">
                <a:latin typeface="Consolas" panose="020B0609020204030204" pitchFamily="49" charset="0"/>
              </a:rPr>
              <a:t>可以删除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Consolas" panose="020B0609020204030204" pitchFamily="49" charset="0"/>
              </a:rPr>
              <a:t>而不影响覆盖长度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4B90FF6-775B-4351-9DA2-A4E687B66D7A}"/>
              </a:ext>
            </a:extLst>
          </p:cNvPr>
          <p:cNvSpPr/>
          <p:nvPr/>
        </p:nvSpPr>
        <p:spPr>
          <a:xfrm>
            <a:off x="3502174" y="3997554"/>
            <a:ext cx="533045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Consolas" panose="020B0609020204030204" pitchFamily="49" charset="0"/>
              </a:rPr>
              <a:t>请描述“识别无效区间”的算法步骤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9EFF91-E173-426E-9B8C-140C6F1DF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62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E1CB4DF5-C09E-55B9-01CD-A5E188398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59" y="1700808"/>
            <a:ext cx="5760640" cy="3045434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F16B2FC-6EA0-495E-9AC9-4BF03BBF1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005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863752" y="764705"/>
            <a:ext cx="5256584" cy="95410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/>
              <a:t>tag[p]</a:t>
            </a:r>
            <a:r>
              <a:rPr lang="zh-CN" altLang="en-US" sz="2800" dirty="0"/>
              <a:t>表示</a:t>
            </a:r>
            <a:r>
              <a:rPr lang="en-US" altLang="zh-CN" sz="2800" dirty="0"/>
              <a:t>p</a:t>
            </a:r>
            <a:r>
              <a:rPr lang="zh-CN" altLang="en-US" sz="2800" dirty="0"/>
              <a:t>号小段比</a:t>
            </a:r>
            <a:r>
              <a:rPr lang="en-US" altLang="zh-CN" sz="2800" dirty="0"/>
              <a:t>p-1</a:t>
            </a:r>
            <a:r>
              <a:rPr lang="zh-CN" altLang="en-US" sz="2800" dirty="0"/>
              <a:t>号小段</a:t>
            </a:r>
            <a:endParaRPr lang="en-US" altLang="zh-CN" sz="2800" dirty="0"/>
          </a:p>
          <a:p>
            <a:pPr algn="ctr"/>
            <a:r>
              <a:rPr lang="zh-CN" altLang="en-US" sz="2800" dirty="0"/>
              <a:t>多覆盖了几层</a:t>
            </a:r>
            <a:endParaRPr lang="en-US" altLang="zh-CN" sz="28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E59A4B-DC22-925F-1667-4755340386CC}"/>
              </a:ext>
            </a:extLst>
          </p:cNvPr>
          <p:cNvSpPr/>
          <p:nvPr/>
        </p:nvSpPr>
        <p:spPr>
          <a:xfrm>
            <a:off x="2351584" y="764705"/>
            <a:ext cx="1008112" cy="1384995"/>
          </a:xfrm>
          <a:prstGeom prst="rect">
            <a:avLst/>
          </a:prstGeom>
          <a:solidFill>
            <a:srgbClr val="FFFFCC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差分标记两端</a:t>
            </a:r>
            <a:endParaRPr lang="en-US" altLang="zh-CN" sz="28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F97C2D9-319F-489E-D0F5-B07297313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696" y="4045254"/>
            <a:ext cx="5076056" cy="1463814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2105CA5-3A81-99B6-FD4D-2074A7BDB27C}"/>
              </a:ext>
            </a:extLst>
          </p:cNvPr>
          <p:cNvCxnSpPr>
            <a:cxnSpLocks/>
          </p:cNvCxnSpPr>
          <p:nvPr/>
        </p:nvCxnSpPr>
        <p:spPr>
          <a:xfrm>
            <a:off x="4606058" y="3080855"/>
            <a:ext cx="3528392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EF21925-DD3B-8450-A7B8-C5A550BDB982}"/>
              </a:ext>
            </a:extLst>
          </p:cNvPr>
          <p:cNvCxnSpPr>
            <a:cxnSpLocks/>
          </p:cNvCxnSpPr>
          <p:nvPr/>
        </p:nvCxnSpPr>
        <p:spPr>
          <a:xfrm flipV="1">
            <a:off x="5231905" y="3003249"/>
            <a:ext cx="0" cy="16528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CDC14A5-C76F-75E7-A1C5-A7FF5A1501EC}"/>
              </a:ext>
            </a:extLst>
          </p:cNvPr>
          <p:cNvCxnSpPr>
            <a:cxnSpLocks/>
          </p:cNvCxnSpPr>
          <p:nvPr/>
        </p:nvCxnSpPr>
        <p:spPr>
          <a:xfrm flipV="1">
            <a:off x="5735961" y="3003249"/>
            <a:ext cx="0" cy="16528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B34E2D5-20D3-851C-4BEF-A8DA8F5C9169}"/>
              </a:ext>
            </a:extLst>
          </p:cNvPr>
          <p:cNvCxnSpPr>
            <a:cxnSpLocks/>
          </p:cNvCxnSpPr>
          <p:nvPr/>
        </p:nvCxnSpPr>
        <p:spPr>
          <a:xfrm flipV="1">
            <a:off x="6240017" y="3003249"/>
            <a:ext cx="0" cy="16528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94AC00D-21C9-16A5-351F-F4D9E81ED6CE}"/>
              </a:ext>
            </a:extLst>
          </p:cNvPr>
          <p:cNvCxnSpPr>
            <a:cxnSpLocks/>
          </p:cNvCxnSpPr>
          <p:nvPr/>
        </p:nvCxnSpPr>
        <p:spPr>
          <a:xfrm flipV="1">
            <a:off x="6744073" y="3003249"/>
            <a:ext cx="0" cy="16528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D81F811-21B6-C732-AB2E-C09521C617F3}"/>
              </a:ext>
            </a:extLst>
          </p:cNvPr>
          <p:cNvCxnSpPr>
            <a:cxnSpLocks/>
          </p:cNvCxnSpPr>
          <p:nvPr/>
        </p:nvCxnSpPr>
        <p:spPr>
          <a:xfrm flipV="1">
            <a:off x="7248129" y="3003249"/>
            <a:ext cx="0" cy="16528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E601D06-3F29-E604-A9F6-01F518DE4978}"/>
              </a:ext>
            </a:extLst>
          </p:cNvPr>
          <p:cNvCxnSpPr>
            <a:cxnSpLocks/>
          </p:cNvCxnSpPr>
          <p:nvPr/>
        </p:nvCxnSpPr>
        <p:spPr>
          <a:xfrm flipV="1">
            <a:off x="7752185" y="3003249"/>
            <a:ext cx="0" cy="16528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">
            <a:extLst>
              <a:ext uri="{FF2B5EF4-FFF2-40B4-BE49-F238E27FC236}">
                <a16:creationId xmlns:a16="http://schemas.microsoft.com/office/drawing/2014/main" id="{D6EEB5C3-8DC7-3898-DC3D-5653734D701A}"/>
              </a:ext>
            </a:extLst>
          </p:cNvPr>
          <p:cNvSpPr txBox="1"/>
          <p:nvPr/>
        </p:nvSpPr>
        <p:spPr>
          <a:xfrm>
            <a:off x="4894092" y="2642451"/>
            <a:ext cx="67562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a[i]</a:t>
            </a:r>
            <a:endParaRPr lang="zh-CN" altLang="en-US" sz="1600" dirty="0"/>
          </a:p>
        </p:txBody>
      </p:sp>
      <p:sp>
        <p:nvSpPr>
          <p:cNvPr id="24" name="TextBox 1">
            <a:extLst>
              <a:ext uri="{FF2B5EF4-FFF2-40B4-BE49-F238E27FC236}">
                <a16:creationId xmlns:a16="http://schemas.microsoft.com/office/drawing/2014/main" id="{0FAB83D7-F7F5-E429-EAF6-6B4053DFA980}"/>
              </a:ext>
            </a:extLst>
          </p:cNvPr>
          <p:cNvSpPr txBox="1"/>
          <p:nvPr/>
        </p:nvSpPr>
        <p:spPr>
          <a:xfrm>
            <a:off x="7494185" y="2642451"/>
            <a:ext cx="5160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b[i]</a:t>
            </a:r>
            <a:endParaRPr lang="zh-CN" altLang="en-US" sz="1600" dirty="0"/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96FA009C-1B75-00CA-6172-9865917520B1}"/>
              </a:ext>
            </a:extLst>
          </p:cNvPr>
          <p:cNvSpPr txBox="1"/>
          <p:nvPr/>
        </p:nvSpPr>
        <p:spPr>
          <a:xfrm>
            <a:off x="5149620" y="3172526"/>
            <a:ext cx="68057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段号</a:t>
            </a:r>
            <a:r>
              <a:rPr lang="en-US" altLang="zh-CN" sz="1600" dirty="0"/>
              <a:t>a[i]</a:t>
            </a:r>
            <a:endParaRPr lang="zh-CN" altLang="en-US" sz="1600" dirty="0"/>
          </a:p>
        </p:txBody>
      </p:sp>
      <p:sp>
        <p:nvSpPr>
          <p:cNvPr id="29" name="TextBox 1">
            <a:extLst>
              <a:ext uri="{FF2B5EF4-FFF2-40B4-BE49-F238E27FC236}">
                <a16:creationId xmlns:a16="http://schemas.microsoft.com/office/drawing/2014/main" id="{1DD708C1-5D78-0C4F-2A27-146954DEBD1A}"/>
              </a:ext>
            </a:extLst>
          </p:cNvPr>
          <p:cNvSpPr txBox="1"/>
          <p:nvPr/>
        </p:nvSpPr>
        <p:spPr>
          <a:xfrm>
            <a:off x="7126340" y="3172526"/>
            <a:ext cx="759582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段号</a:t>
            </a:r>
            <a:r>
              <a:rPr lang="en-US" altLang="zh-CN" sz="1600" dirty="0"/>
              <a:t>b[i]-1</a:t>
            </a:r>
            <a:endParaRPr lang="zh-CN" altLang="en-US" sz="16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5FB1506-4C68-7830-06B2-44191B3B87B9}"/>
              </a:ext>
            </a:extLst>
          </p:cNvPr>
          <p:cNvSpPr/>
          <p:nvPr/>
        </p:nvSpPr>
        <p:spPr>
          <a:xfrm>
            <a:off x="5231905" y="2492897"/>
            <a:ext cx="2520275" cy="1415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09C779C-9BE9-48EE-9A2C-AEC5122FF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516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  <p:bldP spid="25" grpId="0"/>
      <p:bldP spid="29" grpId="0"/>
      <p:bldP spid="3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775DDF1-057B-8F21-1FFA-9E909040A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0"/>
            <a:ext cx="5975956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AB26ADC-76BC-62C9-E2C6-DA12DAC01E73}"/>
              </a:ext>
            </a:extLst>
          </p:cNvPr>
          <p:cNvSpPr/>
          <p:nvPr/>
        </p:nvSpPr>
        <p:spPr>
          <a:xfrm>
            <a:off x="7536160" y="2852936"/>
            <a:ext cx="2088232" cy="400110"/>
          </a:xfrm>
          <a:prstGeom prst="rect">
            <a:avLst/>
          </a:prstGeom>
          <a:solidFill>
            <a:srgbClr val="FFFFCC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删除差分标记</a:t>
            </a:r>
            <a:endParaRPr lang="en-US" altLang="zh-CN" sz="20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9F980C-D72E-53A6-FCD4-F81F7C98FD07}"/>
              </a:ext>
            </a:extLst>
          </p:cNvPr>
          <p:cNvSpPr/>
          <p:nvPr/>
        </p:nvSpPr>
        <p:spPr>
          <a:xfrm>
            <a:off x="7536160" y="5373216"/>
            <a:ext cx="2088232" cy="400110"/>
          </a:xfrm>
          <a:prstGeom prst="rect">
            <a:avLst/>
          </a:prstGeom>
          <a:solidFill>
            <a:srgbClr val="FFFFCC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补回差分标记</a:t>
            </a:r>
            <a:endParaRPr lang="en-US" altLang="zh-CN" sz="20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5183B6-EE81-7614-5D0A-914AAAD1565E}"/>
              </a:ext>
            </a:extLst>
          </p:cNvPr>
          <p:cNvSpPr/>
          <p:nvPr/>
        </p:nvSpPr>
        <p:spPr>
          <a:xfrm>
            <a:off x="3513872" y="5305593"/>
            <a:ext cx="2090253" cy="27748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C6EAB0-DCAA-5B8C-6383-BD003336282B}"/>
              </a:ext>
            </a:extLst>
          </p:cNvPr>
          <p:cNvSpPr/>
          <p:nvPr/>
        </p:nvSpPr>
        <p:spPr>
          <a:xfrm>
            <a:off x="3513872" y="5625092"/>
            <a:ext cx="2090253" cy="27748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89016FF-CF85-4A72-9383-EBF99C5DD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126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791744" y="1340768"/>
            <a:ext cx="4896544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复杂度分析</a:t>
            </a:r>
            <a:endParaRPr lang="zh-CN" altLang="zh-CN" sz="28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E7A87C-D863-01E0-1296-CF48C1AD7D7C}"/>
              </a:ext>
            </a:extLst>
          </p:cNvPr>
          <p:cNvSpPr/>
          <p:nvPr/>
        </p:nvSpPr>
        <p:spPr>
          <a:xfrm>
            <a:off x="3791744" y="2507989"/>
            <a:ext cx="4896544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时间复杂度</a:t>
            </a:r>
            <a:r>
              <a:rPr lang="en-US" altLang="zh-CN" sz="2800" dirty="0"/>
              <a:t>O(n*R)</a:t>
            </a:r>
            <a:endParaRPr lang="zh-CN" altLang="zh-CN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08A156-7A7B-B072-F428-48D1EC41F9F1}"/>
              </a:ext>
            </a:extLst>
          </p:cNvPr>
          <p:cNvSpPr/>
          <p:nvPr/>
        </p:nvSpPr>
        <p:spPr>
          <a:xfrm>
            <a:off x="3791744" y="3413600"/>
            <a:ext cx="4896544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空间复杂度</a:t>
            </a:r>
            <a:r>
              <a:rPr lang="en-US" altLang="zh-CN" sz="2800" dirty="0"/>
              <a:t>O(n+R)</a:t>
            </a:r>
            <a:endParaRPr lang="zh-CN" altLang="zh-CN" sz="28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8E220B-0385-2B8F-5BFB-587FF1BDA1EC}"/>
              </a:ext>
            </a:extLst>
          </p:cNvPr>
          <p:cNvSpPr/>
          <p:nvPr/>
        </p:nvSpPr>
        <p:spPr>
          <a:xfrm>
            <a:off x="3791744" y="4319211"/>
            <a:ext cx="4896544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思考如何优化</a:t>
            </a:r>
            <a:r>
              <a:rPr lang="en-US" altLang="zh-CN" sz="2800" dirty="0"/>
              <a:t>?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3EEBB2-C242-815A-0C0D-99C90B95262B}"/>
              </a:ext>
            </a:extLst>
          </p:cNvPr>
          <p:cNvSpPr/>
          <p:nvPr/>
        </p:nvSpPr>
        <p:spPr>
          <a:xfrm>
            <a:off x="9371856" y="0"/>
            <a:ext cx="1296144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/>
              <a:t>50</a:t>
            </a:r>
            <a:r>
              <a:rPr lang="zh-CN" altLang="en-US" sz="2800" dirty="0"/>
              <a:t>分</a:t>
            </a:r>
            <a:endParaRPr lang="zh-CN" altLang="zh-CN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AB8B489-0CF5-4B4B-A41A-67D13853C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81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791744" y="2084075"/>
            <a:ext cx="4896544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空间优化</a:t>
            </a:r>
            <a:endParaRPr lang="zh-CN" altLang="zh-CN" sz="28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E7A87C-D863-01E0-1296-CF48C1AD7D7C}"/>
              </a:ext>
            </a:extLst>
          </p:cNvPr>
          <p:cNvSpPr/>
          <p:nvPr/>
        </p:nvSpPr>
        <p:spPr>
          <a:xfrm>
            <a:off x="3791744" y="2607296"/>
            <a:ext cx="489654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离散化</a:t>
            </a:r>
            <a:r>
              <a:rPr lang="en-US" altLang="zh-CN" sz="2400" dirty="0"/>
              <a:t>/</a:t>
            </a:r>
            <a:r>
              <a:rPr lang="zh-CN" altLang="en-US" sz="2400" dirty="0"/>
              <a:t>坐标压缩</a:t>
            </a:r>
            <a:endParaRPr lang="en-US" altLang="zh-CN" sz="24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5EE3594-D77C-449F-B76B-01E3FDDCD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624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FFB83CA-938C-FDBF-B2A0-2A5A2EDDB87F}"/>
              </a:ext>
            </a:extLst>
          </p:cNvPr>
          <p:cNvSpPr/>
          <p:nvPr/>
        </p:nvSpPr>
        <p:spPr>
          <a:xfrm>
            <a:off x="1008634" y="958641"/>
            <a:ext cx="2711102" cy="1776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F06BA6-B88C-8DF7-C995-EDD1BC2E08ED}"/>
              </a:ext>
            </a:extLst>
          </p:cNvPr>
          <p:cNvSpPr/>
          <p:nvPr/>
        </p:nvSpPr>
        <p:spPr>
          <a:xfrm>
            <a:off x="1008635" y="1529057"/>
            <a:ext cx="9742682" cy="1334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8C71CD22-4D4A-45DA-8886-7808E033E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CD58E98-5A45-424B-8CA3-D92D5E037745}"/>
              </a:ext>
            </a:extLst>
          </p:cNvPr>
          <p:cNvSpPr/>
          <p:nvPr/>
        </p:nvSpPr>
        <p:spPr>
          <a:xfrm>
            <a:off x="1008634" y="594549"/>
            <a:ext cx="3385926" cy="1776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B18DB4A-F8F6-42CE-B06A-65B29BC26928}"/>
              </a:ext>
            </a:extLst>
          </p:cNvPr>
          <p:cNvSpPr/>
          <p:nvPr/>
        </p:nvSpPr>
        <p:spPr>
          <a:xfrm>
            <a:off x="2627168" y="1217673"/>
            <a:ext cx="3756812" cy="1723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50383B4-4EAF-49E1-806A-D1598D6D9B20}"/>
              </a:ext>
            </a:extLst>
          </p:cNvPr>
          <p:cNvSpPr/>
          <p:nvPr/>
        </p:nvSpPr>
        <p:spPr>
          <a:xfrm>
            <a:off x="5245393" y="792106"/>
            <a:ext cx="5505924" cy="215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AD7896-3831-4752-850A-CD251D6CE728}"/>
              </a:ext>
            </a:extLst>
          </p:cNvPr>
          <p:cNvCxnSpPr>
            <a:cxnSpLocks/>
          </p:cNvCxnSpPr>
          <p:nvPr/>
        </p:nvCxnSpPr>
        <p:spPr>
          <a:xfrm>
            <a:off x="1016254" y="683370"/>
            <a:ext cx="1" cy="95774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73D7F86-FCB1-4E68-AE4B-4294D9D4259D}"/>
              </a:ext>
            </a:extLst>
          </p:cNvPr>
          <p:cNvCxnSpPr>
            <a:cxnSpLocks/>
          </p:cNvCxnSpPr>
          <p:nvPr/>
        </p:nvCxnSpPr>
        <p:spPr>
          <a:xfrm>
            <a:off x="4381232" y="637457"/>
            <a:ext cx="1" cy="100366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A8110E85-E696-420D-A5CB-A5ED24F2E001}"/>
              </a:ext>
            </a:extLst>
          </p:cNvPr>
          <p:cNvCxnSpPr>
            <a:cxnSpLocks/>
          </p:cNvCxnSpPr>
          <p:nvPr/>
        </p:nvCxnSpPr>
        <p:spPr>
          <a:xfrm>
            <a:off x="2637200" y="1282282"/>
            <a:ext cx="0" cy="35883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697EEF5-ACD5-4022-8885-BFD540E31EF0}"/>
              </a:ext>
            </a:extLst>
          </p:cNvPr>
          <p:cNvCxnSpPr>
            <a:cxnSpLocks/>
          </p:cNvCxnSpPr>
          <p:nvPr/>
        </p:nvCxnSpPr>
        <p:spPr>
          <a:xfrm flipH="1">
            <a:off x="3705388" y="1047462"/>
            <a:ext cx="598" cy="59365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5E480BA3-6076-4904-86B3-BDCB116BF421}"/>
              </a:ext>
            </a:extLst>
          </p:cNvPr>
          <p:cNvCxnSpPr>
            <a:cxnSpLocks/>
          </p:cNvCxnSpPr>
          <p:nvPr/>
        </p:nvCxnSpPr>
        <p:spPr>
          <a:xfrm>
            <a:off x="5249057" y="899810"/>
            <a:ext cx="8787" cy="74130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21CE0913-9E4E-4CC3-A925-ED8AD538A656}"/>
              </a:ext>
            </a:extLst>
          </p:cNvPr>
          <p:cNvCxnSpPr>
            <a:cxnSpLocks/>
          </p:cNvCxnSpPr>
          <p:nvPr/>
        </p:nvCxnSpPr>
        <p:spPr>
          <a:xfrm flipH="1">
            <a:off x="6371505" y="1282282"/>
            <a:ext cx="2358" cy="35883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C22F99D6-C5BE-4242-841E-1DECC01F912F}"/>
              </a:ext>
            </a:extLst>
          </p:cNvPr>
          <p:cNvCxnSpPr>
            <a:cxnSpLocks/>
          </p:cNvCxnSpPr>
          <p:nvPr/>
        </p:nvCxnSpPr>
        <p:spPr>
          <a:xfrm flipH="1">
            <a:off x="10731323" y="899810"/>
            <a:ext cx="8390" cy="74130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4" name="椭圆 53">
            <a:extLst>
              <a:ext uri="{FF2B5EF4-FFF2-40B4-BE49-F238E27FC236}">
                <a16:creationId xmlns:a16="http://schemas.microsoft.com/office/drawing/2014/main" id="{361BF657-2771-482A-94A0-2F36FEF82E3C}"/>
              </a:ext>
            </a:extLst>
          </p:cNvPr>
          <p:cNvSpPr/>
          <p:nvPr/>
        </p:nvSpPr>
        <p:spPr>
          <a:xfrm>
            <a:off x="872238" y="1456882"/>
            <a:ext cx="288032" cy="288032"/>
          </a:xfrm>
          <a:prstGeom prst="ellipse">
            <a:avLst/>
          </a:prstGeom>
          <a:solidFill>
            <a:schemeClr val="accent6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899613C8-D767-4473-833D-4E32EC283E04}"/>
              </a:ext>
            </a:extLst>
          </p:cNvPr>
          <p:cNvSpPr/>
          <p:nvPr/>
        </p:nvSpPr>
        <p:spPr>
          <a:xfrm>
            <a:off x="2493184" y="1456882"/>
            <a:ext cx="288032" cy="288032"/>
          </a:xfrm>
          <a:prstGeom prst="ellipse">
            <a:avLst/>
          </a:prstGeom>
          <a:solidFill>
            <a:schemeClr val="accent6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551DCB2A-9B45-4EB3-945C-65F2522FF250}"/>
              </a:ext>
            </a:extLst>
          </p:cNvPr>
          <p:cNvSpPr/>
          <p:nvPr/>
        </p:nvSpPr>
        <p:spPr>
          <a:xfrm>
            <a:off x="3561671" y="1456882"/>
            <a:ext cx="288032" cy="288032"/>
          </a:xfrm>
          <a:prstGeom prst="ellipse">
            <a:avLst/>
          </a:prstGeom>
          <a:solidFill>
            <a:schemeClr val="accent6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E0024E4-5BAE-4FDC-981F-3D50A6E015FA}"/>
              </a:ext>
            </a:extLst>
          </p:cNvPr>
          <p:cNvSpPr txBox="1"/>
          <p:nvPr/>
        </p:nvSpPr>
        <p:spPr>
          <a:xfrm>
            <a:off x="4943872" y="19386"/>
            <a:ext cx="446449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solidFill>
                  <a:srgbClr val="FF0000"/>
                </a:solidFill>
              </a:rPr>
              <a:t>只有这两个区间</a:t>
            </a:r>
            <a:r>
              <a:rPr lang="zh-CN" altLang="en-US" b="1">
                <a:solidFill>
                  <a:srgbClr val="FF0000"/>
                </a:solidFill>
              </a:rPr>
              <a:t>单独</a:t>
            </a:r>
            <a:r>
              <a:rPr lang="zh-CN" altLang="en-US">
                <a:solidFill>
                  <a:srgbClr val="FF0000"/>
                </a:solidFill>
              </a:rPr>
              <a:t>移除后影响覆盖范围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945A16E5-204D-4894-AC17-CCFFEC62ABB3}"/>
              </a:ext>
            </a:extLst>
          </p:cNvPr>
          <p:cNvSpPr/>
          <p:nvPr/>
        </p:nvSpPr>
        <p:spPr>
          <a:xfrm>
            <a:off x="4456812" y="1551127"/>
            <a:ext cx="775092" cy="10092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8BDE0654-2816-40D3-B472-5F97D26639B7}"/>
              </a:ext>
            </a:extLst>
          </p:cNvPr>
          <p:cNvCxnSpPr>
            <a:cxnSpLocks/>
          </p:cNvCxnSpPr>
          <p:nvPr/>
        </p:nvCxnSpPr>
        <p:spPr>
          <a:xfrm flipV="1">
            <a:off x="4754261" y="354463"/>
            <a:ext cx="1181360" cy="8621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869B34D0-EECD-41ED-B862-E0FA44C2DC83}"/>
              </a:ext>
            </a:extLst>
          </p:cNvPr>
          <p:cNvCxnSpPr>
            <a:cxnSpLocks/>
          </p:cNvCxnSpPr>
          <p:nvPr/>
        </p:nvCxnSpPr>
        <p:spPr>
          <a:xfrm flipH="1" flipV="1">
            <a:off x="5978397" y="354463"/>
            <a:ext cx="149355" cy="4194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" name="椭圆 56">
            <a:extLst>
              <a:ext uri="{FF2B5EF4-FFF2-40B4-BE49-F238E27FC236}">
                <a16:creationId xmlns:a16="http://schemas.microsoft.com/office/drawing/2014/main" id="{67964A05-9284-461E-BF4A-7DC2343C2466}"/>
              </a:ext>
            </a:extLst>
          </p:cNvPr>
          <p:cNvSpPr/>
          <p:nvPr/>
        </p:nvSpPr>
        <p:spPr>
          <a:xfrm>
            <a:off x="4237216" y="1456882"/>
            <a:ext cx="288032" cy="288032"/>
          </a:xfrm>
          <a:prstGeom prst="ellipse">
            <a:avLst/>
          </a:prstGeom>
          <a:solidFill>
            <a:schemeClr val="accent6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706605F9-5398-4C5D-95D8-7F611762E003}"/>
              </a:ext>
            </a:extLst>
          </p:cNvPr>
          <p:cNvSpPr/>
          <p:nvPr/>
        </p:nvSpPr>
        <p:spPr>
          <a:xfrm>
            <a:off x="6396431" y="1555120"/>
            <a:ext cx="4334892" cy="8027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6A92B5C8-3EE4-484B-A2E4-A08825FCDDFF}"/>
              </a:ext>
            </a:extLst>
          </p:cNvPr>
          <p:cNvSpPr/>
          <p:nvPr/>
        </p:nvSpPr>
        <p:spPr>
          <a:xfrm>
            <a:off x="5109434" y="1456882"/>
            <a:ext cx="288032" cy="288032"/>
          </a:xfrm>
          <a:prstGeom prst="ellipse">
            <a:avLst/>
          </a:prstGeom>
          <a:solidFill>
            <a:schemeClr val="accent6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CDAFAE4A-0126-4183-A5B9-D765BDE6E84E}"/>
              </a:ext>
            </a:extLst>
          </p:cNvPr>
          <p:cNvSpPr/>
          <p:nvPr/>
        </p:nvSpPr>
        <p:spPr>
          <a:xfrm>
            <a:off x="6228668" y="1456882"/>
            <a:ext cx="288032" cy="288032"/>
          </a:xfrm>
          <a:prstGeom prst="ellipse">
            <a:avLst/>
          </a:prstGeom>
          <a:solidFill>
            <a:schemeClr val="accent6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1CC4B85C-04BD-4367-A5D3-A2BFDEC06E4B}"/>
              </a:ext>
            </a:extLst>
          </p:cNvPr>
          <p:cNvSpPr/>
          <p:nvPr/>
        </p:nvSpPr>
        <p:spPr>
          <a:xfrm>
            <a:off x="10591502" y="1456882"/>
            <a:ext cx="288032" cy="288032"/>
          </a:xfrm>
          <a:prstGeom prst="ellipse">
            <a:avLst/>
          </a:prstGeom>
          <a:solidFill>
            <a:schemeClr val="accent6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</a:t>
            </a:r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8464E2D4-D4DE-426F-882D-D352AA69D7E2}"/>
              </a:ext>
            </a:extLst>
          </p:cNvPr>
          <p:cNvSpPr/>
          <p:nvPr/>
        </p:nvSpPr>
        <p:spPr>
          <a:xfrm>
            <a:off x="10975439" y="1140013"/>
            <a:ext cx="1110385" cy="819419"/>
          </a:xfrm>
          <a:prstGeom prst="rect">
            <a:avLst/>
          </a:prstGeom>
          <a:solidFill>
            <a:schemeClr val="accent6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u="sng"/>
              <a:t>坐标压缩</a:t>
            </a:r>
            <a:endParaRPr lang="en-US" altLang="zh-CN" b="1" u="sng" dirty="0"/>
          </a:p>
          <a:p>
            <a:pPr algn="ctr"/>
            <a:r>
              <a:rPr lang="zh-CN" altLang="en-US" b="1"/>
              <a:t>离散化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21F79086-530E-4760-8CA5-02CB7ED6484F}"/>
              </a:ext>
            </a:extLst>
          </p:cNvPr>
          <p:cNvSpPr txBox="1"/>
          <p:nvPr/>
        </p:nvSpPr>
        <p:spPr>
          <a:xfrm>
            <a:off x="929682" y="508831"/>
            <a:ext cx="35283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</a:rPr>
              <a:t>1                           40</a:t>
            </a:r>
            <a:endParaRPr lang="zh-CN" alt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8D515E4-0891-4A30-AB9D-79F5B0CDC599}"/>
              </a:ext>
            </a:extLst>
          </p:cNvPr>
          <p:cNvSpPr txBox="1"/>
          <p:nvPr/>
        </p:nvSpPr>
        <p:spPr>
          <a:xfrm>
            <a:off x="937302" y="874283"/>
            <a:ext cx="29984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</a:rPr>
              <a:t>1                     30</a:t>
            </a:r>
            <a:endParaRPr lang="zh-CN" alt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094F811C-22D0-4829-9B20-86CA1031388C}"/>
              </a:ext>
            </a:extLst>
          </p:cNvPr>
          <p:cNvSpPr txBox="1"/>
          <p:nvPr/>
        </p:nvSpPr>
        <p:spPr>
          <a:xfrm>
            <a:off x="2564809" y="1140013"/>
            <a:ext cx="39370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</a:rPr>
              <a:t>20 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</a:t>
            </a:r>
            <a:r>
              <a:rPr lang="en-US" altLang="zh-CN" sz="1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    60</a:t>
            </a:r>
            <a:endParaRPr lang="zh-CN" alt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46DDB3B7-F862-4557-A7DC-CCD55F26B0CF}"/>
              </a:ext>
            </a:extLst>
          </p:cNvPr>
          <p:cNvSpPr txBox="1"/>
          <p:nvPr/>
        </p:nvSpPr>
        <p:spPr>
          <a:xfrm>
            <a:off x="5156239" y="727398"/>
            <a:ext cx="57642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</a:rPr>
              <a:t>50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</a:t>
            </a:r>
            <a:r>
              <a:rPr lang="en-US" altLang="zh-CN" sz="1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            120</a:t>
            </a:r>
            <a:endParaRPr lang="zh-CN" alt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BFC7C884-39E5-4031-99FA-D7247839E8CC}"/>
              </a:ext>
            </a:extLst>
          </p:cNvPr>
          <p:cNvGrpSpPr/>
          <p:nvPr/>
        </p:nvGrpSpPr>
        <p:grpSpPr>
          <a:xfrm>
            <a:off x="872238" y="2530357"/>
            <a:ext cx="10048290" cy="1236878"/>
            <a:chOff x="872238" y="2202205"/>
            <a:chExt cx="10048290" cy="1236878"/>
          </a:xfrm>
        </p:grpSpPr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2383431F-FB0C-4A40-B361-A4671DCACD46}"/>
                </a:ext>
              </a:extLst>
            </p:cNvPr>
            <p:cNvSpPr/>
            <p:nvPr/>
          </p:nvSpPr>
          <p:spPr>
            <a:xfrm>
              <a:off x="1008634" y="2652810"/>
              <a:ext cx="2711102" cy="17764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5FE5D375-E429-4B63-A983-48D82E902721}"/>
                </a:ext>
              </a:extLst>
            </p:cNvPr>
            <p:cNvSpPr/>
            <p:nvPr/>
          </p:nvSpPr>
          <p:spPr>
            <a:xfrm>
              <a:off x="1008635" y="3223226"/>
              <a:ext cx="9742682" cy="1334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7820B291-8609-488C-B764-2BAF2CB1CFD2}"/>
                </a:ext>
              </a:extLst>
            </p:cNvPr>
            <p:cNvSpPr/>
            <p:nvPr/>
          </p:nvSpPr>
          <p:spPr>
            <a:xfrm>
              <a:off x="1008634" y="2288718"/>
              <a:ext cx="3385926" cy="17764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zh-CN" alt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D1368CAD-2F05-4DDC-9A26-661254E5EBC5}"/>
                </a:ext>
              </a:extLst>
            </p:cNvPr>
            <p:cNvSpPr/>
            <p:nvPr/>
          </p:nvSpPr>
          <p:spPr>
            <a:xfrm>
              <a:off x="2627168" y="2929772"/>
              <a:ext cx="3756812" cy="1723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6AB139AF-70D1-4002-AB72-8BF0E13C7CA6}"/>
                </a:ext>
              </a:extLst>
            </p:cNvPr>
            <p:cNvSpPr/>
            <p:nvPr/>
          </p:nvSpPr>
          <p:spPr>
            <a:xfrm>
              <a:off x="5245393" y="2486275"/>
              <a:ext cx="5505924" cy="21540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nsolas" panose="020B0609020204030204" pitchFamily="49" charset="0"/>
              </a:endParaRPr>
            </a:p>
          </p:txBody>
        </p: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1B696C6E-4BD6-4C69-A914-0331BDC14DA3}"/>
                </a:ext>
              </a:extLst>
            </p:cNvPr>
            <p:cNvCxnSpPr>
              <a:cxnSpLocks/>
            </p:cNvCxnSpPr>
            <p:nvPr/>
          </p:nvCxnSpPr>
          <p:spPr>
            <a:xfrm>
              <a:off x="1016254" y="2377539"/>
              <a:ext cx="1" cy="95774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354483BA-839D-4894-A3D3-C6E89BE80420}"/>
                </a:ext>
              </a:extLst>
            </p:cNvPr>
            <p:cNvCxnSpPr>
              <a:cxnSpLocks/>
            </p:cNvCxnSpPr>
            <p:nvPr/>
          </p:nvCxnSpPr>
          <p:spPr>
            <a:xfrm>
              <a:off x="4381232" y="2331626"/>
              <a:ext cx="1" cy="1003662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8BAD3598-7D3C-4C6E-A002-5542ACAD339E}"/>
                </a:ext>
              </a:extLst>
            </p:cNvPr>
            <p:cNvCxnSpPr>
              <a:cxnSpLocks/>
            </p:cNvCxnSpPr>
            <p:nvPr/>
          </p:nvCxnSpPr>
          <p:spPr>
            <a:xfrm>
              <a:off x="2637200" y="2976451"/>
              <a:ext cx="0" cy="358837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FC61EB57-6065-41E3-9A09-D78A5D0ADF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05388" y="2741631"/>
              <a:ext cx="598" cy="593657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AA6E7134-5E3A-4AA4-8CDF-A5E3E8A82F2D}"/>
                </a:ext>
              </a:extLst>
            </p:cNvPr>
            <p:cNvCxnSpPr>
              <a:cxnSpLocks/>
            </p:cNvCxnSpPr>
            <p:nvPr/>
          </p:nvCxnSpPr>
          <p:spPr>
            <a:xfrm>
              <a:off x="5249057" y="2593979"/>
              <a:ext cx="8787" cy="74130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AD5F2C69-581D-4C87-A89E-9E9228AB19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71505" y="2976451"/>
              <a:ext cx="2358" cy="358837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A6E2DB66-DD77-44B9-AF71-024AF80253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31323" y="2593979"/>
              <a:ext cx="8390" cy="74130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D6D9A711-BF46-4AE9-BC8E-DCFA2D89350B}"/>
                </a:ext>
              </a:extLst>
            </p:cNvPr>
            <p:cNvSpPr/>
            <p:nvPr/>
          </p:nvSpPr>
          <p:spPr>
            <a:xfrm>
              <a:off x="872238" y="3151051"/>
              <a:ext cx="288032" cy="288032"/>
            </a:xfrm>
            <a:prstGeom prst="ellipse">
              <a:avLst/>
            </a:prstGeom>
            <a:solidFill>
              <a:schemeClr val="accent6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/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50B8C713-803F-4595-A87E-6DCE3FB114E2}"/>
                </a:ext>
              </a:extLst>
            </p:cNvPr>
            <p:cNvSpPr/>
            <p:nvPr/>
          </p:nvSpPr>
          <p:spPr>
            <a:xfrm>
              <a:off x="2493184" y="3151051"/>
              <a:ext cx="288032" cy="288032"/>
            </a:xfrm>
            <a:prstGeom prst="ellipse">
              <a:avLst/>
            </a:prstGeom>
            <a:solidFill>
              <a:schemeClr val="accent6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/>
            </a:p>
          </p:txBody>
        </p: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021E099A-A0BC-4F0C-848B-4EC6F004C946}"/>
                </a:ext>
              </a:extLst>
            </p:cNvPr>
            <p:cNvSpPr/>
            <p:nvPr/>
          </p:nvSpPr>
          <p:spPr>
            <a:xfrm>
              <a:off x="3561671" y="3151051"/>
              <a:ext cx="288032" cy="288032"/>
            </a:xfrm>
            <a:prstGeom prst="ellipse">
              <a:avLst/>
            </a:prstGeom>
            <a:solidFill>
              <a:schemeClr val="accent6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83BCCBDE-633E-4E34-A884-3ADDEB55DBA8}"/>
                </a:ext>
              </a:extLst>
            </p:cNvPr>
            <p:cNvSpPr/>
            <p:nvPr/>
          </p:nvSpPr>
          <p:spPr>
            <a:xfrm>
              <a:off x="4394964" y="3245296"/>
              <a:ext cx="775092" cy="100923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37EDADAD-2037-48E5-8FBB-CA3329E2D3A2}"/>
                </a:ext>
              </a:extLst>
            </p:cNvPr>
            <p:cNvSpPr/>
            <p:nvPr/>
          </p:nvSpPr>
          <p:spPr>
            <a:xfrm>
              <a:off x="4237216" y="3151051"/>
              <a:ext cx="288032" cy="288032"/>
            </a:xfrm>
            <a:prstGeom prst="ellipse">
              <a:avLst/>
            </a:prstGeom>
            <a:solidFill>
              <a:schemeClr val="accent6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/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CB10F779-EF86-436A-87C2-819311C18B38}"/>
                </a:ext>
              </a:extLst>
            </p:cNvPr>
            <p:cNvSpPr/>
            <p:nvPr/>
          </p:nvSpPr>
          <p:spPr>
            <a:xfrm>
              <a:off x="6396431" y="3249289"/>
              <a:ext cx="4334892" cy="80276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9B4FE2BE-D09F-4E8D-B148-38C423C260A5}"/>
                </a:ext>
              </a:extLst>
            </p:cNvPr>
            <p:cNvSpPr/>
            <p:nvPr/>
          </p:nvSpPr>
          <p:spPr>
            <a:xfrm>
              <a:off x="5109434" y="3151051"/>
              <a:ext cx="288032" cy="288032"/>
            </a:xfrm>
            <a:prstGeom prst="ellipse">
              <a:avLst/>
            </a:prstGeom>
            <a:solidFill>
              <a:schemeClr val="accent6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5</a:t>
              </a:r>
              <a:endParaRPr lang="zh-CN" altLang="en-US"/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7401F323-39EC-47E8-B545-5B753C8203B3}"/>
                </a:ext>
              </a:extLst>
            </p:cNvPr>
            <p:cNvSpPr/>
            <p:nvPr/>
          </p:nvSpPr>
          <p:spPr>
            <a:xfrm>
              <a:off x="6228668" y="3151051"/>
              <a:ext cx="288032" cy="288032"/>
            </a:xfrm>
            <a:prstGeom prst="ellipse">
              <a:avLst/>
            </a:prstGeom>
            <a:solidFill>
              <a:schemeClr val="accent6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6</a:t>
              </a:r>
              <a:endParaRPr lang="zh-CN" altLang="en-US"/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C618FCEF-C908-4EAF-9A11-B2C8325C3872}"/>
                </a:ext>
              </a:extLst>
            </p:cNvPr>
            <p:cNvSpPr/>
            <p:nvPr/>
          </p:nvSpPr>
          <p:spPr>
            <a:xfrm>
              <a:off x="10591502" y="3151051"/>
              <a:ext cx="288032" cy="288032"/>
            </a:xfrm>
            <a:prstGeom prst="ellipse">
              <a:avLst/>
            </a:prstGeom>
            <a:solidFill>
              <a:schemeClr val="accent6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7</a:t>
              </a:r>
              <a:endParaRPr lang="zh-CN" altLang="en-US"/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1F187CC4-841A-4B50-8F7C-9AF06697D2A4}"/>
                </a:ext>
              </a:extLst>
            </p:cNvPr>
            <p:cNvSpPr txBox="1"/>
            <p:nvPr/>
          </p:nvSpPr>
          <p:spPr>
            <a:xfrm>
              <a:off x="937427" y="2202205"/>
              <a:ext cx="352834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solidFill>
                    <a:srgbClr val="FFFF9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1                            4</a:t>
              </a:r>
              <a:endParaRPr lang="zh-CN" altLang="en-US" sz="16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endParaRPr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ACE909BD-11C0-4B81-8CE1-5600C46C4380}"/>
                </a:ext>
              </a:extLst>
            </p:cNvPr>
            <p:cNvSpPr txBox="1"/>
            <p:nvPr/>
          </p:nvSpPr>
          <p:spPr>
            <a:xfrm>
              <a:off x="937302" y="2568452"/>
              <a:ext cx="299845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1                      3</a:t>
              </a:r>
              <a:endPara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endParaRPr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2C647005-27E4-4509-BDFA-F90798C57A08}"/>
                </a:ext>
              </a:extLst>
            </p:cNvPr>
            <p:cNvSpPr txBox="1"/>
            <p:nvPr/>
          </p:nvSpPr>
          <p:spPr>
            <a:xfrm>
              <a:off x="2564809" y="2860033"/>
              <a:ext cx="393700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2 </a:t>
              </a:r>
              <a:r>
                <a:rPr lang="en-US" altLang="zh-CN" sz="12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 </a:t>
              </a:r>
              <a:r>
                <a:rPr lang="en-US" altLang="zh-CN" sz="16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               </a:t>
              </a:r>
              <a:r>
                <a:rPr lang="en-US" altLang="zh-CN" sz="10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 </a:t>
              </a:r>
              <a:r>
                <a:rPr lang="en-US" altLang="zh-CN" sz="16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              6</a:t>
              </a:r>
              <a:endPara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endParaRPr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CD9E6CB3-BD65-40A9-90C5-021AFB9CE883}"/>
                </a:ext>
              </a:extLst>
            </p:cNvPr>
            <p:cNvSpPr txBox="1"/>
            <p:nvPr/>
          </p:nvSpPr>
          <p:spPr>
            <a:xfrm>
              <a:off x="5156239" y="2421567"/>
              <a:ext cx="57642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5</a:t>
              </a:r>
              <a:r>
                <a:rPr lang="en-US" altLang="zh-CN" sz="12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 </a:t>
              </a:r>
              <a:r>
                <a:rPr lang="en-US" altLang="zh-CN" sz="16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               </a:t>
              </a:r>
              <a:r>
                <a:rPr lang="en-US" altLang="zh-CN" sz="10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 </a:t>
              </a:r>
              <a:r>
                <a:rPr lang="en-US" altLang="zh-CN" sz="16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                               7</a:t>
              </a:r>
              <a:endPara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endParaRPr>
            </a:p>
          </p:txBody>
        </p:sp>
      </p:grpSp>
      <p:sp>
        <p:nvSpPr>
          <p:cNvPr id="141" name="文本框 140">
            <a:extLst>
              <a:ext uri="{FF2B5EF4-FFF2-40B4-BE49-F238E27FC236}">
                <a16:creationId xmlns:a16="http://schemas.microsoft.com/office/drawing/2014/main" id="{8CC94AF6-1782-437F-92E4-DAF925CBB9D7}"/>
              </a:ext>
            </a:extLst>
          </p:cNvPr>
          <p:cNvSpPr txBox="1"/>
          <p:nvPr/>
        </p:nvSpPr>
        <p:spPr>
          <a:xfrm>
            <a:off x="5663952" y="2411165"/>
            <a:ext cx="3141503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rgbClr val="FF0000"/>
                </a:solidFill>
              </a:rPr>
              <a:t>原始坐标映射为离散化后的索引</a:t>
            </a:r>
          </a:p>
        </p:txBody>
      </p: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1C0B74B8-8610-4256-AF8A-154894D10A7D}"/>
              </a:ext>
            </a:extLst>
          </p:cNvPr>
          <p:cNvGrpSpPr/>
          <p:nvPr/>
        </p:nvGrpSpPr>
        <p:grpSpPr>
          <a:xfrm>
            <a:off x="1008634" y="4013059"/>
            <a:ext cx="9731406" cy="55150"/>
            <a:chOff x="1008634" y="3684907"/>
            <a:chExt cx="9731406" cy="55150"/>
          </a:xfrm>
        </p:grpSpPr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F29FBE2B-D96F-4D46-800F-BB953963DA68}"/>
                </a:ext>
              </a:extLst>
            </p:cNvPr>
            <p:cNvSpPr/>
            <p:nvPr/>
          </p:nvSpPr>
          <p:spPr>
            <a:xfrm>
              <a:off x="1008634" y="3684907"/>
              <a:ext cx="1579559" cy="5515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19</a:t>
              </a:r>
              <a:endParaRPr lang="zh-CN" altLang="en-US" sz="2400" dirty="0">
                <a:solidFill>
                  <a:schemeClr val="accent2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82DCF2E1-EBE7-4F27-AF00-A8D85DB4E314}"/>
                </a:ext>
              </a:extLst>
            </p:cNvPr>
            <p:cNvSpPr/>
            <p:nvPr/>
          </p:nvSpPr>
          <p:spPr>
            <a:xfrm>
              <a:off x="2657546" y="3684907"/>
              <a:ext cx="1008000" cy="5515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10</a:t>
              </a:r>
              <a:endParaRPr lang="zh-CN" altLang="en-US" sz="2400" dirty="0">
                <a:solidFill>
                  <a:schemeClr val="accent2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25A0E9B7-D177-41F5-BFED-6ADE12A4623B}"/>
                </a:ext>
              </a:extLst>
            </p:cNvPr>
            <p:cNvSpPr/>
            <p:nvPr/>
          </p:nvSpPr>
          <p:spPr>
            <a:xfrm>
              <a:off x="3705687" y="3684907"/>
              <a:ext cx="648000" cy="5515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10</a:t>
              </a:r>
              <a:endParaRPr lang="zh-CN" altLang="en-US" sz="2400" dirty="0">
                <a:solidFill>
                  <a:schemeClr val="accent2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FA07648F-2131-46C9-A468-3E698DDA9FA2}"/>
                </a:ext>
              </a:extLst>
            </p:cNvPr>
            <p:cNvSpPr/>
            <p:nvPr/>
          </p:nvSpPr>
          <p:spPr>
            <a:xfrm>
              <a:off x="4433368" y="3684907"/>
              <a:ext cx="784080" cy="5515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10</a:t>
              </a:r>
              <a:endParaRPr lang="zh-CN" altLang="en-US" sz="2400" dirty="0">
                <a:solidFill>
                  <a:schemeClr val="accent2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D53510BE-27D1-4489-82EA-460FD91432DF}"/>
                </a:ext>
              </a:extLst>
            </p:cNvPr>
            <p:cNvSpPr/>
            <p:nvPr/>
          </p:nvSpPr>
          <p:spPr>
            <a:xfrm>
              <a:off x="5278987" y="3684907"/>
              <a:ext cx="1080000" cy="5515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10</a:t>
              </a:r>
              <a:endParaRPr lang="zh-CN" altLang="en-US" sz="2400" dirty="0">
                <a:solidFill>
                  <a:schemeClr val="accent2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FFCA6011-E721-47CF-9E70-76C683950589}"/>
                </a:ext>
              </a:extLst>
            </p:cNvPr>
            <p:cNvSpPr/>
            <p:nvPr/>
          </p:nvSpPr>
          <p:spPr>
            <a:xfrm>
              <a:off x="6456040" y="3684907"/>
              <a:ext cx="4284000" cy="5515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60</a:t>
              </a:r>
              <a:endParaRPr lang="zh-CN" altLang="en-US" sz="2400" dirty="0">
                <a:solidFill>
                  <a:schemeClr val="accent2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49" name="矩形 148">
            <a:extLst>
              <a:ext uri="{FF2B5EF4-FFF2-40B4-BE49-F238E27FC236}">
                <a16:creationId xmlns:a16="http://schemas.microsoft.com/office/drawing/2014/main" id="{ED84472C-1B77-4715-B51C-FC85DF3DAF45}"/>
              </a:ext>
            </a:extLst>
          </p:cNvPr>
          <p:cNvSpPr/>
          <p:nvPr/>
        </p:nvSpPr>
        <p:spPr>
          <a:xfrm>
            <a:off x="8767230" y="4146610"/>
            <a:ext cx="3312368" cy="338554"/>
          </a:xfrm>
          <a:prstGeom prst="rect">
            <a:avLst/>
          </a:prstGeom>
          <a:solidFill>
            <a:schemeClr val="accent6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i="1"/>
              <a:t>计算离散化后每段的实际宽度</a:t>
            </a:r>
            <a:endParaRPr lang="zh-CN" altLang="en-US" sz="1600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943350D3-21F3-4376-9E87-216CB3296131}"/>
              </a:ext>
            </a:extLst>
          </p:cNvPr>
          <p:cNvSpPr/>
          <p:nvPr/>
        </p:nvSpPr>
        <p:spPr>
          <a:xfrm>
            <a:off x="876554" y="4146610"/>
            <a:ext cx="7265536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0B0F0"/>
                </a:solidFill>
              </a:rPr>
              <a:t>w[1]=19                 w[2]=10          w[3]=10  w[4]=10    w[5]=10         w[6]=10         </a:t>
            </a:r>
            <a:endParaRPr lang="zh-CN" altLang="en-US" sz="1400" b="1">
              <a:solidFill>
                <a:srgbClr val="00B0F0"/>
              </a:solidFill>
            </a:endParaRPr>
          </a:p>
        </p:txBody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9800940D-9D4D-48C1-B7D7-08512168E1F4}"/>
              </a:ext>
            </a:extLst>
          </p:cNvPr>
          <p:cNvSpPr/>
          <p:nvPr/>
        </p:nvSpPr>
        <p:spPr>
          <a:xfrm>
            <a:off x="945848" y="3939096"/>
            <a:ext cx="178845" cy="178845"/>
          </a:xfrm>
          <a:prstGeom prst="ellipse">
            <a:avLst/>
          </a:prstGeom>
          <a:solidFill>
            <a:schemeClr val="accent6">
              <a:alpha val="31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2"/>
                </a:solidFill>
              </a:rPr>
              <a:t>1</a:t>
            </a:r>
            <a:endParaRPr lang="zh-CN" altLang="en-US" sz="1000" b="1">
              <a:solidFill>
                <a:schemeClr val="tx2"/>
              </a:solidFill>
            </a:endParaRPr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4EA74541-C607-4AA8-8F8C-A4C63191FA0E}"/>
              </a:ext>
            </a:extLst>
          </p:cNvPr>
          <p:cNvSpPr/>
          <p:nvPr/>
        </p:nvSpPr>
        <p:spPr>
          <a:xfrm>
            <a:off x="2566794" y="3939096"/>
            <a:ext cx="178845" cy="178845"/>
          </a:xfrm>
          <a:prstGeom prst="ellipse">
            <a:avLst/>
          </a:prstGeom>
          <a:solidFill>
            <a:schemeClr val="accent6">
              <a:alpha val="31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2"/>
                </a:solidFill>
              </a:rPr>
              <a:t>2</a:t>
            </a:r>
            <a:endParaRPr lang="zh-CN" altLang="en-US" sz="1000" b="1">
              <a:solidFill>
                <a:schemeClr val="tx2"/>
              </a:solidFill>
            </a:endParaRPr>
          </a:p>
        </p:txBody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629DD013-A872-40EC-87D2-313B8C4C09C7}"/>
              </a:ext>
            </a:extLst>
          </p:cNvPr>
          <p:cNvSpPr/>
          <p:nvPr/>
        </p:nvSpPr>
        <p:spPr>
          <a:xfrm>
            <a:off x="3635281" y="3939096"/>
            <a:ext cx="178845" cy="178845"/>
          </a:xfrm>
          <a:prstGeom prst="ellipse">
            <a:avLst/>
          </a:prstGeom>
          <a:solidFill>
            <a:schemeClr val="accent6">
              <a:alpha val="31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2"/>
                </a:solidFill>
              </a:rPr>
              <a:t>3</a:t>
            </a:r>
            <a:endParaRPr lang="zh-CN" altLang="en-US" sz="1000" b="1">
              <a:solidFill>
                <a:schemeClr val="tx2"/>
              </a:solidFill>
            </a:endParaRPr>
          </a:p>
        </p:txBody>
      </p:sp>
      <p:sp>
        <p:nvSpPr>
          <p:cNvPr id="154" name="椭圆 153">
            <a:extLst>
              <a:ext uri="{FF2B5EF4-FFF2-40B4-BE49-F238E27FC236}">
                <a16:creationId xmlns:a16="http://schemas.microsoft.com/office/drawing/2014/main" id="{6D8CEB0E-ACE1-4EFF-B2DB-8DFCEA60C569}"/>
              </a:ext>
            </a:extLst>
          </p:cNvPr>
          <p:cNvSpPr/>
          <p:nvPr/>
        </p:nvSpPr>
        <p:spPr>
          <a:xfrm>
            <a:off x="4310826" y="3939096"/>
            <a:ext cx="178845" cy="178845"/>
          </a:xfrm>
          <a:prstGeom prst="ellipse">
            <a:avLst/>
          </a:prstGeom>
          <a:solidFill>
            <a:schemeClr val="accent6">
              <a:alpha val="31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2"/>
                </a:solidFill>
              </a:rPr>
              <a:t>4</a:t>
            </a:r>
            <a:endParaRPr lang="zh-CN" altLang="en-US" sz="1000" b="1">
              <a:solidFill>
                <a:schemeClr val="tx2"/>
              </a:solidFill>
            </a:endParaRPr>
          </a:p>
        </p:txBody>
      </p:sp>
      <p:sp>
        <p:nvSpPr>
          <p:cNvPr id="155" name="椭圆 154">
            <a:extLst>
              <a:ext uri="{FF2B5EF4-FFF2-40B4-BE49-F238E27FC236}">
                <a16:creationId xmlns:a16="http://schemas.microsoft.com/office/drawing/2014/main" id="{5CE29F13-72B0-4E62-B653-AC724E7FB5BB}"/>
              </a:ext>
            </a:extLst>
          </p:cNvPr>
          <p:cNvSpPr/>
          <p:nvPr/>
        </p:nvSpPr>
        <p:spPr>
          <a:xfrm>
            <a:off x="5183044" y="3939096"/>
            <a:ext cx="178845" cy="178845"/>
          </a:xfrm>
          <a:prstGeom prst="ellipse">
            <a:avLst/>
          </a:prstGeom>
          <a:solidFill>
            <a:schemeClr val="accent6">
              <a:alpha val="31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2"/>
                </a:solidFill>
              </a:rPr>
              <a:t>5</a:t>
            </a:r>
            <a:endParaRPr lang="zh-CN" altLang="en-US" sz="1000" b="1">
              <a:solidFill>
                <a:schemeClr val="tx2"/>
              </a:solidFill>
            </a:endParaRPr>
          </a:p>
        </p:txBody>
      </p:sp>
      <p:sp>
        <p:nvSpPr>
          <p:cNvPr id="156" name="椭圆 155">
            <a:extLst>
              <a:ext uri="{FF2B5EF4-FFF2-40B4-BE49-F238E27FC236}">
                <a16:creationId xmlns:a16="http://schemas.microsoft.com/office/drawing/2014/main" id="{3A3358EE-151F-43EF-B5F3-A79FE9ED08DD}"/>
              </a:ext>
            </a:extLst>
          </p:cNvPr>
          <p:cNvSpPr/>
          <p:nvPr/>
        </p:nvSpPr>
        <p:spPr>
          <a:xfrm>
            <a:off x="6302278" y="3939096"/>
            <a:ext cx="178845" cy="178845"/>
          </a:xfrm>
          <a:prstGeom prst="ellipse">
            <a:avLst/>
          </a:prstGeom>
          <a:solidFill>
            <a:schemeClr val="accent6">
              <a:alpha val="31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2"/>
                </a:solidFill>
              </a:rPr>
              <a:t>6</a:t>
            </a:r>
            <a:endParaRPr lang="zh-CN" altLang="en-US" sz="1000" b="1">
              <a:solidFill>
                <a:schemeClr val="tx2"/>
              </a:solidFill>
            </a:endParaRP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67153494-58B4-428B-95FE-878E5813721F}"/>
              </a:ext>
            </a:extLst>
          </p:cNvPr>
          <p:cNvSpPr txBox="1"/>
          <p:nvPr/>
        </p:nvSpPr>
        <p:spPr>
          <a:xfrm>
            <a:off x="945848" y="1912551"/>
            <a:ext cx="9584119" cy="40011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问题转化为：离散化后，找到只被一个区间覆盖的“子区间”</a:t>
            </a: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CF3378FA-F362-481D-AF63-6D8766695034}"/>
              </a:ext>
            </a:extLst>
          </p:cNvPr>
          <p:cNvSpPr txBox="1"/>
          <p:nvPr/>
        </p:nvSpPr>
        <p:spPr>
          <a:xfrm>
            <a:off x="6562317" y="386687"/>
            <a:ext cx="5278545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solidFill>
                  <a:srgbClr val="FF0000"/>
                </a:solidFill>
              </a:rPr>
              <a:t>如何计算这个区间移走后，减少了多少覆盖长度？</a:t>
            </a: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882C38A1-92FD-4F96-92FE-75DC7C357FEC}"/>
              </a:ext>
            </a:extLst>
          </p:cNvPr>
          <p:cNvSpPr txBox="1"/>
          <p:nvPr/>
        </p:nvSpPr>
        <p:spPr>
          <a:xfrm>
            <a:off x="6627541" y="1132193"/>
            <a:ext cx="3623734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rgbClr val="70AD47"/>
                </a:solidFill>
              </a:rPr>
              <a:t>离散化后</a:t>
            </a:r>
            <a:r>
              <a:rPr lang="en-US" altLang="zh-CN" sz="1600" dirty="0">
                <a:solidFill>
                  <a:srgbClr val="70AD47"/>
                </a:solidFill>
              </a:rPr>
              <a:t>,</a:t>
            </a:r>
            <a:r>
              <a:rPr lang="zh-CN" altLang="en-US" sz="1600">
                <a:solidFill>
                  <a:srgbClr val="70AD47"/>
                </a:solidFill>
              </a:rPr>
              <a:t>整个区间被划分为</a:t>
            </a:r>
            <a:r>
              <a:rPr lang="en-US" altLang="zh-CN" sz="1600" b="1" dirty="0">
                <a:solidFill>
                  <a:srgbClr val="70AD47"/>
                </a:solidFill>
              </a:rPr>
              <a:t>6</a:t>
            </a:r>
            <a:r>
              <a:rPr lang="zh-CN" altLang="en-US" sz="1600" b="1">
                <a:solidFill>
                  <a:srgbClr val="70AD47"/>
                </a:solidFill>
              </a:rPr>
              <a:t>个子区间</a:t>
            </a: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9A133FEC-5CA8-4886-9DAC-62E5956D7279}"/>
              </a:ext>
            </a:extLst>
          </p:cNvPr>
          <p:cNvSpPr/>
          <p:nvPr/>
        </p:nvSpPr>
        <p:spPr>
          <a:xfrm>
            <a:off x="903190" y="4607237"/>
            <a:ext cx="10029282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7030A0"/>
                </a:solidFill>
              </a:rPr>
              <a:t>d[1]=2                  d[2]=1             d[3]=</a:t>
            </a:r>
            <a:r>
              <a:rPr lang="en-US" altLang="zh-CN" sz="1400" b="1" dirty="0">
                <a:solidFill>
                  <a:srgbClr val="FF0000"/>
                </a:solidFill>
              </a:rPr>
              <a:t>-1</a:t>
            </a:r>
            <a:r>
              <a:rPr lang="en-US" altLang="zh-CN" sz="1400" b="1" dirty="0">
                <a:solidFill>
                  <a:srgbClr val="7030A0"/>
                </a:solidFill>
              </a:rPr>
              <a:t>   d[4]=</a:t>
            </a:r>
            <a:r>
              <a:rPr lang="en-US" altLang="zh-CN" sz="1400" b="1" dirty="0">
                <a:solidFill>
                  <a:srgbClr val="FF0000"/>
                </a:solidFill>
              </a:rPr>
              <a:t>-1</a:t>
            </a:r>
            <a:r>
              <a:rPr lang="en-US" altLang="zh-CN" sz="1400" b="1" dirty="0">
                <a:solidFill>
                  <a:srgbClr val="7030A0"/>
                </a:solidFill>
              </a:rPr>
              <a:t>     d[5]=1           d[6]=</a:t>
            </a:r>
            <a:r>
              <a:rPr lang="en-US" altLang="zh-CN" sz="1400" b="1" dirty="0">
                <a:solidFill>
                  <a:srgbClr val="FF0000"/>
                </a:solidFill>
              </a:rPr>
              <a:t>-1</a:t>
            </a:r>
            <a:r>
              <a:rPr lang="en-US" altLang="zh-CN" sz="1400" b="1" dirty="0">
                <a:solidFill>
                  <a:srgbClr val="7030A0"/>
                </a:solidFill>
              </a:rPr>
              <a:t>                                                                 d[7]=</a:t>
            </a:r>
            <a:r>
              <a:rPr lang="en-US" altLang="zh-CN" sz="1400" b="1" dirty="0">
                <a:solidFill>
                  <a:srgbClr val="FF0000"/>
                </a:solidFill>
              </a:rPr>
              <a:t>-1</a:t>
            </a:r>
            <a:r>
              <a:rPr lang="en-US" altLang="zh-CN" sz="1400" b="1" dirty="0">
                <a:solidFill>
                  <a:srgbClr val="7030A0"/>
                </a:solidFill>
              </a:rPr>
              <a:t>         </a:t>
            </a:r>
            <a:endParaRPr lang="zh-CN" altLang="en-US" sz="1400" b="1">
              <a:solidFill>
                <a:srgbClr val="7030A0"/>
              </a:solidFill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A982208E-1A68-4C26-BC70-9457AE787C43}"/>
              </a:ext>
            </a:extLst>
          </p:cNvPr>
          <p:cNvSpPr/>
          <p:nvPr/>
        </p:nvSpPr>
        <p:spPr>
          <a:xfrm>
            <a:off x="884174" y="5065201"/>
            <a:ext cx="6651986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FF66CC"/>
                </a:solidFill>
              </a:rPr>
              <a:t>cv[1]=2                 cv[2]=3           cv[3]=2   cv[4]=1     cv[5]=2         cv[6]=1</a:t>
            </a:r>
            <a:endParaRPr lang="zh-CN" altLang="en-US" sz="1400" b="1">
              <a:solidFill>
                <a:srgbClr val="FF66CC"/>
              </a:solidFill>
            </a:endParaRP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7920ED22-DBA2-443F-BF45-A291D4AED83F}"/>
              </a:ext>
            </a:extLst>
          </p:cNvPr>
          <p:cNvSpPr/>
          <p:nvPr/>
        </p:nvSpPr>
        <p:spPr>
          <a:xfrm>
            <a:off x="4269016" y="5118886"/>
            <a:ext cx="734709" cy="251503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AE7FA9F9-185A-49E3-90C1-40F610A2082B}"/>
              </a:ext>
            </a:extLst>
          </p:cNvPr>
          <p:cNvSpPr/>
          <p:nvPr/>
        </p:nvSpPr>
        <p:spPr>
          <a:xfrm>
            <a:off x="6194962" y="5118886"/>
            <a:ext cx="734709" cy="251503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3760BE4C-F4B4-45F1-B2F6-7096F49DFDFB}"/>
              </a:ext>
            </a:extLst>
          </p:cNvPr>
          <p:cNvCxnSpPr>
            <a:cxnSpLocks/>
          </p:cNvCxnSpPr>
          <p:nvPr/>
        </p:nvCxnSpPr>
        <p:spPr>
          <a:xfrm flipV="1">
            <a:off x="4636371" y="3706914"/>
            <a:ext cx="17476" cy="1411972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矩形 160">
            <a:extLst>
              <a:ext uri="{FF2B5EF4-FFF2-40B4-BE49-F238E27FC236}">
                <a16:creationId xmlns:a16="http://schemas.microsoft.com/office/drawing/2014/main" id="{B9146294-4DDF-49E4-9D8A-F97D9DBAAC56}"/>
              </a:ext>
            </a:extLst>
          </p:cNvPr>
          <p:cNvSpPr/>
          <p:nvPr/>
        </p:nvSpPr>
        <p:spPr>
          <a:xfrm>
            <a:off x="8763542" y="4941916"/>
            <a:ext cx="3312368" cy="365125"/>
          </a:xfrm>
          <a:prstGeom prst="rect">
            <a:avLst/>
          </a:prstGeom>
          <a:solidFill>
            <a:schemeClr val="accent6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i="1"/>
              <a:t>计算每个子区间的覆盖次数</a:t>
            </a:r>
            <a:r>
              <a:rPr lang="en-US" altLang="zh-CN" sz="1600" i="1" dirty="0"/>
              <a:t>(</a:t>
            </a:r>
            <a:r>
              <a:rPr lang="zh-CN" altLang="en-US" sz="1600" i="1">
                <a:solidFill>
                  <a:srgbClr val="FF0000"/>
                </a:solidFill>
              </a:rPr>
              <a:t>差分</a:t>
            </a:r>
            <a:r>
              <a:rPr lang="en-US" altLang="zh-CN" sz="1600" i="1" dirty="0"/>
              <a:t>)</a:t>
            </a:r>
            <a:endParaRPr lang="zh-CN" altLang="en-US" sz="1600"/>
          </a:p>
        </p:txBody>
      </p:sp>
      <p:cxnSp>
        <p:nvCxnSpPr>
          <p:cNvPr id="176" name="直接箭头连接符 175">
            <a:extLst>
              <a:ext uri="{FF2B5EF4-FFF2-40B4-BE49-F238E27FC236}">
                <a16:creationId xmlns:a16="http://schemas.microsoft.com/office/drawing/2014/main" id="{BCC835CB-2F29-400B-AE26-B9C72FFA1431}"/>
              </a:ext>
            </a:extLst>
          </p:cNvPr>
          <p:cNvCxnSpPr>
            <a:cxnSpLocks/>
          </p:cNvCxnSpPr>
          <p:nvPr/>
        </p:nvCxnSpPr>
        <p:spPr>
          <a:xfrm flipV="1">
            <a:off x="6572070" y="3706914"/>
            <a:ext cx="17476" cy="1411972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矩形 176">
            <a:extLst>
              <a:ext uri="{FF2B5EF4-FFF2-40B4-BE49-F238E27FC236}">
                <a16:creationId xmlns:a16="http://schemas.microsoft.com/office/drawing/2014/main" id="{AEF6F322-6663-493B-B98D-31F5B6083A07}"/>
              </a:ext>
            </a:extLst>
          </p:cNvPr>
          <p:cNvSpPr/>
          <p:nvPr/>
        </p:nvSpPr>
        <p:spPr>
          <a:xfrm>
            <a:off x="41007" y="5106357"/>
            <a:ext cx="843167" cy="298845"/>
          </a:xfrm>
          <a:prstGeom prst="rect">
            <a:avLst/>
          </a:prstGeom>
          <a:solidFill>
            <a:schemeClr val="accent6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i="1"/>
              <a:t>前缀和</a:t>
            </a:r>
            <a:endParaRPr lang="zh-CN" altLang="en-US" sz="1600"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F55DE34D-31B1-4EC1-8AC7-27AC77994D95}"/>
              </a:ext>
            </a:extLst>
          </p:cNvPr>
          <p:cNvSpPr/>
          <p:nvPr/>
        </p:nvSpPr>
        <p:spPr>
          <a:xfrm>
            <a:off x="49972" y="4662617"/>
            <a:ext cx="843167" cy="298845"/>
          </a:xfrm>
          <a:prstGeom prst="rect">
            <a:avLst/>
          </a:prstGeom>
          <a:solidFill>
            <a:schemeClr val="accent6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i="1"/>
              <a:t>差分</a:t>
            </a:r>
            <a:endParaRPr lang="zh-CN" altLang="en-US" sz="1600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EAEF7445-06B3-4301-985A-DD827ECA5F36}"/>
              </a:ext>
            </a:extLst>
          </p:cNvPr>
          <p:cNvSpPr/>
          <p:nvPr/>
        </p:nvSpPr>
        <p:spPr>
          <a:xfrm>
            <a:off x="977111" y="5527325"/>
            <a:ext cx="7639168" cy="40011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只计算所有受影响的子区间宽度的前缀和</a:t>
            </a:r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175C6DDC-9825-4BCE-8553-DEC2BC0E4A4A}"/>
              </a:ext>
            </a:extLst>
          </p:cNvPr>
          <p:cNvSpPr/>
          <p:nvPr/>
        </p:nvSpPr>
        <p:spPr>
          <a:xfrm>
            <a:off x="971422" y="5975697"/>
            <a:ext cx="7644857" cy="40011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枚举每一个原始区间被移走后，计算对应的子区间受影响的宽度。</a:t>
            </a:r>
          </a:p>
        </p:txBody>
      </p:sp>
    </p:spTree>
    <p:extLst>
      <p:ext uri="{BB962C8B-B14F-4D97-AF65-F5344CB8AC3E}">
        <p14:creationId xmlns:p14="http://schemas.microsoft.com/office/powerpoint/2010/main" val="3217514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4" grpId="0" animBg="1"/>
      <p:bldP spid="35" grpId="0" animBg="1"/>
      <p:bldP spid="36" grpId="0" animBg="1"/>
      <p:bldP spid="54" grpId="0" animBg="1"/>
      <p:bldP spid="55" grpId="0" animBg="1"/>
      <p:bldP spid="56" grpId="0" animBg="1"/>
      <p:bldP spid="64" grpId="0" animBg="1"/>
      <p:bldP spid="71" grpId="0" animBg="1"/>
      <p:bldP spid="57" grpId="0" animBg="1"/>
      <p:bldP spid="72" grpId="0" animBg="1"/>
      <p:bldP spid="58" grpId="0" animBg="1"/>
      <p:bldP spid="59" grpId="0" animBg="1"/>
      <p:bldP spid="60" grpId="0" animBg="1"/>
      <p:bldP spid="76" grpId="0" animBg="1"/>
      <p:bldP spid="141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8" grpId="0" animBg="1"/>
      <p:bldP spid="159" grpId="0" animBg="1"/>
      <p:bldP spid="160" grpId="0" animBg="1"/>
      <p:bldP spid="162" grpId="0" animBg="1"/>
      <p:bldP spid="163" grpId="0" animBg="1"/>
      <p:bldP spid="165" grpId="0" animBg="1"/>
      <p:bldP spid="166" grpId="0" animBg="1"/>
      <p:bldP spid="161" grpId="0" animBg="1"/>
      <p:bldP spid="177" grpId="0" animBg="1"/>
      <p:bldP spid="178" grpId="0" animBg="1"/>
      <p:bldP spid="179" grpId="0" animBg="1"/>
      <p:bldP spid="18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629184" y="260648"/>
            <a:ext cx="4896544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空间优化</a:t>
            </a:r>
            <a:endParaRPr lang="zh-CN" altLang="zh-CN" sz="28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E7A87C-D863-01E0-1296-CF48C1AD7D7C}"/>
              </a:ext>
            </a:extLst>
          </p:cNvPr>
          <p:cNvSpPr/>
          <p:nvPr/>
        </p:nvSpPr>
        <p:spPr>
          <a:xfrm>
            <a:off x="3629184" y="783869"/>
            <a:ext cx="489654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离散化</a:t>
            </a:r>
            <a:r>
              <a:rPr lang="en-US" altLang="zh-CN" sz="2400" dirty="0"/>
              <a:t>/</a:t>
            </a:r>
            <a:r>
              <a:rPr lang="zh-CN" altLang="en-US" sz="2400" dirty="0"/>
              <a:t>坐标压缩</a:t>
            </a:r>
            <a:endParaRPr lang="en-US" altLang="zh-CN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859444A-BB6F-46A2-CB1A-1483F9AFE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72" y="1245534"/>
            <a:ext cx="8581659" cy="4657948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DF14963-4387-435C-A38A-774609A20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4AE1BD-B8C2-4771-83C6-5BA7D6B1D622}"/>
              </a:ext>
            </a:extLst>
          </p:cNvPr>
          <p:cNvSpPr txBox="1"/>
          <p:nvPr/>
        </p:nvSpPr>
        <p:spPr>
          <a:xfrm>
            <a:off x="5306680" y="3020510"/>
            <a:ext cx="125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/>
              <a:t>排序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139867-D697-4B82-BC74-F50A81BF7C07}"/>
              </a:ext>
            </a:extLst>
          </p:cNvPr>
          <p:cNvSpPr txBox="1"/>
          <p:nvPr/>
        </p:nvSpPr>
        <p:spPr>
          <a:xfrm>
            <a:off x="8159368" y="2362386"/>
            <a:ext cx="38884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en-US" altLang="zh-CN" dirty="0"/>
              <a:t>unique()</a:t>
            </a:r>
          </a:p>
          <a:p>
            <a:r>
              <a:rPr lang="zh-CN" altLang="en-US"/>
              <a:t>去除容器或数组中</a:t>
            </a:r>
            <a:r>
              <a:rPr lang="zh-CN" altLang="en-US" b="1">
                <a:solidFill>
                  <a:srgbClr val="FF0000"/>
                </a:solidFill>
              </a:rPr>
              <a:t>相邻的重复</a:t>
            </a:r>
            <a:r>
              <a:rPr lang="zh-CN" altLang="en-US"/>
              <a:t>元素。</a:t>
            </a:r>
            <a:endParaRPr lang="en-US" altLang="zh-CN" dirty="0"/>
          </a:p>
          <a:p>
            <a:r>
              <a:rPr lang="zh-CN" altLang="en-US"/>
              <a:t>它不会真正删除元素，而是将重复的元素移动到容器的末尾，</a:t>
            </a:r>
            <a:endParaRPr lang="en-US" altLang="zh-CN" dirty="0"/>
          </a:p>
          <a:p>
            <a:r>
              <a:rPr lang="zh-CN" altLang="en-US"/>
              <a:t>并</a:t>
            </a:r>
            <a:r>
              <a:rPr lang="zh-CN" altLang="en-US">
                <a:solidFill>
                  <a:srgbClr val="00B0F0"/>
                </a:solidFill>
              </a:rPr>
              <a:t>返回去重后的尾地址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6A1B3F6-0F3A-4367-9B81-38C5E231A0C3}"/>
              </a:ext>
            </a:extLst>
          </p:cNvPr>
          <p:cNvSpPr txBox="1"/>
          <p:nvPr/>
        </p:nvSpPr>
        <p:spPr>
          <a:xfrm>
            <a:off x="9509080" y="4116064"/>
            <a:ext cx="1872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/>
              <a:t>原始坐标映射为离散化后的索引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0A94AA2-580D-467B-BFB6-9476ABE0BFE5}"/>
              </a:ext>
            </a:extLst>
          </p:cNvPr>
          <p:cNvSpPr/>
          <p:nvPr/>
        </p:nvSpPr>
        <p:spPr>
          <a:xfrm>
            <a:off x="6560200" y="5498777"/>
            <a:ext cx="3312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i="1">
                <a:solidFill>
                  <a:srgbClr val="00B050"/>
                </a:solidFill>
                <a:latin typeface="Consolas" panose="020B0609020204030204" pitchFamily="49" charset="0"/>
              </a:rPr>
              <a:t>计算离散化后每段的实际宽度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EF192A-2841-4817-83EE-79CAF42D7753}"/>
              </a:ext>
            </a:extLst>
          </p:cNvPr>
          <p:cNvSpPr/>
          <p:nvPr/>
        </p:nvSpPr>
        <p:spPr>
          <a:xfrm>
            <a:off x="4071959" y="5548600"/>
            <a:ext cx="2168057" cy="34403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58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10" grpId="0"/>
      <p:bldP spid="11" grpId="0" animBg="1"/>
      <p:bldP spid="12" grpId="0" animBg="1"/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581491" y="404664"/>
            <a:ext cx="6768752" cy="523220"/>
          </a:xfrm>
          <a:prstGeom prst="rect">
            <a:avLst/>
          </a:prstGeom>
          <a:solidFill>
            <a:srgbClr val="CCFFCC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从差分标记复原覆盖情况</a:t>
            </a:r>
            <a:endParaRPr lang="zh-CN" altLang="zh-CN" sz="28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E7A87C-D863-01E0-1296-CF48C1AD7D7C}"/>
              </a:ext>
            </a:extLst>
          </p:cNvPr>
          <p:cNvSpPr/>
          <p:nvPr/>
        </p:nvSpPr>
        <p:spPr>
          <a:xfrm>
            <a:off x="2581491" y="1019325"/>
            <a:ext cx="676875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d[p]</a:t>
            </a:r>
            <a:r>
              <a:rPr lang="zh-CN" altLang="en-US" sz="2400" dirty="0"/>
              <a:t>表示</a:t>
            </a:r>
            <a:r>
              <a:rPr lang="en-US" altLang="zh-CN" sz="2400" dirty="0"/>
              <a:t>p</a:t>
            </a:r>
            <a:r>
              <a:rPr lang="zh-CN" altLang="en-US" sz="2400" dirty="0"/>
              <a:t>号小段比</a:t>
            </a:r>
            <a:r>
              <a:rPr lang="en-US" altLang="zh-CN" sz="2400" dirty="0"/>
              <a:t>p-1</a:t>
            </a:r>
            <a:r>
              <a:rPr lang="zh-CN" altLang="en-US" sz="2400" dirty="0"/>
              <a:t>号</a:t>
            </a:r>
            <a:r>
              <a:rPr lang="zh-CN" altLang="en-US" sz="2400"/>
              <a:t>小段多</a:t>
            </a:r>
            <a:r>
              <a:rPr lang="zh-CN" altLang="en-US" sz="2400" dirty="0"/>
              <a:t>覆盖了几层</a:t>
            </a:r>
            <a:endParaRPr lang="en-US" altLang="zh-CN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6BDD350-A0AE-69D3-CCCB-57593F78A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555" y="2944025"/>
            <a:ext cx="6156176" cy="237558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16C4D2-218F-CA15-5D7A-98FAC4637023}"/>
              </a:ext>
            </a:extLst>
          </p:cNvPr>
          <p:cNvSpPr/>
          <p:nvPr/>
        </p:nvSpPr>
        <p:spPr>
          <a:xfrm>
            <a:off x="2581491" y="1667442"/>
            <a:ext cx="676875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cv[p]</a:t>
            </a:r>
            <a:r>
              <a:rPr lang="zh-CN" altLang="en-US" sz="2400" dirty="0"/>
              <a:t>表示</a:t>
            </a:r>
            <a:r>
              <a:rPr lang="en-US" altLang="zh-CN" sz="2400" dirty="0"/>
              <a:t>p</a:t>
            </a:r>
            <a:r>
              <a:rPr lang="zh-CN" altLang="en-US" sz="2400" dirty="0"/>
              <a:t>号段被覆盖的次数</a:t>
            </a:r>
            <a:endParaRPr lang="en-US" altLang="zh-CN" sz="2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F43E9D-3EF5-E63A-A797-E9EEACBD9E1F}"/>
              </a:ext>
            </a:extLst>
          </p:cNvPr>
          <p:cNvSpPr/>
          <p:nvPr/>
        </p:nvSpPr>
        <p:spPr>
          <a:xfrm>
            <a:off x="5799367" y="4974824"/>
            <a:ext cx="2488241" cy="34403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5EBBBC3-D45F-49BD-A2D3-609DA6506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5D4C3A-4264-4D3E-8469-90775C1235F0}"/>
              </a:ext>
            </a:extLst>
          </p:cNvPr>
          <p:cNvSpPr txBox="1"/>
          <p:nvPr/>
        </p:nvSpPr>
        <p:spPr>
          <a:xfrm>
            <a:off x="7478035" y="3416779"/>
            <a:ext cx="850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pPr algn="ctr"/>
            <a:r>
              <a:rPr lang="zh-CN" altLang="en-US"/>
              <a:t>差分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FCC21C9-05CE-4380-B784-EAEB2BC81BAE}"/>
              </a:ext>
            </a:extLst>
          </p:cNvPr>
          <p:cNvSpPr txBox="1"/>
          <p:nvPr/>
        </p:nvSpPr>
        <p:spPr>
          <a:xfrm>
            <a:off x="8453397" y="4827609"/>
            <a:ext cx="3030407" cy="8806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差分前缀和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/>
              <a:t>计算每个子区间的覆盖次数</a:t>
            </a:r>
          </a:p>
        </p:txBody>
      </p:sp>
    </p:spTree>
    <p:extLst>
      <p:ext uri="{BB962C8B-B14F-4D97-AF65-F5344CB8AC3E}">
        <p14:creationId xmlns:p14="http://schemas.microsoft.com/office/powerpoint/2010/main" val="909530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9" grpId="0" animBg="1"/>
      <p:bldP spid="8" grpId="0" animBg="1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616C4D2-218F-CA15-5D7A-98FAC4637023}"/>
              </a:ext>
            </a:extLst>
          </p:cNvPr>
          <p:cNvSpPr/>
          <p:nvPr/>
        </p:nvSpPr>
        <p:spPr>
          <a:xfrm>
            <a:off x="3791744" y="1412777"/>
            <a:ext cx="489654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计算总覆盖长度</a:t>
            </a:r>
            <a:r>
              <a:rPr lang="en-US" altLang="zh-CN" sz="2400" dirty="0"/>
              <a:t>len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7D94BBA-9047-1DAA-CC7D-09A47F12A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608" y="2886647"/>
            <a:ext cx="6192688" cy="1084706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54A45A75-C58A-18C6-B802-35AA75C3F4CD}"/>
              </a:ext>
            </a:extLst>
          </p:cNvPr>
          <p:cNvSpPr/>
          <p:nvPr/>
        </p:nvSpPr>
        <p:spPr>
          <a:xfrm>
            <a:off x="7176120" y="3645024"/>
            <a:ext cx="1584176" cy="3263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100759D-3E06-4838-BC50-90D84EE20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15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791744" y="1340768"/>
            <a:ext cx="4896544" cy="523220"/>
          </a:xfrm>
          <a:prstGeom prst="rect">
            <a:avLst/>
          </a:prstGeom>
          <a:solidFill>
            <a:srgbClr val="FFFFCC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观察每次变化的影响</a:t>
            </a:r>
            <a:endParaRPr lang="zh-CN" altLang="zh-CN" sz="28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E7A87C-D863-01E0-1296-CF48C1AD7D7C}"/>
              </a:ext>
            </a:extLst>
          </p:cNvPr>
          <p:cNvSpPr/>
          <p:nvPr/>
        </p:nvSpPr>
        <p:spPr>
          <a:xfrm>
            <a:off x="3791744" y="2204865"/>
            <a:ext cx="4896544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删除</a:t>
            </a:r>
            <a:r>
              <a:rPr lang="en-US" altLang="zh-CN" sz="2400" dirty="0"/>
              <a:t>[a,b]</a:t>
            </a:r>
            <a:r>
              <a:rPr lang="zh-CN" altLang="en-US" sz="2400" dirty="0"/>
              <a:t>区间时</a:t>
            </a:r>
            <a:endParaRPr lang="en-US" altLang="zh-CN" sz="2400" dirty="0"/>
          </a:p>
          <a:p>
            <a:pPr algn="ctr"/>
            <a:r>
              <a:rPr lang="zh-CN" altLang="en-US" sz="2400" dirty="0"/>
              <a:t>该区间内原本恰好覆盖</a:t>
            </a:r>
            <a:r>
              <a:rPr lang="en-US" altLang="zh-CN" sz="2400" dirty="0"/>
              <a:t>1</a:t>
            </a:r>
            <a:r>
              <a:rPr lang="zh-CN" altLang="en-US" sz="2400" dirty="0"/>
              <a:t>次</a:t>
            </a:r>
            <a:endParaRPr lang="en-US" altLang="zh-CN" sz="2400" dirty="0"/>
          </a:p>
          <a:p>
            <a:pPr algn="ctr"/>
            <a:r>
              <a:rPr lang="zh-CN" altLang="en-US" sz="2400" dirty="0"/>
              <a:t>的小段会变成覆盖</a:t>
            </a:r>
            <a:r>
              <a:rPr lang="en-US" altLang="zh-CN" sz="2400" dirty="0"/>
              <a:t>0</a:t>
            </a:r>
            <a:r>
              <a:rPr lang="zh-CN" altLang="en-US" sz="2400" dirty="0"/>
              <a:t>次</a:t>
            </a:r>
            <a:endParaRPr lang="en-US" altLang="zh-CN" sz="2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6FC297-5AA5-376D-925E-2F6C763EBEF0}"/>
              </a:ext>
            </a:extLst>
          </p:cNvPr>
          <p:cNvSpPr/>
          <p:nvPr/>
        </p:nvSpPr>
        <p:spPr>
          <a:xfrm>
            <a:off x="3791744" y="3773948"/>
            <a:ext cx="4896544" cy="83099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需要快速计算</a:t>
            </a:r>
            <a:r>
              <a:rPr lang="en-US" altLang="zh-CN" sz="2400" dirty="0"/>
              <a:t>[a,b]</a:t>
            </a:r>
            <a:r>
              <a:rPr lang="zh-CN" altLang="en-US" sz="2400" dirty="0"/>
              <a:t>区间</a:t>
            </a:r>
            <a:endParaRPr lang="en-US" altLang="zh-CN" sz="2400" dirty="0"/>
          </a:p>
          <a:p>
            <a:pPr algn="ctr"/>
            <a:r>
              <a:rPr lang="zh-CN" altLang="en-US" sz="2400" dirty="0"/>
              <a:t>原本恰好覆盖</a:t>
            </a:r>
            <a:r>
              <a:rPr lang="en-US" altLang="zh-CN" sz="2400" dirty="0"/>
              <a:t>1</a:t>
            </a:r>
            <a:r>
              <a:rPr lang="zh-CN" altLang="en-US" sz="2400" dirty="0"/>
              <a:t>次的小段有几段</a:t>
            </a:r>
            <a:endParaRPr lang="en-US" altLang="zh-CN" sz="2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2151F7-60A7-C7F1-7AFF-7063F68570BD}"/>
              </a:ext>
            </a:extLst>
          </p:cNvPr>
          <p:cNvSpPr/>
          <p:nvPr/>
        </p:nvSpPr>
        <p:spPr>
          <a:xfrm>
            <a:off x="3791744" y="4926076"/>
            <a:ext cx="4896544" cy="83099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预计算前缀区间</a:t>
            </a:r>
            <a:r>
              <a:rPr lang="en-US" altLang="zh-CN" sz="2400" dirty="0"/>
              <a:t>[1,p]</a:t>
            </a:r>
          </a:p>
          <a:p>
            <a:pPr algn="ctr"/>
            <a:r>
              <a:rPr lang="zh-CN" altLang="en-US" sz="2400" dirty="0"/>
              <a:t>原本恰好覆盖</a:t>
            </a:r>
            <a:r>
              <a:rPr lang="en-US" altLang="zh-CN" sz="2400" dirty="0"/>
              <a:t>1</a:t>
            </a:r>
            <a:r>
              <a:rPr lang="zh-CN" altLang="en-US" sz="2400" dirty="0"/>
              <a:t>次的小段有几段</a:t>
            </a:r>
            <a:endParaRPr lang="en-US" altLang="zh-CN" sz="24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1E2DA5D-45A5-4142-AAE0-6917DCDD5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791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616C4D2-218F-CA15-5D7A-98FAC4637023}"/>
              </a:ext>
            </a:extLst>
          </p:cNvPr>
          <p:cNvSpPr/>
          <p:nvPr/>
        </p:nvSpPr>
        <p:spPr>
          <a:xfrm>
            <a:off x="3791744" y="548680"/>
            <a:ext cx="4896544" cy="83099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前缀区间内</a:t>
            </a:r>
            <a:endParaRPr lang="en-US" altLang="zh-CN" sz="2400" dirty="0"/>
          </a:p>
          <a:p>
            <a:pPr algn="ctr"/>
            <a:r>
              <a:rPr lang="zh-CN" altLang="en-US" sz="2400" dirty="0"/>
              <a:t>恰好覆盖</a:t>
            </a:r>
            <a:r>
              <a:rPr lang="en-US" altLang="zh-CN" sz="2400" dirty="0"/>
              <a:t>1</a:t>
            </a:r>
            <a:r>
              <a:rPr lang="zh-CN" altLang="en-US" sz="2400" dirty="0"/>
              <a:t>次的长度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86957F2-0225-897D-27A7-3F0D3C09B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00" y="2814582"/>
            <a:ext cx="6264696" cy="227397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5BE81D6-6325-0E1B-203A-D71D349EB58E}"/>
              </a:ext>
            </a:extLst>
          </p:cNvPr>
          <p:cNvSpPr/>
          <p:nvPr/>
        </p:nvSpPr>
        <p:spPr>
          <a:xfrm>
            <a:off x="4943872" y="3235576"/>
            <a:ext cx="1368152" cy="32632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5296DF-BA7F-C765-7B47-675F1F6340E0}"/>
              </a:ext>
            </a:extLst>
          </p:cNvPr>
          <p:cNvSpPr/>
          <p:nvPr/>
        </p:nvSpPr>
        <p:spPr>
          <a:xfrm>
            <a:off x="5994008" y="3592633"/>
            <a:ext cx="2766288" cy="32632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07AF831-6666-408D-A886-8CC69C20C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47C0976-4459-45FA-83B5-B6CA585D5ED2}"/>
              </a:ext>
            </a:extLst>
          </p:cNvPr>
          <p:cNvSpPr txBox="1"/>
          <p:nvPr/>
        </p:nvSpPr>
        <p:spPr>
          <a:xfrm>
            <a:off x="6595476" y="3192573"/>
            <a:ext cx="2668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pPr algn="ctr"/>
            <a:r>
              <a:rPr lang="zh-CN" altLang="en-US"/>
              <a:t>只被覆盖一次的子区间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76FFFA-2221-4A81-B717-2D80A07CF09C}"/>
              </a:ext>
            </a:extLst>
          </p:cNvPr>
          <p:cNvSpPr txBox="1"/>
          <p:nvPr/>
        </p:nvSpPr>
        <p:spPr>
          <a:xfrm>
            <a:off x="7288976" y="4207930"/>
            <a:ext cx="4814848" cy="8806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多次覆盖的不纳入计算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B0F0"/>
                </a:solidFill>
              </a:rPr>
              <a:t>因为移除一个区间后，不影响该子区间被覆盖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B53535-67A9-42CC-8E51-6F1B855DA63F}"/>
              </a:ext>
            </a:extLst>
          </p:cNvPr>
          <p:cNvSpPr txBox="1"/>
          <p:nvPr/>
        </p:nvSpPr>
        <p:spPr>
          <a:xfrm>
            <a:off x="8946896" y="3486442"/>
            <a:ext cx="1971824" cy="4651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累加该段的长度</a:t>
            </a:r>
            <a:endParaRPr lang="zh-CN" altLang="en-US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88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/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616C4D2-218F-CA15-5D7A-98FAC4637023}"/>
              </a:ext>
            </a:extLst>
          </p:cNvPr>
          <p:cNvSpPr/>
          <p:nvPr/>
        </p:nvSpPr>
        <p:spPr>
          <a:xfrm>
            <a:off x="3791744" y="1412777"/>
            <a:ext cx="489654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枚举删除区间编号</a:t>
            </a:r>
            <a:r>
              <a:rPr lang="en-US" altLang="zh-CN" sz="2400" dirty="0"/>
              <a:t>i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F55122A-BD11-E431-596A-1781A0877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00" y="2276438"/>
            <a:ext cx="6084168" cy="317741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FC83660-C02A-B95C-E478-A843876F4DA9}"/>
              </a:ext>
            </a:extLst>
          </p:cNvPr>
          <p:cNvSpPr/>
          <p:nvPr/>
        </p:nvSpPr>
        <p:spPr>
          <a:xfrm>
            <a:off x="5687824" y="3484262"/>
            <a:ext cx="1132175" cy="33575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E0554F1-8310-427A-849F-3F2A4A9B65E9}"/>
              </a:ext>
            </a:extLst>
          </p:cNvPr>
          <p:cNvSpPr/>
          <p:nvPr/>
        </p:nvSpPr>
        <p:spPr>
          <a:xfrm>
            <a:off x="6096000" y="3892756"/>
            <a:ext cx="2088232" cy="33575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4616DD-191F-3B13-8C02-FA75391F0F37}"/>
              </a:ext>
            </a:extLst>
          </p:cNvPr>
          <p:cNvSpPr/>
          <p:nvPr/>
        </p:nvSpPr>
        <p:spPr>
          <a:xfrm>
            <a:off x="6829375" y="4279078"/>
            <a:ext cx="1354857" cy="33575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84E0F9A-12C1-47EB-94F2-33BF98715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63360F4-D2D1-4DA8-ABA5-1CBD8A013DE7}"/>
              </a:ext>
            </a:extLst>
          </p:cNvPr>
          <p:cNvSpPr txBox="1"/>
          <p:nvPr/>
        </p:nvSpPr>
        <p:spPr>
          <a:xfrm>
            <a:off x="191344" y="275507"/>
            <a:ext cx="43924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pPr algn="ctr"/>
            <a:r>
              <a:rPr lang="en-US" altLang="zh-CN" sz="2000" dirty="0"/>
              <a:t>a[i] </a:t>
            </a:r>
            <a:r>
              <a:rPr lang="zh-CN" altLang="en-US" sz="2000"/>
              <a:t>和 </a:t>
            </a:r>
            <a:r>
              <a:rPr lang="en-US" altLang="zh-CN" sz="2000" dirty="0"/>
              <a:t>b[i] </a:t>
            </a:r>
            <a:r>
              <a:rPr lang="zh-CN" altLang="en-US" sz="2000">
                <a:solidFill>
                  <a:srgbClr val="FF0000"/>
                </a:solidFill>
              </a:rPr>
              <a:t>为离散化后的索引</a:t>
            </a:r>
            <a:endParaRPr lang="zh-CN" altLang="en-US" sz="200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21888FB-DA41-45AA-9FAB-458943E05C86}"/>
              </a:ext>
            </a:extLst>
          </p:cNvPr>
          <p:cNvSpPr txBox="1"/>
          <p:nvPr/>
        </p:nvSpPr>
        <p:spPr>
          <a:xfrm>
            <a:off x="7032104" y="3011712"/>
            <a:ext cx="284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/>
              <a:t>离散化后的区间左端点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DF01F4F-AFB4-4A7F-8197-701136AFF90F}"/>
              </a:ext>
            </a:extLst>
          </p:cNvPr>
          <p:cNvSpPr txBox="1"/>
          <p:nvPr/>
        </p:nvSpPr>
        <p:spPr>
          <a:xfrm>
            <a:off x="7032104" y="3427739"/>
            <a:ext cx="284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/>
              <a:t>离散化后的区间右端点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4045BA8-ACD2-4A64-8813-E795BEDEC7D2}"/>
              </a:ext>
            </a:extLst>
          </p:cNvPr>
          <p:cNvSpPr txBox="1"/>
          <p:nvPr/>
        </p:nvSpPr>
        <p:spPr>
          <a:xfrm>
            <a:off x="8572376" y="3875907"/>
            <a:ext cx="3236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/>
              <a:t>删除该区间后，减少的贡献值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FF5F915-689D-43E1-A2F2-31AA9B53C924}"/>
              </a:ext>
            </a:extLst>
          </p:cNvPr>
          <p:cNvSpPr txBox="1"/>
          <p:nvPr/>
        </p:nvSpPr>
        <p:spPr>
          <a:xfrm>
            <a:off x="8572376" y="4295550"/>
            <a:ext cx="3236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/>
              <a:t>打擂台，保留最大的覆盖长度</a:t>
            </a:r>
          </a:p>
        </p:txBody>
      </p:sp>
    </p:spTree>
    <p:extLst>
      <p:ext uri="{BB962C8B-B14F-4D97-AF65-F5344CB8AC3E}">
        <p14:creationId xmlns:p14="http://schemas.microsoft.com/office/powerpoint/2010/main" val="266162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791744" y="1340768"/>
            <a:ext cx="4896544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复杂度分析</a:t>
            </a:r>
            <a:endParaRPr lang="zh-CN" altLang="zh-CN" sz="28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E7A87C-D863-01E0-1296-CF48C1AD7D7C}"/>
              </a:ext>
            </a:extLst>
          </p:cNvPr>
          <p:cNvSpPr/>
          <p:nvPr/>
        </p:nvSpPr>
        <p:spPr>
          <a:xfrm>
            <a:off x="3791744" y="2507989"/>
            <a:ext cx="4896544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/>
              <a:t>O(nlogn+n)</a:t>
            </a:r>
            <a:endParaRPr lang="zh-CN" altLang="zh-CN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3E2FD67-848C-44F3-8F96-33DD694A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2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791744" y="1340768"/>
            <a:ext cx="4896544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查错方法</a:t>
            </a:r>
            <a:endParaRPr lang="zh-CN" altLang="zh-CN" sz="28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E7A87C-D863-01E0-1296-CF48C1AD7D7C}"/>
              </a:ext>
            </a:extLst>
          </p:cNvPr>
          <p:cNvSpPr/>
          <p:nvPr/>
        </p:nvSpPr>
        <p:spPr>
          <a:xfrm>
            <a:off x="3791744" y="2204864"/>
            <a:ext cx="4896544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打印关键变量</a:t>
            </a:r>
            <a:endParaRPr lang="zh-CN" altLang="zh-CN" sz="28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E728F53-C08E-7418-15F7-71A01A037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384717"/>
            <a:ext cx="9144000" cy="149040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D2D7AE4-465E-4306-B21E-EC27D4B03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37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E976-E7D6-8426-B05A-DB40C48F6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58AF0DB1-FA76-B53F-770F-A54555503574}"/>
              </a:ext>
            </a:extLst>
          </p:cNvPr>
          <p:cNvSpPr txBox="1"/>
          <p:nvPr/>
        </p:nvSpPr>
        <p:spPr>
          <a:xfrm>
            <a:off x="-210616" y="2636912"/>
            <a:ext cx="12613232" cy="1015659"/>
          </a:xfrm>
          <a:prstGeom prst="rect">
            <a:avLst/>
          </a:prstGeom>
          <a:solidFill>
            <a:srgbClr val="F2F2F2"/>
          </a:solidFill>
          <a:ln w="12700">
            <a:solidFill>
              <a:srgbClr val="4A452A"/>
            </a:solidFill>
          </a:ln>
        </p:spPr>
        <p:txBody>
          <a:bodyPr wrap="square" lIns="45718" tIns="45718" rIns="45718" bIns="45718">
            <a:spAutoFit/>
          </a:bodyPr>
          <a:lstStyle>
            <a:defPPr>
              <a:defRPr lang="zh-CN"/>
            </a:defPPr>
            <a:lvl1pPr algn="ctr" defTabSz="914367">
              <a:defRPr sz="3937">
                <a:latin typeface="Calibri"/>
                <a:ea typeface="Calibri"/>
                <a:cs typeface="Calibri"/>
              </a:defRPr>
            </a:lvl1pPr>
          </a:lstStyle>
          <a:p>
            <a:pPr>
              <a:defRPr sz="5600">
                <a:latin typeface="Calibri"/>
                <a:ea typeface="Calibri"/>
                <a:cs typeface="Calibri"/>
                <a:sym typeface="Calibri"/>
              </a:defRPr>
            </a:pPr>
            <a:r>
              <a:rPr lang="en-US" altLang="zh-CN" sz="6000" dirty="0"/>
              <a:t>T4 </a:t>
            </a:r>
            <a:r>
              <a:rPr lang="zh-CN" altLang="en-US" sz="6000"/>
              <a:t>堵车</a:t>
            </a:r>
            <a:endParaRPr lang="zh-CN" altLang="en-US" sz="6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79162-2E5E-2A96-CC9E-D0A2FD57488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43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0336601"/>
      </p:ext>
    </p:extLst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9037A0C-02DA-974C-7EA0-20B2B115A5B4}"/>
              </a:ext>
            </a:extLst>
          </p:cNvPr>
          <p:cNvSpPr/>
          <p:nvPr/>
        </p:nvSpPr>
        <p:spPr>
          <a:xfrm>
            <a:off x="3503712" y="980729"/>
            <a:ext cx="5330452" cy="646331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600">
                <a:latin typeface="Consolas" pitchFamily="49" charset="0"/>
                <a:cs typeface="Consolas" pitchFamily="49" charset="0"/>
              </a:rPr>
              <a:t>题目大意</a:t>
            </a:r>
            <a:endParaRPr lang="en-US" altLang="zh-CN" sz="36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E282AC-317D-5183-EE87-7B639BEC9DF4}"/>
              </a:ext>
            </a:extLst>
          </p:cNvPr>
          <p:cNvSpPr/>
          <p:nvPr/>
        </p:nvSpPr>
        <p:spPr>
          <a:xfrm>
            <a:off x="1876158" y="2564904"/>
            <a:ext cx="8585559" cy="1143390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/>
              <a:t>已知无向正权图中包含</a:t>
            </a:r>
            <a:r>
              <a:rPr lang="en-US" altLang="zh-CN" sz="2400" dirty="0"/>
              <a:t>n</a:t>
            </a:r>
            <a:r>
              <a:rPr lang="zh-CN" altLang="en-US" sz="2400"/>
              <a:t>个</a:t>
            </a:r>
            <a:r>
              <a:rPr lang="zh-CN" altLang="en-US" sz="2400" dirty="0"/>
              <a:t>节点和</a:t>
            </a:r>
            <a:r>
              <a:rPr lang="en-US" altLang="zh-CN" sz="2400" dirty="0"/>
              <a:t>m</a:t>
            </a:r>
            <a:r>
              <a:rPr lang="zh-CN" altLang="en-US" sz="2400"/>
              <a:t>条</a:t>
            </a:r>
            <a:r>
              <a:rPr lang="zh-CN" altLang="en-US" sz="2400" dirty="0"/>
              <a:t>边。某条边的边权翻倍后，最差情况下，从</a:t>
            </a:r>
            <a:r>
              <a:rPr lang="en-US" altLang="zh-CN" sz="2400" dirty="0"/>
              <a:t>1</a:t>
            </a:r>
            <a:r>
              <a:rPr lang="zh-CN" altLang="en-US" sz="2400"/>
              <a:t>号</a:t>
            </a:r>
            <a:r>
              <a:rPr lang="zh-CN" altLang="en-US" sz="2400" dirty="0"/>
              <a:t>节点到</a:t>
            </a:r>
            <a:r>
              <a:rPr lang="en-US" altLang="zh-CN" sz="2400" dirty="0"/>
              <a:t>n</a:t>
            </a:r>
            <a:r>
              <a:rPr lang="zh-CN" altLang="en-US" sz="2400"/>
              <a:t>号</a:t>
            </a:r>
            <a:r>
              <a:rPr lang="zh-CN" altLang="en-US" sz="2400" dirty="0"/>
              <a:t>节点的最短路</a:t>
            </a:r>
            <a:r>
              <a:rPr lang="zh-CN" altLang="en-US" sz="2400" b="1" dirty="0"/>
              <a:t>增量</a:t>
            </a:r>
            <a:r>
              <a:rPr lang="zh-CN" altLang="en-US" sz="2400" dirty="0"/>
              <a:t>最大是多少？</a:t>
            </a:r>
            <a:endParaRPr lang="zh-CN" altLang="zh-CN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98F5EB8-6F1E-4F60-BA28-B2BE312C1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85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/>
          <p:cNvSpPr txBox="1">
            <a:spLocks/>
          </p:cNvSpPr>
          <p:nvPr/>
        </p:nvSpPr>
        <p:spPr>
          <a:xfrm>
            <a:off x="2329064" y="320998"/>
            <a:ext cx="7505700" cy="4437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0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部分分策略讨论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E23672-4ED0-D924-3A4D-03AD5F890F25}"/>
              </a:ext>
            </a:extLst>
          </p:cNvPr>
          <p:cNvSpPr/>
          <p:nvPr/>
        </p:nvSpPr>
        <p:spPr>
          <a:xfrm>
            <a:off x="1487488" y="2627620"/>
            <a:ext cx="201402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特殊情况</a:t>
            </a: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4F05FD9-03AD-E8E2-CBDA-28DC0A6FCB4D}"/>
              </a:ext>
            </a:extLst>
          </p:cNvPr>
          <p:cNvSpPr/>
          <p:nvPr/>
        </p:nvSpPr>
        <p:spPr>
          <a:xfrm>
            <a:off x="1487488" y="4139788"/>
            <a:ext cx="201402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正解</a:t>
            </a:r>
            <a:endParaRPr lang="zh-CN" altLang="zh-CN" dirty="0">
              <a:latin typeface="Consolas" panose="020B0609020204030204" pitchFamily="49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E9BA217-BD19-4122-C3ED-8CF099458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696931"/>
              </p:ext>
            </p:extLst>
          </p:nvPr>
        </p:nvGraphicFramePr>
        <p:xfrm>
          <a:off x="3598358" y="2060848"/>
          <a:ext cx="7610210" cy="252028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951759">
                  <a:extLst>
                    <a:ext uri="{9D8B030D-6E8A-4147-A177-3AD203B41FA5}">
                      <a16:colId xmlns:a16="http://schemas.microsoft.com/office/drawing/2014/main" val="4101058618"/>
                    </a:ext>
                  </a:extLst>
                </a:gridCol>
                <a:gridCol w="5658451">
                  <a:extLst>
                    <a:ext uri="{9D8B030D-6E8A-4147-A177-3AD203B41FA5}">
                      <a16:colId xmlns:a16="http://schemas.microsoft.com/office/drawing/2014/main" val="405299054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zh-CN" sz="2400" kern="100">
                          <a:effectLst/>
                        </a:rPr>
                        <a:t>测试点编号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400" kern="100">
                          <a:effectLst/>
                        </a:rPr>
                        <a:t>特殊性质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88902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sz="2400" kern="100" dirty="0">
                          <a:effectLst/>
                        </a:rPr>
                        <a:t>1~2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00" dirty="0">
                          <a:effectLst/>
                        </a:rPr>
                        <a:t>m=n-1</a:t>
                      </a:r>
                      <a:r>
                        <a:rPr lang="zh-CN" sz="2400" kern="100">
                          <a:effectLst/>
                        </a:rPr>
                        <a:t>，</a:t>
                      </a:r>
                      <a:r>
                        <a:rPr lang="en-US" sz="2400" kern="100" dirty="0">
                          <a:effectLst/>
                        </a:rPr>
                        <a:t>Ai=i</a:t>
                      </a:r>
                      <a:r>
                        <a:rPr lang="zh-CN" sz="2400" kern="100">
                          <a:effectLst/>
                        </a:rPr>
                        <a:t>，</a:t>
                      </a:r>
                      <a:r>
                        <a:rPr lang="en-US" sz="2400" kern="100" dirty="0">
                          <a:effectLst/>
                        </a:rPr>
                        <a:t>Bi=i+1</a:t>
                      </a:r>
                      <a:r>
                        <a:rPr lang="zh-CN" sz="2400" kern="100">
                          <a:effectLst/>
                        </a:rPr>
                        <a:t>，符合链条形态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010725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sz="2400" kern="100" dirty="0">
                          <a:effectLst/>
                        </a:rPr>
                        <a:t>3~4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00" dirty="0">
                          <a:effectLst/>
                        </a:rPr>
                        <a:t>n</a:t>
                      </a:r>
                      <a:r>
                        <a:rPr lang="zh-CN" sz="2400" kern="100">
                          <a:effectLst/>
                        </a:rPr>
                        <a:t>≤</a:t>
                      </a:r>
                      <a:r>
                        <a:rPr lang="en-US" sz="2400" kern="100" dirty="0">
                          <a:effectLst/>
                        </a:rPr>
                        <a:t>10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036669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sz="2400" kern="100" dirty="0">
                          <a:effectLst/>
                        </a:rPr>
                        <a:t>5~6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00" dirty="0">
                          <a:effectLst/>
                        </a:rPr>
                        <a:t>n</a:t>
                      </a:r>
                      <a:r>
                        <a:rPr lang="zh-CN" sz="2400" kern="100">
                          <a:effectLst/>
                        </a:rPr>
                        <a:t>≤</a:t>
                      </a:r>
                      <a:r>
                        <a:rPr lang="en-US" sz="2400" kern="100" dirty="0">
                          <a:effectLst/>
                        </a:rPr>
                        <a:t>100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2516905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sz="2400" kern="100" dirty="0">
                          <a:effectLst/>
                        </a:rPr>
                        <a:t>7~10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400" kern="100" dirty="0">
                          <a:effectLst/>
                        </a:rPr>
                        <a:t>无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97598882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D4AF31E1-4249-9188-33AE-C2D95C77F180}"/>
              </a:ext>
            </a:extLst>
          </p:cNvPr>
          <p:cNvSpPr/>
          <p:nvPr/>
        </p:nvSpPr>
        <p:spPr>
          <a:xfrm>
            <a:off x="1474064" y="3635732"/>
            <a:ext cx="201402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复杂度较差的解</a:t>
            </a: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CCFFE6-073C-4979-78F5-6CD2628C81BC}"/>
              </a:ext>
            </a:extLst>
          </p:cNvPr>
          <p:cNvSpPr/>
          <p:nvPr/>
        </p:nvSpPr>
        <p:spPr>
          <a:xfrm>
            <a:off x="1487488" y="3131676"/>
            <a:ext cx="201402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复杂度很差的解</a:t>
            </a: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5FBBAB0-FE00-41CC-A054-1304A8C3D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2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5FC8680-7CA6-A0DF-2934-DACEA79F0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1412777"/>
            <a:ext cx="8102606" cy="380087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9037A0C-02DA-974C-7EA0-20B2B115A5B4}"/>
              </a:ext>
            </a:extLst>
          </p:cNvPr>
          <p:cNvSpPr/>
          <p:nvPr/>
        </p:nvSpPr>
        <p:spPr>
          <a:xfrm>
            <a:off x="1342542" y="188641"/>
            <a:ext cx="9506916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latin typeface="Consolas" pitchFamily="49" charset="0"/>
                <a:cs typeface="Consolas" pitchFamily="49" charset="0"/>
              </a:rPr>
              <a:t>数据分流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CC9E161-24D2-4C08-B1A3-3ADD850E7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6532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E6B121F-AC84-03BA-E8B4-BBF74FCDF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869" y="332656"/>
            <a:ext cx="6021331" cy="573325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3F08830-2839-4337-B9C2-9DEA4DA31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123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9037A0C-02DA-974C-7EA0-20B2B115A5B4}"/>
              </a:ext>
            </a:extLst>
          </p:cNvPr>
          <p:cNvSpPr/>
          <p:nvPr/>
        </p:nvSpPr>
        <p:spPr>
          <a:xfrm>
            <a:off x="1271464" y="404664"/>
            <a:ext cx="9506916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链条形态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2F7747-4AAF-A30E-30BD-9F9376DC50E0}"/>
              </a:ext>
            </a:extLst>
          </p:cNvPr>
          <p:cNvSpPr/>
          <p:nvPr/>
        </p:nvSpPr>
        <p:spPr>
          <a:xfrm>
            <a:off x="1271464" y="989439"/>
            <a:ext cx="9506916" cy="523220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找到最大边权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2F3ED1-7997-4127-BECB-6D143FDAF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B49DB6-07C1-447D-9783-4D80AAD5F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1916832"/>
            <a:ext cx="6623524" cy="418471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7B252C5-789B-4F46-B885-EF82DC71A67D}"/>
              </a:ext>
            </a:extLst>
          </p:cNvPr>
          <p:cNvSpPr/>
          <p:nvPr/>
        </p:nvSpPr>
        <p:spPr>
          <a:xfrm>
            <a:off x="4439816" y="2991188"/>
            <a:ext cx="2242408" cy="30744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967645-682E-4436-B84E-C2F44FD8FFA6}"/>
              </a:ext>
            </a:extLst>
          </p:cNvPr>
          <p:cNvSpPr/>
          <p:nvPr/>
        </p:nvSpPr>
        <p:spPr>
          <a:xfrm>
            <a:off x="5015880" y="5110788"/>
            <a:ext cx="2088232" cy="27748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491C77-5125-405F-AC66-2E8AB34E8862}"/>
              </a:ext>
            </a:extLst>
          </p:cNvPr>
          <p:cNvSpPr txBox="1"/>
          <p:nvPr/>
        </p:nvSpPr>
        <p:spPr>
          <a:xfrm>
            <a:off x="8616280" y="2939456"/>
            <a:ext cx="1944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/>
              <a:t>不符合链状形态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ACE947E-E820-498A-9FBD-BD67B95B390C}"/>
              </a:ext>
            </a:extLst>
          </p:cNvPr>
          <p:cNvSpPr txBox="1"/>
          <p:nvPr/>
        </p:nvSpPr>
        <p:spPr>
          <a:xfrm>
            <a:off x="7682356" y="5064864"/>
            <a:ext cx="1944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/>
              <a:t>不符合链状形态</a:t>
            </a:r>
          </a:p>
        </p:txBody>
      </p:sp>
    </p:spTree>
    <p:extLst>
      <p:ext uri="{BB962C8B-B14F-4D97-AF65-F5344CB8AC3E}">
        <p14:creationId xmlns:p14="http://schemas.microsoft.com/office/powerpoint/2010/main" val="2724720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9037A0C-02DA-974C-7EA0-20B2B115A5B4}"/>
              </a:ext>
            </a:extLst>
          </p:cNvPr>
          <p:cNvSpPr/>
          <p:nvPr/>
        </p:nvSpPr>
        <p:spPr>
          <a:xfrm>
            <a:off x="1415480" y="2348881"/>
            <a:ext cx="950691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latin typeface="Consolas" panose="020B0609020204030204" pitchFamily="49" charset="0"/>
              </a:rPr>
              <a:t>复杂度较差的解</a:t>
            </a:r>
            <a:endParaRPr lang="zh-CN" altLang="zh-CN" sz="3200" dirty="0">
              <a:latin typeface="Consolas" panose="020B0609020204030204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2FA96CD-57CB-4D7B-81AD-76A311661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9080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9037A0C-02DA-974C-7EA0-20B2B115A5B4}"/>
              </a:ext>
            </a:extLst>
          </p:cNvPr>
          <p:cNvSpPr/>
          <p:nvPr/>
        </p:nvSpPr>
        <p:spPr>
          <a:xfrm>
            <a:off x="1415480" y="1680976"/>
            <a:ext cx="9506916" cy="523220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枚举</a:t>
            </a:r>
            <a:r>
              <a:rPr lang="en-US" altLang="zh-CN" sz="2800" dirty="0">
                <a:latin typeface="Consolas" panose="020B0609020204030204" pitchFamily="49" charset="0"/>
              </a:rPr>
              <a:t>m</a:t>
            </a:r>
            <a:r>
              <a:rPr lang="zh-CN" altLang="en-US" sz="2800" dirty="0">
                <a:latin typeface="Consolas" panose="020B0609020204030204" pitchFamily="49" charset="0"/>
              </a:rPr>
              <a:t>条边中的每一条边</a:t>
            </a:r>
            <a:endParaRPr lang="zh-CN" altLang="zh-CN" sz="2800" dirty="0">
              <a:latin typeface="Consolas" panose="020B06090202040302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04EE97-B2FB-E443-1544-1B7EAACFB267}"/>
              </a:ext>
            </a:extLst>
          </p:cNvPr>
          <p:cNvSpPr/>
          <p:nvPr/>
        </p:nvSpPr>
        <p:spPr>
          <a:xfrm>
            <a:off x="1415480" y="2265751"/>
            <a:ext cx="9506916" cy="523220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对该条边的边权翻倍</a:t>
            </a:r>
            <a:endParaRPr lang="zh-CN" altLang="zh-CN" sz="2800" dirty="0">
              <a:latin typeface="Consolas" panose="020B06090202040302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8ECC72-C20F-8B08-DA9F-D7DD6476DA40}"/>
              </a:ext>
            </a:extLst>
          </p:cNvPr>
          <p:cNvSpPr/>
          <p:nvPr/>
        </p:nvSpPr>
        <p:spPr>
          <a:xfrm>
            <a:off x="1415480" y="620689"/>
            <a:ext cx="9506916" cy="523220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枚举法</a:t>
            </a:r>
            <a:endParaRPr lang="zh-CN" altLang="zh-CN" sz="2800" dirty="0">
              <a:latin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475E67-0115-5944-5502-1B3D1E7BC28C}"/>
              </a:ext>
            </a:extLst>
          </p:cNvPr>
          <p:cNvSpPr/>
          <p:nvPr/>
        </p:nvSpPr>
        <p:spPr>
          <a:xfrm>
            <a:off x="1415480" y="2850526"/>
            <a:ext cx="9506916" cy="523220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再求从</a:t>
            </a:r>
            <a:r>
              <a:rPr lang="en-US" altLang="zh-CN" sz="2800" dirty="0">
                <a:latin typeface="Consolas" panose="020B0609020204030204" pitchFamily="49" charset="0"/>
              </a:rPr>
              <a:t>1</a:t>
            </a:r>
            <a:r>
              <a:rPr lang="zh-CN" altLang="en-US" sz="2800" dirty="0">
                <a:latin typeface="Consolas" panose="020B0609020204030204" pitchFamily="49" charset="0"/>
              </a:rPr>
              <a:t>号到</a:t>
            </a:r>
            <a:r>
              <a:rPr lang="en-US" altLang="zh-CN" sz="2800" dirty="0">
                <a:latin typeface="Consolas" panose="020B0609020204030204" pitchFamily="49" charset="0"/>
              </a:rPr>
              <a:t>n</a:t>
            </a:r>
            <a:r>
              <a:rPr lang="zh-CN" altLang="en-US" sz="2800" dirty="0">
                <a:latin typeface="Consolas" panose="020B0609020204030204" pitchFamily="49" charset="0"/>
              </a:rPr>
              <a:t>号的最短路</a:t>
            </a:r>
            <a:endParaRPr lang="zh-CN" altLang="zh-CN" sz="2800" dirty="0">
              <a:latin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55DB39-2EB6-86E3-E8F5-DAE5667A0C15}"/>
              </a:ext>
            </a:extLst>
          </p:cNvPr>
          <p:cNvSpPr/>
          <p:nvPr/>
        </p:nvSpPr>
        <p:spPr>
          <a:xfrm>
            <a:off x="1415480" y="4149081"/>
            <a:ext cx="9506916" cy="523220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最短路采用朴素版</a:t>
            </a:r>
            <a:r>
              <a:rPr lang="en-US" altLang="zh-CN" sz="2800" dirty="0">
                <a:latin typeface="Consolas" panose="020B0609020204030204" pitchFamily="49" charset="0"/>
              </a:rPr>
              <a:t>Dijkstra</a:t>
            </a:r>
            <a:r>
              <a:rPr lang="zh-CN" altLang="en-US" sz="2800" dirty="0">
                <a:latin typeface="Consolas" panose="020B0609020204030204" pitchFamily="49" charset="0"/>
              </a:rPr>
              <a:t>，复杂度</a:t>
            </a:r>
            <a:r>
              <a:rPr lang="en-US" altLang="zh-CN" sz="2800" dirty="0">
                <a:latin typeface="Consolas" panose="020B0609020204030204" pitchFamily="49" charset="0"/>
              </a:rPr>
              <a:t>O(n</a:t>
            </a:r>
            <a:r>
              <a:rPr lang="en-US" altLang="zh-CN" sz="2800" baseline="30000" dirty="0">
                <a:latin typeface="Consolas" panose="020B0609020204030204" pitchFamily="49" charset="0"/>
              </a:rPr>
              <a:t>2</a:t>
            </a:r>
            <a:r>
              <a:rPr lang="en-US" altLang="zh-CN" sz="2800" dirty="0">
                <a:latin typeface="Consolas" panose="020B0609020204030204" pitchFamily="49" charset="0"/>
              </a:rPr>
              <a:t>)</a:t>
            </a:r>
            <a:endParaRPr lang="zh-CN" altLang="zh-CN" sz="2800" dirty="0">
              <a:latin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B96476-B7AA-3165-72AF-0C41256BC109}"/>
              </a:ext>
            </a:extLst>
          </p:cNvPr>
          <p:cNvSpPr/>
          <p:nvPr/>
        </p:nvSpPr>
        <p:spPr>
          <a:xfrm>
            <a:off x="1415480" y="5235875"/>
            <a:ext cx="9506916" cy="523220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整体复杂度</a:t>
            </a:r>
            <a:r>
              <a:rPr lang="en-US" altLang="zh-CN" sz="2800" dirty="0">
                <a:latin typeface="Consolas" panose="020B0609020204030204" pitchFamily="49" charset="0"/>
              </a:rPr>
              <a:t>O(mn</a:t>
            </a:r>
            <a:r>
              <a:rPr lang="en-US" altLang="zh-CN" sz="2800" baseline="30000" dirty="0">
                <a:latin typeface="Consolas" panose="020B0609020204030204" pitchFamily="49" charset="0"/>
              </a:rPr>
              <a:t>2</a:t>
            </a:r>
            <a:r>
              <a:rPr lang="en-US" altLang="zh-CN" sz="2800" dirty="0">
                <a:latin typeface="Consolas" panose="020B0609020204030204" pitchFamily="49" charset="0"/>
              </a:rPr>
              <a:t>)</a:t>
            </a:r>
            <a:endParaRPr lang="zh-CN" altLang="zh-CN" sz="2800" dirty="0">
              <a:latin typeface="Consolas" panose="020B0609020204030204" pitchFamily="49" charset="0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31C4A2-3D3B-4FCA-8CE8-A25D9A05E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527FF7-44D6-4E31-9097-C457ACECF3A7}"/>
              </a:ext>
            </a:extLst>
          </p:cNvPr>
          <p:cNvSpPr txBox="1"/>
          <p:nvPr/>
        </p:nvSpPr>
        <p:spPr>
          <a:xfrm>
            <a:off x="1383120" y="6094742"/>
            <a:ext cx="32033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Consolas" panose="020B0609020204030204" pitchFamily="49" charset="0"/>
              </a:rPr>
              <a:t>n</a:t>
            </a:r>
            <a:r>
              <a:rPr lang="zh-CN" altLang="zh-CN" sz="2800">
                <a:latin typeface="Consolas" panose="020B0609020204030204" pitchFamily="49" charset="0"/>
              </a:rPr>
              <a:t>≤</a:t>
            </a:r>
            <a:r>
              <a:rPr lang="en-US" altLang="zh-CN" sz="2800" dirty="0">
                <a:latin typeface="Consolas" panose="020B0609020204030204" pitchFamily="49" charset="0"/>
              </a:rPr>
              <a:t>500</a:t>
            </a:r>
            <a:r>
              <a:rPr lang="zh-CN" altLang="zh-CN" sz="2800">
                <a:latin typeface="Consolas" panose="020B0609020204030204" pitchFamily="49" charset="0"/>
              </a:rPr>
              <a:t>，</a:t>
            </a:r>
            <a:r>
              <a:rPr lang="en-US" altLang="zh-CN" sz="2800" dirty="0">
                <a:latin typeface="Consolas" panose="020B0609020204030204" pitchFamily="49" charset="0"/>
              </a:rPr>
              <a:t>m</a:t>
            </a:r>
            <a:r>
              <a:rPr lang="zh-CN" altLang="zh-CN" sz="2800">
                <a:latin typeface="Consolas" panose="020B0609020204030204" pitchFamily="49" charset="0"/>
              </a:rPr>
              <a:t>≤</a:t>
            </a:r>
            <a:r>
              <a:rPr lang="en-US" altLang="zh-CN" sz="2800" dirty="0">
                <a:latin typeface="Consolas" panose="020B0609020204030204" pitchFamily="49" charset="0"/>
              </a:rPr>
              <a:t>100000</a:t>
            </a:r>
            <a:endParaRPr lang="zh-CN" altLang="en-US" sz="2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594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  <p:bldP spid="4" grpId="0" animBg="1"/>
      <p:bldP spid="5" grpId="0" animBg="1"/>
      <p:bldP spid="9" grpId="0" animBg="1"/>
      <p:bldP spid="1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9037A0C-02DA-974C-7EA0-20B2B115A5B4}"/>
              </a:ext>
            </a:extLst>
          </p:cNvPr>
          <p:cNvSpPr/>
          <p:nvPr/>
        </p:nvSpPr>
        <p:spPr>
          <a:xfrm>
            <a:off x="1415480" y="2348881"/>
            <a:ext cx="9506916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思考优化方法</a:t>
            </a:r>
            <a:endParaRPr lang="zh-CN" altLang="zh-CN" sz="2800" dirty="0">
              <a:latin typeface="Consolas" panose="020B06090202040302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4B3AFC-53CD-53BF-FCD8-F3C36A81EF21}"/>
              </a:ext>
            </a:extLst>
          </p:cNvPr>
          <p:cNvSpPr/>
          <p:nvPr/>
        </p:nvSpPr>
        <p:spPr>
          <a:xfrm>
            <a:off x="1415480" y="3717032"/>
            <a:ext cx="9506916" cy="1318566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dirty="0">
                <a:latin typeface="Consolas" panose="020B0609020204030204" pitchFamily="49" charset="0"/>
              </a:rPr>
              <a:t>若修改的边不在原始最短路上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dirty="0">
                <a:latin typeface="Consolas" panose="020B0609020204030204" pitchFamily="49" charset="0"/>
              </a:rPr>
              <a:t>对最短路没有影响</a:t>
            </a:r>
            <a:endParaRPr lang="zh-CN" altLang="zh-CN" sz="2800" dirty="0">
              <a:latin typeface="Consolas" panose="020B0609020204030204" pitchFamily="49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2A4D87D-7770-4256-AA4B-B6A837EA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63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9037A0C-02DA-974C-7EA0-20B2B115A5B4}"/>
              </a:ext>
            </a:extLst>
          </p:cNvPr>
          <p:cNvSpPr/>
          <p:nvPr/>
        </p:nvSpPr>
        <p:spPr>
          <a:xfrm>
            <a:off x="1415480" y="1680976"/>
            <a:ext cx="9506916" cy="523220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只枚举原始最短路上的每一条边</a:t>
            </a:r>
            <a:endParaRPr lang="zh-CN" altLang="zh-CN" sz="2800" dirty="0">
              <a:latin typeface="Consolas" panose="020B06090202040302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04EE97-B2FB-E443-1544-1B7EAACFB267}"/>
              </a:ext>
            </a:extLst>
          </p:cNvPr>
          <p:cNvSpPr/>
          <p:nvPr/>
        </p:nvSpPr>
        <p:spPr>
          <a:xfrm>
            <a:off x="1415480" y="2265751"/>
            <a:ext cx="9506916" cy="523220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对该条边的边权翻倍</a:t>
            </a:r>
            <a:endParaRPr lang="zh-CN" altLang="zh-CN" sz="2800" dirty="0">
              <a:latin typeface="Consolas" panose="020B06090202040302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8ECC72-C20F-8B08-DA9F-D7DD6476DA40}"/>
              </a:ext>
            </a:extLst>
          </p:cNvPr>
          <p:cNvSpPr/>
          <p:nvPr/>
        </p:nvSpPr>
        <p:spPr>
          <a:xfrm>
            <a:off x="1415480" y="620689"/>
            <a:ext cx="9506916" cy="523220"/>
          </a:xfrm>
          <a:prstGeom prst="rect">
            <a:avLst/>
          </a:prstGeom>
          <a:solidFill>
            <a:srgbClr val="CCFFFF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枚举法</a:t>
            </a:r>
            <a:r>
              <a:rPr lang="en-US" altLang="zh-CN" sz="2800" dirty="0">
                <a:latin typeface="Consolas" panose="020B0609020204030204" pitchFamily="49" charset="0"/>
              </a:rPr>
              <a:t>+</a:t>
            </a:r>
            <a:r>
              <a:rPr lang="zh-CN" altLang="en-US" sz="2800" dirty="0">
                <a:latin typeface="Consolas" panose="020B0609020204030204" pitchFamily="49" charset="0"/>
              </a:rPr>
              <a:t>优化</a:t>
            </a:r>
            <a:endParaRPr lang="zh-CN" altLang="zh-CN" sz="2800" dirty="0">
              <a:latin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475E67-0115-5944-5502-1B3D1E7BC28C}"/>
              </a:ext>
            </a:extLst>
          </p:cNvPr>
          <p:cNvSpPr/>
          <p:nvPr/>
        </p:nvSpPr>
        <p:spPr>
          <a:xfrm>
            <a:off x="1415480" y="2850526"/>
            <a:ext cx="9506916" cy="523220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再求从</a:t>
            </a:r>
            <a:r>
              <a:rPr lang="en-US" altLang="zh-CN" sz="2800" dirty="0">
                <a:latin typeface="Consolas" panose="020B0609020204030204" pitchFamily="49" charset="0"/>
              </a:rPr>
              <a:t>1</a:t>
            </a:r>
            <a:r>
              <a:rPr lang="zh-CN" altLang="en-US" sz="2800" dirty="0">
                <a:latin typeface="Consolas" panose="020B0609020204030204" pitchFamily="49" charset="0"/>
              </a:rPr>
              <a:t>号到</a:t>
            </a:r>
            <a:r>
              <a:rPr lang="en-US" altLang="zh-CN" sz="2800" dirty="0">
                <a:latin typeface="Consolas" panose="020B0609020204030204" pitchFamily="49" charset="0"/>
              </a:rPr>
              <a:t>n</a:t>
            </a:r>
            <a:r>
              <a:rPr lang="zh-CN" altLang="en-US" sz="2800" dirty="0">
                <a:latin typeface="Consolas" panose="020B0609020204030204" pitchFamily="49" charset="0"/>
              </a:rPr>
              <a:t>号的最短路</a:t>
            </a:r>
            <a:endParaRPr lang="zh-CN" altLang="zh-CN" sz="2800" dirty="0">
              <a:latin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55DB39-2EB6-86E3-E8F5-DAE5667A0C15}"/>
              </a:ext>
            </a:extLst>
          </p:cNvPr>
          <p:cNvSpPr/>
          <p:nvPr/>
        </p:nvSpPr>
        <p:spPr>
          <a:xfrm>
            <a:off x="1415480" y="4149081"/>
            <a:ext cx="9506916" cy="523220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最短路采用朴素版</a:t>
            </a:r>
            <a:r>
              <a:rPr lang="en-US" altLang="zh-CN" sz="2800" dirty="0">
                <a:latin typeface="Consolas" panose="020B0609020204030204" pitchFamily="49" charset="0"/>
              </a:rPr>
              <a:t>Dijkstra</a:t>
            </a:r>
            <a:r>
              <a:rPr lang="zh-CN" altLang="en-US" sz="2800" dirty="0">
                <a:latin typeface="Consolas" panose="020B0609020204030204" pitchFamily="49" charset="0"/>
              </a:rPr>
              <a:t>，复杂度</a:t>
            </a:r>
            <a:r>
              <a:rPr lang="en-US" altLang="zh-CN" sz="2800" dirty="0">
                <a:latin typeface="Consolas" panose="020B0609020204030204" pitchFamily="49" charset="0"/>
              </a:rPr>
              <a:t>O(n</a:t>
            </a:r>
            <a:r>
              <a:rPr lang="en-US" altLang="zh-CN" sz="2800" baseline="30000" dirty="0">
                <a:latin typeface="Consolas" panose="020B0609020204030204" pitchFamily="49" charset="0"/>
              </a:rPr>
              <a:t>2</a:t>
            </a:r>
            <a:r>
              <a:rPr lang="en-US" altLang="zh-CN" sz="2800" dirty="0">
                <a:latin typeface="Consolas" panose="020B0609020204030204" pitchFamily="49" charset="0"/>
              </a:rPr>
              <a:t>)</a:t>
            </a:r>
            <a:endParaRPr lang="zh-CN" altLang="zh-CN" sz="2800" dirty="0">
              <a:latin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B96476-B7AA-3165-72AF-0C41256BC109}"/>
              </a:ext>
            </a:extLst>
          </p:cNvPr>
          <p:cNvSpPr/>
          <p:nvPr/>
        </p:nvSpPr>
        <p:spPr>
          <a:xfrm>
            <a:off x="1415480" y="5235875"/>
            <a:ext cx="9506916" cy="523220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整体复杂度</a:t>
            </a:r>
            <a:r>
              <a:rPr lang="en-US" altLang="zh-CN" sz="2800" dirty="0">
                <a:latin typeface="Consolas" panose="020B0609020204030204" pitchFamily="49" charset="0"/>
              </a:rPr>
              <a:t>O(n</a:t>
            </a:r>
            <a:r>
              <a:rPr lang="en-US" altLang="zh-CN" sz="2800" baseline="30000" dirty="0">
                <a:latin typeface="Consolas" panose="020B0609020204030204" pitchFamily="49" charset="0"/>
              </a:rPr>
              <a:t>3</a:t>
            </a:r>
            <a:r>
              <a:rPr lang="en-US" altLang="zh-CN" sz="2800" dirty="0">
                <a:latin typeface="Consolas" panose="020B0609020204030204" pitchFamily="49" charset="0"/>
              </a:rPr>
              <a:t>)</a:t>
            </a:r>
            <a:endParaRPr lang="zh-CN" altLang="zh-CN" sz="2800" dirty="0">
              <a:latin typeface="Consolas" panose="020B0609020204030204" pitchFamily="49" charset="0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1BCEE2-F1A2-4F27-BEB4-6E6131BC3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9170FF1-1802-4AC4-8266-A7C01CB7931E}"/>
              </a:ext>
            </a:extLst>
          </p:cNvPr>
          <p:cNvSpPr txBox="1"/>
          <p:nvPr/>
        </p:nvSpPr>
        <p:spPr>
          <a:xfrm>
            <a:off x="1383120" y="6094742"/>
            <a:ext cx="32033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Consolas" panose="020B0609020204030204" pitchFamily="49" charset="0"/>
              </a:rPr>
              <a:t>n</a:t>
            </a:r>
            <a:r>
              <a:rPr lang="zh-CN" altLang="zh-CN" sz="2800">
                <a:latin typeface="Consolas" panose="020B0609020204030204" pitchFamily="49" charset="0"/>
              </a:rPr>
              <a:t>≤</a:t>
            </a:r>
            <a:r>
              <a:rPr lang="en-US" altLang="zh-CN" sz="2800" dirty="0">
                <a:latin typeface="Consolas" panose="020B0609020204030204" pitchFamily="49" charset="0"/>
              </a:rPr>
              <a:t>500</a:t>
            </a:r>
            <a:r>
              <a:rPr lang="zh-CN" altLang="zh-CN" sz="2800">
                <a:latin typeface="Consolas" panose="020B0609020204030204" pitchFamily="49" charset="0"/>
              </a:rPr>
              <a:t>，</a:t>
            </a:r>
            <a:r>
              <a:rPr lang="en-US" altLang="zh-CN" sz="2800" dirty="0">
                <a:latin typeface="Consolas" panose="020B0609020204030204" pitchFamily="49" charset="0"/>
              </a:rPr>
              <a:t>m</a:t>
            </a:r>
            <a:r>
              <a:rPr lang="zh-CN" altLang="zh-CN" sz="2800">
                <a:latin typeface="Consolas" panose="020B0609020204030204" pitchFamily="49" charset="0"/>
              </a:rPr>
              <a:t>≤</a:t>
            </a:r>
            <a:r>
              <a:rPr lang="en-US" altLang="zh-CN" sz="2800" dirty="0">
                <a:latin typeface="Consolas" panose="020B0609020204030204" pitchFamily="49" charset="0"/>
              </a:rPr>
              <a:t>100000</a:t>
            </a:r>
            <a:endParaRPr lang="zh-CN" altLang="en-US" sz="2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36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  <p:bldP spid="4" grpId="0" animBg="1"/>
      <p:bldP spid="5" grpId="0" animBg="1"/>
      <p:bldP spid="9" grpId="0" animBg="1"/>
      <p:bldP spid="1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D3B04C5-CDEB-B5A7-5886-06616A85A63E}"/>
              </a:ext>
            </a:extLst>
          </p:cNvPr>
          <p:cNvSpPr/>
          <p:nvPr/>
        </p:nvSpPr>
        <p:spPr>
          <a:xfrm>
            <a:off x="1415480" y="1052737"/>
            <a:ext cx="9506916" cy="523220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如何记录：原始最短路上的每一条边</a:t>
            </a:r>
            <a:endParaRPr lang="zh-CN" altLang="zh-CN" sz="2800" dirty="0">
              <a:latin typeface="Consolas" panose="020B060902020403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AB154A-64E5-4DDF-A1FC-C754B212C6AF}"/>
              </a:ext>
            </a:extLst>
          </p:cNvPr>
          <p:cNvSpPr/>
          <p:nvPr/>
        </p:nvSpPr>
        <p:spPr>
          <a:xfrm>
            <a:off x="1415480" y="2060344"/>
            <a:ext cx="9506916" cy="1318566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dirty="0">
                <a:latin typeface="Consolas" panose="020B0609020204030204" pitchFamily="49" charset="0"/>
              </a:rPr>
              <a:t>pre[v]</a:t>
            </a:r>
            <a:r>
              <a:rPr lang="zh-CN" altLang="en-US" sz="2800" dirty="0">
                <a:latin typeface="Consolas" panose="020B0609020204030204" pitchFamily="49" charset="0"/>
              </a:rPr>
              <a:t>表示从</a:t>
            </a:r>
            <a:r>
              <a:rPr lang="en-US" altLang="zh-CN" sz="2800" dirty="0">
                <a:latin typeface="Consolas" panose="020B0609020204030204" pitchFamily="49" charset="0"/>
              </a:rPr>
              <a:t>1</a:t>
            </a:r>
            <a:r>
              <a:rPr lang="zh-CN" altLang="en-US" sz="2800" dirty="0">
                <a:latin typeface="Consolas" panose="020B0609020204030204" pitchFamily="49" charset="0"/>
              </a:rPr>
              <a:t>号到</a:t>
            </a:r>
            <a:r>
              <a:rPr lang="en-US" altLang="zh-CN" sz="2800" dirty="0">
                <a:latin typeface="Consolas" panose="020B0609020204030204" pitchFamily="49" charset="0"/>
              </a:rPr>
              <a:t>v</a:t>
            </a:r>
            <a:r>
              <a:rPr lang="zh-CN" altLang="en-US" sz="2800" dirty="0">
                <a:latin typeface="Consolas" panose="020B0609020204030204" pitchFamily="49" charset="0"/>
              </a:rPr>
              <a:t>号的最短路上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800" dirty="0">
                <a:latin typeface="Consolas" panose="020B0609020204030204" pitchFamily="49" charset="0"/>
              </a:rPr>
              <a:t>v</a:t>
            </a:r>
            <a:r>
              <a:rPr lang="zh-CN" altLang="en-US" sz="2800" dirty="0">
                <a:latin typeface="Consolas" panose="020B0609020204030204" pitchFamily="49" charset="0"/>
              </a:rPr>
              <a:t>号节点的前驱节点</a:t>
            </a:r>
            <a:endParaRPr lang="zh-CN" altLang="zh-CN" sz="2800" dirty="0">
              <a:latin typeface="Consolas" panose="020B0609020204030204" pitchFamily="49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E0A0E80-42F5-8CC8-910F-1D68085D2A99}"/>
              </a:ext>
            </a:extLst>
          </p:cNvPr>
          <p:cNvSpPr/>
          <p:nvPr/>
        </p:nvSpPr>
        <p:spPr>
          <a:xfrm>
            <a:off x="2576496" y="3760521"/>
            <a:ext cx="432000" cy="43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1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A1326AB1-5FCE-B071-B994-E76E00270D77}"/>
              </a:ext>
            </a:extLst>
          </p:cNvPr>
          <p:cNvSpPr/>
          <p:nvPr/>
        </p:nvSpPr>
        <p:spPr>
          <a:xfrm>
            <a:off x="2970270" y="3589923"/>
            <a:ext cx="1190402" cy="263566"/>
          </a:xfrm>
          <a:custGeom>
            <a:avLst/>
            <a:gdLst>
              <a:gd name="connsiteX0" fmla="*/ 0 w 889000"/>
              <a:gd name="connsiteY0" fmla="*/ 247691 h 263566"/>
              <a:gd name="connsiteX1" fmla="*/ 485775 w 889000"/>
              <a:gd name="connsiteY1" fmla="*/ 41 h 263566"/>
              <a:gd name="connsiteX2" fmla="*/ 889000 w 889000"/>
              <a:gd name="connsiteY2" fmla="*/ 263566 h 26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9000" h="263566">
                <a:moveTo>
                  <a:pt x="0" y="247691"/>
                </a:moveTo>
                <a:cubicBezTo>
                  <a:pt x="168804" y="122543"/>
                  <a:pt x="337608" y="-2605"/>
                  <a:pt x="485775" y="41"/>
                </a:cubicBezTo>
                <a:cubicBezTo>
                  <a:pt x="633942" y="2687"/>
                  <a:pt x="761471" y="133126"/>
                  <a:pt x="889000" y="263566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8B6B33D-E575-A7FB-4916-71204E1BDE16}"/>
              </a:ext>
            </a:extLst>
          </p:cNvPr>
          <p:cNvSpPr/>
          <p:nvPr/>
        </p:nvSpPr>
        <p:spPr>
          <a:xfrm>
            <a:off x="4122446" y="3760521"/>
            <a:ext cx="432000" cy="43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6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4ABCC203-5432-3F18-223D-FA7E9BDCF5FD}"/>
              </a:ext>
            </a:extLst>
          </p:cNvPr>
          <p:cNvSpPr/>
          <p:nvPr/>
        </p:nvSpPr>
        <p:spPr>
          <a:xfrm>
            <a:off x="4516220" y="3589923"/>
            <a:ext cx="1190402" cy="263566"/>
          </a:xfrm>
          <a:custGeom>
            <a:avLst/>
            <a:gdLst>
              <a:gd name="connsiteX0" fmla="*/ 0 w 889000"/>
              <a:gd name="connsiteY0" fmla="*/ 247691 h 263566"/>
              <a:gd name="connsiteX1" fmla="*/ 485775 w 889000"/>
              <a:gd name="connsiteY1" fmla="*/ 41 h 263566"/>
              <a:gd name="connsiteX2" fmla="*/ 889000 w 889000"/>
              <a:gd name="connsiteY2" fmla="*/ 263566 h 26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9000" h="263566">
                <a:moveTo>
                  <a:pt x="0" y="247691"/>
                </a:moveTo>
                <a:cubicBezTo>
                  <a:pt x="168804" y="122543"/>
                  <a:pt x="337608" y="-2605"/>
                  <a:pt x="485775" y="41"/>
                </a:cubicBezTo>
                <a:cubicBezTo>
                  <a:pt x="633942" y="2687"/>
                  <a:pt x="761471" y="133126"/>
                  <a:pt x="889000" y="263566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A82228F-09D3-DC28-DF05-C87A37D5B357}"/>
              </a:ext>
            </a:extLst>
          </p:cNvPr>
          <p:cNvSpPr/>
          <p:nvPr/>
        </p:nvSpPr>
        <p:spPr>
          <a:xfrm>
            <a:off x="5668396" y="3760521"/>
            <a:ext cx="432000" cy="43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2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2BE0AA99-F613-D404-A2EA-C8095AF26692}"/>
              </a:ext>
            </a:extLst>
          </p:cNvPr>
          <p:cNvSpPr/>
          <p:nvPr/>
        </p:nvSpPr>
        <p:spPr>
          <a:xfrm>
            <a:off x="6062170" y="3589923"/>
            <a:ext cx="1190402" cy="263566"/>
          </a:xfrm>
          <a:custGeom>
            <a:avLst/>
            <a:gdLst>
              <a:gd name="connsiteX0" fmla="*/ 0 w 889000"/>
              <a:gd name="connsiteY0" fmla="*/ 247691 h 263566"/>
              <a:gd name="connsiteX1" fmla="*/ 485775 w 889000"/>
              <a:gd name="connsiteY1" fmla="*/ 41 h 263566"/>
              <a:gd name="connsiteX2" fmla="*/ 889000 w 889000"/>
              <a:gd name="connsiteY2" fmla="*/ 263566 h 26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9000" h="263566">
                <a:moveTo>
                  <a:pt x="0" y="247691"/>
                </a:moveTo>
                <a:cubicBezTo>
                  <a:pt x="168804" y="122543"/>
                  <a:pt x="337608" y="-2605"/>
                  <a:pt x="485775" y="41"/>
                </a:cubicBezTo>
                <a:cubicBezTo>
                  <a:pt x="633942" y="2687"/>
                  <a:pt x="761471" y="133126"/>
                  <a:pt x="889000" y="263566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CF466B5-A076-3A9C-10A6-BEFDF6FAF1D1}"/>
              </a:ext>
            </a:extLst>
          </p:cNvPr>
          <p:cNvSpPr/>
          <p:nvPr/>
        </p:nvSpPr>
        <p:spPr>
          <a:xfrm>
            <a:off x="7214346" y="3760521"/>
            <a:ext cx="432000" cy="43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5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C16A2ADE-781A-766B-72E7-0D9A4E97809E}"/>
              </a:ext>
            </a:extLst>
          </p:cNvPr>
          <p:cNvSpPr/>
          <p:nvPr/>
        </p:nvSpPr>
        <p:spPr>
          <a:xfrm>
            <a:off x="7608120" y="3589923"/>
            <a:ext cx="1190402" cy="263566"/>
          </a:xfrm>
          <a:custGeom>
            <a:avLst/>
            <a:gdLst>
              <a:gd name="connsiteX0" fmla="*/ 0 w 889000"/>
              <a:gd name="connsiteY0" fmla="*/ 247691 h 263566"/>
              <a:gd name="connsiteX1" fmla="*/ 485775 w 889000"/>
              <a:gd name="connsiteY1" fmla="*/ 41 h 263566"/>
              <a:gd name="connsiteX2" fmla="*/ 889000 w 889000"/>
              <a:gd name="connsiteY2" fmla="*/ 263566 h 26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9000" h="263566">
                <a:moveTo>
                  <a:pt x="0" y="247691"/>
                </a:moveTo>
                <a:cubicBezTo>
                  <a:pt x="168804" y="122543"/>
                  <a:pt x="337608" y="-2605"/>
                  <a:pt x="485775" y="41"/>
                </a:cubicBezTo>
                <a:cubicBezTo>
                  <a:pt x="633942" y="2687"/>
                  <a:pt x="761471" y="133126"/>
                  <a:pt x="889000" y="263566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B091C2DD-942D-CD03-0A98-6AE80C448D35}"/>
              </a:ext>
            </a:extLst>
          </p:cNvPr>
          <p:cNvSpPr/>
          <p:nvPr/>
        </p:nvSpPr>
        <p:spPr>
          <a:xfrm>
            <a:off x="8760296" y="3760521"/>
            <a:ext cx="432000" cy="43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8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97C16A0-D81B-673E-80AB-D0449D02F183}"/>
              </a:ext>
            </a:extLst>
          </p:cNvPr>
          <p:cNvSpPr/>
          <p:nvPr/>
        </p:nvSpPr>
        <p:spPr>
          <a:xfrm>
            <a:off x="8076715" y="4561932"/>
            <a:ext cx="1799162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Consolas" panose="020B0609020204030204" pitchFamily="49" charset="0"/>
              </a:rPr>
              <a:t>pre[8]=5</a:t>
            </a:r>
            <a:endParaRPr lang="zh-CN" altLang="zh-CN" sz="2000" dirty="0">
              <a:latin typeface="Consolas" panose="020B0609020204030204" pitchFamily="49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0DF9413-1A14-2EAA-0A1C-B37A6D8E5400}"/>
              </a:ext>
            </a:extLst>
          </p:cNvPr>
          <p:cNvSpPr/>
          <p:nvPr/>
        </p:nvSpPr>
        <p:spPr>
          <a:xfrm>
            <a:off x="6530765" y="4561931"/>
            <a:ext cx="1799162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Consolas" panose="020B0609020204030204" pitchFamily="49" charset="0"/>
              </a:rPr>
              <a:t>pre[5]=2</a:t>
            </a:r>
            <a:endParaRPr lang="zh-CN" altLang="zh-CN" sz="2000" dirty="0">
              <a:latin typeface="Consolas" panose="020B0609020204030204" pitchFamily="49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5304F73-B544-1503-A9AF-82DA490257C6}"/>
              </a:ext>
            </a:extLst>
          </p:cNvPr>
          <p:cNvSpPr/>
          <p:nvPr/>
        </p:nvSpPr>
        <p:spPr>
          <a:xfrm>
            <a:off x="4984815" y="4561930"/>
            <a:ext cx="1799162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Consolas" panose="020B0609020204030204" pitchFamily="49" charset="0"/>
              </a:rPr>
              <a:t>pre[2]=6</a:t>
            </a:r>
            <a:endParaRPr lang="zh-CN" altLang="zh-CN" sz="2000" dirty="0">
              <a:latin typeface="Consolas" panose="020B0609020204030204" pitchFamily="49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0999194-5381-1266-6F9A-6749AADC41C6}"/>
              </a:ext>
            </a:extLst>
          </p:cNvPr>
          <p:cNvSpPr/>
          <p:nvPr/>
        </p:nvSpPr>
        <p:spPr>
          <a:xfrm>
            <a:off x="3438865" y="4561929"/>
            <a:ext cx="1799162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Consolas" panose="020B0609020204030204" pitchFamily="49" charset="0"/>
              </a:rPr>
              <a:t>pre[6]=5</a:t>
            </a:r>
            <a:endParaRPr lang="zh-CN" altLang="zh-CN" sz="2000" dirty="0">
              <a:latin typeface="Consolas" panose="020B0609020204030204" pitchFamily="49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4828EDE-A88E-C487-F252-EDB53BAEECEF}"/>
              </a:ext>
            </a:extLst>
          </p:cNvPr>
          <p:cNvSpPr/>
          <p:nvPr/>
        </p:nvSpPr>
        <p:spPr>
          <a:xfrm>
            <a:off x="1892915" y="4561928"/>
            <a:ext cx="1799162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Consolas" panose="020B0609020204030204" pitchFamily="49" charset="0"/>
              </a:rPr>
              <a:t>pre[1]=0</a:t>
            </a:r>
            <a:endParaRPr lang="zh-CN" altLang="zh-CN" sz="2000" dirty="0">
              <a:latin typeface="Consolas" panose="020B0609020204030204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7FF6B8E-CD45-47C2-BB23-F678E3BCF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80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C332077-7FD6-B817-0D4F-068865B1D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939" y="202332"/>
            <a:ext cx="6669132" cy="645333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029928-E3DF-0C1A-EB59-B6C571B10A77}"/>
              </a:ext>
            </a:extLst>
          </p:cNvPr>
          <p:cNvSpPr/>
          <p:nvPr/>
        </p:nvSpPr>
        <p:spPr>
          <a:xfrm>
            <a:off x="5015880" y="1362657"/>
            <a:ext cx="360040" cy="30523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752EF8-089F-6E2B-2D44-2C6015A36F73}"/>
              </a:ext>
            </a:extLst>
          </p:cNvPr>
          <p:cNvSpPr/>
          <p:nvPr/>
        </p:nvSpPr>
        <p:spPr>
          <a:xfrm>
            <a:off x="4006880" y="2126709"/>
            <a:ext cx="864096" cy="30523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B74C81-DCF9-6C3F-DC23-E00494C4D4DF}"/>
              </a:ext>
            </a:extLst>
          </p:cNvPr>
          <p:cNvSpPr/>
          <p:nvPr/>
        </p:nvSpPr>
        <p:spPr>
          <a:xfrm>
            <a:off x="3697478" y="4412065"/>
            <a:ext cx="2143186" cy="30523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B719B75-C000-11F2-FD02-268BA08A43FB}"/>
              </a:ext>
            </a:extLst>
          </p:cNvPr>
          <p:cNvSpPr/>
          <p:nvPr/>
        </p:nvSpPr>
        <p:spPr>
          <a:xfrm>
            <a:off x="3697478" y="4795757"/>
            <a:ext cx="2143186" cy="30523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15D0D3A-7FE5-5C1D-7A26-A0DF0F807F64}"/>
              </a:ext>
            </a:extLst>
          </p:cNvPr>
          <p:cNvSpPr/>
          <p:nvPr/>
        </p:nvSpPr>
        <p:spPr>
          <a:xfrm>
            <a:off x="3697205" y="5179449"/>
            <a:ext cx="2143186" cy="30523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2E135835-9097-4917-A027-09E33395D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332D97-4864-42FC-BA6F-8FEE16A2185B}"/>
              </a:ext>
            </a:extLst>
          </p:cNvPr>
          <p:cNvSpPr txBox="1"/>
          <p:nvPr/>
        </p:nvSpPr>
        <p:spPr>
          <a:xfrm>
            <a:off x="5790666" y="1327903"/>
            <a:ext cx="2753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en-US" altLang="zh-CN"/>
              <a:t>ansNew</a:t>
            </a:r>
            <a:r>
              <a:rPr lang="zh-CN" altLang="en-US"/>
              <a:t>的作用？初始值？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2E5C54E-800E-4787-9A39-3E99BD80DF35}"/>
              </a:ext>
            </a:extLst>
          </p:cNvPr>
          <p:cNvSpPr txBox="1"/>
          <p:nvPr/>
        </p:nvSpPr>
        <p:spPr>
          <a:xfrm>
            <a:off x="5375920" y="2068717"/>
            <a:ext cx="432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/>
              <a:t>枚举最短路上每一条边，思考循环条件？ 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C19A669-3A9D-4693-B7B0-FE54C776C475}"/>
              </a:ext>
            </a:extLst>
          </p:cNvPr>
          <p:cNvSpPr txBox="1"/>
          <p:nvPr/>
        </p:nvSpPr>
        <p:spPr>
          <a:xfrm>
            <a:off x="9563791" y="1930217"/>
            <a:ext cx="1716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>
                <a:solidFill>
                  <a:srgbClr val="FF0000"/>
                </a:solidFill>
              </a:rPr>
              <a:t>阅读后续代码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分析循环条件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8A071AC-1ADA-4776-AB2E-5B6170649549}"/>
              </a:ext>
            </a:extLst>
          </p:cNvPr>
          <p:cNvSpPr txBox="1"/>
          <p:nvPr/>
        </p:nvSpPr>
        <p:spPr>
          <a:xfrm>
            <a:off x="6334736" y="2496814"/>
            <a:ext cx="2402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/>
              <a:t>每次取</a:t>
            </a:r>
            <a:r>
              <a:rPr lang="en-US" altLang="zh-CN" dirty="0"/>
              <a:t>v</a:t>
            </a:r>
            <a:r>
              <a:rPr lang="zh-CN" altLang="en-US"/>
              <a:t>的前驱结点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19772C-25D2-4CDD-AA88-7BA7987480FC}"/>
              </a:ext>
            </a:extLst>
          </p:cNvPr>
          <p:cNvSpPr txBox="1"/>
          <p:nvPr/>
        </p:nvSpPr>
        <p:spPr>
          <a:xfrm>
            <a:off x="5868703" y="3037998"/>
            <a:ext cx="1197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pPr algn="ctr"/>
            <a:r>
              <a:rPr lang="zh-CN" altLang="en-US"/>
              <a:t>边权翻倍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FF41549-765B-4278-AE8E-F91AEB6618E1}"/>
              </a:ext>
            </a:extLst>
          </p:cNvPr>
          <p:cNvSpPr txBox="1"/>
          <p:nvPr/>
        </p:nvSpPr>
        <p:spPr>
          <a:xfrm>
            <a:off x="5868702" y="4477501"/>
            <a:ext cx="1197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pPr algn="ctr"/>
            <a:r>
              <a:rPr lang="zh-CN" altLang="en-US"/>
              <a:t>边权恢复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688B5A0-926D-461F-ACC8-6873B9744466}"/>
              </a:ext>
            </a:extLst>
          </p:cNvPr>
          <p:cNvSpPr txBox="1"/>
          <p:nvPr/>
        </p:nvSpPr>
        <p:spPr>
          <a:xfrm>
            <a:off x="7680176" y="137553"/>
            <a:ext cx="4320480" cy="400110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 sz="2000">
                <a:solidFill>
                  <a:srgbClr val="FF0000"/>
                </a:solidFill>
              </a:rPr>
              <a:t>思考</a:t>
            </a:r>
            <a:r>
              <a:rPr lang="en-US" altLang="zh-CN" sz="2000" dirty="0">
                <a:solidFill>
                  <a:srgbClr val="FF0000"/>
                </a:solidFill>
              </a:rPr>
              <a:t>pre[v]</a:t>
            </a:r>
            <a:r>
              <a:rPr lang="zh-CN" altLang="en-US" sz="2000">
                <a:solidFill>
                  <a:srgbClr val="FF0000"/>
                </a:solidFill>
              </a:rPr>
              <a:t>数组的数据怎么维护的？</a:t>
            </a:r>
          </a:p>
        </p:txBody>
      </p:sp>
    </p:spTree>
    <p:extLst>
      <p:ext uri="{BB962C8B-B14F-4D97-AF65-F5344CB8AC3E}">
        <p14:creationId xmlns:p14="http://schemas.microsoft.com/office/powerpoint/2010/main" val="218808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9037A0C-02DA-974C-7EA0-20B2B115A5B4}"/>
              </a:ext>
            </a:extLst>
          </p:cNvPr>
          <p:cNvSpPr/>
          <p:nvPr/>
        </p:nvSpPr>
        <p:spPr>
          <a:xfrm>
            <a:off x="1415480" y="2348881"/>
            <a:ext cx="950691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onsolas" panose="020B0609020204030204" pitchFamily="49" charset="0"/>
              </a:rPr>
              <a:t>Dijkstra</a:t>
            </a:r>
            <a:r>
              <a:rPr lang="zh-CN" altLang="en-US" sz="3200" dirty="0">
                <a:latin typeface="Consolas" panose="020B0609020204030204" pitchFamily="49" charset="0"/>
              </a:rPr>
              <a:t>朴素版 </a:t>
            </a:r>
            <a:r>
              <a:rPr lang="en-US" altLang="zh-CN" sz="3200" dirty="0">
                <a:latin typeface="Consolas" panose="020B0609020204030204" pitchFamily="49" charset="0"/>
              </a:rPr>
              <a:t>+ pre[]</a:t>
            </a:r>
            <a:endParaRPr lang="zh-CN" altLang="zh-CN" sz="3200" dirty="0">
              <a:latin typeface="Consolas" panose="020B0609020204030204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19ABF09-BC89-488C-BCFC-640FD8619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9293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5DC7587-F360-D20A-F114-D15B0BAA3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44" y="-3150"/>
            <a:ext cx="6229750" cy="6858000"/>
          </a:xfrm>
          <a:prstGeom prst="rect">
            <a:avLst/>
          </a:prstGeom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EF56E411-26DB-363E-6C55-93A36C413684}"/>
              </a:ext>
            </a:extLst>
          </p:cNvPr>
          <p:cNvSpPr/>
          <p:nvPr/>
        </p:nvSpPr>
        <p:spPr>
          <a:xfrm>
            <a:off x="4439816" y="5568920"/>
            <a:ext cx="152264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endParaRPr lang="zh-CN" altLang="zh-CN" sz="1400" dirty="0">
              <a:latin typeface="Consolas" panose="020B0609020204030204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CABBA15-D658-4319-89A9-DFC7543C2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219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9037A0C-02DA-974C-7EA0-20B2B115A5B4}"/>
              </a:ext>
            </a:extLst>
          </p:cNvPr>
          <p:cNvSpPr/>
          <p:nvPr/>
        </p:nvSpPr>
        <p:spPr>
          <a:xfrm>
            <a:off x="1415480" y="1902311"/>
            <a:ext cx="9506916" cy="3257558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dirty="0">
                <a:latin typeface="Consolas" panose="020B0609020204030204" pitchFamily="49" charset="0"/>
              </a:rPr>
              <a:t>以上算法步骤中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dirty="0">
                <a:latin typeface="Consolas" panose="020B0609020204030204" pitchFamily="49" charset="0"/>
              </a:rPr>
              <a:t>循环查看</a:t>
            </a:r>
            <a:r>
              <a:rPr lang="en-US" altLang="zh-CN" sz="2800" dirty="0">
                <a:latin typeface="Consolas" panose="020B0609020204030204" pitchFamily="49" charset="0"/>
              </a:rPr>
              <a:t>pre[]</a:t>
            </a:r>
            <a:r>
              <a:rPr lang="zh-CN" altLang="en-US" sz="2800" dirty="0">
                <a:latin typeface="Consolas" panose="020B0609020204030204" pitchFamily="49" charset="0"/>
              </a:rPr>
              <a:t>数组内容时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dirty="0">
                <a:latin typeface="Consolas" panose="020B0609020204030204" pitchFamily="49" charset="0"/>
              </a:rPr>
              <a:t>每次跑</a:t>
            </a:r>
            <a:r>
              <a:rPr lang="en-US" altLang="zh-CN" sz="2800" dirty="0">
                <a:latin typeface="Consolas" panose="020B0609020204030204" pitchFamily="49" charset="0"/>
              </a:rPr>
              <a:t>Dijkstra</a:t>
            </a:r>
            <a:r>
              <a:rPr lang="zh-CN" altLang="en-US" sz="2800" dirty="0">
                <a:latin typeface="Consolas" panose="020B0609020204030204" pitchFamily="49" charset="0"/>
              </a:rPr>
              <a:t>后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800" dirty="0">
                <a:latin typeface="Consolas" panose="020B0609020204030204" pitchFamily="49" charset="0"/>
              </a:rPr>
              <a:t>pre[]</a:t>
            </a:r>
            <a:r>
              <a:rPr lang="zh-CN" altLang="en-US" sz="2800" dirty="0">
                <a:latin typeface="Consolas" panose="020B0609020204030204" pitchFamily="49" charset="0"/>
              </a:rPr>
              <a:t>数组会被修改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dirty="0">
                <a:latin typeface="Consolas" panose="020B0609020204030204" pitchFamily="49" charset="0"/>
              </a:rPr>
              <a:t>结果是否错误了</a:t>
            </a:r>
            <a:r>
              <a:rPr lang="en-US" altLang="zh-CN" sz="2800" dirty="0">
                <a:latin typeface="Consolas" panose="020B0609020204030204" pitchFamily="49" charset="0"/>
              </a:rPr>
              <a:t>?</a:t>
            </a:r>
            <a:endParaRPr lang="zh-CN" altLang="zh-CN" sz="2800" dirty="0">
              <a:latin typeface="Consolas" panose="020B06090202040302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C1A6C01-3405-80FC-4F27-575AE8EFCFB5}"/>
              </a:ext>
            </a:extLst>
          </p:cNvPr>
          <p:cNvSpPr/>
          <p:nvPr/>
        </p:nvSpPr>
        <p:spPr>
          <a:xfrm>
            <a:off x="1415480" y="1196753"/>
            <a:ext cx="9506916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讨论题</a:t>
            </a:r>
            <a:endParaRPr lang="zh-CN" altLang="zh-CN" sz="2800" dirty="0">
              <a:latin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D4D033-D33B-00B2-DC31-3E2E51342356}"/>
              </a:ext>
            </a:extLst>
          </p:cNvPr>
          <p:cNvSpPr/>
          <p:nvPr/>
        </p:nvSpPr>
        <p:spPr>
          <a:xfrm>
            <a:off x="1415480" y="5342207"/>
            <a:ext cx="9506916" cy="523220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并没有错！</a:t>
            </a:r>
            <a:endParaRPr lang="zh-CN" altLang="zh-CN" sz="2800" dirty="0">
              <a:latin typeface="Consolas" panose="020B0609020204030204" pitchFamily="49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720513A-D187-41DD-8025-18FF416CD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8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59A5BB56-7279-8BDA-2EDE-F85B7D4A6DC1}"/>
              </a:ext>
            </a:extLst>
          </p:cNvPr>
          <p:cNvSpPr/>
          <p:nvPr/>
        </p:nvSpPr>
        <p:spPr>
          <a:xfrm>
            <a:off x="7211810" y="1662166"/>
            <a:ext cx="1190402" cy="263566"/>
          </a:xfrm>
          <a:custGeom>
            <a:avLst/>
            <a:gdLst>
              <a:gd name="connsiteX0" fmla="*/ 0 w 889000"/>
              <a:gd name="connsiteY0" fmla="*/ 247691 h 263566"/>
              <a:gd name="connsiteX1" fmla="*/ 485775 w 889000"/>
              <a:gd name="connsiteY1" fmla="*/ 41 h 263566"/>
              <a:gd name="connsiteX2" fmla="*/ 889000 w 889000"/>
              <a:gd name="connsiteY2" fmla="*/ 263566 h 26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9000" h="263566">
                <a:moveTo>
                  <a:pt x="0" y="247691"/>
                </a:moveTo>
                <a:cubicBezTo>
                  <a:pt x="168804" y="122543"/>
                  <a:pt x="337608" y="-2605"/>
                  <a:pt x="485775" y="41"/>
                </a:cubicBezTo>
                <a:cubicBezTo>
                  <a:pt x="633942" y="2687"/>
                  <a:pt x="761471" y="133126"/>
                  <a:pt x="889000" y="263566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48F4057-4FD8-10D8-FF9B-2AB2C10AE778}"/>
              </a:ext>
            </a:extLst>
          </p:cNvPr>
          <p:cNvSpPr/>
          <p:nvPr/>
        </p:nvSpPr>
        <p:spPr>
          <a:xfrm>
            <a:off x="2180186" y="1818436"/>
            <a:ext cx="432000" cy="43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1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AB81DCD1-6530-DA3D-1C6B-6711BF6E14E3}"/>
              </a:ext>
            </a:extLst>
          </p:cNvPr>
          <p:cNvSpPr/>
          <p:nvPr/>
        </p:nvSpPr>
        <p:spPr>
          <a:xfrm>
            <a:off x="2573960" y="1647838"/>
            <a:ext cx="1190402" cy="263566"/>
          </a:xfrm>
          <a:custGeom>
            <a:avLst/>
            <a:gdLst>
              <a:gd name="connsiteX0" fmla="*/ 0 w 889000"/>
              <a:gd name="connsiteY0" fmla="*/ 247691 h 263566"/>
              <a:gd name="connsiteX1" fmla="*/ 485775 w 889000"/>
              <a:gd name="connsiteY1" fmla="*/ 41 h 263566"/>
              <a:gd name="connsiteX2" fmla="*/ 889000 w 889000"/>
              <a:gd name="connsiteY2" fmla="*/ 263566 h 26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9000" h="263566">
                <a:moveTo>
                  <a:pt x="0" y="247691"/>
                </a:moveTo>
                <a:cubicBezTo>
                  <a:pt x="168804" y="122543"/>
                  <a:pt x="337608" y="-2605"/>
                  <a:pt x="485775" y="41"/>
                </a:cubicBezTo>
                <a:cubicBezTo>
                  <a:pt x="633942" y="2687"/>
                  <a:pt x="761471" y="133126"/>
                  <a:pt x="889000" y="263566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8A298D0-9596-AA4D-82A3-8D8FCE973FFB}"/>
              </a:ext>
            </a:extLst>
          </p:cNvPr>
          <p:cNvSpPr/>
          <p:nvPr/>
        </p:nvSpPr>
        <p:spPr>
          <a:xfrm>
            <a:off x="3726136" y="1818436"/>
            <a:ext cx="432000" cy="43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2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64FFF2B-DEC8-1735-B5EA-7A33C79EFD8D}"/>
              </a:ext>
            </a:extLst>
          </p:cNvPr>
          <p:cNvSpPr/>
          <p:nvPr/>
        </p:nvSpPr>
        <p:spPr>
          <a:xfrm>
            <a:off x="4119910" y="1647838"/>
            <a:ext cx="1190402" cy="263566"/>
          </a:xfrm>
          <a:custGeom>
            <a:avLst/>
            <a:gdLst>
              <a:gd name="connsiteX0" fmla="*/ 0 w 889000"/>
              <a:gd name="connsiteY0" fmla="*/ 247691 h 263566"/>
              <a:gd name="connsiteX1" fmla="*/ 485775 w 889000"/>
              <a:gd name="connsiteY1" fmla="*/ 41 h 263566"/>
              <a:gd name="connsiteX2" fmla="*/ 889000 w 889000"/>
              <a:gd name="connsiteY2" fmla="*/ 263566 h 26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9000" h="263566">
                <a:moveTo>
                  <a:pt x="0" y="247691"/>
                </a:moveTo>
                <a:cubicBezTo>
                  <a:pt x="168804" y="122543"/>
                  <a:pt x="337608" y="-2605"/>
                  <a:pt x="485775" y="41"/>
                </a:cubicBezTo>
                <a:cubicBezTo>
                  <a:pt x="633942" y="2687"/>
                  <a:pt x="761471" y="133126"/>
                  <a:pt x="889000" y="263566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6055371-92C2-DA2E-B40A-54A62E078EB3}"/>
              </a:ext>
            </a:extLst>
          </p:cNvPr>
          <p:cNvSpPr/>
          <p:nvPr/>
        </p:nvSpPr>
        <p:spPr>
          <a:xfrm>
            <a:off x="5272086" y="1818436"/>
            <a:ext cx="432000" cy="43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3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DDDF01C3-18EF-72E0-F8BD-D620C762F7D5}"/>
              </a:ext>
            </a:extLst>
          </p:cNvPr>
          <p:cNvSpPr/>
          <p:nvPr/>
        </p:nvSpPr>
        <p:spPr>
          <a:xfrm>
            <a:off x="5665860" y="1647838"/>
            <a:ext cx="1190402" cy="263566"/>
          </a:xfrm>
          <a:custGeom>
            <a:avLst/>
            <a:gdLst>
              <a:gd name="connsiteX0" fmla="*/ 0 w 889000"/>
              <a:gd name="connsiteY0" fmla="*/ 247691 h 263566"/>
              <a:gd name="connsiteX1" fmla="*/ 485775 w 889000"/>
              <a:gd name="connsiteY1" fmla="*/ 41 h 263566"/>
              <a:gd name="connsiteX2" fmla="*/ 889000 w 889000"/>
              <a:gd name="connsiteY2" fmla="*/ 263566 h 26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9000" h="263566">
                <a:moveTo>
                  <a:pt x="0" y="247691"/>
                </a:moveTo>
                <a:cubicBezTo>
                  <a:pt x="168804" y="122543"/>
                  <a:pt x="337608" y="-2605"/>
                  <a:pt x="485775" y="41"/>
                </a:cubicBezTo>
                <a:cubicBezTo>
                  <a:pt x="633942" y="2687"/>
                  <a:pt x="761471" y="133126"/>
                  <a:pt x="889000" y="263566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7CF954C-50F7-2AF2-B936-7D3E834B68A1}"/>
              </a:ext>
            </a:extLst>
          </p:cNvPr>
          <p:cNvSpPr/>
          <p:nvPr/>
        </p:nvSpPr>
        <p:spPr>
          <a:xfrm>
            <a:off x="6818036" y="1818436"/>
            <a:ext cx="432000" cy="43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4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BA733C8A-AD83-391F-4E8B-9A80719DD025}"/>
              </a:ext>
            </a:extLst>
          </p:cNvPr>
          <p:cNvSpPr/>
          <p:nvPr/>
        </p:nvSpPr>
        <p:spPr>
          <a:xfrm>
            <a:off x="7211810" y="1647838"/>
            <a:ext cx="1190402" cy="263566"/>
          </a:xfrm>
          <a:custGeom>
            <a:avLst/>
            <a:gdLst>
              <a:gd name="connsiteX0" fmla="*/ 0 w 889000"/>
              <a:gd name="connsiteY0" fmla="*/ 247691 h 263566"/>
              <a:gd name="connsiteX1" fmla="*/ 485775 w 889000"/>
              <a:gd name="connsiteY1" fmla="*/ 41 h 263566"/>
              <a:gd name="connsiteX2" fmla="*/ 889000 w 889000"/>
              <a:gd name="connsiteY2" fmla="*/ 263566 h 26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9000" h="263566">
                <a:moveTo>
                  <a:pt x="0" y="247691"/>
                </a:moveTo>
                <a:cubicBezTo>
                  <a:pt x="168804" y="122543"/>
                  <a:pt x="337608" y="-2605"/>
                  <a:pt x="485775" y="41"/>
                </a:cubicBezTo>
                <a:cubicBezTo>
                  <a:pt x="633942" y="2687"/>
                  <a:pt x="761471" y="133126"/>
                  <a:pt x="889000" y="263566"/>
                </a:cubicBezTo>
              </a:path>
            </a:pathLst>
          </a:custGeom>
          <a:noFill/>
          <a:ln w="5715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7C242BE-559F-6869-1445-94BF301977E8}"/>
              </a:ext>
            </a:extLst>
          </p:cNvPr>
          <p:cNvSpPr/>
          <p:nvPr/>
        </p:nvSpPr>
        <p:spPr>
          <a:xfrm>
            <a:off x="8363986" y="1818436"/>
            <a:ext cx="432000" cy="43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5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ACA210F-0472-887B-67EB-6A26694DFE01}"/>
              </a:ext>
            </a:extLst>
          </p:cNvPr>
          <p:cNvSpPr/>
          <p:nvPr/>
        </p:nvSpPr>
        <p:spPr>
          <a:xfrm>
            <a:off x="8748582" y="1647838"/>
            <a:ext cx="1190402" cy="263566"/>
          </a:xfrm>
          <a:custGeom>
            <a:avLst/>
            <a:gdLst>
              <a:gd name="connsiteX0" fmla="*/ 0 w 889000"/>
              <a:gd name="connsiteY0" fmla="*/ 247691 h 263566"/>
              <a:gd name="connsiteX1" fmla="*/ 485775 w 889000"/>
              <a:gd name="connsiteY1" fmla="*/ 41 h 263566"/>
              <a:gd name="connsiteX2" fmla="*/ 889000 w 889000"/>
              <a:gd name="connsiteY2" fmla="*/ 263566 h 26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9000" h="263566">
                <a:moveTo>
                  <a:pt x="0" y="247691"/>
                </a:moveTo>
                <a:cubicBezTo>
                  <a:pt x="168804" y="122543"/>
                  <a:pt x="337608" y="-2605"/>
                  <a:pt x="485775" y="41"/>
                </a:cubicBezTo>
                <a:cubicBezTo>
                  <a:pt x="633942" y="2687"/>
                  <a:pt x="761471" y="133126"/>
                  <a:pt x="889000" y="263566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BD577B0-B12B-8EE7-7AC2-015CC58F7DAC}"/>
              </a:ext>
            </a:extLst>
          </p:cNvPr>
          <p:cNvSpPr/>
          <p:nvPr/>
        </p:nvSpPr>
        <p:spPr>
          <a:xfrm>
            <a:off x="9900758" y="1818436"/>
            <a:ext cx="432000" cy="43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6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28CBB59-E115-66BE-8AD1-9CE56A76D78E}"/>
              </a:ext>
            </a:extLst>
          </p:cNvPr>
          <p:cNvSpPr/>
          <p:nvPr/>
        </p:nvSpPr>
        <p:spPr>
          <a:xfrm>
            <a:off x="1524000" y="1"/>
            <a:ext cx="1584176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Consolas" panose="020B0609020204030204" pitchFamily="49" charset="0"/>
              </a:rPr>
              <a:t>举例说明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E3F5700-5A89-1C48-AA6E-CE3164D8A788}"/>
              </a:ext>
            </a:extLst>
          </p:cNvPr>
          <p:cNvSpPr/>
          <p:nvPr/>
        </p:nvSpPr>
        <p:spPr>
          <a:xfrm>
            <a:off x="4079776" y="3838762"/>
            <a:ext cx="6048672" cy="46166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Consolas" panose="020B0609020204030204" pitchFamily="49" charset="0"/>
              </a:rPr>
              <a:t>G[4][5]</a:t>
            </a:r>
            <a:r>
              <a:rPr lang="zh-CN" altLang="en-US" sz="2400" dirty="0">
                <a:latin typeface="Consolas" panose="020B0609020204030204" pitchFamily="49" charset="0"/>
              </a:rPr>
              <a:t>翻倍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DA1E14-E0C0-399F-7BE5-52DDF6D31868}"/>
              </a:ext>
            </a:extLst>
          </p:cNvPr>
          <p:cNvSpPr/>
          <p:nvPr/>
        </p:nvSpPr>
        <p:spPr>
          <a:xfrm>
            <a:off x="4079776" y="4300427"/>
            <a:ext cx="6048672" cy="46166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Consolas" panose="020B0609020204030204" pitchFamily="49" charset="0"/>
              </a:rPr>
              <a:t>从</a:t>
            </a:r>
            <a:r>
              <a:rPr lang="en-US" altLang="zh-CN" sz="2400" dirty="0">
                <a:latin typeface="Consolas" panose="020B0609020204030204" pitchFamily="49" charset="0"/>
              </a:rPr>
              <a:t>1</a:t>
            </a:r>
            <a:r>
              <a:rPr lang="zh-CN" altLang="en-US" sz="2400" dirty="0">
                <a:latin typeface="Consolas" panose="020B0609020204030204" pitchFamily="49" charset="0"/>
              </a:rPr>
              <a:t>到</a:t>
            </a:r>
            <a:r>
              <a:rPr lang="en-US" altLang="zh-CN" sz="2400" dirty="0">
                <a:latin typeface="Consolas" panose="020B0609020204030204" pitchFamily="49" charset="0"/>
              </a:rPr>
              <a:t>6</a:t>
            </a:r>
            <a:r>
              <a:rPr lang="zh-CN" altLang="en-US" sz="2400" dirty="0">
                <a:latin typeface="Consolas" panose="020B0609020204030204" pitchFamily="49" charset="0"/>
              </a:rPr>
              <a:t>最短路改变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BACCADDA-D940-7384-6B00-A2EB81920131}"/>
              </a:ext>
            </a:extLst>
          </p:cNvPr>
          <p:cNvSpPr/>
          <p:nvPr/>
        </p:nvSpPr>
        <p:spPr>
          <a:xfrm>
            <a:off x="2423592" y="188640"/>
            <a:ext cx="7823200" cy="1625876"/>
          </a:xfrm>
          <a:custGeom>
            <a:avLst/>
            <a:gdLst>
              <a:gd name="connsiteX0" fmla="*/ 0 w 7823200"/>
              <a:gd name="connsiteY0" fmla="*/ 1600476 h 1625876"/>
              <a:gd name="connsiteX1" fmla="*/ 800100 w 7823200"/>
              <a:gd name="connsiteY1" fmla="*/ 489226 h 1625876"/>
              <a:gd name="connsiteX2" fmla="*/ 2444750 w 7823200"/>
              <a:gd name="connsiteY2" fmla="*/ 635276 h 1625876"/>
              <a:gd name="connsiteX3" fmla="*/ 3924300 w 7823200"/>
              <a:gd name="connsiteY3" fmla="*/ 276 h 1625876"/>
              <a:gd name="connsiteX4" fmla="*/ 5778500 w 7823200"/>
              <a:gd name="connsiteY4" fmla="*/ 552726 h 1625876"/>
              <a:gd name="connsiteX5" fmla="*/ 7213600 w 7823200"/>
              <a:gd name="connsiteY5" fmla="*/ 374926 h 1625876"/>
              <a:gd name="connsiteX6" fmla="*/ 7823200 w 7823200"/>
              <a:gd name="connsiteY6" fmla="*/ 1625876 h 1625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23200" h="1625876">
                <a:moveTo>
                  <a:pt x="0" y="1600476"/>
                </a:moveTo>
                <a:cubicBezTo>
                  <a:pt x="196321" y="1125284"/>
                  <a:pt x="392642" y="650093"/>
                  <a:pt x="800100" y="489226"/>
                </a:cubicBezTo>
                <a:cubicBezTo>
                  <a:pt x="1207558" y="328359"/>
                  <a:pt x="1924050" y="716768"/>
                  <a:pt x="2444750" y="635276"/>
                </a:cubicBezTo>
                <a:cubicBezTo>
                  <a:pt x="2965450" y="553784"/>
                  <a:pt x="3368675" y="14034"/>
                  <a:pt x="3924300" y="276"/>
                </a:cubicBezTo>
                <a:cubicBezTo>
                  <a:pt x="4479925" y="-13482"/>
                  <a:pt x="5230283" y="490284"/>
                  <a:pt x="5778500" y="552726"/>
                </a:cubicBezTo>
                <a:cubicBezTo>
                  <a:pt x="6326717" y="615168"/>
                  <a:pt x="6872817" y="196068"/>
                  <a:pt x="7213600" y="374926"/>
                </a:cubicBezTo>
                <a:cubicBezTo>
                  <a:pt x="7554383" y="553784"/>
                  <a:pt x="7688791" y="1089830"/>
                  <a:pt x="7823200" y="1625876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731C02E-3367-66A8-5ED7-BAFD24C6AE7E}"/>
              </a:ext>
            </a:extLst>
          </p:cNvPr>
          <p:cNvSpPr/>
          <p:nvPr/>
        </p:nvSpPr>
        <p:spPr>
          <a:xfrm>
            <a:off x="4079776" y="4755690"/>
            <a:ext cx="6048672" cy="830997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Consolas" panose="020B0609020204030204" pitchFamily="49" charset="0"/>
              </a:rPr>
              <a:t>从</a:t>
            </a:r>
            <a:r>
              <a:rPr lang="en-US" altLang="zh-CN" sz="2400" dirty="0">
                <a:latin typeface="Consolas" panose="020B0609020204030204" pitchFamily="49" charset="0"/>
              </a:rPr>
              <a:t>1</a:t>
            </a:r>
            <a:r>
              <a:rPr lang="zh-CN" altLang="en-US" sz="2400" dirty="0">
                <a:latin typeface="Consolas" panose="020B0609020204030204" pitchFamily="49" charset="0"/>
              </a:rPr>
              <a:t>号到</a:t>
            </a:r>
            <a:r>
              <a:rPr lang="en-US" altLang="zh-CN" sz="2400" dirty="0">
                <a:latin typeface="Consolas" panose="020B0609020204030204" pitchFamily="49" charset="0"/>
              </a:rPr>
              <a:t>4</a:t>
            </a:r>
            <a:r>
              <a:rPr lang="zh-CN" altLang="en-US" sz="2400" dirty="0">
                <a:latin typeface="Consolas" panose="020B0609020204030204" pitchFamily="49" charset="0"/>
              </a:rPr>
              <a:t>号的最短路上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algn="ctr"/>
            <a:r>
              <a:rPr lang="en-US" altLang="zh-CN" sz="2400" dirty="0">
                <a:latin typeface="Consolas" panose="020B0609020204030204" pitchFamily="49" charset="0"/>
              </a:rPr>
              <a:t>4</a:t>
            </a:r>
            <a:r>
              <a:rPr lang="zh-CN" altLang="en-US" sz="2400" dirty="0">
                <a:latin typeface="Consolas" panose="020B0609020204030204" pitchFamily="49" charset="0"/>
              </a:rPr>
              <a:t>号节点的前驱节点仍然是</a:t>
            </a:r>
            <a:r>
              <a:rPr lang="en-US" altLang="zh-CN" sz="2400" dirty="0">
                <a:latin typeface="Consolas" panose="020B0609020204030204" pitchFamily="49" charset="0"/>
              </a:rPr>
              <a:t>3</a:t>
            </a:r>
            <a:r>
              <a:rPr lang="zh-CN" altLang="en-US" sz="2400" dirty="0">
                <a:latin typeface="Consolas" panose="020B0609020204030204" pitchFamily="49" charset="0"/>
              </a:rPr>
              <a:t>号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74B3945-A8A8-4736-2CFA-20830E0A3816}"/>
              </a:ext>
            </a:extLst>
          </p:cNvPr>
          <p:cNvSpPr/>
          <p:nvPr/>
        </p:nvSpPr>
        <p:spPr>
          <a:xfrm>
            <a:off x="1342542" y="2866213"/>
            <a:ext cx="9506916" cy="523220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latin typeface="Consolas" panose="020B0609020204030204" pitchFamily="49" charset="0"/>
              </a:rPr>
              <a:t>pre[v]</a:t>
            </a:r>
            <a:r>
              <a:rPr lang="zh-CN" altLang="en-US" sz="2800" dirty="0">
                <a:latin typeface="Consolas" panose="020B0609020204030204" pitchFamily="49" charset="0"/>
              </a:rPr>
              <a:t>表示从</a:t>
            </a:r>
            <a:r>
              <a:rPr lang="en-US" altLang="zh-CN" sz="2800" dirty="0">
                <a:latin typeface="Consolas" panose="020B0609020204030204" pitchFamily="49" charset="0"/>
              </a:rPr>
              <a:t>1</a:t>
            </a:r>
            <a:r>
              <a:rPr lang="zh-CN" altLang="en-US" sz="2800" dirty="0">
                <a:latin typeface="Consolas" panose="020B0609020204030204" pitchFamily="49" charset="0"/>
              </a:rPr>
              <a:t>号到</a:t>
            </a:r>
            <a:r>
              <a:rPr lang="en-US" altLang="zh-CN" sz="2800" dirty="0">
                <a:latin typeface="Consolas" panose="020B0609020204030204" pitchFamily="49" charset="0"/>
              </a:rPr>
              <a:t>v</a:t>
            </a:r>
            <a:r>
              <a:rPr lang="zh-CN" altLang="en-US" sz="2800" dirty="0">
                <a:latin typeface="Consolas" panose="020B0609020204030204" pitchFamily="49" charset="0"/>
              </a:rPr>
              <a:t>号的最短路上</a:t>
            </a:r>
            <a:r>
              <a:rPr lang="en-US" altLang="zh-CN" sz="2800" dirty="0">
                <a:latin typeface="Consolas" panose="020B0609020204030204" pitchFamily="49" charset="0"/>
              </a:rPr>
              <a:t>v</a:t>
            </a:r>
            <a:r>
              <a:rPr lang="zh-CN" altLang="en-US" sz="2800" dirty="0">
                <a:latin typeface="Consolas" panose="020B0609020204030204" pitchFamily="49" charset="0"/>
              </a:rPr>
              <a:t>号节点的前驱节点</a:t>
            </a:r>
            <a:endParaRPr lang="zh-CN" altLang="zh-CN" sz="2800" dirty="0">
              <a:latin typeface="Consolas" panose="020B0609020204030204" pitchFamily="49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5CB7A30-67E5-1FB5-E28F-0A8C04ABC764}"/>
              </a:ext>
            </a:extLst>
          </p:cNvPr>
          <p:cNvSpPr/>
          <p:nvPr/>
        </p:nvSpPr>
        <p:spPr>
          <a:xfrm>
            <a:off x="4081894" y="5586687"/>
            <a:ext cx="6048672" cy="954107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latin typeface="Consolas" panose="020B0609020204030204" pitchFamily="49" charset="0"/>
              </a:rPr>
              <a:t>pre[6],pre[5]</a:t>
            </a:r>
            <a:r>
              <a:rPr lang="zh-CN" altLang="en-US" sz="2800" dirty="0">
                <a:latin typeface="Consolas" panose="020B0609020204030204" pitchFamily="49" charset="0"/>
              </a:rPr>
              <a:t>可能改变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但</a:t>
            </a:r>
            <a:r>
              <a:rPr lang="en-US" altLang="zh-CN" sz="2800" dirty="0">
                <a:latin typeface="Consolas" panose="020B0609020204030204" pitchFamily="49" charset="0"/>
              </a:rPr>
              <a:t>pre[4],pre[3],pre[2]</a:t>
            </a:r>
            <a:r>
              <a:rPr lang="zh-CN" altLang="en-US" sz="2800" dirty="0">
                <a:latin typeface="Consolas" panose="020B0609020204030204" pitchFamily="49" charset="0"/>
              </a:rPr>
              <a:t>不变</a:t>
            </a:r>
            <a:endParaRPr lang="zh-CN" altLang="zh-CN" sz="2800" dirty="0">
              <a:latin typeface="Consolas" panose="020B0609020204030204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E53EF8-D6E2-4B89-B252-8E2DF2B5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811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" grpId="0" animBg="1"/>
      <p:bldP spid="19" grpId="0" animBg="1"/>
      <p:bldP spid="21" grpId="0" animBg="1"/>
      <p:bldP spid="22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E976-E7D6-8426-B05A-DB40C48F6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58AF0DB1-FA76-B53F-770F-A54555503574}"/>
              </a:ext>
            </a:extLst>
          </p:cNvPr>
          <p:cNvSpPr txBox="1"/>
          <p:nvPr/>
        </p:nvSpPr>
        <p:spPr>
          <a:xfrm>
            <a:off x="-210616" y="2636912"/>
            <a:ext cx="12613232" cy="1015659"/>
          </a:xfrm>
          <a:prstGeom prst="rect">
            <a:avLst/>
          </a:prstGeom>
          <a:solidFill>
            <a:srgbClr val="F2F2F2"/>
          </a:solidFill>
          <a:ln w="12700">
            <a:solidFill>
              <a:srgbClr val="4A452A"/>
            </a:solidFill>
          </a:ln>
        </p:spPr>
        <p:txBody>
          <a:bodyPr wrap="square" lIns="45718" tIns="45718" rIns="45718" bIns="45718">
            <a:spAutoFit/>
          </a:bodyPr>
          <a:lstStyle>
            <a:defPPr>
              <a:defRPr lang="zh-CN"/>
            </a:defPPr>
            <a:lvl1pPr algn="ctr" defTabSz="914367">
              <a:defRPr sz="3937">
                <a:latin typeface="Calibri"/>
                <a:ea typeface="Calibri"/>
                <a:cs typeface="Calibri"/>
              </a:defRPr>
            </a:lvl1pPr>
          </a:lstStyle>
          <a:p>
            <a:pPr>
              <a:defRPr sz="5600">
                <a:latin typeface="Calibri"/>
                <a:ea typeface="Calibri"/>
                <a:cs typeface="Calibri"/>
                <a:sym typeface="Calibri"/>
              </a:defRPr>
            </a:pPr>
            <a:r>
              <a:rPr lang="en-US" altLang="zh-CN" sz="6000" dirty="0"/>
              <a:t>T5 </a:t>
            </a:r>
            <a:r>
              <a:rPr lang="zh-CN" altLang="en-US" sz="6000"/>
              <a:t>黄浦江</a:t>
            </a:r>
            <a:endParaRPr lang="zh-CN" altLang="en-US" sz="6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79162-2E5E-2A96-CC9E-D0A2FD57488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59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6184930"/>
      </p:ext>
    </p:extLst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9037A0C-02DA-974C-7EA0-20B2B115A5B4}"/>
              </a:ext>
            </a:extLst>
          </p:cNvPr>
          <p:cNvSpPr/>
          <p:nvPr/>
        </p:nvSpPr>
        <p:spPr>
          <a:xfrm>
            <a:off x="3503712" y="980729"/>
            <a:ext cx="5330452" cy="646331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600">
                <a:latin typeface="Consolas" pitchFamily="49" charset="0"/>
                <a:cs typeface="Consolas" pitchFamily="49" charset="0"/>
              </a:rPr>
              <a:t>题目大意</a:t>
            </a:r>
            <a:endParaRPr lang="en-US" altLang="zh-CN" sz="36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E282AC-317D-5183-EE87-7B639BEC9DF4}"/>
              </a:ext>
            </a:extLst>
          </p:cNvPr>
          <p:cNvSpPr/>
          <p:nvPr/>
        </p:nvSpPr>
        <p:spPr>
          <a:xfrm>
            <a:off x="1876158" y="2242287"/>
            <a:ext cx="8585559" cy="1695016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/>
              <a:t>南北隧道口依次编号为</a:t>
            </a:r>
            <a:r>
              <a:rPr lang="en-US" altLang="zh-CN" sz="2400" dirty="0"/>
              <a:t>1-n, </a:t>
            </a:r>
            <a:r>
              <a:rPr lang="zh-CN" altLang="en-US" sz="2400"/>
              <a:t>有</a:t>
            </a:r>
            <a:r>
              <a:rPr lang="en-US" altLang="zh-CN" sz="2400" dirty="0"/>
              <a:t>m</a:t>
            </a:r>
            <a:r>
              <a:rPr lang="zh-CN" altLang="en-US" sz="2400"/>
              <a:t>条隧道设计方案，</a:t>
            </a:r>
            <a:endParaRPr lang="en-US" altLang="zh-CN" sz="2400" dirty="0"/>
          </a:p>
          <a:p>
            <a:pPr algn="just">
              <a:lnSpc>
                <a:spcPct val="150000"/>
              </a:lnSpc>
            </a:pPr>
            <a:r>
              <a:rPr lang="zh-CN" altLang="en-US" sz="2400"/>
              <a:t>安全约束：可共享出入口，但在江底不能交叉。</a:t>
            </a:r>
            <a:endParaRPr lang="en-US" altLang="zh-CN" sz="2400" dirty="0"/>
          </a:p>
          <a:p>
            <a:pPr algn="just">
              <a:lnSpc>
                <a:spcPct val="150000"/>
              </a:lnSpc>
            </a:pPr>
            <a:r>
              <a:rPr lang="zh-CN" altLang="en-US" sz="2400">
                <a:latin typeface="Consolas" pitchFamily="49" charset="0"/>
                <a:cs typeface="Consolas" pitchFamily="49" charset="0"/>
              </a:rPr>
              <a:t>求：至少要否决几条隧道方案，满足安全约束条件。</a:t>
            </a:r>
            <a:endParaRPr lang="zh-CN" altLang="zh-CN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98F5EB8-6F1E-4F60-BA28-B2BE312C1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89F1F58-D573-4125-A3BB-B974EB361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143" y="4293096"/>
            <a:ext cx="3067714" cy="699529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latin typeface="Consolas" pitchFamily="49" charset="0"/>
                <a:ea typeface="+mn-ea"/>
                <a:cs typeface="Consolas" pitchFamily="49" charset="0"/>
              </a:rPr>
              <a:t>互补计数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020AC7-FFE0-4564-AE94-62B7C114268A}"/>
              </a:ext>
            </a:extLst>
          </p:cNvPr>
          <p:cNvSpPr/>
          <p:nvPr/>
        </p:nvSpPr>
        <p:spPr>
          <a:xfrm>
            <a:off x="3036589" y="5325451"/>
            <a:ext cx="6264696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+mn-ea"/>
              </a:rPr>
              <a:t>至少删几条</a:t>
            </a:r>
            <a:r>
              <a:rPr lang="en-US" altLang="zh-CN" sz="2800" dirty="0">
                <a:latin typeface="+mn-ea"/>
              </a:rPr>
              <a:t>=</a:t>
            </a:r>
            <a:r>
              <a:rPr lang="zh-CN" altLang="en-US" sz="2800" dirty="0">
                <a:latin typeface="+mn-ea"/>
              </a:rPr>
              <a:t>总条数</a:t>
            </a:r>
            <a:r>
              <a:rPr lang="en-US" altLang="zh-CN" sz="2800" dirty="0">
                <a:latin typeface="+mn-ea"/>
              </a:rPr>
              <a:t>-</a:t>
            </a:r>
            <a:r>
              <a:rPr lang="zh-CN" altLang="en-US" sz="2800" dirty="0">
                <a:latin typeface="+mn-ea"/>
              </a:rPr>
              <a:t>最多留几条</a:t>
            </a:r>
          </a:p>
        </p:txBody>
      </p:sp>
    </p:spTree>
    <p:extLst>
      <p:ext uri="{BB962C8B-B14F-4D97-AF65-F5344CB8AC3E}">
        <p14:creationId xmlns:p14="http://schemas.microsoft.com/office/powerpoint/2010/main" val="93607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783632" y="548680"/>
            <a:ext cx="1322029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itchFamily="49" charset="0"/>
                <a:cs typeface="Consolas" pitchFamily="49" charset="0"/>
              </a:rPr>
              <a:t>输入样例</a:t>
            </a:r>
            <a:endParaRPr lang="en-US" altLang="zh-CN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CN" dirty="0">
                <a:latin typeface="Consolas" pitchFamily="49" charset="0"/>
                <a:cs typeface="Consolas" pitchFamily="49" charset="0"/>
              </a:rPr>
              <a:t>2 3</a:t>
            </a:r>
            <a:endParaRPr lang="zh-CN" altLang="zh-CN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CN" dirty="0">
                <a:latin typeface="Consolas" pitchFamily="49" charset="0"/>
                <a:cs typeface="Consolas" pitchFamily="49" charset="0"/>
              </a:rPr>
              <a:t>1 2</a:t>
            </a:r>
            <a:endParaRPr lang="zh-CN" altLang="zh-CN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CN" dirty="0">
                <a:latin typeface="Consolas" pitchFamily="49" charset="0"/>
                <a:cs typeface="Consolas" pitchFamily="49" charset="0"/>
              </a:rPr>
              <a:t>1 2</a:t>
            </a:r>
            <a:endParaRPr lang="zh-CN" altLang="zh-CN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CN" dirty="0">
                <a:latin typeface="Consolas" pitchFamily="49" charset="0"/>
                <a:cs typeface="Consolas" pitchFamily="49" charset="0"/>
              </a:rPr>
              <a:t>2 1</a:t>
            </a:r>
            <a:endParaRPr lang="zh-CN" altLang="zh-CN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83632" y="2026009"/>
            <a:ext cx="132202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itchFamily="49" charset="0"/>
                <a:cs typeface="Consolas" pitchFamily="49" charset="0"/>
              </a:rPr>
              <a:t>输出样例</a:t>
            </a:r>
            <a:endParaRPr lang="en-US" altLang="zh-CN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CN" dirty="0"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18" name="Oval 19"/>
          <p:cNvSpPr>
            <a:spLocks noChangeArrowheads="1"/>
          </p:cNvSpPr>
          <p:nvPr/>
        </p:nvSpPr>
        <p:spPr bwMode="auto">
          <a:xfrm>
            <a:off x="5631690" y="604022"/>
            <a:ext cx="381088" cy="397507"/>
          </a:xfrm>
          <a:prstGeom prst="ellips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ts val="1600"/>
              </a:lnSpc>
            </a:pPr>
            <a:r>
              <a:rPr lang="en-US" altLang="zh-CN" sz="1600" b="1" dirty="0">
                <a:latin typeface="Verdana" pitchFamily="34" charset="0"/>
                <a:ea typeface="Meiryo UI" pitchFamily="34" charset="-128"/>
                <a:cs typeface="Verdana" pitchFamily="34" charset="0"/>
              </a:rPr>
              <a:t>1</a:t>
            </a:r>
            <a:endParaRPr lang="zh-CN" altLang="en-US" sz="1600" b="1" dirty="0">
              <a:latin typeface="Verdana" pitchFamily="34" charset="0"/>
              <a:ea typeface="Meiryo UI" pitchFamily="34" charset="-128"/>
              <a:cs typeface="Verdana" pitchFamily="34" charset="0"/>
            </a:endParaRPr>
          </a:p>
        </p:txBody>
      </p:sp>
      <p:sp>
        <p:nvSpPr>
          <p:cNvPr id="19" name="Oval 19"/>
          <p:cNvSpPr>
            <a:spLocks noChangeArrowheads="1"/>
          </p:cNvSpPr>
          <p:nvPr/>
        </p:nvSpPr>
        <p:spPr bwMode="auto">
          <a:xfrm>
            <a:off x="7637341" y="604021"/>
            <a:ext cx="381088" cy="397507"/>
          </a:xfrm>
          <a:prstGeom prst="ellips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ts val="1600"/>
              </a:lnSpc>
            </a:pPr>
            <a:r>
              <a:rPr lang="en-US" altLang="zh-CN" sz="1600" b="1" dirty="0">
                <a:latin typeface="Verdana" pitchFamily="34" charset="0"/>
                <a:ea typeface="Meiryo UI" pitchFamily="34" charset="-128"/>
                <a:cs typeface="Verdana" pitchFamily="34" charset="0"/>
              </a:rPr>
              <a:t>2</a:t>
            </a:r>
            <a:endParaRPr lang="zh-CN" altLang="en-US" sz="1600" b="1" dirty="0">
              <a:latin typeface="Verdana" pitchFamily="34" charset="0"/>
              <a:ea typeface="Meiryo UI" pitchFamily="34" charset="-128"/>
              <a:cs typeface="Verdana" pitchFamily="34" charset="0"/>
            </a:endParaRPr>
          </a:p>
        </p:txBody>
      </p:sp>
      <p:cxnSp>
        <p:nvCxnSpPr>
          <p:cNvPr id="20" name="直接连接符 19"/>
          <p:cNvCxnSpPr>
            <a:stCxn id="21" idx="1"/>
            <a:endCxn id="18" idx="5"/>
          </p:cNvCxnSpPr>
          <p:nvPr/>
        </p:nvCxnSpPr>
        <p:spPr>
          <a:xfrm flipH="1" flipV="1">
            <a:off x="5956970" y="943315"/>
            <a:ext cx="1736181" cy="1126565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Oval 19"/>
          <p:cNvSpPr>
            <a:spLocks noChangeArrowheads="1"/>
          </p:cNvSpPr>
          <p:nvPr/>
        </p:nvSpPr>
        <p:spPr bwMode="auto">
          <a:xfrm>
            <a:off x="5631690" y="2011667"/>
            <a:ext cx="381088" cy="397507"/>
          </a:xfrm>
          <a:prstGeom prst="ellips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ts val="1600"/>
              </a:lnSpc>
            </a:pPr>
            <a:r>
              <a:rPr lang="en-US" altLang="zh-CN" sz="1600" b="1" dirty="0">
                <a:latin typeface="Verdana" pitchFamily="34" charset="0"/>
                <a:ea typeface="Meiryo UI" pitchFamily="34" charset="-128"/>
                <a:cs typeface="Verdana" pitchFamily="34" charset="0"/>
              </a:rPr>
              <a:t>1</a:t>
            </a:r>
            <a:endParaRPr lang="zh-CN" altLang="en-US" sz="1600" b="1" dirty="0">
              <a:latin typeface="Verdana" pitchFamily="34" charset="0"/>
              <a:ea typeface="Meiryo UI" pitchFamily="34" charset="-128"/>
              <a:cs typeface="Verdana" pitchFamily="34" charset="0"/>
            </a:endParaRPr>
          </a:p>
        </p:txBody>
      </p:sp>
      <p:sp>
        <p:nvSpPr>
          <p:cNvPr id="21" name="Oval 19"/>
          <p:cNvSpPr>
            <a:spLocks noChangeArrowheads="1"/>
          </p:cNvSpPr>
          <p:nvPr/>
        </p:nvSpPr>
        <p:spPr bwMode="auto">
          <a:xfrm>
            <a:off x="7637341" y="2011666"/>
            <a:ext cx="381088" cy="397507"/>
          </a:xfrm>
          <a:prstGeom prst="ellips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ts val="1600"/>
              </a:lnSpc>
            </a:pPr>
            <a:r>
              <a:rPr lang="en-US" altLang="zh-CN" sz="1600" b="1" dirty="0">
                <a:latin typeface="Verdana" pitchFamily="34" charset="0"/>
                <a:ea typeface="Meiryo UI" pitchFamily="34" charset="-128"/>
                <a:cs typeface="Verdana" pitchFamily="34" charset="0"/>
              </a:rPr>
              <a:t>2</a:t>
            </a:r>
            <a:endParaRPr lang="zh-CN" altLang="en-US" sz="1600" b="1" dirty="0">
              <a:latin typeface="Verdana" pitchFamily="34" charset="0"/>
              <a:ea typeface="Meiryo UI" pitchFamily="34" charset="-128"/>
              <a:cs typeface="Verdana" pitchFamily="34" charset="0"/>
            </a:endParaRPr>
          </a:p>
        </p:txBody>
      </p:sp>
      <p:cxnSp>
        <p:nvCxnSpPr>
          <p:cNvPr id="22" name="直接连接符 21"/>
          <p:cNvCxnSpPr>
            <a:stCxn id="21" idx="2"/>
            <a:endCxn id="18" idx="4"/>
          </p:cNvCxnSpPr>
          <p:nvPr/>
        </p:nvCxnSpPr>
        <p:spPr>
          <a:xfrm flipH="1" flipV="1">
            <a:off x="5822235" y="1001529"/>
            <a:ext cx="1815107" cy="1208891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6" idx="7"/>
            <a:endCxn id="19" idx="3"/>
          </p:cNvCxnSpPr>
          <p:nvPr/>
        </p:nvCxnSpPr>
        <p:spPr>
          <a:xfrm flipV="1">
            <a:off x="5956970" y="943314"/>
            <a:ext cx="1736181" cy="1126567"/>
          </a:xfrm>
          <a:prstGeom prst="line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D77911-5524-9BFF-2E4A-D4D07E649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9A2D14-373C-4704-B3CD-7D49EE783E17}"/>
              </a:ext>
            </a:extLst>
          </p:cNvPr>
          <p:cNvSpPr/>
          <p:nvPr/>
        </p:nvSpPr>
        <p:spPr>
          <a:xfrm>
            <a:off x="2778070" y="3816330"/>
            <a:ext cx="1322029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itchFamily="49" charset="0"/>
                <a:cs typeface="Consolas" pitchFamily="49" charset="0"/>
              </a:rPr>
              <a:t>输入样例</a:t>
            </a:r>
            <a:endParaRPr lang="en-US" altLang="zh-CN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CN" dirty="0">
                <a:latin typeface="Consolas" pitchFamily="49" charset="0"/>
                <a:cs typeface="Consolas" pitchFamily="49" charset="0"/>
              </a:rPr>
              <a:t>4 5</a:t>
            </a:r>
            <a:endParaRPr lang="zh-CN" altLang="zh-CN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CN" dirty="0">
                <a:latin typeface="Consolas" pitchFamily="49" charset="0"/>
                <a:cs typeface="Consolas" pitchFamily="49" charset="0"/>
              </a:rPr>
              <a:t>4 3</a:t>
            </a:r>
            <a:endParaRPr lang="zh-CN" altLang="zh-CN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CN" dirty="0">
                <a:latin typeface="Consolas" pitchFamily="49" charset="0"/>
                <a:cs typeface="Consolas" pitchFamily="49" charset="0"/>
              </a:rPr>
              <a:t>3 4</a:t>
            </a:r>
            <a:endParaRPr lang="zh-CN" altLang="zh-CN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CN" dirty="0">
                <a:latin typeface="Consolas" pitchFamily="49" charset="0"/>
                <a:cs typeface="Consolas" pitchFamily="49" charset="0"/>
              </a:rPr>
              <a:t>4 1</a:t>
            </a:r>
            <a:endParaRPr lang="zh-CN" altLang="zh-CN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CN" dirty="0">
                <a:latin typeface="Consolas" pitchFamily="49" charset="0"/>
                <a:cs typeface="Consolas" pitchFamily="49" charset="0"/>
              </a:rPr>
              <a:t>2 1</a:t>
            </a:r>
            <a:endParaRPr lang="zh-CN" altLang="zh-CN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CN" dirty="0">
                <a:latin typeface="Consolas" pitchFamily="49" charset="0"/>
                <a:cs typeface="Consolas" pitchFamily="49" charset="0"/>
              </a:rPr>
              <a:t>1 2</a:t>
            </a:r>
            <a:endParaRPr lang="zh-CN" altLang="zh-CN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130F8A5-7111-43C9-9BE0-DCA64322DCB5}"/>
              </a:ext>
            </a:extLst>
          </p:cNvPr>
          <p:cNvSpPr/>
          <p:nvPr/>
        </p:nvSpPr>
        <p:spPr>
          <a:xfrm>
            <a:off x="2778069" y="5847655"/>
            <a:ext cx="132202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itchFamily="49" charset="0"/>
                <a:cs typeface="Consolas" pitchFamily="49" charset="0"/>
              </a:rPr>
              <a:t>输出样例</a:t>
            </a:r>
            <a:endParaRPr lang="en-US" altLang="zh-CN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CN" dirty="0">
                <a:latin typeface="Consolas" pitchFamily="49" charset="0"/>
                <a:cs typeface="Consolas" pitchFamily="49" charset="0"/>
              </a:rPr>
              <a:t>2</a:t>
            </a:r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6312F34B-3FB0-4496-8C08-C36A236A7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861" y="3885541"/>
            <a:ext cx="381088" cy="397507"/>
          </a:xfrm>
          <a:prstGeom prst="ellips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ts val="1600"/>
              </a:lnSpc>
            </a:pPr>
            <a:r>
              <a:rPr lang="en-US" altLang="zh-CN" sz="1600" b="1" dirty="0">
                <a:latin typeface="Verdana" pitchFamily="34" charset="0"/>
                <a:ea typeface="Meiryo UI" pitchFamily="34" charset="-128"/>
                <a:cs typeface="Verdana" pitchFamily="34" charset="0"/>
              </a:rPr>
              <a:t>3</a:t>
            </a:r>
            <a:endParaRPr lang="zh-CN" altLang="en-US" sz="1600" b="1" dirty="0">
              <a:latin typeface="Verdana" pitchFamily="34" charset="0"/>
              <a:ea typeface="Meiryo UI" pitchFamily="34" charset="-128"/>
              <a:cs typeface="Verdana" pitchFamily="34" charset="0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82FAC0D-ADB5-4817-A1FB-A70C0199E5DA}"/>
              </a:ext>
            </a:extLst>
          </p:cNvPr>
          <p:cNvCxnSpPr>
            <a:stCxn id="29" idx="3"/>
            <a:endCxn id="30" idx="7"/>
          </p:cNvCxnSpPr>
          <p:nvPr/>
        </p:nvCxnSpPr>
        <p:spPr>
          <a:xfrm flipH="1">
            <a:off x="8174140" y="4224837"/>
            <a:ext cx="837094" cy="1134647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Oval 19">
            <a:extLst>
              <a:ext uri="{FF2B5EF4-FFF2-40B4-BE49-F238E27FC236}">
                <a16:creationId xmlns:a16="http://schemas.microsoft.com/office/drawing/2014/main" id="{715F4E2A-8849-4DC6-B1E2-911DFF371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5115" y="3885544"/>
            <a:ext cx="381088" cy="397507"/>
          </a:xfrm>
          <a:prstGeom prst="ellips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ts val="1600"/>
              </a:lnSpc>
            </a:pPr>
            <a:r>
              <a:rPr lang="en-US" altLang="zh-CN" sz="1600" b="1" dirty="0">
                <a:latin typeface="Verdana" pitchFamily="34" charset="0"/>
                <a:ea typeface="Meiryo UI" pitchFamily="34" charset="-128"/>
                <a:cs typeface="Verdana" pitchFamily="34" charset="0"/>
              </a:rPr>
              <a:t>1</a:t>
            </a:r>
            <a:endParaRPr lang="zh-CN" altLang="en-US" sz="1600" b="1" dirty="0">
              <a:latin typeface="Verdana" pitchFamily="34" charset="0"/>
              <a:ea typeface="Meiryo UI" pitchFamily="34" charset="-128"/>
              <a:cs typeface="Verdana" pitchFamily="34" charset="0"/>
            </a:endParaRPr>
          </a:p>
        </p:txBody>
      </p:sp>
      <p:sp>
        <p:nvSpPr>
          <p:cNvPr id="23" name="Oval 19">
            <a:extLst>
              <a:ext uri="{FF2B5EF4-FFF2-40B4-BE49-F238E27FC236}">
                <a16:creationId xmlns:a16="http://schemas.microsoft.com/office/drawing/2014/main" id="{D53EF15A-9061-4FC7-84DC-BBF3E6548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725" y="3885542"/>
            <a:ext cx="381088" cy="397507"/>
          </a:xfrm>
          <a:prstGeom prst="ellips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ts val="1600"/>
              </a:lnSpc>
            </a:pPr>
            <a:r>
              <a:rPr lang="en-US" altLang="zh-CN" sz="1600" b="1" dirty="0">
                <a:latin typeface="Verdana" pitchFamily="34" charset="0"/>
                <a:ea typeface="Meiryo UI" pitchFamily="34" charset="-128"/>
                <a:cs typeface="Verdana" pitchFamily="34" charset="0"/>
              </a:rPr>
              <a:t>2</a:t>
            </a:r>
            <a:endParaRPr lang="zh-CN" altLang="en-US" sz="1600" b="1" dirty="0">
              <a:latin typeface="Verdana" pitchFamily="34" charset="0"/>
              <a:ea typeface="Meiryo UI" pitchFamily="34" charset="-128"/>
              <a:cs typeface="Verdana" pitchFamily="34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3208D27-EB6B-45A0-AA20-8D326DE39960}"/>
              </a:ext>
            </a:extLst>
          </p:cNvPr>
          <p:cNvCxnSpPr>
            <a:stCxn id="27" idx="1"/>
            <a:endCxn id="17" idx="5"/>
          </p:cNvCxnSpPr>
          <p:nvPr/>
        </p:nvCxnSpPr>
        <p:spPr>
          <a:xfrm flipH="1" flipV="1">
            <a:off x="5660394" y="4224836"/>
            <a:ext cx="1020140" cy="1126564"/>
          </a:xfrm>
          <a:prstGeom prst="line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Oval 19">
            <a:extLst>
              <a:ext uri="{FF2B5EF4-FFF2-40B4-BE49-F238E27FC236}">
                <a16:creationId xmlns:a16="http://schemas.microsoft.com/office/drawing/2014/main" id="{4CEB1CC3-D3C0-42BF-A75A-B89D3A906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5115" y="5293189"/>
            <a:ext cx="381088" cy="397507"/>
          </a:xfrm>
          <a:prstGeom prst="ellips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ts val="1600"/>
              </a:lnSpc>
            </a:pPr>
            <a:r>
              <a:rPr lang="en-US" altLang="zh-CN" sz="1600" b="1" dirty="0">
                <a:latin typeface="Verdana" pitchFamily="34" charset="0"/>
                <a:ea typeface="Meiryo UI" pitchFamily="34" charset="-128"/>
                <a:cs typeface="Verdana" pitchFamily="34" charset="0"/>
              </a:rPr>
              <a:t>1</a:t>
            </a:r>
            <a:endParaRPr lang="zh-CN" altLang="en-US" sz="1600" b="1" dirty="0">
              <a:latin typeface="Verdana" pitchFamily="34" charset="0"/>
              <a:ea typeface="Meiryo UI" pitchFamily="34" charset="-128"/>
              <a:cs typeface="Verdana" pitchFamily="34" charset="0"/>
            </a:endParaRPr>
          </a:p>
        </p:txBody>
      </p:sp>
      <p:sp>
        <p:nvSpPr>
          <p:cNvPr id="27" name="Oval 19">
            <a:extLst>
              <a:ext uri="{FF2B5EF4-FFF2-40B4-BE49-F238E27FC236}">
                <a16:creationId xmlns:a16="http://schemas.microsoft.com/office/drawing/2014/main" id="{BF3E1043-4E90-41DC-AAE3-F8E9B3710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725" y="5293187"/>
            <a:ext cx="381088" cy="397507"/>
          </a:xfrm>
          <a:prstGeom prst="ellips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ts val="1600"/>
              </a:lnSpc>
            </a:pPr>
            <a:r>
              <a:rPr lang="en-US" altLang="zh-CN" sz="1600" b="1" dirty="0">
                <a:latin typeface="Verdana" pitchFamily="34" charset="0"/>
                <a:ea typeface="Meiryo UI" pitchFamily="34" charset="-128"/>
                <a:cs typeface="Verdana" pitchFamily="34" charset="0"/>
              </a:rPr>
              <a:t>2</a:t>
            </a:r>
            <a:endParaRPr lang="zh-CN" altLang="en-US" sz="1600" b="1" dirty="0">
              <a:latin typeface="Verdana" pitchFamily="34" charset="0"/>
              <a:ea typeface="Meiryo UI" pitchFamily="34" charset="-128"/>
              <a:cs typeface="Verdana" pitchFamily="34" charset="0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145843A-F116-45E0-8619-BD889CCD2E79}"/>
              </a:ext>
            </a:extLst>
          </p:cNvPr>
          <p:cNvCxnSpPr>
            <a:stCxn id="26" idx="7"/>
            <a:endCxn id="23" idx="3"/>
          </p:cNvCxnSpPr>
          <p:nvPr/>
        </p:nvCxnSpPr>
        <p:spPr>
          <a:xfrm flipV="1">
            <a:off x="5660394" y="4224834"/>
            <a:ext cx="1020140" cy="1126568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9" name="Oval 19">
            <a:extLst>
              <a:ext uri="{FF2B5EF4-FFF2-40B4-BE49-F238E27FC236}">
                <a16:creationId xmlns:a16="http://schemas.microsoft.com/office/drawing/2014/main" id="{BDD98661-D28D-4DFD-BCA0-258EADF66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5425" y="3885544"/>
            <a:ext cx="381088" cy="397507"/>
          </a:xfrm>
          <a:prstGeom prst="ellips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ts val="1600"/>
              </a:lnSpc>
            </a:pPr>
            <a:r>
              <a:rPr lang="en-US" altLang="zh-CN" sz="1600" b="1" dirty="0">
                <a:latin typeface="Verdana" pitchFamily="34" charset="0"/>
                <a:ea typeface="Meiryo UI" pitchFamily="34" charset="-128"/>
                <a:cs typeface="Verdana" pitchFamily="34" charset="0"/>
              </a:rPr>
              <a:t>4</a:t>
            </a:r>
            <a:endParaRPr lang="zh-CN" altLang="en-US" sz="1600" b="1" dirty="0">
              <a:latin typeface="Verdana" pitchFamily="34" charset="0"/>
              <a:ea typeface="Meiryo UI" pitchFamily="34" charset="-128"/>
              <a:cs typeface="Verdana" pitchFamily="34" charset="0"/>
            </a:endParaRPr>
          </a:p>
        </p:txBody>
      </p:sp>
      <p:sp>
        <p:nvSpPr>
          <p:cNvPr id="30" name="Oval 19">
            <a:extLst>
              <a:ext uri="{FF2B5EF4-FFF2-40B4-BE49-F238E27FC236}">
                <a16:creationId xmlns:a16="http://schemas.microsoft.com/office/drawing/2014/main" id="{E8DDA3FD-509C-4AFB-97EA-7FF91C5A8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861" y="5301270"/>
            <a:ext cx="381088" cy="397507"/>
          </a:xfrm>
          <a:prstGeom prst="ellips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ts val="1600"/>
              </a:lnSpc>
            </a:pPr>
            <a:r>
              <a:rPr lang="en-US" altLang="zh-CN" sz="1600" b="1" dirty="0">
                <a:latin typeface="Verdana" pitchFamily="34" charset="0"/>
                <a:ea typeface="Meiryo UI" pitchFamily="34" charset="-128"/>
                <a:cs typeface="Verdana" pitchFamily="34" charset="0"/>
              </a:rPr>
              <a:t>3</a:t>
            </a:r>
            <a:endParaRPr lang="zh-CN" altLang="en-US" sz="1600" b="1" dirty="0">
              <a:latin typeface="Verdana" pitchFamily="34" charset="0"/>
              <a:ea typeface="Meiryo UI" pitchFamily="34" charset="-128"/>
              <a:cs typeface="Verdana" pitchFamily="34" charset="0"/>
            </a:endParaRPr>
          </a:p>
        </p:txBody>
      </p:sp>
      <p:sp>
        <p:nvSpPr>
          <p:cNvPr id="31" name="Oval 19">
            <a:extLst>
              <a:ext uri="{FF2B5EF4-FFF2-40B4-BE49-F238E27FC236}">
                <a16:creationId xmlns:a16="http://schemas.microsoft.com/office/drawing/2014/main" id="{4EF33985-F2F8-4ABC-970F-F18EAF6F2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5425" y="5301273"/>
            <a:ext cx="381088" cy="397507"/>
          </a:xfrm>
          <a:prstGeom prst="ellips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ts val="1600"/>
              </a:lnSpc>
            </a:pPr>
            <a:r>
              <a:rPr lang="en-US" altLang="zh-CN" sz="1600" b="1" dirty="0">
                <a:latin typeface="Verdana" pitchFamily="34" charset="0"/>
                <a:ea typeface="Meiryo UI" pitchFamily="34" charset="-128"/>
                <a:cs typeface="Verdana" pitchFamily="34" charset="0"/>
              </a:rPr>
              <a:t>4</a:t>
            </a:r>
            <a:endParaRPr lang="zh-CN" altLang="en-US" sz="1600" b="1" dirty="0">
              <a:latin typeface="Verdana" pitchFamily="34" charset="0"/>
              <a:ea typeface="Meiryo UI" pitchFamily="34" charset="-128"/>
              <a:cs typeface="Verdana" pitchFamily="34" charset="0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DF11DE9-1174-47B7-9F4A-F2EA6A145CE2}"/>
              </a:ext>
            </a:extLst>
          </p:cNvPr>
          <p:cNvCxnSpPr>
            <a:stCxn id="14" idx="5"/>
            <a:endCxn id="31" idx="1"/>
          </p:cNvCxnSpPr>
          <p:nvPr/>
        </p:nvCxnSpPr>
        <p:spPr>
          <a:xfrm>
            <a:off x="8174140" y="4224834"/>
            <a:ext cx="837094" cy="1134653"/>
          </a:xfrm>
          <a:prstGeom prst="line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2BD4E4A-F331-4537-B836-592B0B8504CF}"/>
              </a:ext>
            </a:extLst>
          </p:cNvPr>
          <p:cNvCxnSpPr>
            <a:stCxn id="29" idx="2"/>
            <a:endCxn id="26" idx="6"/>
          </p:cNvCxnSpPr>
          <p:nvPr/>
        </p:nvCxnSpPr>
        <p:spPr>
          <a:xfrm flipH="1">
            <a:off x="5716203" y="4084298"/>
            <a:ext cx="3239222" cy="1407645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4619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8" grpId="0" animBg="1"/>
      <p:bldP spid="19" grpId="0" animBg="1"/>
      <p:bldP spid="16" grpId="0" animBg="1"/>
      <p:bldP spid="21" grpId="0" animBg="1"/>
      <p:bldP spid="12" grpId="0" animBg="1"/>
      <p:bldP spid="13" grpId="0" animBg="1"/>
      <p:bldP spid="14" grpId="0" animBg="1"/>
      <p:bldP spid="17" grpId="0" animBg="1"/>
      <p:bldP spid="23" grpId="0" animBg="1"/>
      <p:bldP spid="26" grpId="0" animBg="1"/>
      <p:bldP spid="27" grpId="0" animBg="1"/>
      <p:bldP spid="29" grpId="0" animBg="1"/>
      <p:bldP spid="30" grpId="0" animBg="1"/>
      <p:bldP spid="3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A600FE-FF3B-ED76-ED44-62D951E28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D6D64E-DAC3-411C-9D25-832E28F1DFD2}"/>
              </a:ext>
            </a:extLst>
          </p:cNvPr>
          <p:cNvSpPr/>
          <p:nvPr/>
        </p:nvSpPr>
        <p:spPr>
          <a:xfrm>
            <a:off x="3430774" y="581507"/>
            <a:ext cx="5330452" cy="646331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600">
                <a:latin typeface="Consolas" pitchFamily="49" charset="0"/>
                <a:cs typeface="Consolas" pitchFamily="49" charset="0"/>
              </a:rPr>
              <a:t>分析冲突的场景</a:t>
            </a:r>
            <a:endParaRPr lang="en-US" altLang="zh-CN" sz="36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Oval 19">
            <a:extLst>
              <a:ext uri="{FF2B5EF4-FFF2-40B4-BE49-F238E27FC236}">
                <a16:creationId xmlns:a16="http://schemas.microsoft.com/office/drawing/2014/main" id="{51BF0231-AA7B-46B4-B63D-D77240E81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997" y="1700809"/>
            <a:ext cx="648072" cy="675994"/>
          </a:xfrm>
          <a:prstGeom prst="ellips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Verdana" pitchFamily="34" charset="0"/>
                <a:ea typeface="Meiryo UI" pitchFamily="34" charset="-128"/>
                <a:cs typeface="Verdana" pitchFamily="34" charset="0"/>
              </a:rPr>
              <a:t>x1</a:t>
            </a:r>
            <a:endParaRPr lang="zh-CN" altLang="en-US" sz="1600" dirty="0">
              <a:latin typeface="Verdana" pitchFamily="34" charset="0"/>
              <a:ea typeface="Meiryo UI" pitchFamily="34" charset="-128"/>
              <a:cs typeface="Verdana" pitchFamily="34" charset="0"/>
            </a:endParaRPr>
          </a:p>
        </p:txBody>
      </p:sp>
      <p:sp>
        <p:nvSpPr>
          <p:cNvPr id="6" name="Oval 19">
            <a:extLst>
              <a:ext uri="{FF2B5EF4-FFF2-40B4-BE49-F238E27FC236}">
                <a16:creationId xmlns:a16="http://schemas.microsoft.com/office/drawing/2014/main" id="{CDF0689F-9F76-4645-B668-102A1F3FA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9616" y="1700809"/>
            <a:ext cx="648072" cy="675994"/>
          </a:xfrm>
          <a:prstGeom prst="ellips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Verdana" pitchFamily="34" charset="0"/>
                <a:ea typeface="Meiryo UI" pitchFamily="34" charset="-128"/>
              </a:rPr>
              <a:t>x2</a:t>
            </a:r>
            <a:endParaRPr lang="zh-CN" altLang="en-US" sz="1600" dirty="0">
              <a:latin typeface="Verdana" pitchFamily="34" charset="0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4CFBBF9-E298-4939-8CE2-248B1EC89D4B}"/>
              </a:ext>
            </a:extLst>
          </p:cNvPr>
          <p:cNvCxnSpPr>
            <a:cxnSpLocks/>
            <a:stCxn id="9" idx="1"/>
            <a:endCxn id="5" idx="5"/>
          </p:cNvCxnSpPr>
          <p:nvPr/>
        </p:nvCxnSpPr>
        <p:spPr>
          <a:xfrm flipH="1" flipV="1">
            <a:off x="1475161" y="2277806"/>
            <a:ext cx="1259363" cy="602119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Oval 19">
            <a:extLst>
              <a:ext uri="{FF2B5EF4-FFF2-40B4-BE49-F238E27FC236}">
                <a16:creationId xmlns:a16="http://schemas.microsoft.com/office/drawing/2014/main" id="{7DF322C8-9991-4327-B53B-A30501F6D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997" y="2780928"/>
            <a:ext cx="648072" cy="675994"/>
          </a:xfrm>
          <a:prstGeom prst="ellips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Verdana" pitchFamily="34" charset="0"/>
                <a:ea typeface="Meiryo UI" pitchFamily="34" charset="-128"/>
              </a:rPr>
              <a:t>y2</a:t>
            </a:r>
            <a:endParaRPr lang="zh-CN" altLang="en-US" sz="1600" dirty="0">
              <a:latin typeface="Verdana" pitchFamily="34" charset="0"/>
            </a:endParaRPr>
          </a:p>
        </p:txBody>
      </p:sp>
      <p:sp>
        <p:nvSpPr>
          <p:cNvPr id="9" name="Oval 19">
            <a:extLst>
              <a:ext uri="{FF2B5EF4-FFF2-40B4-BE49-F238E27FC236}">
                <a16:creationId xmlns:a16="http://schemas.microsoft.com/office/drawing/2014/main" id="{87723F00-654F-4270-BD23-0E7F8FFD1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9616" y="2780928"/>
            <a:ext cx="648072" cy="675994"/>
          </a:xfrm>
          <a:prstGeom prst="ellipse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Verdana" pitchFamily="34" charset="0"/>
                <a:ea typeface="Meiryo UI" pitchFamily="34" charset="-128"/>
              </a:rPr>
              <a:t>y1</a:t>
            </a:r>
            <a:endParaRPr lang="zh-CN" altLang="en-US" sz="1600" dirty="0">
              <a:latin typeface="Verdana" pitchFamily="34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101403D-87BD-41F8-999D-EE370E3C706D}"/>
              </a:ext>
            </a:extLst>
          </p:cNvPr>
          <p:cNvCxnSpPr>
            <a:cxnSpLocks/>
            <a:stCxn id="8" idx="7"/>
            <a:endCxn id="6" idx="3"/>
          </p:cNvCxnSpPr>
          <p:nvPr/>
        </p:nvCxnSpPr>
        <p:spPr>
          <a:xfrm flipV="1">
            <a:off x="1475161" y="2277806"/>
            <a:ext cx="1259363" cy="602119"/>
          </a:xfrm>
          <a:prstGeom prst="line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8E1012C2-85D1-4D58-AF78-62129FDE24E7}"/>
              </a:ext>
            </a:extLst>
          </p:cNvPr>
          <p:cNvSpPr txBox="1"/>
          <p:nvPr/>
        </p:nvSpPr>
        <p:spPr>
          <a:xfrm>
            <a:off x="3958660" y="1942366"/>
            <a:ext cx="3394949" cy="4308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Consolas" panose="020B0609020204030204" pitchFamily="49" charset="0"/>
              </a:rPr>
              <a:t>x1 &lt; x2 &amp;&amp; y1 &gt; y2</a:t>
            </a:r>
            <a:endParaRPr lang="zh-CN" altLang="en-US" sz="2200">
              <a:latin typeface="Consolas" panose="020B0609020204030204" pitchFamily="49" charset="0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82DAD32C-B9DD-4A6E-930F-E2EBE95DD14C}"/>
              </a:ext>
            </a:extLst>
          </p:cNvPr>
          <p:cNvSpPr/>
          <p:nvPr/>
        </p:nvSpPr>
        <p:spPr>
          <a:xfrm>
            <a:off x="1570069" y="2265602"/>
            <a:ext cx="288032" cy="288032"/>
          </a:xfrm>
          <a:prstGeom prst="ellipse">
            <a:avLst/>
          </a:prstGeom>
          <a:solidFill>
            <a:schemeClr val="accent6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90106F37-980F-41B4-B7A8-333620BEA463}"/>
              </a:ext>
            </a:extLst>
          </p:cNvPr>
          <p:cNvSpPr/>
          <p:nvPr/>
        </p:nvSpPr>
        <p:spPr>
          <a:xfrm>
            <a:off x="2324783" y="2265602"/>
            <a:ext cx="288032" cy="288032"/>
          </a:xfrm>
          <a:prstGeom prst="ellipse">
            <a:avLst/>
          </a:prstGeom>
          <a:solidFill>
            <a:schemeClr val="accent6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764B932-612A-4EFA-A880-440E5C9D3F49}"/>
              </a:ext>
            </a:extLst>
          </p:cNvPr>
          <p:cNvSpPr txBox="1"/>
          <p:nvPr/>
        </p:nvSpPr>
        <p:spPr>
          <a:xfrm>
            <a:off x="3958660" y="2771258"/>
            <a:ext cx="3394949" cy="4308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Consolas" panose="020B0609020204030204" pitchFamily="49" charset="0"/>
              </a:rPr>
              <a:t>x2 &lt; x1 &amp;&amp; y2 &lt; y1</a:t>
            </a:r>
            <a:endParaRPr lang="zh-CN" altLang="en-US" sz="2200">
              <a:latin typeface="Consolas" panose="020B06090202040302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63F7506-799F-428A-B42F-A30615506757}"/>
              </a:ext>
            </a:extLst>
          </p:cNvPr>
          <p:cNvSpPr txBox="1"/>
          <p:nvPr/>
        </p:nvSpPr>
        <p:spPr>
          <a:xfrm>
            <a:off x="4977346" y="2417088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solidFill>
                  <a:srgbClr val="FF0000"/>
                </a:solidFill>
                <a:latin typeface="Consolas" pitchFamily="49" charset="0"/>
              </a:rPr>
              <a:t>或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45C4D77-009C-4199-B898-7D9360B0168B}"/>
              </a:ext>
            </a:extLst>
          </p:cNvPr>
          <p:cNvSpPr txBox="1"/>
          <p:nvPr/>
        </p:nvSpPr>
        <p:spPr>
          <a:xfrm>
            <a:off x="7972301" y="2186255"/>
            <a:ext cx="1152128" cy="461665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40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交叉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1D531DA-08B6-49C5-A9BC-F32B7AF70FEA}"/>
              </a:ext>
            </a:extLst>
          </p:cNvPr>
          <p:cNvSpPr txBox="1"/>
          <p:nvPr/>
        </p:nvSpPr>
        <p:spPr>
          <a:xfrm>
            <a:off x="583033" y="4637944"/>
            <a:ext cx="30436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>
                <a:solidFill>
                  <a:srgbClr val="FF0000"/>
                </a:solidFill>
                <a:latin typeface="Consolas" pitchFamily="49" charset="0"/>
              </a:rPr>
              <a:t>则，不交叉的条件为 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602E317-769A-406F-B55C-2D42978C41E6}"/>
              </a:ext>
            </a:extLst>
          </p:cNvPr>
          <p:cNvSpPr txBox="1"/>
          <p:nvPr/>
        </p:nvSpPr>
        <p:spPr>
          <a:xfrm>
            <a:off x="4012201" y="4037688"/>
            <a:ext cx="3394949" cy="430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Consolas" panose="020B0609020204030204" pitchFamily="49" charset="0"/>
              </a:rPr>
              <a:t>x1 &lt; x2 &amp;&amp; y1 &lt;= y2</a:t>
            </a:r>
            <a:endParaRPr lang="zh-CN" altLang="en-US" sz="2200">
              <a:latin typeface="Consolas" panose="020B0609020204030204" pitchFamily="49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60FDB7B-7B97-4048-A3A9-E6BC6353EE22}"/>
              </a:ext>
            </a:extLst>
          </p:cNvPr>
          <p:cNvSpPr txBox="1"/>
          <p:nvPr/>
        </p:nvSpPr>
        <p:spPr>
          <a:xfrm>
            <a:off x="4012201" y="4826561"/>
            <a:ext cx="3394949" cy="430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Consolas" panose="020B0609020204030204" pitchFamily="49" charset="0"/>
              </a:rPr>
              <a:t>x1 &gt; x2 &amp;&amp; y1 &gt;= y2</a:t>
            </a:r>
            <a:endParaRPr lang="zh-CN" altLang="en-US" sz="2200">
              <a:latin typeface="Consolas" panose="020B0609020204030204" pitchFamily="49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9424BF6-3C8F-4E32-8D62-477BFC2BB80A}"/>
              </a:ext>
            </a:extLst>
          </p:cNvPr>
          <p:cNvSpPr txBox="1"/>
          <p:nvPr/>
        </p:nvSpPr>
        <p:spPr>
          <a:xfrm>
            <a:off x="4012200" y="5615435"/>
            <a:ext cx="3394949" cy="430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Consolas" panose="020B0609020204030204" pitchFamily="49" charset="0"/>
              </a:rPr>
              <a:t>x1 == x2 &amp;&amp; y1 == y2</a:t>
            </a:r>
            <a:endParaRPr lang="zh-CN" altLang="en-US" sz="2200">
              <a:latin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4E9315A-8E25-4569-8D4E-BB61AA469133}"/>
              </a:ext>
            </a:extLst>
          </p:cNvPr>
          <p:cNvSpPr txBox="1"/>
          <p:nvPr/>
        </p:nvSpPr>
        <p:spPr>
          <a:xfrm>
            <a:off x="7972301" y="3236472"/>
            <a:ext cx="3394949" cy="336002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chemeClr val="bg1"/>
                </a:solidFill>
                <a:latin typeface="Consolas" pitchFamily="49" charset="0"/>
              </a:rPr>
              <a:t>目标：选择尽可能多的隧道使得它们两两不交叉，等价于寻找一个最大的隧道子集，其中任意两条隧道满足上述不交叉条件。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039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7" grpId="0" animBg="1"/>
      <p:bldP spid="28" grpId="0" animBg="1"/>
      <p:bldP spid="29" grpId="0" animBg="1"/>
      <p:bldP spid="30" grpId="0" animBg="1"/>
      <p:bldP spid="32" grpId="0"/>
      <p:bldP spid="34" grpId="0" animBg="1"/>
      <p:bldP spid="35" grpId="0"/>
      <p:bldP spid="36" grpId="0" animBg="1"/>
      <p:bldP spid="38" grpId="0" animBg="1"/>
      <p:bldP spid="39" grpId="0" animBg="1"/>
      <p:bldP spid="40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A600FE-FF3B-ED76-ED44-62D951E28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D6D64E-DAC3-411C-9D25-832E28F1DFD2}"/>
              </a:ext>
            </a:extLst>
          </p:cNvPr>
          <p:cNvSpPr/>
          <p:nvPr/>
        </p:nvSpPr>
        <p:spPr>
          <a:xfrm>
            <a:off x="3430774" y="581507"/>
            <a:ext cx="5330452" cy="646331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600">
                <a:latin typeface="Consolas" pitchFamily="49" charset="0"/>
                <a:cs typeface="Consolas" pitchFamily="49" charset="0"/>
              </a:rPr>
              <a:t>问题分析</a:t>
            </a:r>
            <a:endParaRPr lang="en-US" altLang="zh-CN" sz="36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4E9315A-8E25-4569-8D4E-BB61AA469133}"/>
              </a:ext>
            </a:extLst>
          </p:cNvPr>
          <p:cNvSpPr txBox="1"/>
          <p:nvPr/>
        </p:nvSpPr>
        <p:spPr>
          <a:xfrm>
            <a:off x="803412" y="1484784"/>
            <a:ext cx="10585176" cy="1056443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3600">
                <a:latin typeface="Consolas" pitchFamily="49" charset="0"/>
                <a:cs typeface="Consolas" pitchFamily="49" charset="0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2200">
                <a:latin typeface="+mn-ea"/>
              </a:rPr>
              <a:t>目标：选择尽可能多的隧道使得它们两两不交叉，</a:t>
            </a:r>
            <a:endParaRPr lang="en-US" altLang="zh-CN" sz="2200" dirty="0"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200">
                <a:latin typeface="+mn-ea"/>
              </a:rPr>
              <a:t>等价于寻找一个最大的隧道子集，其中任意两条隧道满足不交叉条件。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D19744A-A8CD-40CD-8047-5322189A6BDF}"/>
              </a:ext>
            </a:extLst>
          </p:cNvPr>
          <p:cNvSpPr txBox="1"/>
          <p:nvPr/>
        </p:nvSpPr>
        <p:spPr>
          <a:xfrm>
            <a:off x="803412" y="2946269"/>
            <a:ext cx="7272808" cy="43088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200">
                <a:latin typeface="Consolas" panose="020B0609020204030204" pitchFamily="49" charset="0"/>
              </a:rPr>
              <a:t>两条隧道是否交叉，取决于两条隧道端点之间的顺序关系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434049B-C0E3-40A5-B02E-2E3149C055CF}"/>
              </a:ext>
            </a:extLst>
          </p:cNvPr>
          <p:cNvSpPr txBox="1"/>
          <p:nvPr/>
        </p:nvSpPr>
        <p:spPr>
          <a:xfrm>
            <a:off x="8076220" y="2946268"/>
            <a:ext cx="1908212" cy="43088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200">
                <a:solidFill>
                  <a:schemeClr val="bg1"/>
                </a:solidFill>
                <a:latin typeface="Consolas" panose="020B0609020204030204" pitchFamily="49" charset="0"/>
              </a:rPr>
              <a:t>二维偏序问题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E897793-2107-40E1-8D55-D43538FCD728}"/>
              </a:ext>
            </a:extLst>
          </p:cNvPr>
          <p:cNvSpPr txBox="1"/>
          <p:nvPr/>
        </p:nvSpPr>
        <p:spPr>
          <a:xfrm>
            <a:off x="8904312" y="114900"/>
            <a:ext cx="3204840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i="0">
                <a:solidFill>
                  <a:schemeClr val="accent2"/>
                </a:solidFill>
                <a:effectLst/>
                <a:latin typeface="verdana" panose="020B0604030504040204" pitchFamily="34" charset="0"/>
              </a:rPr>
              <a:t>全序</a:t>
            </a:r>
            <a:r>
              <a:rPr lang="zh-CN" altLang="en-US" b="1">
                <a:solidFill>
                  <a:schemeClr val="accent2"/>
                </a:solidFill>
                <a:latin typeface="verdana" panose="020B0604030504040204" pitchFamily="34" charset="0"/>
              </a:rPr>
              <a:t>：</a:t>
            </a:r>
            <a:r>
              <a:rPr lang="zh-CN" altLang="en-US">
                <a:solidFill>
                  <a:schemeClr val="accent2"/>
                </a:solidFill>
                <a:latin typeface="verdana" panose="020B0604030504040204" pitchFamily="34" charset="0"/>
              </a:rPr>
              <a:t>一个序列中，任意两个元素之间有明确的大小关系。</a:t>
            </a: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2F9926A-2479-4358-8056-3E4C9C740BAD}"/>
              </a:ext>
            </a:extLst>
          </p:cNvPr>
          <p:cNvSpPr txBox="1"/>
          <p:nvPr/>
        </p:nvSpPr>
        <p:spPr>
          <a:xfrm>
            <a:off x="8913973" y="792961"/>
            <a:ext cx="3204840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i="0">
                <a:solidFill>
                  <a:schemeClr val="accent2"/>
                </a:solidFill>
                <a:effectLst/>
                <a:latin typeface="verdana" panose="020B0604030504040204" pitchFamily="34" charset="0"/>
              </a:rPr>
              <a:t>偏序</a:t>
            </a:r>
            <a:r>
              <a:rPr lang="zh-CN" altLang="en-US" b="1">
                <a:solidFill>
                  <a:schemeClr val="accent2"/>
                </a:solidFill>
                <a:latin typeface="verdana" panose="020B0604030504040204" pitchFamily="34" charset="0"/>
              </a:rPr>
              <a:t>：</a:t>
            </a:r>
            <a:r>
              <a:rPr lang="zh-CN" altLang="en-US">
                <a:solidFill>
                  <a:schemeClr val="accent2"/>
                </a:solidFill>
                <a:latin typeface="verdana" panose="020B0604030504040204" pitchFamily="34" charset="0"/>
              </a:rPr>
              <a:t>一个序列中，只要部分元素之间有明确的大小关系。</a:t>
            </a: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1A42629-2EE1-4FC5-BF18-751AA0DAF796}"/>
              </a:ext>
            </a:extLst>
          </p:cNvPr>
          <p:cNvSpPr txBox="1"/>
          <p:nvPr/>
        </p:nvSpPr>
        <p:spPr>
          <a:xfrm>
            <a:off x="806091" y="3599938"/>
            <a:ext cx="3417701" cy="43088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200">
                <a:latin typeface="Consolas" panose="020B0609020204030204" pitchFamily="49" charset="0"/>
              </a:rPr>
              <a:t>涉及两个维度上需要比较。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6A8850E-6977-4022-9E39-942C8E42FF7B}"/>
              </a:ext>
            </a:extLst>
          </p:cNvPr>
          <p:cNvSpPr txBox="1"/>
          <p:nvPr/>
        </p:nvSpPr>
        <p:spPr>
          <a:xfrm>
            <a:off x="4215090" y="3630715"/>
            <a:ext cx="5184576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Consolas" panose="020B0609020204030204" pitchFamily="49" charset="0"/>
              </a:rPr>
              <a:t>直接处理二维点对之间的交叉关系比较复杂。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CEBB95F-FDB9-40F4-8F78-BFBFB805114E}"/>
              </a:ext>
            </a:extLst>
          </p:cNvPr>
          <p:cNvSpPr txBox="1"/>
          <p:nvPr/>
        </p:nvSpPr>
        <p:spPr>
          <a:xfrm>
            <a:off x="2063552" y="4631896"/>
            <a:ext cx="1872208" cy="52322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200">
                <a:solidFill>
                  <a:schemeClr val="bg1"/>
                </a:solidFill>
                <a:latin typeface="Consolas" panose="020B0609020204030204" pitchFamily="49" charset="0"/>
              </a:defRPr>
            </a:lvl1pPr>
          </a:lstStyle>
          <a:p>
            <a:r>
              <a:rPr lang="zh-CN" altLang="en-US" sz="2800" spc="300">
                <a:solidFill>
                  <a:schemeClr val="accent2"/>
                </a:solidFill>
              </a:rPr>
              <a:t>降维处理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E026000-3A30-4BBB-8497-B99A5C2F311E}"/>
              </a:ext>
            </a:extLst>
          </p:cNvPr>
          <p:cNvSpPr txBox="1"/>
          <p:nvPr/>
        </p:nvSpPr>
        <p:spPr>
          <a:xfrm>
            <a:off x="5951984" y="4094804"/>
            <a:ext cx="4896544" cy="1430456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3600">
                <a:latin typeface="Consolas" pitchFamily="49" charset="0"/>
                <a:cs typeface="Consolas" pitchFamily="49" charset="0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2000">
                <a:solidFill>
                  <a:srgbClr val="00B0F0"/>
                </a:solidFill>
                <a:latin typeface="+mn-ea"/>
              </a:rPr>
              <a:t>需要考虑</a:t>
            </a:r>
            <a:r>
              <a:rPr lang="zh-CN" altLang="en-US" sz="2000" b="1">
                <a:solidFill>
                  <a:srgbClr val="FF0000"/>
                </a:solidFill>
                <a:latin typeface="+mn-ea"/>
              </a:rPr>
              <a:t>所有</a:t>
            </a:r>
            <a:r>
              <a:rPr lang="zh-CN" altLang="en-US" sz="2000">
                <a:solidFill>
                  <a:srgbClr val="00B0F0"/>
                </a:solidFill>
                <a:latin typeface="+mn-ea"/>
              </a:rPr>
              <a:t>点对之间的两两关系</a:t>
            </a:r>
          </a:p>
          <a:p>
            <a:pPr algn="l">
              <a:lnSpc>
                <a:spcPct val="150000"/>
              </a:lnSpc>
            </a:pPr>
            <a:r>
              <a:rPr lang="zh-CN" altLang="en-US" sz="2000">
                <a:solidFill>
                  <a:srgbClr val="00B0F0"/>
                </a:solidFill>
                <a:latin typeface="+mn-ea"/>
              </a:rPr>
              <a:t>约束是</a:t>
            </a:r>
            <a:r>
              <a:rPr lang="zh-CN" altLang="en-US" sz="2000" b="1">
                <a:solidFill>
                  <a:srgbClr val="FF0000"/>
                </a:solidFill>
                <a:latin typeface="+mn-ea"/>
              </a:rPr>
              <a:t>全局</a:t>
            </a:r>
            <a:r>
              <a:rPr lang="zh-CN" altLang="en-US" sz="2000">
                <a:solidFill>
                  <a:srgbClr val="00B0F0"/>
                </a:solidFill>
                <a:latin typeface="+mn-ea"/>
              </a:rPr>
              <a:t>的，不能独立处理单个点</a:t>
            </a:r>
          </a:p>
          <a:p>
            <a:pPr algn="l">
              <a:lnSpc>
                <a:spcPct val="150000"/>
              </a:lnSpc>
            </a:pPr>
            <a:r>
              <a:rPr lang="zh-CN" altLang="en-US" sz="2000">
                <a:solidFill>
                  <a:srgbClr val="00B0F0"/>
                </a:solidFill>
                <a:latin typeface="+mn-ea"/>
              </a:rPr>
              <a:t>暴力搜索所有子集是</a:t>
            </a:r>
            <a:r>
              <a:rPr lang="zh-CN" altLang="en-US" sz="2000" b="1">
                <a:solidFill>
                  <a:srgbClr val="FF0000"/>
                </a:solidFill>
                <a:latin typeface="+mn-ea"/>
              </a:rPr>
              <a:t>指数复杂度</a:t>
            </a:r>
            <a:r>
              <a:rPr lang="zh-CN" altLang="en-US" sz="2000">
                <a:solidFill>
                  <a:srgbClr val="00B0F0"/>
                </a:solidFill>
                <a:latin typeface="+mn-ea"/>
              </a:rPr>
              <a:t>，不可行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F4AC189E-3493-4852-92F5-EEEB18840247}"/>
              </a:ext>
            </a:extLst>
          </p:cNvPr>
          <p:cNvSpPr/>
          <p:nvPr/>
        </p:nvSpPr>
        <p:spPr>
          <a:xfrm rot="10800000">
            <a:off x="4421664" y="4693451"/>
            <a:ext cx="1080120" cy="4001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24FE27A-95CE-4788-B7FB-F9F18F98BB7C}"/>
              </a:ext>
            </a:extLst>
          </p:cNvPr>
          <p:cNvSpPr txBox="1"/>
          <p:nvPr/>
        </p:nvSpPr>
        <p:spPr>
          <a:xfrm>
            <a:off x="803412" y="5986208"/>
            <a:ext cx="8964996" cy="430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200" b="1">
                <a:solidFill>
                  <a:schemeClr val="accent2"/>
                </a:solidFill>
                <a:latin typeface="verdana" panose="020B0604030504040204" pitchFamily="34" charset="0"/>
              </a:rPr>
              <a:t>核心思想：</a:t>
            </a:r>
            <a:r>
              <a:rPr lang="zh-CN" altLang="en-US" sz="2200" b="1">
                <a:solidFill>
                  <a:schemeClr val="tx2"/>
                </a:solidFill>
              </a:rPr>
              <a:t>固定一个维度的顺序，将另一个维度的约束转化为序列问题。</a:t>
            </a:r>
          </a:p>
        </p:txBody>
      </p:sp>
    </p:spTree>
    <p:extLst>
      <p:ext uri="{BB962C8B-B14F-4D97-AF65-F5344CB8AC3E}">
        <p14:creationId xmlns:p14="http://schemas.microsoft.com/office/powerpoint/2010/main" val="2424275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31" grpId="0" animBg="1"/>
      <p:bldP spid="33" grpId="0" animBg="1"/>
      <p:bldP spid="3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A600FE-FF3B-ED76-ED44-62D951E28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D6D64E-DAC3-411C-9D25-832E28F1DFD2}"/>
              </a:ext>
            </a:extLst>
          </p:cNvPr>
          <p:cNvSpPr/>
          <p:nvPr/>
        </p:nvSpPr>
        <p:spPr>
          <a:xfrm>
            <a:off x="3430774" y="581507"/>
            <a:ext cx="5330452" cy="646331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600">
                <a:latin typeface="Consolas" pitchFamily="49" charset="0"/>
                <a:cs typeface="Consolas" pitchFamily="49" charset="0"/>
              </a:rPr>
              <a:t>降维处理</a:t>
            </a:r>
            <a:endParaRPr lang="en-US" altLang="zh-CN" sz="36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9B1E68A-AF57-4A21-8141-2B986424B0E0}"/>
              </a:ext>
            </a:extLst>
          </p:cNvPr>
          <p:cNvSpPr txBox="1"/>
          <p:nvPr/>
        </p:nvSpPr>
        <p:spPr>
          <a:xfrm>
            <a:off x="803412" y="1383951"/>
            <a:ext cx="4356484" cy="54861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3600">
                <a:latin typeface="Consolas" pitchFamily="49" charset="0"/>
                <a:cs typeface="Consolas" pitchFamily="49" charset="0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2200">
                <a:latin typeface="+mn-ea"/>
              </a:rPr>
              <a:t>一条隧道有南北两个位置（</a:t>
            </a:r>
            <a:r>
              <a:rPr lang="en-US" altLang="zh-CN" sz="2200" dirty="0" err="1"/>
              <a:t>x,y</a:t>
            </a:r>
            <a:r>
              <a:rPr lang="zh-CN" altLang="en-US" sz="2200">
                <a:latin typeface="+mn-ea"/>
              </a:rPr>
              <a:t>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6174364-34BE-4FA8-887A-0487CF9AE430}"/>
              </a:ext>
            </a:extLst>
          </p:cNvPr>
          <p:cNvSpPr txBox="1"/>
          <p:nvPr/>
        </p:nvSpPr>
        <p:spPr>
          <a:xfrm>
            <a:off x="803412" y="2041924"/>
            <a:ext cx="3780420" cy="548612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3600">
                <a:latin typeface="Consolas" pitchFamily="49" charset="0"/>
                <a:cs typeface="Consolas" pitchFamily="49" charset="0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2200">
                <a:latin typeface="+mn-ea"/>
              </a:rPr>
              <a:t>所有隧道</a:t>
            </a:r>
            <a:r>
              <a:rPr lang="zh-CN" altLang="en-US" sz="2200">
                <a:solidFill>
                  <a:srgbClr val="0070C0"/>
                </a:solidFill>
                <a:latin typeface="+mn-ea"/>
              </a:rPr>
              <a:t>按照</a:t>
            </a:r>
            <a:r>
              <a:rPr lang="en-US" altLang="zh-CN" sz="2200" dirty="0">
                <a:solidFill>
                  <a:srgbClr val="0070C0"/>
                </a:solidFill>
                <a:latin typeface="+mn-ea"/>
              </a:rPr>
              <a:t>x</a:t>
            </a:r>
            <a:r>
              <a:rPr lang="zh-CN" altLang="en-US" sz="2200">
                <a:solidFill>
                  <a:srgbClr val="0070C0"/>
                </a:solidFill>
                <a:latin typeface="+mn-ea"/>
              </a:rPr>
              <a:t>序列升序</a:t>
            </a:r>
            <a:r>
              <a:rPr lang="zh-CN" altLang="en-US" sz="2200">
                <a:latin typeface="+mn-ea"/>
              </a:rPr>
              <a:t>排列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62F79F1-C944-4E3C-AB9A-4ED8F0144BFC}"/>
              </a:ext>
            </a:extLst>
          </p:cNvPr>
          <p:cNvSpPr txBox="1"/>
          <p:nvPr/>
        </p:nvSpPr>
        <p:spPr>
          <a:xfrm>
            <a:off x="1487488" y="2590536"/>
            <a:ext cx="6336704" cy="548612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3600">
                <a:latin typeface="Consolas" pitchFamily="49" charset="0"/>
                <a:cs typeface="Consolas" pitchFamily="49" charset="0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2200">
                <a:latin typeface="+mn-ea"/>
              </a:rPr>
              <a:t>二维的交叉约束转化为</a:t>
            </a:r>
            <a:r>
              <a:rPr lang="en-US" altLang="zh-CN" sz="2200" dirty="0">
                <a:solidFill>
                  <a:srgbClr val="0070C0"/>
                </a:solidFill>
                <a:latin typeface="+mn-ea"/>
              </a:rPr>
              <a:t>y</a:t>
            </a:r>
            <a:r>
              <a:rPr lang="zh-CN" altLang="en-US" sz="2200">
                <a:solidFill>
                  <a:srgbClr val="0070C0"/>
                </a:solidFill>
                <a:latin typeface="+mn-ea"/>
              </a:rPr>
              <a:t>序列的单调非递减约束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1C46D02-B837-45D9-8C57-BB26D17EDDDB}"/>
              </a:ext>
            </a:extLst>
          </p:cNvPr>
          <p:cNvSpPr txBox="1"/>
          <p:nvPr/>
        </p:nvSpPr>
        <p:spPr>
          <a:xfrm>
            <a:off x="9840416" y="4637884"/>
            <a:ext cx="1218364" cy="4609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>
                <a:solidFill>
                  <a:schemeClr val="accent2"/>
                </a:solidFill>
                <a:latin typeface="verdana" panose="020B0604030504040204" pitchFamily="34" charset="0"/>
              </a:defRPr>
            </a:lvl1pPr>
          </a:lstStyle>
          <a:p>
            <a:pPr algn="ctr"/>
            <a:r>
              <a:rPr lang="en-US" altLang="zh-CN" b="1" dirty="0"/>
              <a:t>LNDS</a:t>
            </a:r>
            <a:endParaRPr lang="zh-CN" altLang="en-US" b="1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BF4613F-B498-4FCE-A174-7E5729CA39BC}"/>
              </a:ext>
            </a:extLst>
          </p:cNvPr>
          <p:cNvSpPr txBox="1"/>
          <p:nvPr/>
        </p:nvSpPr>
        <p:spPr>
          <a:xfrm>
            <a:off x="8963848" y="3223674"/>
            <a:ext cx="3030965" cy="13381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2"/>
                </a:solidFill>
                <a:latin typeface="verdana" panose="020B0604030504040204" pitchFamily="34" charset="0"/>
              </a:rPr>
              <a:t>longest non-decreasing subsequence</a:t>
            </a:r>
          </a:p>
          <a:p>
            <a:pPr>
              <a:lnSpc>
                <a:spcPct val="150000"/>
              </a:lnSpc>
            </a:pPr>
            <a:r>
              <a:rPr lang="zh-CN" altLang="en-US" sz="2000" spc="30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最长不下降子序列</a:t>
            </a:r>
            <a:endParaRPr lang="zh-CN" altLang="en-US" sz="2000" spc="30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42289CA-1645-42CC-AA68-9364EF4EDCBE}"/>
              </a:ext>
            </a:extLst>
          </p:cNvPr>
          <p:cNvSpPr txBox="1"/>
          <p:nvPr/>
        </p:nvSpPr>
        <p:spPr>
          <a:xfrm>
            <a:off x="803413" y="4652921"/>
            <a:ext cx="8964996" cy="43088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zh-CN" altLang="en-US" sz="2200">
                <a:solidFill>
                  <a:schemeClr val="bg1"/>
                </a:solidFill>
                <a:latin typeface="+mn-ea"/>
              </a:rPr>
              <a:t>问题转化为：按照 </a:t>
            </a:r>
            <a:r>
              <a:rPr lang="en-US" altLang="zh-CN" sz="2200" dirty="0">
                <a:solidFill>
                  <a:schemeClr val="bg1"/>
                </a:solidFill>
                <a:latin typeface="+mn-ea"/>
              </a:rPr>
              <a:t>x </a:t>
            </a:r>
            <a:r>
              <a:rPr lang="zh-CN" altLang="en-US" sz="2200">
                <a:solidFill>
                  <a:schemeClr val="bg1"/>
                </a:solidFill>
                <a:latin typeface="+mn-ea"/>
              </a:rPr>
              <a:t>从小到大排序，求对应的</a:t>
            </a:r>
            <a:r>
              <a:rPr lang="en-US" altLang="zh-CN" sz="2200" dirty="0">
                <a:solidFill>
                  <a:schemeClr val="bg1"/>
                </a:solidFill>
                <a:latin typeface="+mn-ea"/>
              </a:rPr>
              <a:t>y</a:t>
            </a:r>
            <a:r>
              <a:rPr lang="zh-CN" altLang="en-US" sz="2200">
                <a:solidFill>
                  <a:schemeClr val="bg1"/>
                </a:solidFill>
                <a:latin typeface="+mn-ea"/>
              </a:rPr>
              <a:t>值的最长不下降子序列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3190218-3C84-48CD-9F56-A9DB1F0A7F67}"/>
              </a:ext>
            </a:extLst>
          </p:cNvPr>
          <p:cNvSpPr txBox="1"/>
          <p:nvPr/>
        </p:nvSpPr>
        <p:spPr>
          <a:xfrm>
            <a:off x="908833" y="3366234"/>
            <a:ext cx="5741220" cy="430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3600">
                <a:latin typeface="Consolas" pitchFamily="49" charset="0"/>
                <a:cs typeface="Consolas" pitchFamily="49" charset="0"/>
              </a:defRPr>
            </a:lvl1pPr>
          </a:lstStyle>
          <a:p>
            <a:pPr algn="l"/>
            <a:r>
              <a:rPr lang="zh-CN" altLang="en-US" sz="2200">
                <a:latin typeface="+mn-ea"/>
              </a:rPr>
              <a:t>当</a:t>
            </a:r>
            <a:r>
              <a:rPr lang="en-US" altLang="zh-CN" sz="2200" dirty="0">
                <a:latin typeface="+mn-ea"/>
              </a:rPr>
              <a:t>x</a:t>
            </a:r>
            <a:r>
              <a:rPr lang="zh-CN" altLang="en-US" sz="2200">
                <a:latin typeface="+mn-ea"/>
              </a:rPr>
              <a:t>升序排列后， 所有的</a:t>
            </a:r>
            <a:r>
              <a:rPr lang="en-US" altLang="zh-CN" sz="2200" dirty="0">
                <a:latin typeface="+mn-ea"/>
              </a:rPr>
              <a:t>xi</a:t>
            </a:r>
            <a:r>
              <a:rPr lang="zh-CN" altLang="en-US" sz="2200">
                <a:latin typeface="+mn-ea"/>
              </a:rPr>
              <a:t>的大小关系已确定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14A2863-25DF-4BBE-8D05-08E351CEA033}"/>
              </a:ext>
            </a:extLst>
          </p:cNvPr>
          <p:cNvSpPr txBox="1"/>
          <p:nvPr/>
        </p:nvSpPr>
        <p:spPr>
          <a:xfrm>
            <a:off x="6650053" y="3382208"/>
            <a:ext cx="1872208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3600"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altLang="zh-CN" sz="2400" dirty="0">
                <a:solidFill>
                  <a:srgbClr val="FF0000"/>
                </a:solidFill>
              </a:rPr>
              <a:t>x</a:t>
            </a:r>
            <a:r>
              <a:rPr lang="en-US" altLang="zh-CN" sz="2400" baseline="-25000" dirty="0">
                <a:solidFill>
                  <a:srgbClr val="FF0000"/>
                </a:solidFill>
              </a:rPr>
              <a:t>i </a:t>
            </a:r>
            <a:r>
              <a:rPr lang="en-US" altLang="zh-CN" sz="2400" dirty="0">
                <a:solidFill>
                  <a:srgbClr val="FF0000"/>
                </a:solidFill>
              </a:rPr>
              <a:t>&lt; x</a:t>
            </a:r>
            <a:r>
              <a:rPr lang="en-US" altLang="zh-CN" sz="2400" baseline="-25000" dirty="0">
                <a:solidFill>
                  <a:srgbClr val="FF0000"/>
                </a:solidFill>
              </a:rPr>
              <a:t>i+1</a:t>
            </a:r>
            <a:endParaRPr lang="zh-CN" altLang="en-US" sz="2400" baseline="-25000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DD3FCB7-A830-4185-865D-5AA99DABC417}"/>
              </a:ext>
            </a:extLst>
          </p:cNvPr>
          <p:cNvSpPr txBox="1"/>
          <p:nvPr/>
        </p:nvSpPr>
        <p:spPr>
          <a:xfrm>
            <a:off x="2693622" y="3868062"/>
            <a:ext cx="3778460" cy="430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3600">
                <a:latin typeface="Consolas" pitchFamily="49" charset="0"/>
                <a:cs typeface="Consolas" pitchFamily="49" charset="0"/>
              </a:defRPr>
            </a:lvl1pPr>
          </a:lstStyle>
          <a:p>
            <a:pPr algn="r"/>
            <a:r>
              <a:rPr lang="zh-CN" altLang="en-US" sz="2200">
                <a:latin typeface="+mn-ea"/>
              </a:rPr>
              <a:t>则</a:t>
            </a:r>
            <a:r>
              <a:rPr lang="en-US" altLang="zh-CN" sz="2200" dirty="0">
                <a:latin typeface="+mn-ea"/>
              </a:rPr>
              <a:t>x</a:t>
            </a:r>
            <a:r>
              <a:rPr lang="zh-CN" altLang="en-US" sz="2200">
                <a:latin typeface="+mn-ea"/>
              </a:rPr>
              <a:t>对应的</a:t>
            </a:r>
            <a:r>
              <a:rPr lang="en-US" altLang="zh-CN" sz="2200" dirty="0">
                <a:latin typeface="+mn-ea"/>
              </a:rPr>
              <a:t>y</a:t>
            </a:r>
            <a:r>
              <a:rPr lang="zh-CN" altLang="en-US" sz="2200">
                <a:latin typeface="+mn-ea"/>
              </a:rPr>
              <a:t>值，应该满足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2CCB8AB-44D3-4319-AC90-8F86C068EE35}"/>
              </a:ext>
            </a:extLst>
          </p:cNvPr>
          <p:cNvSpPr txBox="1"/>
          <p:nvPr/>
        </p:nvSpPr>
        <p:spPr>
          <a:xfrm>
            <a:off x="6653893" y="3892736"/>
            <a:ext cx="1872208" cy="3815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3600"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altLang="zh-CN" sz="2400" dirty="0">
                <a:solidFill>
                  <a:srgbClr val="FF0000"/>
                </a:solidFill>
              </a:rPr>
              <a:t>y</a:t>
            </a:r>
            <a:r>
              <a:rPr lang="en-US" altLang="zh-CN" sz="2400" baseline="-25000" dirty="0">
                <a:solidFill>
                  <a:srgbClr val="FF0000"/>
                </a:solidFill>
              </a:rPr>
              <a:t>i </a:t>
            </a:r>
            <a:r>
              <a:rPr lang="en-US" altLang="zh-CN" sz="2400" dirty="0">
                <a:solidFill>
                  <a:srgbClr val="FF0000"/>
                </a:solidFill>
              </a:rPr>
              <a:t>&gt;= y</a:t>
            </a:r>
            <a:r>
              <a:rPr lang="en-US" altLang="zh-CN" sz="2400" baseline="-25000" dirty="0">
                <a:solidFill>
                  <a:srgbClr val="FF0000"/>
                </a:solidFill>
              </a:rPr>
              <a:t>i+1</a:t>
            </a:r>
            <a:endParaRPr lang="zh-CN" altLang="en-US" sz="2400" baseline="-25000">
              <a:solidFill>
                <a:srgbClr val="FF0000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EB8B879-37EF-48E8-BB39-01E490EAF7F8}"/>
              </a:ext>
            </a:extLst>
          </p:cNvPr>
          <p:cNvSpPr txBox="1"/>
          <p:nvPr/>
        </p:nvSpPr>
        <p:spPr>
          <a:xfrm>
            <a:off x="2363071" y="5234298"/>
            <a:ext cx="29523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x</a:t>
            </a:r>
            <a:r>
              <a:rPr lang="zh-CN" altLang="en-US" sz="2000">
                <a:solidFill>
                  <a:srgbClr val="FF0000"/>
                </a:solidFill>
                <a:latin typeface="+mn-ea"/>
              </a:rPr>
              <a:t>相同时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, y</a:t>
            </a:r>
            <a:r>
              <a:rPr lang="zh-CN" altLang="en-US" sz="2000">
                <a:solidFill>
                  <a:srgbClr val="FF0000"/>
                </a:solidFill>
                <a:latin typeface="+mn-ea"/>
              </a:rPr>
              <a:t>从小到大排序</a:t>
            </a:r>
          </a:p>
        </p:txBody>
      </p:sp>
    </p:spTree>
    <p:extLst>
      <p:ext uri="{BB962C8B-B14F-4D97-AF65-F5344CB8AC3E}">
        <p14:creationId xmlns:p14="http://schemas.microsoft.com/office/powerpoint/2010/main" val="2288818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20" grpId="0" animBg="1"/>
      <p:bldP spid="23" grpId="0" animBg="1"/>
      <p:bldP spid="28" grpId="0" animBg="1"/>
      <p:bldP spid="29" grpId="0" animBg="1"/>
      <p:bldP spid="30" grpId="0" animBg="1"/>
      <p:bldP spid="32" grpId="0" animBg="1"/>
      <p:bldP spid="3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44624"/>
            <a:ext cx="8229600" cy="1143000"/>
          </a:xfrm>
        </p:spPr>
        <p:txBody>
          <a:bodyPr/>
          <a:lstStyle/>
          <a:p>
            <a:r>
              <a:rPr lang="zh-CN" altLang="en-US" dirty="0"/>
              <a:t>排序降维</a:t>
            </a:r>
            <a:r>
              <a:rPr lang="en-US" altLang="zh-CN" dirty="0"/>
              <a:t>+LNDS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181253" y="1268760"/>
            <a:ext cx="6124963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以某维度主导排序，达到降维效果</a:t>
            </a:r>
          </a:p>
        </p:txBody>
      </p:sp>
      <p:sp>
        <p:nvSpPr>
          <p:cNvPr id="6" name="矩形 5"/>
          <p:cNvSpPr/>
          <p:nvPr/>
        </p:nvSpPr>
        <p:spPr>
          <a:xfrm>
            <a:off x="2065843" y="5339596"/>
            <a:ext cx="648072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600" dirty="0"/>
              <a:t>1</a:t>
            </a:r>
            <a:endParaRPr lang="zh-CN" altLang="en-US" sz="1600" dirty="0"/>
          </a:p>
        </p:txBody>
      </p:sp>
      <p:sp>
        <p:nvSpPr>
          <p:cNvPr id="9" name="矩形 8"/>
          <p:cNvSpPr/>
          <p:nvPr/>
        </p:nvSpPr>
        <p:spPr>
          <a:xfrm>
            <a:off x="2093709" y="2659150"/>
            <a:ext cx="648072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600" dirty="0"/>
              <a:t>5</a:t>
            </a:r>
            <a:endParaRPr lang="zh-CN" altLang="en-US" sz="1600" dirty="0"/>
          </a:p>
        </p:txBody>
      </p:sp>
      <p:sp>
        <p:nvSpPr>
          <p:cNvPr id="10" name="矩形 9"/>
          <p:cNvSpPr/>
          <p:nvPr/>
        </p:nvSpPr>
        <p:spPr>
          <a:xfrm>
            <a:off x="2065843" y="3295467"/>
            <a:ext cx="648072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600" dirty="0"/>
              <a:t>4</a:t>
            </a:r>
            <a:endParaRPr lang="zh-CN" altLang="en-US" sz="1600" dirty="0"/>
          </a:p>
        </p:txBody>
      </p:sp>
      <p:sp>
        <p:nvSpPr>
          <p:cNvPr id="11" name="矩形 10"/>
          <p:cNvSpPr/>
          <p:nvPr/>
        </p:nvSpPr>
        <p:spPr>
          <a:xfrm>
            <a:off x="2065843" y="3997348"/>
            <a:ext cx="648072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600" dirty="0"/>
              <a:t>3</a:t>
            </a:r>
            <a:endParaRPr lang="zh-CN" altLang="en-US" sz="1600" dirty="0"/>
          </a:p>
        </p:txBody>
      </p:sp>
      <p:sp>
        <p:nvSpPr>
          <p:cNvPr id="12" name="矩形 11"/>
          <p:cNvSpPr/>
          <p:nvPr/>
        </p:nvSpPr>
        <p:spPr>
          <a:xfrm>
            <a:off x="2065843" y="4685105"/>
            <a:ext cx="648072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600" dirty="0"/>
              <a:t>2</a:t>
            </a:r>
            <a:endParaRPr lang="zh-CN" altLang="en-US" sz="1600" dirty="0"/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2569899" y="2458924"/>
            <a:ext cx="0" cy="4104456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2137851" y="6253892"/>
            <a:ext cx="5184576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4048732" y="6253892"/>
            <a:ext cx="144016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/>
          <p:cNvSpPr>
            <a:spLocks noChangeAspect="1"/>
          </p:cNvSpPr>
          <p:nvPr/>
        </p:nvSpPr>
        <p:spPr>
          <a:xfrm>
            <a:off x="3181252" y="4685105"/>
            <a:ext cx="341300" cy="33855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椭圆 26"/>
          <p:cNvSpPr>
            <a:spLocks noChangeAspect="1"/>
          </p:cNvSpPr>
          <p:nvPr/>
        </p:nvSpPr>
        <p:spPr>
          <a:xfrm>
            <a:off x="4788902" y="3265727"/>
            <a:ext cx="341300" cy="33855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2065843" y="5981249"/>
            <a:ext cx="64807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600" dirty="0"/>
              <a:t>0</a:t>
            </a:r>
            <a:endParaRPr lang="zh-CN" altLang="en-US" sz="1600" dirty="0"/>
          </a:p>
        </p:txBody>
      </p:sp>
      <p:sp>
        <p:nvSpPr>
          <p:cNvPr id="29" name="矩形 28"/>
          <p:cNvSpPr/>
          <p:nvPr/>
        </p:nvSpPr>
        <p:spPr>
          <a:xfrm>
            <a:off x="6601044" y="6228602"/>
            <a:ext cx="648072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600" dirty="0"/>
              <a:t>浦西编号</a:t>
            </a:r>
          </a:p>
        </p:txBody>
      </p:sp>
      <p:sp>
        <p:nvSpPr>
          <p:cNvPr id="30" name="矩形 29"/>
          <p:cNvSpPr/>
          <p:nvPr/>
        </p:nvSpPr>
        <p:spPr>
          <a:xfrm>
            <a:off x="1992532" y="2098974"/>
            <a:ext cx="648072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600" dirty="0"/>
              <a:t>浦东编号</a:t>
            </a:r>
          </a:p>
        </p:txBody>
      </p:sp>
      <p:sp>
        <p:nvSpPr>
          <p:cNvPr id="31" name="椭圆 30"/>
          <p:cNvSpPr>
            <a:spLocks noChangeAspect="1"/>
          </p:cNvSpPr>
          <p:nvPr/>
        </p:nvSpPr>
        <p:spPr>
          <a:xfrm>
            <a:off x="3992100" y="5397041"/>
            <a:ext cx="341300" cy="338554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>
            <a:spLocks noChangeAspect="1"/>
          </p:cNvSpPr>
          <p:nvPr/>
        </p:nvSpPr>
        <p:spPr>
          <a:xfrm>
            <a:off x="5567601" y="3980138"/>
            <a:ext cx="341300" cy="33855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6243733" y="2062153"/>
            <a:ext cx="421463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+mn-ea"/>
              </a:rPr>
              <a:t>横坐标越小，排序越靠前</a:t>
            </a:r>
          </a:p>
        </p:txBody>
      </p:sp>
      <p:sp>
        <p:nvSpPr>
          <p:cNvPr id="39" name="矩形 38"/>
          <p:cNvSpPr/>
          <p:nvPr/>
        </p:nvSpPr>
        <p:spPr>
          <a:xfrm>
            <a:off x="6243733" y="2585373"/>
            <a:ext cx="421463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+mn-ea"/>
              </a:rPr>
              <a:t>横坐标相同时，怎么办</a:t>
            </a:r>
            <a:r>
              <a:rPr lang="en-US" altLang="zh-CN" sz="2400" dirty="0">
                <a:latin typeface="+mn-ea"/>
              </a:rPr>
              <a:t>?</a:t>
            </a:r>
            <a:endParaRPr lang="zh-CN" altLang="en-US" sz="2400" dirty="0">
              <a:latin typeface="+mn-ea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7896200" y="4365105"/>
            <a:ext cx="2562163" cy="1200329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+mn-ea"/>
              </a:rPr>
              <a:t>对排序后的</a:t>
            </a:r>
            <a:endParaRPr lang="en-US" altLang="zh-CN" sz="2400" dirty="0">
              <a:latin typeface="+mn-ea"/>
            </a:endParaRPr>
          </a:p>
          <a:p>
            <a:pPr algn="ctr"/>
            <a:r>
              <a:rPr lang="zh-CN" altLang="en-US" sz="2400" dirty="0">
                <a:latin typeface="+mn-ea"/>
              </a:rPr>
              <a:t>点的纵坐标</a:t>
            </a:r>
            <a:endParaRPr lang="en-US" altLang="zh-CN" sz="2400" dirty="0">
              <a:latin typeface="+mn-ea"/>
            </a:endParaRPr>
          </a:p>
          <a:p>
            <a:pPr algn="ctr"/>
            <a:r>
              <a:rPr lang="zh-CN" altLang="en-US" sz="2400" dirty="0">
                <a:latin typeface="+mn-ea"/>
              </a:rPr>
              <a:t>求解</a:t>
            </a:r>
            <a:r>
              <a:rPr lang="en-US" altLang="zh-CN" sz="2400" dirty="0">
                <a:latin typeface="+mn-ea"/>
              </a:rPr>
              <a:t>LNDS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4" name="椭圆 23"/>
          <p:cNvSpPr>
            <a:spLocks noChangeAspect="1"/>
          </p:cNvSpPr>
          <p:nvPr/>
        </p:nvSpPr>
        <p:spPr>
          <a:xfrm>
            <a:off x="5576276" y="5414251"/>
            <a:ext cx="323950" cy="321344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>
            <a:spLocks noChangeAspect="1"/>
          </p:cNvSpPr>
          <p:nvPr/>
        </p:nvSpPr>
        <p:spPr>
          <a:xfrm>
            <a:off x="5447928" y="5411912"/>
            <a:ext cx="323950" cy="321344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箭头连接符 33"/>
          <p:cNvCxnSpPr/>
          <p:nvPr/>
        </p:nvCxnSpPr>
        <p:spPr>
          <a:xfrm>
            <a:off x="5735960" y="3435004"/>
            <a:ext cx="0" cy="2946324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6243732" y="3110801"/>
            <a:ext cx="4214630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+mn-ea"/>
              </a:rPr>
              <a:t>纵坐标小的靠前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1F6A8B2-7031-47E6-B406-CF96942DE212}"/>
              </a:ext>
            </a:extLst>
          </p:cNvPr>
          <p:cNvSpPr/>
          <p:nvPr/>
        </p:nvSpPr>
        <p:spPr>
          <a:xfrm>
            <a:off x="32724" y="25301"/>
            <a:ext cx="3178696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/>
              <a:t>longest non-decreasing subsequence</a:t>
            </a:r>
          </a:p>
          <a:p>
            <a:pPr algn="ctr"/>
            <a:r>
              <a:rPr lang="zh-CN" altLang="en-US" sz="2000" b="0" i="0">
                <a:effectLst/>
                <a:latin typeface="-apple-system"/>
              </a:rPr>
              <a:t>最长不下降子序列</a:t>
            </a:r>
            <a:endParaRPr lang="zh-CN" altLang="en-US" sz="20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39B389-F31B-10E1-34BB-E6999635C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87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animBg="1"/>
      <p:bldP spid="40" grpId="0" animBg="1"/>
      <p:bldP spid="24" grpId="0" animBg="1"/>
      <p:bldP spid="25" grpId="0" animBg="1"/>
      <p:bldP spid="3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6852F830-DF16-4EE0-B54F-672F6401E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990" y="1224072"/>
            <a:ext cx="9786019" cy="254791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44624"/>
            <a:ext cx="8229600" cy="1143000"/>
          </a:xfrm>
        </p:spPr>
        <p:txBody>
          <a:bodyPr/>
          <a:lstStyle/>
          <a:p>
            <a:r>
              <a:rPr lang="zh-CN" altLang="en-US"/>
              <a:t>自定义</a:t>
            </a:r>
            <a:r>
              <a:rPr lang="en-US" altLang="zh-CN" dirty="0"/>
              <a:t>+</a:t>
            </a:r>
            <a:r>
              <a:rPr lang="zh-CN" altLang="en-US"/>
              <a:t>排序</a:t>
            </a:r>
            <a:endParaRPr lang="zh-CN" altLang="en-US" dirty="0"/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82F9734D-0AC4-4C38-8096-055BAA607706}"/>
              </a:ext>
            </a:extLst>
          </p:cNvPr>
          <p:cNvSpPr txBox="1"/>
          <p:nvPr/>
        </p:nvSpPr>
        <p:spPr>
          <a:xfrm>
            <a:off x="2195823" y="3280392"/>
            <a:ext cx="4176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 dirty="0"/>
              <a:t>优先</a:t>
            </a:r>
            <a:r>
              <a:rPr lang="zh-CN" altLang="en-US"/>
              <a:t>比较横坐标</a:t>
            </a:r>
            <a:r>
              <a:rPr lang="en-US" altLang="zh-CN" dirty="0"/>
              <a:t>x</a:t>
            </a:r>
            <a:r>
              <a:rPr lang="zh-CN" altLang="en-US" dirty="0"/>
              <a:t>越小越靠前</a:t>
            </a: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767F4573-409B-495D-B278-61E9FF4F3AFE}"/>
              </a:ext>
            </a:extLst>
          </p:cNvPr>
          <p:cNvSpPr txBox="1"/>
          <p:nvPr/>
        </p:nvSpPr>
        <p:spPr>
          <a:xfrm>
            <a:off x="5807968" y="3290634"/>
            <a:ext cx="4248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 dirty="0"/>
              <a:t>若</a:t>
            </a:r>
            <a:r>
              <a:rPr lang="zh-CN" altLang="en-US"/>
              <a:t>横坐标相同，比较纵坐标</a:t>
            </a:r>
            <a:r>
              <a:rPr lang="en-US" altLang="zh-CN" dirty="0"/>
              <a:t>y</a:t>
            </a:r>
            <a:r>
              <a:rPr lang="zh-CN" altLang="en-US" dirty="0"/>
              <a:t>越小越靠前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04BCE25-830B-3CA2-8D04-03EED8616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66</a:t>
            </a:fld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49BD48D-2B91-4CC6-97A9-75D8C82876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94"/>
          <a:stretch/>
        </p:blipFill>
        <p:spPr>
          <a:xfrm>
            <a:off x="1202990" y="4141607"/>
            <a:ext cx="6350772" cy="180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5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6CDDF5-BBC3-4CC6-90B5-2E463F764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01FFA68-DC68-4510-B236-546AA0169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4624"/>
            <a:ext cx="8229600" cy="1143000"/>
          </a:xfrm>
        </p:spPr>
        <p:txBody>
          <a:bodyPr/>
          <a:lstStyle/>
          <a:p>
            <a:r>
              <a:rPr lang="en-US" altLang="zh-CN" dirty="0"/>
              <a:t>LNDS </a:t>
            </a:r>
            <a:r>
              <a:rPr lang="zh-CN" altLang="en-US"/>
              <a:t>解法</a:t>
            </a:r>
            <a:r>
              <a:rPr lang="en-US" altLang="zh-CN" dirty="0"/>
              <a:t>1 </a:t>
            </a:r>
            <a:r>
              <a:rPr lang="en-US" altLang="zh-CN" b="1" dirty="0"/>
              <a:t>DP</a:t>
            </a:r>
            <a:endParaRPr lang="zh-CN" altLang="en-US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81D3885-A6A6-4D80-AA93-8A6C5A78B5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936" b="1"/>
          <a:stretch/>
        </p:blipFill>
        <p:spPr>
          <a:xfrm>
            <a:off x="898908" y="1106032"/>
            <a:ext cx="8201497" cy="43095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3099D16-FC38-43B3-AB38-477D64C63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46" y="1836048"/>
            <a:ext cx="8721219" cy="4702866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663E9D09-3203-4C7E-B378-4B211D36EA32}"/>
              </a:ext>
            </a:extLst>
          </p:cNvPr>
          <p:cNvSpPr txBox="1"/>
          <p:nvPr/>
        </p:nvSpPr>
        <p:spPr>
          <a:xfrm>
            <a:off x="9467708" y="3789040"/>
            <a:ext cx="2376264" cy="52322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 sz="2800"/>
              <a:t>时间复杂度？</a:t>
            </a:r>
            <a:endParaRPr lang="zh-CN" altLang="en-US" sz="2800" dirty="0"/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26C1E932-09FC-466A-B913-9DCB702EE6CA}"/>
              </a:ext>
            </a:extLst>
          </p:cNvPr>
          <p:cNvSpPr txBox="1"/>
          <p:nvPr/>
        </p:nvSpPr>
        <p:spPr>
          <a:xfrm>
            <a:off x="10536520" y="4437112"/>
            <a:ext cx="1272128" cy="52322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en-US" altLang="zh-CN" sz="2800" dirty="0">
                <a:solidFill>
                  <a:srgbClr val="FF0000"/>
                </a:solidFill>
              </a:rPr>
              <a:t>O(m</a:t>
            </a:r>
            <a:r>
              <a:rPr lang="en-US" altLang="zh-CN" sz="2800" baseline="30000" dirty="0">
                <a:solidFill>
                  <a:srgbClr val="FF0000"/>
                </a:solidFill>
              </a:rPr>
              <a:t>2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1F9DA48-C151-4AC9-B125-5BF81511A4BF}"/>
              </a:ext>
            </a:extLst>
          </p:cNvPr>
          <p:cNvSpPr txBox="1"/>
          <p:nvPr/>
        </p:nvSpPr>
        <p:spPr>
          <a:xfrm>
            <a:off x="9766889" y="5103473"/>
            <a:ext cx="2376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kern="10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cs typeface="Calibri" panose="020F0502020204030204" pitchFamily="34" charset="0"/>
              </a:rPr>
              <a:t>m&lt;=200000</a:t>
            </a:r>
            <a:endParaRPr lang="zh-CN" altLang="en-US" sz="24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306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3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6CDDF5-BBC3-4CC6-90B5-2E463F764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01FFA68-DC68-4510-B236-546AA0169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4624"/>
            <a:ext cx="8229600" cy="1143000"/>
          </a:xfrm>
        </p:spPr>
        <p:txBody>
          <a:bodyPr/>
          <a:lstStyle/>
          <a:p>
            <a:r>
              <a:rPr lang="en-US" altLang="zh-CN" dirty="0"/>
              <a:t>LNDS </a:t>
            </a:r>
            <a:r>
              <a:rPr lang="zh-CN" altLang="en-US"/>
              <a:t>解法</a:t>
            </a:r>
            <a:r>
              <a:rPr lang="en-US" altLang="zh-CN" dirty="0"/>
              <a:t>2  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2181220-359E-463E-B217-6A249E220AC1}"/>
              </a:ext>
            </a:extLst>
          </p:cNvPr>
          <p:cNvSpPr txBox="1"/>
          <p:nvPr/>
        </p:nvSpPr>
        <p:spPr>
          <a:xfrm>
            <a:off x="769894" y="2613299"/>
            <a:ext cx="4317994" cy="461665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i="1">
                <a:solidFill>
                  <a:schemeClr val="bg1"/>
                </a:solidFill>
                <a:effectLst/>
                <a:latin typeface="+mn-ea"/>
              </a:rPr>
              <a:t>求</a:t>
            </a:r>
            <a:r>
              <a:rPr lang="en-US" altLang="zh-CN" sz="2400" i="1" dirty="0">
                <a:solidFill>
                  <a:schemeClr val="bg1"/>
                </a:solidFill>
                <a:effectLst/>
                <a:latin typeface="+mn-ea"/>
              </a:rPr>
              <a:t>y</a:t>
            </a:r>
            <a:r>
              <a:rPr lang="zh-CN" altLang="en-US" sz="2400" i="1">
                <a:solidFill>
                  <a:schemeClr val="bg1"/>
                </a:solidFill>
                <a:effectLst/>
                <a:latin typeface="+mn-ea"/>
              </a:rPr>
              <a:t>序列的最长</a:t>
            </a:r>
            <a:r>
              <a:rPr lang="zh-CN" altLang="en-US" sz="2400" b="1" i="1">
                <a:solidFill>
                  <a:schemeClr val="accent2"/>
                </a:solidFill>
                <a:effectLst/>
                <a:latin typeface="+mn-ea"/>
              </a:rPr>
              <a:t>不降子序列</a:t>
            </a:r>
            <a:r>
              <a:rPr lang="zh-CN" altLang="en-US" sz="2400" b="1" i="1">
                <a:solidFill>
                  <a:srgbClr val="00B050"/>
                </a:solidFill>
                <a:latin typeface="+mn-ea"/>
              </a:rPr>
              <a:t>长度</a:t>
            </a:r>
            <a:endParaRPr lang="zh-CN" altLang="en-US" sz="2400" b="1">
              <a:solidFill>
                <a:srgbClr val="00B050"/>
              </a:solidFill>
              <a:effectLst/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070629E-33A1-4AAC-994C-FEE86A3196B0}"/>
              </a:ext>
            </a:extLst>
          </p:cNvPr>
          <p:cNvSpPr txBox="1"/>
          <p:nvPr/>
        </p:nvSpPr>
        <p:spPr>
          <a:xfrm>
            <a:off x="6098486" y="2613299"/>
            <a:ext cx="5040560" cy="461665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i="1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r>
              <a:rPr lang="zh-CN" altLang="en-US"/>
              <a:t>求</a:t>
            </a:r>
            <a:r>
              <a:rPr lang="en-US" altLang="zh-CN" dirty="0"/>
              <a:t>y</a:t>
            </a:r>
            <a:r>
              <a:rPr lang="zh-CN" altLang="en-US"/>
              <a:t>序列的的</a:t>
            </a:r>
            <a:r>
              <a:rPr lang="zh-CN" altLang="en-US" b="1">
                <a:solidFill>
                  <a:schemeClr val="accent2"/>
                </a:solidFill>
              </a:rPr>
              <a:t>下降子序列</a:t>
            </a:r>
            <a:r>
              <a:rPr lang="zh-CN" altLang="en-US"/>
              <a:t>最小</a:t>
            </a:r>
            <a:r>
              <a:rPr lang="zh-CN" altLang="en-US">
                <a:solidFill>
                  <a:srgbClr val="00B050"/>
                </a:solidFill>
              </a:rPr>
              <a:t>划分数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0D2B7C1-31DE-4015-AD42-FCE444FC1282}"/>
              </a:ext>
            </a:extLst>
          </p:cNvPr>
          <p:cNvSpPr txBox="1"/>
          <p:nvPr/>
        </p:nvSpPr>
        <p:spPr>
          <a:xfrm>
            <a:off x="4718020" y="2520965"/>
            <a:ext cx="14647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i="1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&lt;=&gt;</a:t>
            </a:r>
            <a:endParaRPr lang="zh-CN" altLang="en-US" sz="3600">
              <a:solidFill>
                <a:schemeClr val="accent2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FCE0034-60DD-4640-B64F-477D6271268C}"/>
              </a:ext>
            </a:extLst>
          </p:cNvPr>
          <p:cNvSpPr txBox="1"/>
          <p:nvPr/>
        </p:nvSpPr>
        <p:spPr>
          <a:xfrm>
            <a:off x="2426078" y="3568418"/>
            <a:ext cx="1800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1">
                <a:solidFill>
                  <a:schemeClr val="accent2"/>
                </a:solidFill>
                <a:effectLst/>
                <a:latin typeface="+mn-ea"/>
              </a:rPr>
              <a:t>不降子序列</a:t>
            </a:r>
            <a:endParaRPr lang="zh-CN" altLang="en-US" sz="240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3A51DE2-63DE-48BC-84E7-7E8594913B49}"/>
              </a:ext>
            </a:extLst>
          </p:cNvPr>
          <p:cNvSpPr txBox="1"/>
          <p:nvPr/>
        </p:nvSpPr>
        <p:spPr>
          <a:xfrm>
            <a:off x="6805362" y="3568418"/>
            <a:ext cx="1800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1">
                <a:solidFill>
                  <a:schemeClr val="accent2"/>
                </a:solidFill>
                <a:latin typeface="+mn-ea"/>
              </a:rPr>
              <a:t>下</a:t>
            </a:r>
            <a:r>
              <a:rPr lang="zh-CN" altLang="en-US" sz="2400" b="1" i="1">
                <a:solidFill>
                  <a:schemeClr val="accent2"/>
                </a:solidFill>
                <a:effectLst/>
                <a:latin typeface="+mn-ea"/>
              </a:rPr>
              <a:t>降子序列</a:t>
            </a:r>
            <a:endParaRPr lang="zh-CN" altLang="en-US" sz="24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14CFD24-729C-4F3A-84CF-06BC8009E714}"/>
              </a:ext>
            </a:extLst>
          </p:cNvPr>
          <p:cNvSpPr txBox="1"/>
          <p:nvPr/>
        </p:nvSpPr>
        <p:spPr>
          <a:xfrm>
            <a:off x="4258479" y="3537640"/>
            <a:ext cx="26282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i="1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zh-CN" altLang="en-US" sz="2800" i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反链</a:t>
            </a:r>
            <a:r>
              <a:rPr lang="en-US" altLang="zh-CN" sz="2800" i="1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&gt;&gt;</a:t>
            </a:r>
            <a:endParaRPr lang="zh-CN" altLang="en-US" sz="280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BBEC7AC-8A1D-4247-A72D-B9BC4A4D080C}"/>
              </a:ext>
            </a:extLst>
          </p:cNvPr>
          <p:cNvSpPr txBox="1"/>
          <p:nvPr/>
        </p:nvSpPr>
        <p:spPr>
          <a:xfrm>
            <a:off x="4223792" y="1628800"/>
            <a:ext cx="26282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i="1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Dilworth</a:t>
            </a:r>
            <a:r>
              <a:rPr lang="zh-CN" altLang="en-US" sz="2800" i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定理</a:t>
            </a:r>
            <a:endParaRPr lang="zh-CN" altLang="en-US" sz="280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064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44624"/>
            <a:ext cx="8229600" cy="1143000"/>
          </a:xfrm>
        </p:spPr>
        <p:txBody>
          <a:bodyPr/>
          <a:lstStyle/>
          <a:p>
            <a:r>
              <a:rPr lang="en-US" altLang="zh-CN" dirty="0"/>
              <a:t>LNDS2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2495601" y="1268760"/>
            <a:ext cx="7496266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/>
              <a:t>y[]</a:t>
            </a:r>
            <a:r>
              <a:rPr lang="zh-CN" altLang="en-US" sz="2800" dirty="0"/>
              <a:t>最长不降子序列 </a:t>
            </a:r>
            <a:r>
              <a:rPr lang="en-US" altLang="zh-CN" sz="2800" dirty="0"/>
              <a:t>= y[]</a:t>
            </a:r>
            <a:r>
              <a:rPr lang="zh-CN" altLang="en-US" sz="2800" dirty="0"/>
              <a:t>下降子序列最小划分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0336" y="-14514"/>
            <a:ext cx="1547664" cy="46166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O(mlogm)</a:t>
            </a:r>
            <a:endParaRPr lang="zh-CN" altLang="zh-CN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200FEB9-729E-9211-37BB-C76AE952D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639828-E432-405B-B112-3DD1427DA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69" y="3808147"/>
            <a:ext cx="9007701" cy="276315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DB2AA13-4EF8-4081-83D7-6BF5C6776DD6}"/>
              </a:ext>
            </a:extLst>
          </p:cNvPr>
          <p:cNvSpPr txBox="1"/>
          <p:nvPr/>
        </p:nvSpPr>
        <p:spPr>
          <a:xfrm>
            <a:off x="1127448" y="2095747"/>
            <a:ext cx="10513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800" dirty="0">
                <a:solidFill>
                  <a:srgbClr val="BABABA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2800" dirty="0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zh-CN" sz="2800" b="1" dirty="0">
                <a:solidFill>
                  <a:srgbClr val="C1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2800" dirty="0">
                <a:solidFill>
                  <a:srgbClr val="400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2800" b="1" dirty="0">
                <a:solidFill>
                  <a:srgbClr val="C1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zh-CN" altLang="en-US" sz="1800" i="1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i="1" dirty="0">
                <a:solidFill>
                  <a:srgbClr val="8C8C8C"/>
                </a:solidFill>
                <a:latin typeface="+mn-ea"/>
              </a:rPr>
              <a:t>//d[i]:</a:t>
            </a:r>
            <a:r>
              <a:rPr lang="zh-CN" altLang="en-US" sz="2400" i="1">
                <a:solidFill>
                  <a:srgbClr val="8C8C8C"/>
                </a:solidFill>
                <a:latin typeface="+mn-ea"/>
              </a:rPr>
              <a:t>记录第</a:t>
            </a:r>
            <a:r>
              <a:rPr lang="en-US" altLang="zh-CN" sz="2400" i="1" dirty="0">
                <a:solidFill>
                  <a:srgbClr val="8C8C8C"/>
                </a:solidFill>
                <a:latin typeface="+mn-ea"/>
              </a:rPr>
              <a:t>i+1</a:t>
            </a:r>
            <a:r>
              <a:rPr lang="zh-CN" altLang="en-US" sz="2400" i="1">
                <a:solidFill>
                  <a:srgbClr val="8C8C8C"/>
                </a:solidFill>
                <a:latin typeface="+mn-ea"/>
              </a:rPr>
              <a:t>个下降子序列的最后一个元素的值</a:t>
            </a:r>
            <a:r>
              <a:rPr lang="en-US" altLang="zh-CN" sz="2400" i="1" dirty="0">
                <a:solidFill>
                  <a:srgbClr val="8C8C8C"/>
                </a:solidFill>
                <a:latin typeface="+mn-ea"/>
              </a:rPr>
              <a:t>(</a:t>
            </a:r>
            <a:r>
              <a:rPr lang="zh-CN" altLang="en-US" sz="2400" i="1">
                <a:solidFill>
                  <a:srgbClr val="8C8C8C"/>
                </a:solidFill>
                <a:latin typeface="+mn-ea"/>
              </a:rPr>
              <a:t>最小值</a:t>
            </a:r>
            <a:r>
              <a:rPr lang="en-US" altLang="zh-CN" sz="2400" i="1" dirty="0">
                <a:solidFill>
                  <a:srgbClr val="8C8C8C"/>
                </a:solidFill>
                <a:latin typeface="+mn-ea"/>
              </a:rPr>
              <a:t>)</a:t>
            </a:r>
            <a:endParaRPr lang="en-US" altLang="zh-CN" sz="2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3131C24-71CF-4826-8B3C-AFE40E463983}"/>
              </a:ext>
            </a:extLst>
          </p:cNvPr>
          <p:cNvSpPr txBox="1"/>
          <p:nvPr/>
        </p:nvSpPr>
        <p:spPr>
          <a:xfrm>
            <a:off x="1127448" y="2893345"/>
            <a:ext cx="9217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fill</a:t>
            </a:r>
            <a:r>
              <a:rPr lang="en-US" altLang="zh-CN" sz="2800" b="1" dirty="0">
                <a:solidFill>
                  <a:srgbClr val="C1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800" dirty="0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zh-CN" sz="2800" b="1" dirty="0">
                <a:solidFill>
                  <a:srgbClr val="C1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800" dirty="0">
                <a:solidFill>
                  <a:srgbClr val="BABABA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2800" dirty="0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zh-CN" sz="2800" dirty="0">
                <a:solidFill>
                  <a:srgbClr val="BABABA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2800" b="1" dirty="0">
                <a:solidFill>
                  <a:srgbClr val="C1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2800" dirty="0">
                <a:solidFill>
                  <a:srgbClr val="BABABA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2800" dirty="0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altLang="zh-CN" sz="2800" b="1" dirty="0">
                <a:solidFill>
                  <a:srgbClr val="C1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800" dirty="0">
                <a:solidFill>
                  <a:srgbClr val="BABABA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2800" dirty="0">
                <a:solidFill>
                  <a:srgbClr val="400080"/>
                </a:solidFill>
                <a:effectLst/>
                <a:latin typeface="Consolas" panose="020B0609020204030204" pitchFamily="49" charset="0"/>
              </a:rPr>
              <a:t>INF</a:t>
            </a:r>
            <a:r>
              <a:rPr lang="en-US" altLang="zh-CN" sz="2800" b="1" dirty="0">
                <a:solidFill>
                  <a:srgbClr val="C1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zh-CN" sz="2600" i="1" dirty="0">
                <a:solidFill>
                  <a:srgbClr val="8C8C8C"/>
                </a:solidFill>
                <a:effectLst/>
                <a:latin typeface="+mn-ea"/>
              </a:rPr>
              <a:t>//</a:t>
            </a:r>
            <a:r>
              <a:rPr lang="zh-CN" altLang="en-US" sz="2600" i="1">
                <a:solidFill>
                  <a:srgbClr val="8C8C8C"/>
                </a:solidFill>
                <a:effectLst/>
                <a:latin typeface="+mn-ea"/>
              </a:rPr>
              <a:t>初始化为较大值</a:t>
            </a:r>
            <a:r>
              <a:rPr lang="en-US" altLang="zh-CN" sz="2600" i="1" dirty="0">
                <a:solidFill>
                  <a:srgbClr val="8C8C8C"/>
                </a:solidFill>
                <a:effectLst/>
                <a:latin typeface="+mn-ea"/>
              </a:rPr>
              <a:t>(2e9)</a:t>
            </a:r>
            <a:endParaRPr lang="en-US" altLang="zh-CN" sz="2600" dirty="0">
              <a:solidFill>
                <a:srgbClr val="E7E7E7"/>
              </a:solidFill>
              <a:effectLst/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D8D2B79-68E6-4FFF-B7FE-334CCD6D291B}"/>
              </a:ext>
            </a:extLst>
          </p:cNvPr>
          <p:cNvSpPr txBox="1"/>
          <p:nvPr/>
        </p:nvSpPr>
        <p:spPr>
          <a:xfrm>
            <a:off x="623392" y="4796881"/>
            <a:ext cx="10801200" cy="3637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 sz="2000"/>
              <a:t>找到第一个大于</a:t>
            </a:r>
            <a:r>
              <a:rPr lang="en-US" altLang="zh-CN" sz="2000" dirty="0"/>
              <a:t>t</a:t>
            </a:r>
            <a:r>
              <a:rPr lang="zh-CN" altLang="en-US" sz="2000"/>
              <a:t>[i].y的位置，即找到可以接上的下降子序列，把该子序列最小值设为</a:t>
            </a:r>
            <a:r>
              <a:rPr lang="en-US" altLang="zh-CN" sz="2000" dirty="0"/>
              <a:t>t[i].y</a:t>
            </a:r>
            <a:endParaRPr lang="zh-CN" altLang="en-US" sz="20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1359355-3806-447E-81D0-1AC27130ED26}"/>
              </a:ext>
            </a:extLst>
          </p:cNvPr>
          <p:cNvSpPr/>
          <p:nvPr/>
        </p:nvSpPr>
        <p:spPr>
          <a:xfrm>
            <a:off x="8510554" y="4369703"/>
            <a:ext cx="1150113" cy="36933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537A8EE-3BF4-49A3-A180-F483C798AD8A}"/>
              </a:ext>
            </a:extLst>
          </p:cNvPr>
          <p:cNvSpPr/>
          <p:nvPr/>
        </p:nvSpPr>
        <p:spPr>
          <a:xfrm>
            <a:off x="7735304" y="5259712"/>
            <a:ext cx="649208" cy="36933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E46CA48-F8C9-405B-91C6-2D4BFCF6332E}"/>
              </a:ext>
            </a:extLst>
          </p:cNvPr>
          <p:cNvSpPr txBox="1"/>
          <p:nvPr/>
        </p:nvSpPr>
        <p:spPr>
          <a:xfrm>
            <a:off x="8389117" y="3592196"/>
            <a:ext cx="2841248" cy="707886"/>
          </a:xfrm>
          <a:prstGeom prst="rect">
            <a:avLst/>
          </a:prstGeom>
          <a:solidFill>
            <a:srgbClr val="DAFF8F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i="1">
                <a:solidFill>
                  <a:srgbClr val="00B050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zh-CN" altLang="en-US" sz="2000" b="1">
                <a:solidFill>
                  <a:srgbClr val="FF0000"/>
                </a:solidFill>
              </a:rPr>
              <a:t>思考：如果找不到可以接上的子序列怎么办？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A62CF7-93AF-4B65-8188-99AC420A4A84}"/>
              </a:ext>
            </a:extLst>
          </p:cNvPr>
          <p:cNvSpPr/>
          <p:nvPr/>
        </p:nvSpPr>
        <p:spPr>
          <a:xfrm>
            <a:off x="2755936" y="6120542"/>
            <a:ext cx="1683880" cy="36933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endParaRPr lang="zh-CN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90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2" grpId="0" animBg="1"/>
      <p:bldP spid="23" grpId="0" animBg="1"/>
      <p:bldP spid="23" grpId="1" animBg="1"/>
      <p:bldP spid="24" grpId="0" animBg="1"/>
      <p:bldP spid="24" grpId="1" animBg="1"/>
      <p:bldP spid="25" grpId="0" animBg="1"/>
      <p:bldP spid="26" grpId="0" animBg="1"/>
      <p:bldP spid="26" grpId="1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F337C-89E2-BB33-7EC1-A18697C1C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CD21827-D5F6-2D5F-5DCF-88072AB13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878" y="332656"/>
            <a:ext cx="8938243" cy="1143000"/>
          </a:xfrm>
        </p:spPr>
        <p:txBody>
          <a:bodyPr/>
          <a:lstStyle/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SH-B260105 </a:t>
            </a:r>
            <a:r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t>订正题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号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85F4312-E6EF-E718-6BCE-D59EA72B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1F6CE5-347D-42EE-B3F2-150DD3713D0F}"/>
              </a:ext>
            </a:extLst>
          </p:cNvPr>
          <p:cNvSpPr txBox="1"/>
          <p:nvPr/>
        </p:nvSpPr>
        <p:spPr>
          <a:xfrm>
            <a:off x="3431704" y="1628800"/>
            <a:ext cx="6096000" cy="3710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>
                <a:latin typeface="等线" panose="02010600030101010101" pitchFamily="2" charset="-122"/>
              </a:rPr>
              <a:t>T1	3450	</a:t>
            </a:r>
            <a:r>
              <a:rPr lang="en-US" altLang="zh-CN" sz="3200" dirty="0">
                <a:latin typeface="等线" panose="02010600030101010101" pitchFamily="2" charset="-122"/>
              </a:rPr>
              <a:t>	</a:t>
            </a:r>
            <a:r>
              <a:rPr lang="zh-CN" altLang="en-US" sz="3200">
                <a:latin typeface="等线" panose="02010600030101010101" pitchFamily="2" charset="-122"/>
              </a:rPr>
              <a:t>星际探险</a:t>
            </a:r>
          </a:p>
          <a:p>
            <a:pPr>
              <a:lnSpc>
                <a:spcPct val="150000"/>
              </a:lnSpc>
            </a:pPr>
            <a:r>
              <a:rPr lang="zh-CN" altLang="en-US" sz="3200">
                <a:latin typeface="等线" panose="02010600030101010101" pitchFamily="2" charset="-122"/>
              </a:rPr>
              <a:t>T2	2209	</a:t>
            </a:r>
            <a:r>
              <a:rPr lang="en-US" altLang="zh-CN" sz="3200" dirty="0">
                <a:latin typeface="等线" panose="02010600030101010101" pitchFamily="2" charset="-122"/>
              </a:rPr>
              <a:t>	</a:t>
            </a:r>
            <a:r>
              <a:rPr lang="zh-CN" altLang="en-US" sz="3200">
                <a:latin typeface="等线" panose="02010600030101010101" pitchFamily="2" charset="-122"/>
              </a:rPr>
              <a:t>删除子数组</a:t>
            </a:r>
          </a:p>
          <a:p>
            <a:pPr>
              <a:lnSpc>
                <a:spcPct val="150000"/>
              </a:lnSpc>
            </a:pPr>
            <a:r>
              <a:rPr lang="zh-CN" altLang="en-US" sz="3200">
                <a:latin typeface="等线" panose="02010600030101010101" pitchFamily="2" charset="-122"/>
              </a:rPr>
              <a:t>T3	3113	</a:t>
            </a:r>
            <a:r>
              <a:rPr lang="en-US" altLang="zh-CN" sz="3200" dirty="0">
                <a:latin typeface="等线" panose="02010600030101010101" pitchFamily="2" charset="-122"/>
              </a:rPr>
              <a:t>	</a:t>
            </a:r>
            <a:r>
              <a:rPr lang="zh-CN" altLang="en-US" sz="3200">
                <a:latin typeface="等线" panose="02010600030101010101" pitchFamily="2" charset="-122"/>
              </a:rPr>
              <a:t>轮流值班	</a:t>
            </a:r>
          </a:p>
          <a:p>
            <a:pPr>
              <a:lnSpc>
                <a:spcPct val="150000"/>
              </a:lnSpc>
            </a:pPr>
            <a:r>
              <a:rPr lang="zh-CN" altLang="en-US" sz="3200">
                <a:latin typeface="等线" panose="02010600030101010101" pitchFamily="2" charset="-122"/>
              </a:rPr>
              <a:t>T4	3466	</a:t>
            </a:r>
            <a:r>
              <a:rPr lang="en-US" altLang="zh-CN" sz="3200" dirty="0">
                <a:latin typeface="等线" panose="02010600030101010101" pitchFamily="2" charset="-122"/>
              </a:rPr>
              <a:t>	</a:t>
            </a:r>
            <a:r>
              <a:rPr lang="zh-CN" altLang="en-US" sz="3200">
                <a:latin typeface="等线" panose="02010600030101010101" pitchFamily="2" charset="-122"/>
              </a:rPr>
              <a:t>堵车</a:t>
            </a:r>
          </a:p>
          <a:p>
            <a:pPr>
              <a:lnSpc>
                <a:spcPct val="150000"/>
              </a:lnSpc>
            </a:pPr>
            <a:r>
              <a:rPr lang="zh-CN" altLang="en-US" sz="3200">
                <a:latin typeface="等线" panose="02010600030101010101" pitchFamily="2" charset="-122"/>
              </a:rPr>
              <a:t>T5	899</a:t>
            </a:r>
            <a:r>
              <a:rPr lang="en-US" altLang="zh-CN" sz="3200" dirty="0">
                <a:latin typeface="等线" panose="02010600030101010101" pitchFamily="2" charset="-122"/>
              </a:rPr>
              <a:t>		</a:t>
            </a:r>
            <a:r>
              <a:rPr lang="zh-CN" altLang="en-US" sz="3200">
                <a:latin typeface="等线" panose="02010600030101010101" pitchFamily="2" charset="-122"/>
              </a:rPr>
              <a:t>黄浦江</a:t>
            </a:r>
          </a:p>
        </p:txBody>
      </p:sp>
    </p:spTree>
    <p:extLst>
      <p:ext uri="{BB962C8B-B14F-4D97-AF65-F5344CB8AC3E}">
        <p14:creationId xmlns:p14="http://schemas.microsoft.com/office/powerpoint/2010/main" val="92917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28822</TotalTime>
  <Words>3333</Words>
  <Application>Microsoft Office PowerPoint</Application>
  <PresentationFormat>宽屏</PresentationFormat>
  <Paragraphs>662</Paragraphs>
  <Slides>70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81" baseType="lpstr">
      <vt:lpstr>Adobe 黑体 Std R</vt:lpstr>
      <vt:lpstr>-apple-system</vt:lpstr>
      <vt:lpstr>等线</vt:lpstr>
      <vt:lpstr>等线 Light</vt:lpstr>
      <vt:lpstr>微软雅黑</vt:lpstr>
      <vt:lpstr>Arial</vt:lpstr>
      <vt:lpstr>Calibri</vt:lpstr>
      <vt:lpstr>Consolas</vt:lpstr>
      <vt:lpstr>Verdana</vt:lpstr>
      <vt:lpstr>Verdana</vt:lpstr>
      <vt:lpstr>Office 主题</vt:lpstr>
      <vt:lpstr>PowerPoint 演示文稿</vt:lpstr>
      <vt:lpstr>PowerPoint 演示文稿</vt:lpstr>
      <vt:lpstr>PowerPoint 演示文稿</vt:lpstr>
      <vt:lpstr>模拟算法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暴力解法</vt:lpstr>
      <vt:lpstr>暴力解法</vt:lpstr>
      <vt:lpstr>PowerPoint 演示文稿</vt:lpstr>
      <vt:lpstr>PowerPoint 演示文稿</vt:lpstr>
      <vt:lpstr>优化思路</vt:lpstr>
      <vt:lpstr>优化解法：前缀和+Hash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互补计数</vt:lpstr>
      <vt:lpstr>PowerPoint 演示文稿</vt:lpstr>
      <vt:lpstr>PowerPoint 演示文稿</vt:lpstr>
      <vt:lpstr>PowerPoint 演示文稿</vt:lpstr>
      <vt:lpstr>PowerPoint 演示文稿</vt:lpstr>
      <vt:lpstr>排序降维+LNDS</vt:lpstr>
      <vt:lpstr>自定义+排序</vt:lpstr>
      <vt:lpstr>LNDS 解法1 DP</vt:lpstr>
      <vt:lpstr>LNDS 解法2  </vt:lpstr>
      <vt:lpstr>LNDS2</vt:lpstr>
      <vt:lpstr>SH-B260105 订正题号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lenovon</dc:creator>
  <cp:lastModifiedBy>Jacky</cp:lastModifiedBy>
  <cp:revision>2558</cp:revision>
  <dcterms:created xsi:type="dcterms:W3CDTF">2019-05-16T12:24:14Z</dcterms:created>
  <dcterms:modified xsi:type="dcterms:W3CDTF">2026-01-25T13:40:06Z</dcterms:modified>
</cp:coreProperties>
</file>